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6" r:id="rId11"/>
    <p:sldId id="277" r:id="rId10"/>
    <p:sldId id="278" r:id="rId9"/>
    <p:sldId id="279" r:id="rId8"/>
    <p:sldId id="280" r:id="rId7"/>
    <p:sldId id="281" r:id="rId6"/>
    <p:sldId id="282" r:id="rId5"/>
    <p:sldId id="283" r:id="rId4"/>
    <p:sldId id="284" r:id="rId3"/>
    <p:sldId id="285" r:id="rId2"/>
    <p:sldId id="286" r:id="rId27"/>
    <p:sldId id="287" r:id="rId28"/>
    <p:sldId id="288" r:id="rId29"/>
    <p:sldId id="289" r:id="rId30"/>
    <p:sldId id="290" r:id="rId31"/>
    <p:sldId id="291" r:id="rId32"/>
    <p:sldId id="292" r:id="rId33"/>
    <p:sldId id="293" r:id="rId34"/>
    <p:sldId id="294" r:id="rId35"/>
    <p:sldId id="295" r:id="rId36"/>
    <p:sldId id="296" r:id="rId37"/>
    <p:sldId id="297" r:id="rId38"/>
    <p:sldId id="298" r:id="rId39"/>
    <p:sldId id="299" r:id="rId40"/>
    <p:sldId id="300" r:id="rId41"/>
    <p:sldId id="301" r:id="rId42"/>
    <p:sldId id="302" r:id="rId43"/>
    <p:sldId id="303" r:id="rId44"/>
    <p:sldId id="304" r:id="rId45"/>
    <p:sldId id="305" r:id="rId46"/>
    <p:sldId id="306" r:id="rId47"/>
    <p:sldId id="307" r:id="rId48"/>
    <p:sldId id="308" r:id="rId49"/>
    <p:sldId id="309" r:id="rId50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·개요" id="{d1c9fe69-f8fa-47c1-0b43-c16b46c1709f}">
          <p14:sldIdLst>
            <p14:sldId id="256"/>
            <p14:sldId id="257"/>
            <p14:sldId id="258"/>
            <p14:sldId id="259"/>
          </p14:sldIdLst>
        </p14:section>
        <p14:section name="3.1 증상" id="{43a5a403-6d74-43a9-58bd-7bc4a15afd61}">
          <p14:sldIdLst>
            <p14:sldId id="260"/>
            <p14:sldId id="261"/>
            <p14:sldId id="262"/>
          </p14:sldIdLst>
        </p14:section>
        <p14:section name="FAQ·문의처" id="{bbf332e7-66a9-14f5-fb28-3b7f1807f14c}">
          <p14:sldIdLst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0.xml"/><Relationship Id="rId3" Type="http://schemas.openxmlformats.org/officeDocument/2006/relationships/slide" Target="slides/slide9.xml"/><Relationship Id="rId4" Type="http://schemas.openxmlformats.org/officeDocument/2006/relationships/slide" Target="slides/slide8.xml"/><Relationship Id="rId5" Type="http://schemas.openxmlformats.org/officeDocument/2006/relationships/slide" Target="slides/slide7.xml"/><Relationship Id="rId6" Type="http://schemas.openxmlformats.org/officeDocument/2006/relationships/slide" Target="slides/slide6.xml"/><Relationship Id="rId7" Type="http://schemas.openxmlformats.org/officeDocument/2006/relationships/slide" Target="slides/slide5.xml"/><Relationship Id="rId8" Type="http://schemas.openxmlformats.org/officeDocument/2006/relationships/slide" Target="slides/slide4.xml"/><Relationship Id="rId9" Type="http://schemas.openxmlformats.org/officeDocument/2006/relationships/slide" Target="slides/slide3.xml"/><Relationship Id="rId10" Type="http://schemas.openxmlformats.org/officeDocument/2006/relationships/slide" Target="slides/slide2.xml"/><Relationship Id="rId11" Type="http://schemas.openxmlformats.org/officeDocument/2006/relationships/slide" Target="slides/slide1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7" Type="http://schemas.openxmlformats.org/officeDocument/2006/relationships/slide" Target="slides/slide11.xml"/><Relationship Id="rId28" Type="http://schemas.openxmlformats.org/officeDocument/2006/relationships/slide" Target="slides/slide12.xml"/><Relationship Id="rId29" Type="http://schemas.openxmlformats.org/officeDocument/2006/relationships/slide" Target="slides/slide13.xml"/><Relationship Id="rId30" Type="http://schemas.openxmlformats.org/officeDocument/2006/relationships/slide" Target="slides/slide14.xml"/><Relationship Id="rId31" Type="http://schemas.openxmlformats.org/officeDocument/2006/relationships/slide" Target="slides/slide15.xml"/><Relationship Id="rId32" Type="http://schemas.openxmlformats.org/officeDocument/2006/relationships/slide" Target="slides/slide16.xml"/><Relationship Id="rId33" Type="http://schemas.openxmlformats.org/officeDocument/2006/relationships/slide" Target="slides/slide17.xml"/><Relationship Id="rId34" Type="http://schemas.openxmlformats.org/officeDocument/2006/relationships/slide" Target="slides/slide18.xml"/><Relationship Id="rId35" Type="http://schemas.openxmlformats.org/officeDocument/2006/relationships/slide" Target="slides/slide19.xml"/><Relationship Id="rId36" Type="http://schemas.openxmlformats.org/officeDocument/2006/relationships/slide" Target="slides/slide20.xml"/><Relationship Id="rId37" Type="http://schemas.openxmlformats.org/officeDocument/2006/relationships/slide" Target="slides/slide21.xml"/><Relationship Id="rId38" Type="http://schemas.openxmlformats.org/officeDocument/2006/relationships/slide" Target="slides/slide22.xml"/><Relationship Id="rId39" Type="http://schemas.openxmlformats.org/officeDocument/2006/relationships/slide" Target="slides/slide23.xml"/><Relationship Id="rId40" Type="http://schemas.openxmlformats.org/officeDocument/2006/relationships/slide" Target="slides/slide24.xml"/><Relationship Id="rId41" Type="http://schemas.openxmlformats.org/officeDocument/2006/relationships/slide" Target="slides/slide25.xml"/><Relationship Id="rId42" Type="http://schemas.openxmlformats.org/officeDocument/2006/relationships/slide" Target="slides/slide26.xml"/><Relationship Id="rId43" Type="http://schemas.openxmlformats.org/officeDocument/2006/relationships/slide" Target="slides/slide27.xml"/><Relationship Id="rId44" Type="http://schemas.openxmlformats.org/officeDocument/2006/relationships/slide" Target="slides/slide28.xml"/><Relationship Id="rId45" Type="http://schemas.openxmlformats.org/officeDocument/2006/relationships/slide" Target="slides/slide29.xml"/><Relationship Id="rId46" Type="http://schemas.openxmlformats.org/officeDocument/2006/relationships/slide" Target="slides/slide30.xml"/><Relationship Id="rId47" Type="http://schemas.openxmlformats.org/officeDocument/2006/relationships/slide" Target="slides/slide31.xml"/><Relationship Id="rId48" Type="http://schemas.openxmlformats.org/officeDocument/2006/relationships/slide" Target="slides/slide32.xml"/><Relationship Id="rId49" Type="http://schemas.openxmlformats.org/officeDocument/2006/relationships/slide" Target="slides/slide33.xml"/><Relationship Id="rId50" Type="http://schemas.openxmlformats.org/officeDocument/2006/relationships/slide" Target="slides/slide3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508760"/>
            <a:ext cx="804672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3" name="Text 0"/>
          <p:cNvSpPr/>
          <p:nvPr/>
        </p:nvSpPr>
        <p:spPr>
          <a:xfrm>
            <a:off x="457200" y="4800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IT-HW-001  업무 PC 기본 장애 대응 가이드  |  v1.0  |  사내 공개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50876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 PC 기본 장애 대응 가이드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0972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46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사내 IT 가이드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6974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0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IT-HW-001   |   v1.0   |   시행일 2026-03-01   |   사내 공개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 정보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 정보</a:t>
            </a:r>
            <a:endParaRPr lang="en-US" sz="2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3108960"/>
                <a:gridCol w="1005840"/>
                <a:gridCol w="31089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문서 번호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IT-HW-001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버전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v1.0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분류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HW HW·업무 PC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문서 유형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장애 대응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대상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 임직원 (회사 지급 PC 사용자)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보안 등급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사내 공개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관리 부서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엔드포인트지원팀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시행일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2026-03-01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작성자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엔드포인트지원팀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승인자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엔드포인트지원팀장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담당자 매뉴얼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IT-HW-001-M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포함 시나리오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HW-01, HW-02, HW-03, HW-06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566160"/>
          <a:ext cx="82296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7223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키워드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PC가 너무 느려요, 컴퓨터 속도 저하, 노트북 버벅임, C드라이브가 꽉 찼어요, 디스크 정리, 시작 프로그램, 작업 관리자, 메모리 부족, 엑셀 몇 개만 켜도 멈춤, SSD, MATLAB, 부팅이 안 됩니다, 노트북이 안 켜져요, 전원 버튼 반응 없음, 블루스크린, 파란 화면, 재부팅 반복, 복구 키를 입력하세요, 로그인 화면에서 멈춤, 모니터 인식이 안 돼요, 도킹스테이션 연결 오류, 듀얼 모니터, 모니터 깜빡임, 화면 왜곡, 무선 마우스 끊김, OS 업데이트가 안 끝나요, 재시작 중 멈춤, 업데이트 후 소리 안 남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개요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개요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4023360" cy="1691640"/>
          </a:xfrm>
          <a:prstGeom prst="roundRect">
            <a:avLst>
              <a:gd name="adj" fmla="val 4324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94360" y="1143000"/>
            <a:ext cx="3749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목적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 PC가 느리거나 켜지지 않을 때, 모니터·도킹스테이션·마우스가 인식되지 않을 때, OS 업데이트 후 문제가 생겼을 때 직접 조치하는 방법과 문의하는 방법을 안내한다.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200" y="2834640"/>
            <a:ext cx="4023360" cy="1783080"/>
          </a:xfrm>
          <a:prstGeom prst="roundRect">
            <a:avLst>
              <a:gd name="adj" fmla="val 4103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594360" y="2926080"/>
            <a:ext cx="37490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적용 대상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회사가 지급한 노트북·데스크톱과 모니터·도킹스테이션 등 주변기기에 해당한다. 장비 파손·수리·교체 신청은 IT-HW-002, 프린터·복합기는 IT-HW-003을 본다.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4663440" y="10515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적용 환경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417320"/>
          <a:ext cx="402336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8346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관련 도구·시스템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Windows/macOS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관련 도구·시스템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주변기기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OS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Windows, macOS (개발 직군 선택)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먼저 확인할 사항 · 3. 증상별 조치 방법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먼저 확인할 사항 · 증상 목록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3291840" cy="3566160"/>
          </a:xfrm>
          <a:prstGeom prst="roundRect">
            <a:avLst>
              <a:gd name="adj" fmla="val 2222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94360" y="1143000"/>
            <a:ext cx="30175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먼저 확인할 사항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먼저 PC를 재부팅해 본다.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증상이 분명하지 않으면 느림·부팅·화면·소리 중 어떤 증상인지 먼저 확인하고 해당 블록을 본다.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음료를 쏟았거나 떨어뜨렸으면 바로 전원을 끄고 IT-HW-002 3.1을 따른다.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층 전체의 인터넷이 느리면 PC가 아니라 네트워크 문제다. IT-NET-002 3.5를 본다.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층이나 여러 부서에서 동시에 같은 증상(예: 같은 업데이트 뒤 부팅 불가)이 생기면 IT 헬프데스크 내선 1000으로 바로 전화한다.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 파일은 PC가 아니라 팀 공유 드라이브에 저장해 둔다.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3931920" y="10515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 목록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931920" y="1417320"/>
          <a:ext cx="475488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1874520"/>
                <a:gridCol w="868680"/>
                <a:gridCol w="868680"/>
                <a:gridCol w="7315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번호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제목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문의 유형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처리 주체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담당 부서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3.1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C드라이브가 꽉 찼다는 경고가 뜨고 PC가 느림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HW-01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사용자 직접 조치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엔드포인트지원팀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3.2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PC를 켜고 프로그램을 여는 데 몇 분씩 걸림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HW-01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사용자 직접 조치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엔드포인트지원팀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3.3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기본 조치 후에도 엑셀 여러 개나 분석 프로그램을 켜면 노트북이 멈출 듯 느림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HW-01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IT 담당자 처리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엔드포인트지원팀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3.4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전원 버튼을 눌러도 노트북이 켜지지 않음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HW-02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IT 담당자 처리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엔드포인트지원팀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3.5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켜면 파란 화면(블루스크린)이 뜨고 재부팅만 반복됨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HW-02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IT 담당자 처리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엔드포인트지원팀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3.6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로그인 전에 '복구 키를 입력하세요' 화면이 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HW-02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IT 담당자 처리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엔드포인트지원팀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3.7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로그인하면 화면이 멈추거나 오류가 나서 들어가지지 않음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HW-02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IT 담당자 처리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엔드포인트지원팀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먼저 확인할 사항 · 3. 증상별 조치 방법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먼저 확인할 사항 · 증상 목록 (계속)</a:t>
            </a:r>
            <a:endParaRPr lang="en-US" sz="2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712176"/>
                <a:gridCol w="3244361"/>
                <a:gridCol w="1503484"/>
                <a:gridCol w="1503484"/>
                <a:gridCol w="126609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번호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제목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문의 유형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처리 주체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담당 부서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3.8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도킹스테이션에 연결해도 외부 모니터에 화면이 안 나옴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HW-03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사용자 직접 조치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엔드포인트지원팀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3.9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듀얼 모니터 중 한 대만 인식됨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HW-03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사용자 직접 조치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엔드포인트지원팀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3.10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모니터가 깜빡이다 꺼지거나 화면이 일그러짐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HW-03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IT 담당자 처리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엔드포인트지원팀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3.11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무선 마우스가 자꾸 끊김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HW-03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사용자 직접 조치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엔드포인트지원팀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3.12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OS 업데이트가 '재시작 중'에서 오래 멈춰 있음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HW-06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IT 담당자 처리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엔드포인트지원팀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3.13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OS 업데이트 후 소리가 나지 않음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HW-06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IT 담당자 처리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엔드포인트지원팀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3.1 증상과 원인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3.1 C드라이브가 꽉 찼다는 경고가 뜨고 PC가 느림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987552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457200" y="98755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유형  </a:t>
            </a:r>
            <a:pPr algn="ctr"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HW-01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304288" y="987552"/>
            <a:ext cx="384048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2304288" y="98755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주체  </a:t>
            </a:r>
            <a:pPr algn="ctr"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 직접 조치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254496" y="987552"/>
            <a:ext cx="2432304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6254496" y="987552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부서  </a:t>
            </a:r>
            <a:pPr algn="ctr"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엔드포인트지원팀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59436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이런 경우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C드라이브가 꽉 찼다고 빨간색으로 표시된다.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지워야 할지 모르겠다.</a:t>
            </a:r>
            <a:endParaRPr lang="en-US" sz="1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2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메시지: </a:t>
            </a:r>
            <a:pPr indent="0" marL="0">
              <a:buNone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66344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480060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원인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임시 파일과 보안 프로그램 기록(로그)이 쌓여 저장 공간이 부족함</a:t>
            </a:r>
            <a:endParaRPr lang="en-US" sz="1200" dirty="0"/>
          </a:p>
        </p:txBody>
      </p:sp>
      <p:sp>
        <p:nvSpPr>
          <p:cNvPr id="1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3.1 조치 방법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3.1 C드라이브가 꽉 찼다는 경고가 뜨고 PC가 느림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4937760" cy="2148840"/>
          </a:xfrm>
          <a:prstGeom prst="roundRect">
            <a:avLst>
              <a:gd name="adj" fmla="val 3404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94360" y="1143000"/>
            <a:ext cx="46634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조치 방법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탐색기에서 C드라이브를 마우스 오른쪽 클릭 &gt; [속성] &gt; [디스크 정리]를 실행합니다.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'임시 파일', '휴지통' 등을 선택하고 [확인]을 누릅니다.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다운로드 폴더의 오래된 파일은 팀 공유 드라이브로 옮기거나 지웁니다.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C드라이브 여유 공간이 10% 이상인지 확인합니다.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" y="3291840"/>
            <a:ext cx="49377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8A949E"/>
            </a:solidFill>
            <a:prstDash val="dash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457200" y="329184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[스크린샷 첨부 위치]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42519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3.1.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C드라이브 [속성] &gt; [디스크 정리] 화면. 삭제할 항목 체크 위치를 표시한다.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577840" y="1051560"/>
            <a:ext cx="3108960" cy="937199"/>
          </a:xfrm>
          <a:prstGeom prst="roundRect">
            <a:avLst>
              <a:gd name="adj" fmla="val 666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5715000" y="1143000"/>
            <a:ext cx="2834640" cy="7543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 확인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C드라이브 여유 공간이 10% 이상이고 빨간 표시가 사라지면 해결된 것이다.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577840" y="2080199"/>
            <a:ext cx="3108960" cy="1471061"/>
          </a:xfrm>
          <a:prstGeom prst="roundRect">
            <a:avLst>
              <a:gd name="adj" fmla="val 5517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5715000" y="2171639"/>
            <a:ext cx="2834640" cy="1288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D96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해결되지 않으면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정리해도 공간이 금방 다시 차면 헬프데스크에 문의한다. 담당자가 보안 프로그램 로그를 정리하고 보관 기간을 설정한다.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보안 프로그램 폴더의 파일은 직접 지우지 않는다.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577840" y="3642700"/>
            <a:ext cx="3108960" cy="975019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 txBox="1"/>
          <p:nvPr/>
        </p:nvSpPr>
        <p:spPr>
          <a:xfrm>
            <a:off x="5715000" y="3734140"/>
            <a:ext cx="2834640" cy="7921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시 알려 주실 정보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사번, C드라이브 여유 공간, 이미 해 본 조치</a:t>
            </a:r>
            <a:endParaRPr lang="en-US" sz="10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관련 FAQ: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FAQ-015</a:t>
            </a:r>
            <a:endParaRPr lang="en-US" sz="1000" dirty="0"/>
          </a:p>
        </p:txBody>
      </p:sp>
      <p:sp>
        <p:nvSpPr>
          <p:cNvPr id="1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3.2 증상과 원인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3.2 PC를 켜고 프로그램을 여는 데 몇 분씩 걸림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987552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457200" y="98755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유형  </a:t>
            </a:r>
            <a:pPr algn="ctr"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HW-01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304288" y="987552"/>
            <a:ext cx="384048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2304288" y="98755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주체  </a:t>
            </a:r>
            <a:pPr algn="ctr"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 직접 조치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254496" y="987552"/>
            <a:ext cx="2432304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6254496" y="987552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부서  </a:t>
            </a:r>
            <a:pPr algn="ctr"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엔드포인트지원팀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59436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이런 경우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PC를 켜고 프로그램을 여는 데만 몇 분씩 걸린다.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분석을 할 때마다 노트북이 버벅인다.</a:t>
            </a:r>
            <a:endParaRPr lang="en-US" sz="1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2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메시지: </a:t>
            </a:r>
            <a:pPr indent="0" marL="0">
              <a:buNone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66344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480060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원인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PC를 켤 때 함께 실행되는 프로그램이 너무 많음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디스크 사용률 100% 또는 저장 공간 부족</a:t>
            </a:r>
            <a:endParaRPr lang="en-US" sz="1200" dirty="0"/>
          </a:p>
        </p:txBody>
      </p:sp>
      <p:sp>
        <p:nvSpPr>
          <p:cNvPr id="1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3.2 조치 방법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3.2 PC를 켜고 프로그램을 여는 데 몇 분씩 걸림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4937760" cy="2148840"/>
          </a:xfrm>
          <a:prstGeom prst="roundRect">
            <a:avLst>
              <a:gd name="adj" fmla="val 3404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94360" y="1143000"/>
            <a:ext cx="46634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조치 방법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PC를 재부팅합니다.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 관리자(Ctrl+Shift+Esc)에서 CPU·메모리·디스크 사용률을 확인합니다.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[시작 프로그램] 탭에서 업무에 필요 없는 프로그램을 '사용 안 함'으로 바꿉니다. 보안 프로그램은 바꾸지 않습니다.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3.1에 따라 디스크 정리를 합니다.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" y="3291840"/>
            <a:ext cx="49377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8A949E"/>
            </a:solidFill>
            <a:prstDash val="dash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457200" y="329184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[스크린샷 첨부 위치]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42519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3.2.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 관리자 [시작 프로그램] 탭. 프로그램을 선택하고 [사용 안 함]을 누르는 위치를 표시한다.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577840" y="1051560"/>
            <a:ext cx="3108960" cy="986756"/>
          </a:xfrm>
          <a:prstGeom prst="roundRect">
            <a:avLst>
              <a:gd name="adj" fmla="val 666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5715000" y="1143000"/>
            <a:ext cx="2834640" cy="803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 확인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재부팅 후 프로그램이 평소 속도로 열리면 해결된 것이다.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577840" y="2129756"/>
            <a:ext cx="3108960" cy="1191048"/>
          </a:xfrm>
          <a:prstGeom prst="roundRect">
            <a:avLst>
              <a:gd name="adj" fmla="val 5517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5715000" y="2221196"/>
            <a:ext cx="2834640" cy="1008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D96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해결되지 않으면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계속 느리면 헬프데스크에 원격 점검을 요청한다.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메모리 사용률이 늘 높으면 3.3을 본다.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577840" y="3412244"/>
            <a:ext cx="3108960" cy="1205475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 txBox="1"/>
          <p:nvPr/>
        </p:nvSpPr>
        <p:spPr>
          <a:xfrm>
            <a:off x="5715000" y="3503684"/>
            <a:ext cx="2834640" cy="1022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시 알려 주실 정보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사번, 작업 관리자 사용률 화면, 느려진 시점, 이미 해 본 조치</a:t>
            </a:r>
            <a:endParaRPr lang="en-US" sz="10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관련 FAQ: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FAQ-015</a:t>
            </a:r>
            <a:endParaRPr lang="en-US" sz="1000" dirty="0"/>
          </a:p>
        </p:txBody>
      </p:sp>
      <p:sp>
        <p:nvSpPr>
          <p:cNvPr id="1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3.3 증상과 원인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3.3 기본 조치 후에도 엑셀 여러 개나 분석 프로그램을 켜면 노트북이 멈출 듯 느림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987552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457200" y="98755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유형  </a:t>
            </a:r>
            <a:pPr algn="ctr"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HW-01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304288" y="987552"/>
            <a:ext cx="384048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2304288" y="98755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주체  </a:t>
            </a:r>
            <a:pPr algn="ctr"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 담당자 처리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254496" y="987552"/>
            <a:ext cx="2432304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6254496" y="987552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부서  </a:t>
            </a:r>
            <a:pPr algn="ctr"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엔드포인트지원팀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59436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이런 경우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엑셀 몇 개만 켜도 노트북이 멈춘다.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MATLAB 등으로 시뮬레이션을 돌리면 너무 느려지고, 디스크 정리는 이미 해 봤다.</a:t>
            </a:r>
            <a:endParaRPr lang="en-US" sz="1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2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메시지: </a:t>
            </a:r>
            <a:pPr indent="0" marL="0">
              <a:buNone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66344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480060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원인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메모리(RAM) 부족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 장치(SSD) 노후로 읽기·쓰기 속도 저하</a:t>
            </a:r>
            <a:endParaRPr lang="en-US" sz="1200" dirty="0"/>
          </a:p>
        </p:txBody>
      </p:sp>
      <p:sp>
        <p:nvSpPr>
          <p:cNvPr id="1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3.3 조치 방법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3.3 기본 조치 후에도 엑셀 여러 개나 분석 프로그램을 켜면 노트북이 멈출 듯 느림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4937760" cy="3566160"/>
          </a:xfrm>
          <a:prstGeom prst="roundRect">
            <a:avLst>
              <a:gd name="adj" fmla="val 3404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94360" y="114300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조치 방법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쓰지 않는 프로그램과 브라우저 탭을 닫습니다.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 관리자에서 메모리 사용률을 확인합니다.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헬프데스크에 원격 점검을 요청합니다. 담당자가 메모리 증설이나 저장 장치 교체를 진행합니다.</a:t>
            </a:r>
            <a:endParaRPr lang="en-US" sz="1100" dirty="0"/>
          </a:p>
        </p:txBody>
      </p:sp>
      <p:sp>
        <p:nvSpPr>
          <p:cNvPr id="7" name="Shape 7"/>
          <p:cNvSpPr/>
          <p:nvPr/>
        </p:nvSpPr>
        <p:spPr>
          <a:xfrm>
            <a:off x="5577840" y="1051560"/>
            <a:ext cx="3108960" cy="1056111"/>
          </a:xfrm>
          <a:prstGeom prst="roundRect">
            <a:avLst>
              <a:gd name="adj" fmla="val 666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8" name="Text 8"/>
          <p:cNvSpPr txBox="1"/>
          <p:nvPr/>
        </p:nvSpPr>
        <p:spPr>
          <a:xfrm>
            <a:off x="5715000" y="1143000"/>
            <a:ext cx="2834640" cy="8732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 확인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작업을 해도 멈추지 않으면 해결된 것이다.</a:t>
            </a:r>
            <a:endParaRPr lang="en-US" sz="1050" dirty="0"/>
          </a:p>
        </p:txBody>
      </p:sp>
      <p:sp>
        <p:nvSpPr>
          <p:cNvPr id="9" name="Shape 9"/>
          <p:cNvSpPr/>
          <p:nvPr/>
        </p:nvSpPr>
        <p:spPr>
          <a:xfrm>
            <a:off x="5577840" y="2199111"/>
            <a:ext cx="3108960" cy="1036964"/>
          </a:xfrm>
          <a:prstGeom prst="roundRect">
            <a:avLst>
              <a:gd name="adj" fmla="val 5517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  <p:txBody>
          <a:bodyPr/>
          <a:p/>
        </p:txBody>
      </p:sp>
      <p:sp>
        <p:nvSpPr>
          <p:cNvPr id="10" name="Text 10"/>
          <p:cNvSpPr txBox="1"/>
          <p:nvPr/>
        </p:nvSpPr>
        <p:spPr>
          <a:xfrm>
            <a:off x="5715000" y="2290551"/>
            <a:ext cx="2834640" cy="854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D96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해결되지 않으면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장비 교체가 필요하다고 안내받으면 IT-HW-002를 따른다.</a:t>
            </a:r>
            <a:endParaRPr lang="en-US" sz="1000" dirty="0"/>
          </a:p>
        </p:txBody>
      </p:sp>
      <p:sp>
        <p:nvSpPr>
          <p:cNvPr id="11" name="Shape 11"/>
          <p:cNvSpPr/>
          <p:nvPr/>
        </p:nvSpPr>
        <p:spPr>
          <a:xfrm>
            <a:off x="5577840" y="3327516"/>
            <a:ext cx="3108960" cy="1290203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2" name="Text 12"/>
          <p:cNvSpPr txBox="1"/>
          <p:nvPr/>
        </p:nvSpPr>
        <p:spPr>
          <a:xfrm>
            <a:off x="5715000" y="3418956"/>
            <a:ext cx="2834640" cy="1107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시 알려 주실 정보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사번, 노트북 모델명, 느려지는 작업, 작업 관리자 사용률 화면</a:t>
            </a:r>
            <a:endParaRPr lang="en-US" sz="10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관련 FAQ: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FAQ-015</a:t>
            </a:r>
            <a:endParaRPr lang="en-US" sz="1000" dirty="0"/>
          </a:p>
        </p:txBody>
      </p:sp>
      <p:sp>
        <p:nvSpPr>
          <p:cNvPr id="1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3.4 증상과 원인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3.4 전원 버튼을 눌러도 노트북이 켜지지 않음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987552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457200" y="98755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유형  </a:t>
            </a:r>
            <a:pPr algn="ctr"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HW-02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304288" y="987552"/>
            <a:ext cx="384048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2304288" y="98755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주체  </a:t>
            </a:r>
            <a:pPr algn="ctr"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 담당자 처리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254496" y="987552"/>
            <a:ext cx="2432304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6254496" y="987552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부서  </a:t>
            </a:r>
            <a:pPr algn="ctr"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엔드포인트지원팀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59436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이런 경우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전원 버튼을 눌러도 아무 반응이 없다.</a:t>
            </a:r>
            <a:endParaRPr lang="en-US" sz="1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2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메시지: </a:t>
            </a:r>
            <a:pPr indent="0" marL="0">
              <a:buNone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66344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480060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원인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배터리 완전 방전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전원 어댑터 불량</a:t>
            </a:r>
            <a:endParaRPr lang="en-US" sz="1200" dirty="0"/>
          </a:p>
        </p:txBody>
      </p:sp>
      <p:sp>
        <p:nvSpPr>
          <p:cNvPr id="1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3.4 조치 방법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3.4 전원 버튼을 눌러도 노트북이 켜지지 않음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4937760" cy="3566160"/>
          </a:xfrm>
          <a:prstGeom prst="roundRect">
            <a:avLst>
              <a:gd name="adj" fmla="val 3404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94360" y="114300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조치 방법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전원 어댑터를 콘센트와 노트북에 확실히 꽂고 충전 표시등이 켜지는지 봅니다.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충분히 충전한 뒤 전원 버튼을 길게 눌러 다시 켭니다.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콘센트에 꽂아 봅니다.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그래도 켜지지 않으면 헬프데스크에 문의합니다. 담당자가 어댑터를 점검·교체합니다.</a:t>
            </a:r>
            <a:endParaRPr lang="en-US" sz="1100" dirty="0"/>
          </a:p>
        </p:txBody>
      </p:sp>
      <p:sp>
        <p:nvSpPr>
          <p:cNvPr id="7" name="Shape 7"/>
          <p:cNvSpPr/>
          <p:nvPr/>
        </p:nvSpPr>
        <p:spPr>
          <a:xfrm>
            <a:off x="5577840" y="1051560"/>
            <a:ext cx="3108960" cy="999543"/>
          </a:xfrm>
          <a:prstGeom prst="roundRect">
            <a:avLst>
              <a:gd name="adj" fmla="val 666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8" name="Text 8"/>
          <p:cNvSpPr txBox="1"/>
          <p:nvPr/>
        </p:nvSpPr>
        <p:spPr>
          <a:xfrm>
            <a:off x="5715000" y="1143000"/>
            <a:ext cx="2834640" cy="816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 확인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노트북이 켜지고 충전 표시등이 정상이면 해결된 것이다.</a:t>
            </a:r>
            <a:endParaRPr lang="en-US" sz="1050" dirty="0"/>
          </a:p>
        </p:txBody>
      </p:sp>
      <p:sp>
        <p:nvSpPr>
          <p:cNvPr id="9" name="Shape 9"/>
          <p:cNvSpPr/>
          <p:nvPr/>
        </p:nvSpPr>
        <p:spPr>
          <a:xfrm>
            <a:off x="5577840" y="2142543"/>
            <a:ext cx="3108960" cy="1162639"/>
          </a:xfrm>
          <a:prstGeom prst="roundRect">
            <a:avLst>
              <a:gd name="adj" fmla="val 5517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  <p:txBody>
          <a:bodyPr/>
          <a:p/>
        </p:txBody>
      </p:sp>
      <p:sp>
        <p:nvSpPr>
          <p:cNvPr id="10" name="Text 10"/>
          <p:cNvSpPr txBox="1"/>
          <p:nvPr/>
        </p:nvSpPr>
        <p:spPr>
          <a:xfrm>
            <a:off x="5715000" y="2233983"/>
            <a:ext cx="2834640" cy="979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D96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해결되지 않으면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어댑터를 바꿔도 켜지지 않으면 수리가 필요하다. IT-HW-002 3.2에 따라 수리를 신청한다.</a:t>
            </a:r>
            <a:endParaRPr lang="en-US" sz="1000" dirty="0"/>
          </a:p>
        </p:txBody>
      </p:sp>
      <p:sp>
        <p:nvSpPr>
          <p:cNvPr id="11" name="Shape 11"/>
          <p:cNvSpPr/>
          <p:nvPr/>
        </p:nvSpPr>
        <p:spPr>
          <a:xfrm>
            <a:off x="5577840" y="3396623"/>
            <a:ext cx="3108960" cy="1221096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2" name="Text 12"/>
          <p:cNvSpPr txBox="1"/>
          <p:nvPr/>
        </p:nvSpPr>
        <p:spPr>
          <a:xfrm>
            <a:off x="5715000" y="3488063"/>
            <a:ext cx="2834640" cy="1038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시 알려 주실 정보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사번, 노트북 모델명, 충전 표시등 상태, 이미 해 본 조치</a:t>
            </a:r>
            <a:endParaRPr lang="en-US" sz="10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관련 FAQ: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</a:t>
            </a:r>
            <a:endParaRPr lang="en-US" sz="1000" dirty="0"/>
          </a:p>
        </p:txBody>
      </p:sp>
      <p:sp>
        <p:nvSpPr>
          <p:cNvPr id="1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3.5 증상과 원인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3.5 켜면 파란 화면(블루스크린)이 뜨고 재부팅만 반복됨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987552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457200" y="98755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유형  </a:t>
            </a:r>
            <a:pPr algn="ctr"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HW-02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304288" y="987552"/>
            <a:ext cx="384048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2304288" y="98755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주체  </a:t>
            </a:r>
            <a:pPr algn="ctr"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 담당자 처리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254496" y="987552"/>
            <a:ext cx="2432304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6254496" y="987552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부서  </a:t>
            </a:r>
            <a:pPr algn="ctr"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엔드포인트지원팀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59436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이런 경우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아침에 노트북을 켰더니 파란 화면이 뜨고 재부팅만 반복된다.</a:t>
            </a:r>
            <a:endParaRPr lang="en-US" sz="1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2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메시지: </a:t>
            </a:r>
            <a:pPr indent="0" marL="0">
              <a:buNone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66344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480060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원인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그래픽 드라이버 충돌</a:t>
            </a:r>
            <a:endParaRPr lang="en-US" sz="1200" dirty="0"/>
          </a:p>
        </p:txBody>
      </p:sp>
      <p:sp>
        <p:nvSpPr>
          <p:cNvPr id="1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3.5 조치 방법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3.5 켜면 파란 화면(블루스크린)이 뜨고 재부팅만 반복됨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4937760" cy="3566160"/>
          </a:xfrm>
          <a:prstGeom prst="roundRect">
            <a:avLst>
              <a:gd name="adj" fmla="val 3404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94360" y="114300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조치 방법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전원을 끄고 외부 모니터·도킹스테이션·USB 장치를 모두 뺀 뒤 다시 켭니다.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파란 화면이 계속 나오면 화면의 오류 문구를 휴대폰으로 찍어 둡니다.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헬프데스크에 문의합니다. 담당자가 안전 모드로 들어가 드라이버를 이전 버전으로 되돌립니다.</a:t>
            </a:r>
            <a:endParaRPr lang="en-US" sz="1100" dirty="0"/>
          </a:p>
        </p:txBody>
      </p:sp>
      <p:sp>
        <p:nvSpPr>
          <p:cNvPr id="7" name="Shape 7"/>
          <p:cNvSpPr/>
          <p:nvPr/>
        </p:nvSpPr>
        <p:spPr>
          <a:xfrm>
            <a:off x="5577840" y="1051560"/>
            <a:ext cx="3108960" cy="914400"/>
          </a:xfrm>
          <a:prstGeom prst="roundRect">
            <a:avLst>
              <a:gd name="adj" fmla="val 666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8" name="Text 8"/>
          <p:cNvSpPr txBox="1"/>
          <p:nvPr/>
        </p:nvSpPr>
        <p:spPr>
          <a:xfrm>
            <a:off x="5715000" y="114300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 확인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로그인 화면까지 정상으로 켜지면 해결된 것이다.</a:t>
            </a:r>
            <a:endParaRPr lang="en-US" sz="1050" dirty="0"/>
          </a:p>
        </p:txBody>
      </p:sp>
      <p:sp>
        <p:nvSpPr>
          <p:cNvPr id="9" name="Shape 9"/>
          <p:cNvSpPr/>
          <p:nvPr/>
        </p:nvSpPr>
        <p:spPr>
          <a:xfrm>
            <a:off x="5577840" y="2057400"/>
            <a:ext cx="3108960" cy="1271016"/>
          </a:xfrm>
          <a:prstGeom prst="roundRect">
            <a:avLst>
              <a:gd name="adj" fmla="val 5517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  <p:txBody>
          <a:bodyPr/>
          <a:p/>
        </p:txBody>
      </p:sp>
      <p:sp>
        <p:nvSpPr>
          <p:cNvPr id="10" name="Text 10"/>
          <p:cNvSpPr txBox="1"/>
          <p:nvPr/>
        </p:nvSpPr>
        <p:spPr>
          <a:xfrm>
            <a:off x="5715000" y="2148840"/>
            <a:ext cx="283464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D96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해결되지 않으면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드라이버를 되돌린 뒤에도 반복되면 IT-HW-002 3.2에 따라 수리를 신청한다.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업데이트 뒤 여러 명이 같은 증상이면 IT 헬프데스크 내선 1000으로 바로 전화한다.</a:t>
            </a:r>
            <a:endParaRPr lang="en-US" sz="1000" dirty="0"/>
          </a:p>
        </p:txBody>
      </p:sp>
      <p:sp>
        <p:nvSpPr>
          <p:cNvPr id="11" name="Shape 11"/>
          <p:cNvSpPr/>
          <p:nvPr/>
        </p:nvSpPr>
        <p:spPr>
          <a:xfrm>
            <a:off x="5577840" y="3419856"/>
            <a:ext cx="3108960" cy="1197863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2" name="Text 12"/>
          <p:cNvSpPr txBox="1"/>
          <p:nvPr/>
        </p:nvSpPr>
        <p:spPr>
          <a:xfrm>
            <a:off x="5715000" y="3511296"/>
            <a:ext cx="2834640" cy="1014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시 알려 주실 정보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사번, 노트북 모델명, 파란 화면의 오류 문구 사진, 최근 설치·업데이트한 항목</a:t>
            </a:r>
            <a:endParaRPr lang="en-US" sz="10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관련 FAQ: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</a:t>
            </a:r>
            <a:endParaRPr lang="en-US" sz="1000" dirty="0"/>
          </a:p>
        </p:txBody>
      </p:sp>
      <p:sp>
        <p:nvSpPr>
          <p:cNvPr id="1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3.6 증상과 원인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3.6 로그인 전에 '복구 키를 입력하세요' 화면이 뜸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987552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457200" y="98755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유형  </a:t>
            </a:r>
            <a:pPr algn="ctr"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HW-02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304288" y="987552"/>
            <a:ext cx="384048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2304288" y="98755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주체  </a:t>
            </a:r>
            <a:pPr algn="ctr"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 담당자 처리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254496" y="987552"/>
            <a:ext cx="2432304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6254496" y="987552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부서  </a:t>
            </a:r>
            <a:pPr algn="ctr"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엔드포인트지원팀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59436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이런 경우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노트북을 켜면 로그인 화면 전에 '복구 키를 입력하세요'라는 화면이 뜬다.</a:t>
            </a:r>
            <a:endParaRPr lang="en-US" sz="1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2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메시지: </a:t>
            </a:r>
            <a:pPr indent="0" marL="0">
              <a:buNone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"복구 키를 입력하세요"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66344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480060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원인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노트북 펌웨어 업데이트 뒤 디스크 암호화가 복구 모드로 바뀜</a:t>
            </a:r>
            <a:endParaRPr lang="en-US" sz="1200" dirty="0"/>
          </a:p>
        </p:txBody>
      </p:sp>
      <p:sp>
        <p:nvSpPr>
          <p:cNvPr id="1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3.6 조치 방법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3.6 로그인 전에 '복구 키를 입력하세요' 화면이 뜸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4937760" cy="2148840"/>
          </a:xfrm>
          <a:prstGeom prst="roundRect">
            <a:avLst>
              <a:gd name="adj" fmla="val 3404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94360" y="1143000"/>
            <a:ext cx="46634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조치 방법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 표시된 복구 키 ID를 적어 둡니다.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아무 키나 여러 번 입력하지 않습니다.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 헬프데스크(내선 1000)에 전화합니다. 본인 확인 후 담당자가 복구 키를 알려 줍니다.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안내받은 복구 키를 입력합니다.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" y="3291840"/>
            <a:ext cx="49377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8A949E"/>
            </a:solidFill>
            <a:prstDash val="dash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457200" y="329184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[스크린샷 첨부 위치]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42519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3.6.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복구 키 입력 화면. 복구 키 ID가 표시되는 위치를 표시한다.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577840" y="1051560"/>
            <a:ext cx="3108960" cy="1119467"/>
          </a:xfrm>
          <a:prstGeom prst="roundRect">
            <a:avLst>
              <a:gd name="adj" fmla="val 666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5715000" y="1143000"/>
            <a:ext cx="2834640" cy="9365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 확인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복구 키를 입력한 뒤 로그인 화면이 나오면 해결된 것이다.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577840" y="2262467"/>
            <a:ext cx="3108960" cy="1099170"/>
          </a:xfrm>
          <a:prstGeom prst="roundRect">
            <a:avLst>
              <a:gd name="adj" fmla="val 5517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5715000" y="2353907"/>
            <a:ext cx="2834640" cy="916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D96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해결되지 않으면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복구 키를 입력해도 같은 화면이 반복되면 헬프데스크에 다시 알린다.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577840" y="3453077"/>
            <a:ext cx="3108960" cy="1164642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 txBox="1"/>
          <p:nvPr/>
        </p:nvSpPr>
        <p:spPr>
          <a:xfrm>
            <a:off x="5715000" y="3544517"/>
            <a:ext cx="2834640" cy="981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시 알려 주실 정보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사번, 화면의 복구 키 ID, 노트북 모델명</a:t>
            </a:r>
            <a:endParaRPr lang="en-US" sz="10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관련 FAQ: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</a:t>
            </a:r>
            <a:endParaRPr lang="en-US" sz="1000" dirty="0"/>
          </a:p>
        </p:txBody>
      </p:sp>
      <p:sp>
        <p:nvSpPr>
          <p:cNvPr id="1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3.7 증상과 원인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3.7 로그인하면 화면이 멈추거나 오류가 나서 들어가지지 않음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987552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457200" y="98755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유형  </a:t>
            </a:r>
            <a:pPr algn="ctr"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HW-02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304288" y="987552"/>
            <a:ext cx="384048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2304288" y="98755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주체  </a:t>
            </a:r>
            <a:pPr algn="ctr"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 담당자 처리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254496" y="987552"/>
            <a:ext cx="2432304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6254496" y="987552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부서  </a:t>
            </a:r>
            <a:pPr algn="ctr"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엔드포인트지원팀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59436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이런 경우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노트북을 켜고 로그인하면 화면이 멈추거나 오류가 나서 들어가지지 않는다.</a:t>
            </a:r>
            <a:endParaRPr lang="en-US" sz="1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2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메시지: </a:t>
            </a:r>
            <a:pPr indent="0" marL="0">
              <a:buNone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66344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480060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원인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OS 업데이트 중 시스템 파일 손상</a:t>
            </a:r>
            <a:endParaRPr lang="en-US" sz="1200" dirty="0"/>
          </a:p>
        </p:txBody>
      </p:sp>
      <p:sp>
        <p:nvSpPr>
          <p:cNvPr id="1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3.7 조치 방법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3.7 로그인하면 화면이 멈추거나 오류가 나서 들어가지지 않음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4937760" cy="3566160"/>
          </a:xfrm>
          <a:prstGeom prst="roundRect">
            <a:avLst>
              <a:gd name="adj" fmla="val 3404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94360" y="114300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조치 방법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전원 버튼을 길게 눌러 끈 뒤 다시 켭니다.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증상이면 헬프데스크에 문의합니다. 담당자가 안전 모드로 들어가 시스템 파일을 복구합니다.</a:t>
            </a:r>
            <a:endParaRPr lang="en-US" sz="1100" dirty="0"/>
          </a:p>
        </p:txBody>
      </p:sp>
      <p:sp>
        <p:nvSpPr>
          <p:cNvPr id="7" name="Shape 7"/>
          <p:cNvSpPr/>
          <p:nvPr/>
        </p:nvSpPr>
        <p:spPr>
          <a:xfrm>
            <a:off x="5577840" y="1051560"/>
            <a:ext cx="3108960" cy="914400"/>
          </a:xfrm>
          <a:prstGeom prst="roundRect">
            <a:avLst>
              <a:gd name="adj" fmla="val 666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8" name="Text 8"/>
          <p:cNvSpPr txBox="1"/>
          <p:nvPr/>
        </p:nvSpPr>
        <p:spPr>
          <a:xfrm>
            <a:off x="5715000" y="114300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 확인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로그인 후 바탕화면이 정상으로 나오면 해결된 것이다.</a:t>
            </a:r>
            <a:endParaRPr lang="en-US" sz="1050" dirty="0"/>
          </a:p>
        </p:txBody>
      </p:sp>
      <p:sp>
        <p:nvSpPr>
          <p:cNvPr id="9" name="Shape 9"/>
          <p:cNvSpPr/>
          <p:nvPr/>
        </p:nvSpPr>
        <p:spPr>
          <a:xfrm>
            <a:off x="5577840" y="2057400"/>
            <a:ext cx="3108960" cy="1463040"/>
          </a:xfrm>
          <a:prstGeom prst="roundRect">
            <a:avLst>
              <a:gd name="adj" fmla="val 5517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  <p:txBody>
          <a:bodyPr/>
          <a:p/>
        </p:txBody>
      </p:sp>
      <p:sp>
        <p:nvSpPr>
          <p:cNvPr id="10" name="Text 10"/>
          <p:cNvSpPr txBox="1"/>
          <p:nvPr/>
        </p:nvSpPr>
        <p:spPr>
          <a:xfrm>
            <a:off x="5715000" y="214884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D96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해결되지 않으면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복구가 안 되면 OS를 다시 설치해야 할 수 있다. 평소 업무 파일은 공유 드라이브에 저장해 둔다.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업데이트 뒤 여러 명이 같은 증상이면 IT 헬프데스크 내선 1000으로 바로 전화한다.</a:t>
            </a:r>
            <a:endParaRPr lang="en-US" sz="1000" dirty="0"/>
          </a:p>
        </p:txBody>
      </p:sp>
      <p:sp>
        <p:nvSpPr>
          <p:cNvPr id="11" name="Shape 11"/>
          <p:cNvSpPr/>
          <p:nvPr/>
        </p:nvSpPr>
        <p:spPr>
          <a:xfrm>
            <a:off x="5577840" y="3611880"/>
            <a:ext cx="3108960" cy="1005839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2" name="Text 12"/>
          <p:cNvSpPr txBox="1"/>
          <p:nvPr/>
        </p:nvSpPr>
        <p:spPr>
          <a:xfrm>
            <a:off x="5715000" y="3703320"/>
            <a:ext cx="2834640" cy="822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시 알려 주실 정보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사번, 최근 OS 업데이트 여부, 화면 메시지</a:t>
            </a:r>
            <a:endParaRPr lang="en-US" sz="10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관련 FAQ: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</a:t>
            </a:r>
            <a:endParaRPr lang="en-US" sz="1000" dirty="0"/>
          </a:p>
        </p:txBody>
      </p:sp>
      <p:sp>
        <p:nvSpPr>
          <p:cNvPr id="1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3.8 증상과 원인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3.8 도킹스테이션에 연결해도 외부 모니터에 화면이 안 나옴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987552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457200" y="98755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유형  </a:t>
            </a:r>
            <a:pPr algn="ctr"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HW-03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304288" y="987552"/>
            <a:ext cx="384048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2304288" y="98755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주체  </a:t>
            </a:r>
            <a:pPr algn="ctr"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 직접 조치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254496" y="987552"/>
            <a:ext cx="2432304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6254496" y="987552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부서  </a:t>
            </a:r>
            <a:pPr algn="ctr"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엔드포인트지원팀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59436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이런 경우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도킹스테이션에 노트북을 연결해도 외부 모니터에 화면이 안 나온다.</a:t>
            </a:r>
            <a:endParaRPr lang="en-US" sz="1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2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메시지: </a:t>
            </a:r>
            <a:pPr indent="0" marL="0">
              <a:buNone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66344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480060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원인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도킹스테이션 펌웨어 구버전</a:t>
            </a:r>
            <a:endParaRPr lang="en-US" sz="1200" dirty="0"/>
          </a:p>
        </p:txBody>
      </p:sp>
      <p:sp>
        <p:nvSpPr>
          <p:cNvPr id="1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3.8 조치 방법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3.8 도킹스테이션에 연결해도 외부 모니터에 화면이 안 나옴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4937760" cy="2148840"/>
          </a:xfrm>
          <a:prstGeom prst="roundRect">
            <a:avLst>
              <a:gd name="adj" fmla="val 3404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94360" y="1143000"/>
            <a:ext cx="46634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조치 방법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케이블을 다시 연결하고 디스플레이 설정에서 [감지]를 누릅니다.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도킹스테이션 전원을 껐다가 다시 켭니다.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그래도 안 나오면 헬프데스크 안내에 따라 도킹스테이션 펌웨어를 최신 버전으로 업데이트합니다.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" y="3291840"/>
            <a:ext cx="49377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8A949E"/>
            </a:solidFill>
            <a:prstDash val="dash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457200" y="329184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[스크린샷 첨부 위치]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42519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3.8.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Windows [설정] &gt; [시스템] &gt; [디스플레이] 화면. [감지] 버튼 위치를 표시한다.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577840" y="1051560"/>
            <a:ext cx="3108960" cy="909085"/>
          </a:xfrm>
          <a:prstGeom prst="roundRect">
            <a:avLst>
              <a:gd name="adj" fmla="val 666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5715000" y="1143000"/>
            <a:ext cx="2834640" cy="726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 확인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외부 모니터에 화면이 나오면 해결된 것이다.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577840" y="2052085"/>
            <a:ext cx="3108960" cy="1102477"/>
          </a:xfrm>
          <a:prstGeom prst="roundRect">
            <a:avLst>
              <a:gd name="adj" fmla="val 5517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5715000" y="2143525"/>
            <a:ext cx="2834640" cy="9195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D96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해결되지 않으면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펌웨어를 업데이트해도 안 나오면 헬프데스크에 문의한다.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577840" y="3246003"/>
            <a:ext cx="3108960" cy="1371716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 txBox="1"/>
          <p:nvPr/>
        </p:nvSpPr>
        <p:spPr>
          <a:xfrm>
            <a:off x="5715000" y="3337443"/>
            <a:ext cx="2834640" cy="1188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시 알려 주실 정보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사번, 도킹스테이션·모니터 모델, 연결 방식, 이미 해 본 조치</a:t>
            </a:r>
            <a:endParaRPr lang="en-US" sz="10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관련 FAQ: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FAQ-016</a:t>
            </a:r>
            <a:endParaRPr lang="en-US" sz="1000" dirty="0"/>
          </a:p>
        </p:txBody>
      </p:sp>
      <p:sp>
        <p:nvSpPr>
          <p:cNvPr id="1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3.9 증상과 원인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3.9 듀얼 모니터 중 한 대만 인식됨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987552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457200" y="98755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유형  </a:t>
            </a:r>
            <a:pPr algn="ctr"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HW-03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304288" y="987552"/>
            <a:ext cx="384048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2304288" y="98755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주체  </a:t>
            </a:r>
            <a:pPr algn="ctr"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 직접 조치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254496" y="987552"/>
            <a:ext cx="2432304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6254496" y="987552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부서  </a:t>
            </a:r>
            <a:pPr algn="ctr"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엔드포인트지원팀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59436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이런 경우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듀얼 모니터 중 한 대만 인식된다.</a:t>
            </a:r>
            <a:endParaRPr lang="en-US" sz="1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2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메시지: </a:t>
            </a:r>
            <a:pPr indent="0" marL="0">
              <a:buNone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66344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480060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원인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디스플레이 케이블 불량</a:t>
            </a:r>
            <a:endParaRPr lang="en-US" sz="1200" dirty="0"/>
          </a:p>
        </p:txBody>
      </p:sp>
      <p:sp>
        <p:nvSpPr>
          <p:cNvPr id="1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3.9 조치 방법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3.9 듀얼 모니터 중 한 대만 인식됨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4937760" cy="3566160"/>
          </a:xfrm>
          <a:prstGeom prst="roundRect">
            <a:avLst>
              <a:gd name="adj" fmla="val 3404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94360" y="114300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조치 방법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인식되지 않는 모니터의 케이블을 양쪽 모두 다시 꽂습니다.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디스플레이 설정에서 [감지]를 누릅니다.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케이블이나 다른 포트로 바꿔 연결해 봅니다.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케이블 불량이면 헬프데스크에 케이블 교체를 요청합니다.</a:t>
            </a:r>
            <a:endParaRPr lang="en-US" sz="1100" dirty="0"/>
          </a:p>
        </p:txBody>
      </p:sp>
      <p:sp>
        <p:nvSpPr>
          <p:cNvPr id="7" name="Shape 7"/>
          <p:cNvSpPr/>
          <p:nvPr/>
        </p:nvSpPr>
        <p:spPr>
          <a:xfrm>
            <a:off x="5577840" y="1051560"/>
            <a:ext cx="3108960" cy="967286"/>
          </a:xfrm>
          <a:prstGeom prst="roundRect">
            <a:avLst>
              <a:gd name="adj" fmla="val 666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8" name="Text 8"/>
          <p:cNvSpPr txBox="1"/>
          <p:nvPr/>
        </p:nvSpPr>
        <p:spPr>
          <a:xfrm>
            <a:off x="5715000" y="1143000"/>
            <a:ext cx="2834640" cy="784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 확인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모니터가 모두 인식되면 해결된 것이다.</a:t>
            </a:r>
            <a:endParaRPr lang="en-US" sz="1050" dirty="0"/>
          </a:p>
        </p:txBody>
      </p:sp>
      <p:sp>
        <p:nvSpPr>
          <p:cNvPr id="9" name="Shape 9"/>
          <p:cNvSpPr/>
          <p:nvPr/>
        </p:nvSpPr>
        <p:spPr>
          <a:xfrm>
            <a:off x="5577840" y="2110286"/>
            <a:ext cx="3108960" cy="1173060"/>
          </a:xfrm>
          <a:prstGeom prst="roundRect">
            <a:avLst>
              <a:gd name="adj" fmla="val 5517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  <p:txBody>
          <a:bodyPr/>
          <a:p/>
        </p:txBody>
      </p:sp>
      <p:sp>
        <p:nvSpPr>
          <p:cNvPr id="10" name="Text 10"/>
          <p:cNvSpPr txBox="1"/>
          <p:nvPr/>
        </p:nvSpPr>
        <p:spPr>
          <a:xfrm>
            <a:off x="5715000" y="2201726"/>
            <a:ext cx="2834640" cy="990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D96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해결되지 않으면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케이블을 바꿔도 안 되면 헬프데스크에 모니터 점검을 요청한다.</a:t>
            </a:r>
            <a:endParaRPr lang="en-US" sz="1000" dirty="0"/>
          </a:p>
        </p:txBody>
      </p:sp>
      <p:sp>
        <p:nvSpPr>
          <p:cNvPr id="11" name="Shape 11"/>
          <p:cNvSpPr/>
          <p:nvPr/>
        </p:nvSpPr>
        <p:spPr>
          <a:xfrm>
            <a:off x="5577840" y="3374787"/>
            <a:ext cx="3108960" cy="1242932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2" name="Text 12"/>
          <p:cNvSpPr txBox="1"/>
          <p:nvPr/>
        </p:nvSpPr>
        <p:spPr>
          <a:xfrm>
            <a:off x="5715000" y="3466227"/>
            <a:ext cx="2834640" cy="1060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시 알려 주실 정보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사번, 모니터 모델, 연결 케이블 종류</a:t>
            </a:r>
            <a:endParaRPr lang="en-US" sz="10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관련 FAQ: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FAQ-016</a:t>
            </a:r>
            <a:endParaRPr lang="en-US" sz="1000" dirty="0"/>
          </a:p>
        </p:txBody>
      </p:sp>
      <p:sp>
        <p:nvSpPr>
          <p:cNvPr id="1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3.10 증상과 원인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3.10 모니터가 깜빡이다 꺼지거나 화면이 일그러짐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987552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457200" y="98755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유형  </a:t>
            </a:r>
            <a:pPr algn="ctr"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HW-03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304288" y="987552"/>
            <a:ext cx="384048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2304288" y="98755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주체  </a:t>
            </a:r>
            <a:pPr algn="ctr"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 담당자 처리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254496" y="987552"/>
            <a:ext cx="2432304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6254496" y="987552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부서  </a:t>
            </a:r>
            <a:pPr algn="ctr"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엔드포인트지원팀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59436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이런 경우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모니터가 자꾸 깜빡이다가 꺼지고, 케이블을 다시 꽂아도 같다.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모니터 화면이 일그러져 보이고, 드라이버를 다시 설치하고 연결도 확인했다.</a:t>
            </a:r>
            <a:endParaRPr lang="en-US" sz="1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2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메시지: </a:t>
            </a:r>
            <a:pPr indent="0" marL="0">
              <a:buNone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66344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480060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원인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도킹스테이션 펌웨어 구버전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모니터 패널 불량</a:t>
            </a:r>
            <a:endParaRPr lang="en-US" sz="1200" dirty="0"/>
          </a:p>
        </p:txBody>
      </p:sp>
      <p:sp>
        <p:nvSpPr>
          <p:cNvPr id="1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3.10 조치 방법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3.10 모니터가 깜빡이다 꺼지거나 화면이 일그러짐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4937760" cy="3566160"/>
          </a:xfrm>
          <a:prstGeom prst="roundRect">
            <a:avLst>
              <a:gd name="adj" fmla="val 3404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94360" y="114300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조치 방법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도킹스테이션 없이 노트북에 모니터를 직접 연결해 같은 증상인지 확인합니다.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증상을 사진으로 찍어 헬프데스크에 문의합니다. 담당자가 도킹스테이션 펌웨어를 업데이트하거나 모니터를 교체합니다.</a:t>
            </a:r>
            <a:endParaRPr lang="en-US" sz="1100" dirty="0"/>
          </a:p>
        </p:txBody>
      </p:sp>
      <p:sp>
        <p:nvSpPr>
          <p:cNvPr id="7" name="Shape 7"/>
          <p:cNvSpPr/>
          <p:nvPr/>
        </p:nvSpPr>
        <p:spPr>
          <a:xfrm>
            <a:off x="5577840" y="1051560"/>
            <a:ext cx="3108960" cy="1056111"/>
          </a:xfrm>
          <a:prstGeom prst="roundRect">
            <a:avLst>
              <a:gd name="adj" fmla="val 666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8" name="Text 8"/>
          <p:cNvSpPr txBox="1"/>
          <p:nvPr/>
        </p:nvSpPr>
        <p:spPr>
          <a:xfrm>
            <a:off x="5715000" y="1143000"/>
            <a:ext cx="2834640" cy="8732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 확인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깜빡임이나 일그러짐 없이 화면이 나오면 해결된 것이다.</a:t>
            </a:r>
            <a:endParaRPr lang="en-US" sz="1050" dirty="0"/>
          </a:p>
        </p:txBody>
      </p:sp>
      <p:sp>
        <p:nvSpPr>
          <p:cNvPr id="9" name="Shape 9"/>
          <p:cNvSpPr/>
          <p:nvPr/>
        </p:nvSpPr>
        <p:spPr>
          <a:xfrm>
            <a:off x="5577840" y="2199111"/>
            <a:ext cx="3108960" cy="1036964"/>
          </a:xfrm>
          <a:prstGeom prst="roundRect">
            <a:avLst>
              <a:gd name="adj" fmla="val 5517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  <p:txBody>
          <a:bodyPr/>
          <a:p/>
        </p:txBody>
      </p:sp>
      <p:sp>
        <p:nvSpPr>
          <p:cNvPr id="10" name="Text 10"/>
          <p:cNvSpPr txBox="1"/>
          <p:nvPr/>
        </p:nvSpPr>
        <p:spPr>
          <a:xfrm>
            <a:off x="5715000" y="2290551"/>
            <a:ext cx="2834640" cy="854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D96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해결되지 않으면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모니터 교체가 필요하면 엔드포인트지원팀이 교체 일정을 안내한다.</a:t>
            </a:r>
            <a:endParaRPr lang="en-US" sz="1000" dirty="0"/>
          </a:p>
        </p:txBody>
      </p:sp>
      <p:sp>
        <p:nvSpPr>
          <p:cNvPr id="11" name="Shape 11"/>
          <p:cNvSpPr/>
          <p:nvPr/>
        </p:nvSpPr>
        <p:spPr>
          <a:xfrm>
            <a:off x="5577840" y="3327516"/>
            <a:ext cx="3108960" cy="1290203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2" name="Text 12"/>
          <p:cNvSpPr txBox="1"/>
          <p:nvPr/>
        </p:nvSpPr>
        <p:spPr>
          <a:xfrm>
            <a:off x="5715000" y="3418956"/>
            <a:ext cx="2834640" cy="1107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시 알려 주실 정보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사번, 모니터·도킹스테이션 모델, 증상 사진, 이미 해 본 조치</a:t>
            </a:r>
            <a:endParaRPr lang="en-US" sz="10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관련 FAQ: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FAQ-016</a:t>
            </a:r>
            <a:endParaRPr lang="en-US" sz="1000" dirty="0"/>
          </a:p>
        </p:txBody>
      </p:sp>
      <p:sp>
        <p:nvSpPr>
          <p:cNvPr id="1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3.11 증상과 원인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3.11 무선 마우스가 자꾸 끊김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987552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457200" y="98755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유형  </a:t>
            </a:r>
            <a:pPr algn="ctr"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HW-03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304288" y="987552"/>
            <a:ext cx="384048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2304288" y="98755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주체  </a:t>
            </a:r>
            <a:pPr algn="ctr"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 직접 조치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254496" y="987552"/>
            <a:ext cx="2432304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6254496" y="987552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부서  </a:t>
            </a:r>
            <a:pPr algn="ctr"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엔드포인트지원팀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59436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이런 경우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무선 마우스가 자꾸 끊긴다.</a:t>
            </a:r>
            <a:endParaRPr lang="en-US" sz="1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2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메시지: </a:t>
            </a:r>
            <a:pPr indent="0" marL="0">
              <a:buNone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66344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480060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원인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마우스 USB 수신기 주변의 전파 간섭</a:t>
            </a:r>
            <a:endParaRPr lang="en-US" sz="1200" dirty="0"/>
          </a:p>
        </p:txBody>
      </p:sp>
      <p:sp>
        <p:nvSpPr>
          <p:cNvPr id="1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3.11 조치 방법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3.11 무선 마우스가 자꾸 끊김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4937760" cy="3566160"/>
          </a:xfrm>
          <a:prstGeom prst="roundRect">
            <a:avLst>
              <a:gd name="adj" fmla="val 3404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94360" y="114300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조치 방법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마우스 수신기를 도킹스테이션이나 모니터 포트에서 빼서 노트북 본체 USB 포트에 꽂습니다.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마우스 배터리를 확인합니다.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다시 사용해 봅니다.</a:t>
            </a:r>
            <a:endParaRPr lang="en-US" sz="1100" dirty="0"/>
          </a:p>
        </p:txBody>
      </p:sp>
      <p:sp>
        <p:nvSpPr>
          <p:cNvPr id="7" name="Shape 7"/>
          <p:cNvSpPr/>
          <p:nvPr/>
        </p:nvSpPr>
        <p:spPr>
          <a:xfrm>
            <a:off x="5577840" y="1051560"/>
            <a:ext cx="3108960" cy="967286"/>
          </a:xfrm>
          <a:prstGeom prst="roundRect">
            <a:avLst>
              <a:gd name="adj" fmla="val 666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8" name="Text 8"/>
          <p:cNvSpPr txBox="1"/>
          <p:nvPr/>
        </p:nvSpPr>
        <p:spPr>
          <a:xfrm>
            <a:off x="5715000" y="1143000"/>
            <a:ext cx="2834640" cy="784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 확인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마우스가 끊기지 않으면 해결된 것이다.</a:t>
            </a:r>
            <a:endParaRPr lang="en-US" sz="1050" dirty="0"/>
          </a:p>
        </p:txBody>
      </p:sp>
      <p:sp>
        <p:nvSpPr>
          <p:cNvPr id="9" name="Shape 9"/>
          <p:cNvSpPr/>
          <p:nvPr/>
        </p:nvSpPr>
        <p:spPr>
          <a:xfrm>
            <a:off x="5577840" y="2110286"/>
            <a:ext cx="3108960" cy="1173060"/>
          </a:xfrm>
          <a:prstGeom prst="roundRect">
            <a:avLst>
              <a:gd name="adj" fmla="val 5517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  <p:txBody>
          <a:bodyPr/>
          <a:p/>
        </p:txBody>
      </p:sp>
      <p:sp>
        <p:nvSpPr>
          <p:cNvPr id="10" name="Text 10"/>
          <p:cNvSpPr txBox="1"/>
          <p:nvPr/>
        </p:nvSpPr>
        <p:spPr>
          <a:xfrm>
            <a:off x="5715000" y="2201726"/>
            <a:ext cx="2834640" cy="990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D96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해결되지 않으면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계속 끊기면 IT-HW-002 3.6에 따라 마우스 교체를 신청한다.</a:t>
            </a:r>
            <a:endParaRPr lang="en-US" sz="1000" dirty="0"/>
          </a:p>
        </p:txBody>
      </p:sp>
      <p:sp>
        <p:nvSpPr>
          <p:cNvPr id="11" name="Shape 11"/>
          <p:cNvSpPr/>
          <p:nvPr/>
        </p:nvSpPr>
        <p:spPr>
          <a:xfrm>
            <a:off x="5577840" y="3374787"/>
            <a:ext cx="3108960" cy="1242932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2" name="Text 12"/>
          <p:cNvSpPr txBox="1"/>
          <p:nvPr/>
        </p:nvSpPr>
        <p:spPr>
          <a:xfrm>
            <a:off x="5715000" y="3466227"/>
            <a:ext cx="2834640" cy="1060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시 알려 주실 정보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사번, 마우스 모델, 수신기를 꽂은 위치</a:t>
            </a:r>
            <a:endParaRPr lang="en-US" sz="10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관련 FAQ: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FAQ-016</a:t>
            </a:r>
            <a:endParaRPr lang="en-US" sz="1000" dirty="0"/>
          </a:p>
        </p:txBody>
      </p:sp>
      <p:sp>
        <p:nvSpPr>
          <p:cNvPr id="1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3.12 증상과 원인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3.12 OS 업데이트가 '재시작 중'에서 오래 멈춰 있음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987552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457200" y="98755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유형  </a:t>
            </a:r>
            <a:pPr algn="ctr"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HW-06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304288" y="987552"/>
            <a:ext cx="384048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2304288" y="98755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주체  </a:t>
            </a:r>
            <a:pPr algn="ctr"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 담당자 처리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254496" y="987552"/>
            <a:ext cx="2432304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6254496" y="987552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부서  </a:t>
            </a:r>
            <a:pPr algn="ctr"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엔드포인트지원팀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59436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이런 경우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OS 업데이트가 '재시작 중'에서 30분째 멈춰 있다.</a:t>
            </a:r>
            <a:endParaRPr lang="en-US" sz="1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2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메시지: </a:t>
            </a:r>
            <a:pPr indent="0" marL="0">
              <a:buNone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"재시작 중"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66344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480060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원인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업데이트 설치 중 디스크 공간 부족</a:t>
            </a:r>
            <a:endParaRPr lang="en-US" sz="1200" dirty="0"/>
          </a:p>
        </p:txBody>
      </p:sp>
      <p:sp>
        <p:nvSpPr>
          <p:cNvPr id="1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3.12 조치 방법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3.12 OS 업데이트가 '재시작 중'에서 오래 멈춰 있음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4937760" cy="3566160"/>
          </a:xfrm>
          <a:prstGeom prst="roundRect">
            <a:avLst>
              <a:gd name="adj" fmla="val 3404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94360" y="114300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조치 방법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전원을 강제로 끄지 말고 노트북을 전원에 연결한 채 기다립니다.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오래 그대로면 화면을 사진으로 찍어 헬프데스크에 문의합니다. 담당자가 디스크 공간을 확보한 뒤 업데이트를 다시 진행합니다.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평소 3.1에 따라 C드라이브 여유 공간을 10% 이상 유지합니다.</a:t>
            </a:r>
            <a:endParaRPr lang="en-US" sz="1100" dirty="0"/>
          </a:p>
        </p:txBody>
      </p:sp>
      <p:sp>
        <p:nvSpPr>
          <p:cNvPr id="7" name="Shape 7"/>
          <p:cNvSpPr/>
          <p:nvPr/>
        </p:nvSpPr>
        <p:spPr>
          <a:xfrm>
            <a:off x="5577840" y="1051560"/>
            <a:ext cx="3108960" cy="914400"/>
          </a:xfrm>
          <a:prstGeom prst="roundRect">
            <a:avLst>
              <a:gd name="adj" fmla="val 666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8" name="Text 8"/>
          <p:cNvSpPr txBox="1"/>
          <p:nvPr/>
        </p:nvSpPr>
        <p:spPr>
          <a:xfrm>
            <a:off x="5715000" y="114300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 확인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업데이트가 끝나고 로그인 화면이 나오면 해결된 것이다.</a:t>
            </a:r>
            <a:endParaRPr lang="en-US" sz="1050" dirty="0"/>
          </a:p>
        </p:txBody>
      </p:sp>
      <p:sp>
        <p:nvSpPr>
          <p:cNvPr id="9" name="Shape 9"/>
          <p:cNvSpPr/>
          <p:nvPr/>
        </p:nvSpPr>
        <p:spPr>
          <a:xfrm>
            <a:off x="5577840" y="2057400"/>
            <a:ext cx="3108960" cy="1188720"/>
          </a:xfrm>
          <a:prstGeom prst="roundRect">
            <a:avLst>
              <a:gd name="adj" fmla="val 5517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  <p:txBody>
          <a:bodyPr/>
          <a:p/>
        </p:txBody>
      </p:sp>
      <p:sp>
        <p:nvSpPr>
          <p:cNvPr id="10" name="Text 10"/>
          <p:cNvSpPr txBox="1"/>
          <p:nvPr/>
        </p:nvSpPr>
        <p:spPr>
          <a:xfrm>
            <a:off x="5715000" y="214884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D96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해결되지 않으면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업데이트 후 로그인이 안 되면 3.7을 본다.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업데이트 뒤 여러 명이 같은 증상이면 IT 헬프데스크 내선 1000으로 바로 전화한다.</a:t>
            </a:r>
            <a:endParaRPr lang="en-US" sz="1000" dirty="0"/>
          </a:p>
        </p:txBody>
      </p:sp>
      <p:sp>
        <p:nvSpPr>
          <p:cNvPr id="11" name="Shape 11"/>
          <p:cNvSpPr/>
          <p:nvPr/>
        </p:nvSpPr>
        <p:spPr>
          <a:xfrm>
            <a:off x="5577840" y="3337560"/>
            <a:ext cx="3108960" cy="1280160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2" name="Text 12"/>
          <p:cNvSpPr txBox="1"/>
          <p:nvPr/>
        </p:nvSpPr>
        <p:spPr>
          <a:xfrm>
            <a:off x="5715000" y="342900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시 알려 주실 정보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사번, 멈춘 화면 사진, 멈춘 시간, C드라이브 여유 공간</a:t>
            </a:r>
            <a:endParaRPr lang="en-US" sz="10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관련 FAQ: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</a:t>
            </a:r>
            <a:endParaRPr lang="en-US" sz="1000" dirty="0"/>
          </a:p>
        </p:txBody>
      </p:sp>
      <p:sp>
        <p:nvSpPr>
          <p:cNvPr id="1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3.13 증상과 원인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3.13 OS 업데이트 후 소리가 나지 않음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987552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457200" y="98755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유형  </a:t>
            </a:r>
            <a:pPr algn="ctr"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HW-06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304288" y="987552"/>
            <a:ext cx="384048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2304288" y="98755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주체  </a:t>
            </a:r>
            <a:pPr algn="ctr"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 담당자 처리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254496" y="987552"/>
            <a:ext cx="2432304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6254496" y="987552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부서  </a:t>
            </a:r>
            <a:pPr algn="ctr"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엔드포인트지원팀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59436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이런 경우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OS 업데이트 이후로 소리가 나지 않는다.</a:t>
            </a:r>
            <a:endParaRPr lang="en-US" sz="1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2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메시지: </a:t>
            </a:r>
            <a:pPr indent="0" marL="0">
              <a:buNone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66344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480060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원인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업데이트 과정에서 오디오 드라이버가 바뀜</a:t>
            </a:r>
            <a:endParaRPr lang="en-US" sz="1200" dirty="0"/>
          </a:p>
        </p:txBody>
      </p:sp>
      <p:sp>
        <p:nvSpPr>
          <p:cNvPr id="1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3.13 조치 방법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3.13 OS 업데이트 후 소리가 나지 않음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4937760" cy="3566160"/>
          </a:xfrm>
          <a:prstGeom prst="roundRect">
            <a:avLst>
              <a:gd name="adj" fmla="val 3404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94360" y="114300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조치 방법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 표시줄의 소리 아이콘에서 출력 장치가 맞게 선택되어 있는지 확인합니다.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PC를 재부팅합니다.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그래도 소리가 나지 않으면 헬프데스크에 문의합니다. 담당자가 오디오 드라이버를 다시 설치합니다.</a:t>
            </a:r>
            <a:endParaRPr lang="en-US" sz="1100" dirty="0"/>
          </a:p>
        </p:txBody>
      </p:sp>
      <p:sp>
        <p:nvSpPr>
          <p:cNvPr id="7" name="Shape 7"/>
          <p:cNvSpPr/>
          <p:nvPr/>
        </p:nvSpPr>
        <p:spPr>
          <a:xfrm>
            <a:off x="5577840" y="1051560"/>
            <a:ext cx="3108960" cy="909085"/>
          </a:xfrm>
          <a:prstGeom prst="roundRect">
            <a:avLst>
              <a:gd name="adj" fmla="val 666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8" name="Text 8"/>
          <p:cNvSpPr txBox="1"/>
          <p:nvPr/>
        </p:nvSpPr>
        <p:spPr>
          <a:xfrm>
            <a:off x="5715000" y="1143000"/>
            <a:ext cx="2834640" cy="726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 확인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소리가 정상으로 나면 해결된 것이다.</a:t>
            </a:r>
            <a:endParaRPr lang="en-US" sz="1050" dirty="0"/>
          </a:p>
        </p:txBody>
      </p:sp>
      <p:sp>
        <p:nvSpPr>
          <p:cNvPr id="9" name="Shape 9"/>
          <p:cNvSpPr/>
          <p:nvPr/>
        </p:nvSpPr>
        <p:spPr>
          <a:xfrm>
            <a:off x="5577840" y="2052085"/>
            <a:ext cx="3108960" cy="1102477"/>
          </a:xfrm>
          <a:prstGeom prst="roundRect">
            <a:avLst>
              <a:gd name="adj" fmla="val 5517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  <p:txBody>
          <a:bodyPr/>
          <a:p/>
        </p:txBody>
      </p:sp>
      <p:sp>
        <p:nvSpPr>
          <p:cNvPr id="10" name="Text 10"/>
          <p:cNvSpPr txBox="1"/>
          <p:nvPr/>
        </p:nvSpPr>
        <p:spPr>
          <a:xfrm>
            <a:off x="5715000" y="2143525"/>
            <a:ext cx="2834640" cy="9195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D96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해결되지 않으면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화상회의에서만 소리 문제가 있으면 IT-SYS-005를 본다.</a:t>
            </a:r>
            <a:endParaRPr lang="en-US" sz="1000" dirty="0"/>
          </a:p>
        </p:txBody>
      </p:sp>
      <p:sp>
        <p:nvSpPr>
          <p:cNvPr id="11" name="Shape 11"/>
          <p:cNvSpPr/>
          <p:nvPr/>
        </p:nvSpPr>
        <p:spPr>
          <a:xfrm>
            <a:off x="5577840" y="3246003"/>
            <a:ext cx="3108960" cy="1371716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2" name="Text 12"/>
          <p:cNvSpPr txBox="1"/>
          <p:nvPr/>
        </p:nvSpPr>
        <p:spPr>
          <a:xfrm>
            <a:off x="5715000" y="3337443"/>
            <a:ext cx="2834640" cy="1188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시 알려 주실 정보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사번, 업데이트 날짜, 출력 장치, 이미 해 본 조치</a:t>
            </a:r>
            <a:endParaRPr lang="en-US" sz="10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관련 FAQ: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</a:t>
            </a:r>
            <a:endParaRPr lang="en-US" sz="1000" dirty="0"/>
          </a:p>
        </p:txBody>
      </p:sp>
      <p:sp>
        <p:nvSpPr>
          <p:cNvPr id="1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자주 묻는 질문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자주 묻는 질문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4023360" cy="3200400"/>
          </a:xfrm>
          <a:prstGeom prst="roundRect">
            <a:avLst>
              <a:gd name="adj" fmla="val 4324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94360" y="1161288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Q.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PC가 너무 느려요. (FAQ-015)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D96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A.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재부팅 후에도 느리다면 작업 관리자에서 CPU·메모리·디스크 사용률을 확인하세요. C드라이브 여유 공간이 10% 미만이면 디스크 정리를 실행하세요. 계속 느리면 원격 점검을 요청하세요.</a:t>
            </a:r>
            <a:endParaRPr lang="en-US" sz="1200" dirty="0"/>
          </a:p>
        </p:txBody>
      </p:sp>
      <p:sp>
        <p:nvSpPr>
          <p:cNvPr id="7" name="Shape 2"/>
          <p:cNvSpPr/>
          <p:nvPr/>
        </p:nvSpPr>
        <p:spPr>
          <a:xfrm>
            <a:off x="4663440" y="1051560"/>
            <a:ext cx="4023360" cy="3200400"/>
          </a:xfrm>
          <a:prstGeom prst="roundRect">
            <a:avLst>
              <a:gd name="adj" fmla="val 4324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8" name="Text 3"/>
          <p:cNvSpPr txBox="1"/>
          <p:nvPr/>
        </p:nvSpPr>
        <p:spPr>
          <a:xfrm>
            <a:off x="4800600" y="1161288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Q.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외부 모니터가 인식되지 않아요. (FAQ-016)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D96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A.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케이블을 다시 연결하고 디스플레이 설정에서 '감지'를 눌러 보세요. 도킹스테이션을 쓰는 경우 도킹 전원을 껐다 켜 보세요.</a:t>
            </a:r>
            <a:endParaRPr lang="en-US" sz="1200" dirty="0"/>
          </a:p>
        </p:txBody>
      </p:sp>
      <p:sp>
        <p:nvSpPr>
          <p:cNvPr id="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주의사항 · 6. 문의처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주의사항 · 문의처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3474720" cy="3566160"/>
          </a:xfrm>
          <a:prstGeom prst="roundRect">
            <a:avLst>
              <a:gd name="adj" fmla="val 2105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94360" y="1143000"/>
            <a:ext cx="32004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D96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주의사항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업데이트 중에는 전원을 강제로 끄지 않는다.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복구 키를 추측해 여러 번 입력하지 않는다.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보안 프로그램 폴더나 시스템 폴더의 파일을 직접 지우지 않는다.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 파일은 PC가 아니라 팀 공유 드라이브에 저장한다.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114800" y="1051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 문의처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0" y="1417320"/>
          <a:ext cx="45720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34747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담당 부서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엔드포인트지원팀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1차 접수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서비스데스크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전화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IT 헬프데스크 내선 1000 (평일 09:00~18:00)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메신저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#it-helpdesk 채널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메일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it-helpdesk@hanwha-ict.example (가상)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부록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부록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4023360" cy="1920240"/>
          </a:xfrm>
          <a:prstGeom prst="roundRect">
            <a:avLst>
              <a:gd name="adj" fmla="val 381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94360" y="1143000"/>
            <a:ext cx="3749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관련 문서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IT-HW-002 업무 장비 교체·수리 신청 가이드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IT-NET-002 사내 네트워크 장애 대응 가이드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IT-SW-003 SW 실행·업데이트 오류 가이드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IT-SYS-005 메신저·화상회의·협업 도구 가이드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IT-STD-001 IT 서비스 운영 기준</a:t>
            </a:r>
            <a:endParaRPr lang="en-US" sz="10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051560"/>
          <a:ext cx="402336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926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용어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설명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디스크 정리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임시 파일 등을 지워 저장 공간을 늘리는 Windows 기능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안전 모드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최소한의 드라이버로 PC를 켜는 점검용 모드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복구 키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디스크 암호화가 복구 모드로 바뀌었을 때 입력하는 긴 숫자 키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도킹스테이션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노트북에 모니터·랜선·USB 장치를 한 번에 연결하는 장치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200400"/>
          <a:ext cx="82296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463040"/>
                <a:gridCol w="1828800"/>
                <a:gridCol w="40233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버전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개정일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작성자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변경 내용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v1.0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2026-03-01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엔드포인트지원팀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최초 작성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T Guide">
  <a:themeElements>
    <a:clrScheme name="IT Guide">
      <a:dk1>
        <a:srgbClr val="1E2A36"/>
      </a:dk1>
      <a:lt1>
        <a:srgbClr val="FFFFFF"/>
      </a:lt1>
      <a:dk2>
        <a:srgbClr val="1F3A5F"/>
      </a:dk2>
      <a:lt2>
        <a:srgbClr val="EEF3F7"/>
      </a:lt2>
      <a:accent1>
        <a:srgbClr val="1F3A5F"/>
      </a:accent1>
      <a:accent2>
        <a:srgbClr val="1B6F7A"/>
      </a:accent2>
      <a:accent3>
        <a:srgbClr val="D9661F"/>
      </a:accent3>
      <a:accent4>
        <a:srgbClr val="1E8E5A"/>
      </a:accent4>
      <a:accent5>
        <a:srgbClr val="C98A00"/>
      </a:accent5>
      <a:accent6>
        <a:srgbClr val="C0392B"/>
      </a:accent6>
      <a:hlink>
        <a:srgbClr val="1B6F7A"/>
      </a:hlink>
      <a:folHlink>
        <a:srgbClr val="8A949E"/>
      </a:folHlink>
    </a:clrScheme>
    <a:fontScheme name="IT Guid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IT-HW-001 업무 PC 기본 장애 대응 가이드</dc:title>
  <dc:subject>PptxGenJS Presentation</dc:subject>
  <dc:creator>엔드포인트지원팀</dc:creator>
  <cp:lastModifiedBy>엔드포인트지원팀</cp:lastModifiedBy>
  <cp:revision>1</cp:revision>
  <dcterms:created xsi:type="dcterms:W3CDTF">2026-10-08T16:02:03Z</dcterms:created>
  <dcterms:modified xsi:type="dcterms:W3CDTF">2026-10-08T16:02:03Z</dcterms:modified>
</cp:coreProperties>
</file>