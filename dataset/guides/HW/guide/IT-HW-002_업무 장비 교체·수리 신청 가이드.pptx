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6" r:id="rId11"/>
    <p:sldId id="277" r:id="rId10"/>
    <p:sldId id="278" r:id="rId9"/>
    <p:sldId id="279" r:id="rId8"/>
    <p:sldId id="280" r:id="rId7"/>
    <p:sldId id="281" r:id="rId6"/>
    <p:sldId id="298" r:id="rId25"/>
    <p:sldId id="282" r:id="rId5"/>
    <p:sldId id="283" r:id="rId4"/>
    <p:sldId id="299" r:id="rId24"/>
    <p:sldId id="284" r:id="rId3"/>
    <p:sldId id="285" r:id="rId2"/>
    <p:sldId id="297" r:id="rId26"/>
    <p:sldId id="286" r:id="rId27"/>
    <p:sldId id="287" r:id="rId28"/>
    <p:sldId id="300" r:id="rId23"/>
    <p:sldId id="288" r:id="rId29"/>
    <p:sldId id="289" r:id="rId30"/>
    <p:sldId id="301" r:id="rId22"/>
    <p:sldId id="290" r:id="rId31"/>
    <p:sldId id="291" r:id="rId32"/>
    <p:sldId id="302" r:id="rId21"/>
    <p:sldId id="292" r:id="rId33"/>
    <p:sldId id="293" r:id="rId34"/>
    <p:sldId id="303" r:id="rId20"/>
    <p:sldId id="294" r:id="rId35"/>
    <p:sldId id="295" r:id="rId36"/>
    <p:sldId id="296" r:id="rId37"/>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개요" id="{1e135809-89c7-21bf-bc1a-b56889e0c19a}">
          <p14:sldIdLst>
            <p14:sldId id="256"/>
            <p14:sldId id="257"/>
            <p14:sldId id="258"/>
            <p14:sldId id="259"/>
          </p14:sldIdLst>
        </p14:section>
        <p14:section name="3.1 신청 항목" id="{9492bc22-f949-be1e-96f6-2f9901ffea29}">
          <p14:sldIdLst>
            <p14:sldId id="260"/>
            <p14:sldId id="261"/>
            <p14:sldId id="262"/>
          </p14:sldIdLst>
        </p14:section>
        <p14:section name="FAQ·문의처" id="{32f9cec8-64c5-5a15-4ba9-ef45dffcf32d}">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 Type="http://schemas.openxmlformats.org/officeDocument/2006/relationships/slide" Target="slides/slide28.xml"/><Relationship Id="rId21" Type="http://schemas.openxmlformats.org/officeDocument/2006/relationships/slide" Target="slides/slide27.xml"/><Relationship Id="rId22" Type="http://schemas.openxmlformats.org/officeDocument/2006/relationships/slide" Target="slides/slide26.xml"/><Relationship Id="rId23" Type="http://schemas.openxmlformats.org/officeDocument/2006/relationships/slide" Target="slides/slide25.xml"/><Relationship Id="rId24" Type="http://schemas.openxmlformats.org/officeDocument/2006/relationships/slide" Target="slides/slide24.xml"/><Relationship Id="rId25" Type="http://schemas.openxmlformats.org/officeDocument/2006/relationships/slide" Target="slides/slide23.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08760"/>
            <a:ext cx="8046720" cy="1005840"/>
          </a:xfrm>
          <a:prstGeom prst="rect">
            <a:avLst/>
          </a:prstGeom>
          <a:noFill/>
          <a:ln/>
        </p:spPr>
        <p:txBody>
          <a:bodyPr wrap="square" rtlCol="0"/>
          <a:lstStyle>
            <a:lvl1pPr algn="l" indent="0" marL="0">
              <a:buNone/>
              <a:defRPr lang="en-US" sz="32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02920"/>
          </a:xfrm>
          <a:prstGeom prst="rect">
            <a:avLst/>
          </a:prstGeom>
          <a:noFill/>
          <a:ln/>
        </p:spPr>
        <p:txBody>
          <a:bodyPr wrap="square" rtlCol="0"/>
          <a:lstStyle>
            <a:lvl1pPr algn="l" indent="0" marL="0">
              <a:buNone/>
              <a:defRPr lang="en-US" sz="2000" b="1" dirty="0">
                <a:solidFill>
                  <a:srgbClr val="1F3A5F"/>
                </a:solidFill>
                <a:latin typeface="맑은 고딕" pitchFamily="34" charset="0"/>
                <a:ea typeface="맑은 고딕" pitchFamily="34" charset="-122"/>
                <a:cs typeface="맑은 고딕" pitchFamily="34" charset="-120"/>
              </a:defRPr>
            </a:lvl1pPr>
          </a:lstStyle>
          <a:p>
            <a:pPr algn="l" indent="0" marL="0">
              <a:buNone/>
            </a:pPr>
            <a:endParaRPr lang="en-US" sz="20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A949E"/>
                </a:solidFill>
                <a:latin typeface="맑은 고딕" pitchFamily="34" charset="0"/>
                <a:ea typeface="맑은 고딕" pitchFamily="34" charset="-122"/>
                <a:cs typeface="맑은 고딕" pitchFamily="34" charset="-120"/>
              </a:rPr>
              <a:t>IT-HW-002  업무 장비 교체·수리 신청 가이드  |  v1.0  |  사내 공개</a:t>
            </a:r>
            <a:endParaRPr lang="en-US" sz="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548640" y="1508760"/>
            <a:ext cx="8046720" cy="1005840"/>
          </a:xfrm>
          <a:prstGeom prst="rect">
            <a:avLst/>
          </a:prstGeom>
          <a:noFill/>
          <a:ln/>
        </p:spPr>
        <p:txBody>
          <a:bodyPr wrap="square" lIns="0" tIns="0" rIns="0" bIns="0" rtlCol="0" anchor="b"/>
          <a:lstStyle/>
          <a:p>
            <a:pPr algn="l" indent="0" marL="0">
              <a:buNone/>
            </a:pPr>
            <a:r>
              <a:rPr lang="en-US" sz="3200" b="1" dirty="0">
                <a:solidFill>
                  <a:srgbClr val="FFFFFF"/>
                </a:solidFill>
                <a:latin typeface="맑은 고딕" pitchFamily="34" charset="0"/>
                <a:ea typeface="맑은 고딕" pitchFamily="34" charset="-122"/>
                <a:cs typeface="맑은 고딕" pitchFamily="34" charset="-120"/>
              </a:rPr>
              <a:t>업무 장비 교체·수리 신청 가이드</a:t>
            </a:r>
            <a:endParaRPr lang="en-US" sz="3200" dirty="0"/>
          </a:p>
        </p:txBody>
      </p:sp>
      <p:sp>
        <p:nvSpPr>
          <p:cNvPr id="4" name="Text 1"/>
          <p:cNvSpPr txBox="1"/>
          <p:nvPr/>
        </p:nvSpPr>
        <p:spPr>
          <a:xfrm>
            <a:off x="548640" y="1097280"/>
            <a:ext cx="8046720" cy="320040"/>
          </a:xfrm>
          <a:prstGeom prst="rect">
            <a:avLst/>
          </a:prstGeom>
          <a:noFill/>
          <a:ln/>
        </p:spPr>
        <p:txBody>
          <a:bodyPr wrap="square" lIns="0" tIns="0" rIns="0" bIns="0" rtlCol="0" anchor="ctr"/>
          <a:lstStyle/>
          <a:p>
            <a:pPr indent="0" marL="0">
              <a:buNone/>
            </a:pPr>
            <a:r>
              <a:rPr lang="en-US" sz="1400" b="1" dirty="0">
                <a:solidFill>
                  <a:srgbClr val="F2A46F"/>
                </a:solidFill>
                <a:latin typeface="맑은 고딕" pitchFamily="34" charset="0"/>
                <a:ea typeface="맑은 고딕" pitchFamily="34" charset="-122"/>
                <a:cs typeface="맑은 고딕" pitchFamily="34" charset="-120"/>
              </a:rPr>
              <a:t>사내 IT 가이드</a:t>
            </a:r>
            <a:endParaRPr lang="en-US" sz="1400" dirty="0"/>
          </a:p>
        </p:txBody>
      </p:sp>
      <p:sp>
        <p:nvSpPr>
          <p:cNvPr id="5" name="Text 2"/>
          <p:cNvSpPr txBox="1"/>
          <p:nvPr/>
        </p:nvSpPr>
        <p:spPr>
          <a:xfrm>
            <a:off x="548640" y="2697480"/>
            <a:ext cx="8046720" cy="320040"/>
          </a:xfrm>
          <a:prstGeom prst="rect">
            <a:avLst/>
          </a:prstGeom>
          <a:noFill/>
          <a:ln/>
        </p:spPr>
        <p:txBody>
          <a:bodyPr wrap="square" lIns="0" tIns="0" rIns="0" bIns="0" rtlCol="0" anchor="ctr"/>
          <a:lstStyle/>
          <a:p>
            <a:pPr indent="0" marL="0">
              <a:buNone/>
            </a:pPr>
            <a:r>
              <a:rPr lang="en-US" sz="1200" dirty="0">
                <a:solidFill>
                  <a:srgbClr val="D6E0E8"/>
                </a:solidFill>
                <a:latin typeface="맑은 고딕" pitchFamily="34" charset="0"/>
                <a:ea typeface="맑은 고딕" pitchFamily="34" charset="-122"/>
                <a:cs typeface="맑은 고딕" pitchFamily="34" charset="-120"/>
              </a:rPr>
              <a:t>IT-HW-002   |   v1.0   |   시행일 2026-03-01   |   사내 공개</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문서 정보</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문서 정보</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005840"/>
                <a:gridCol w="3108960"/>
                <a:gridCol w="1005840"/>
                <a:gridCol w="3108960"/>
              </a:tblGrid>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문서 번호</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IT-HW-002</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버전</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v1.0</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분류</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HW HW·업무 PC</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문서 유형</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신청·절차 안내</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대상</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전 임직원 (회사 지급 장비 사용자)</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보안 등급</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사내 공개</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관리 부서</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엔드포인트지원팀</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시행일</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2026-03-01</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작성자</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엔드포인트지원팀</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승인자</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엔드포인트지원팀장</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담당자 매뉴얼</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IT-HW-002-M</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포함 시나리오</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HW-04, HW-05</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457200" y="3566160"/>
          <a:ext cx="8229600" cy="914400"/>
        </p:xfrm>
        <a:graphic>
          <a:graphicData uri="http://schemas.openxmlformats.org/drawingml/2006/table">
            <a:tbl>
              <a:tblPr/>
              <a:tblGrid>
                <a:gridCol w="1005840"/>
                <a:gridCol w="7223760"/>
              </a:tblGrid>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키워드</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노트북에 물을 쏟았어요, 커피, 음료, 침수, 파손, 액정, 수리, 키보드 일부 키가 안 눌려요, USB 포트 인식 불량, 정전, 무상 보증, 대여 노트북, 교체, 교체 주기 3년, 노트북 교체 가능한가요, 고사양 노트북, 반납, PC 반납 절차, 초기화, 신규 입사자 PC 준비, 마우스 고장, 키보드 신청, 비품</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sp>
        <p:nvSpPr>
          <p:cNvPr id="7"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1. 개요</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1. 개요</a:t>
            </a:r>
            <a:endParaRPr lang="en-US" sz="2000" dirty="0"/>
          </a:p>
        </p:txBody>
      </p:sp>
      <p:sp>
        <p:nvSpPr>
          <p:cNvPr id="5" name="Shape 2"/>
          <p:cNvSpPr/>
          <p:nvPr/>
        </p:nvSpPr>
        <p:spPr>
          <a:xfrm>
            <a:off x="457200" y="1051560"/>
            <a:ext cx="4023360" cy="1691640"/>
          </a:xfrm>
          <a:prstGeom prst="roundRect">
            <a:avLst>
              <a:gd name="adj" fmla="val 4324"/>
            </a:avLst>
          </a:prstGeom>
          <a:solidFill>
            <a:srgbClr val="EEF3F7"/>
          </a:solidFill>
          <a:ln w="12700">
            <a:solidFill>
              <a:srgbClr val="EEF3F7"/>
            </a:solidFill>
            <a:prstDash val="solid"/>
          </a:ln>
        </p:spPr>
        <p:txBody>
          <a:bodyPr/>
          <a:p/>
        </p:txBody>
      </p:sp>
      <p:sp>
        <p:nvSpPr>
          <p:cNvPr id="6" name="Text 3"/>
          <p:cNvSpPr txBox="1"/>
          <p:nvPr/>
        </p:nvSpPr>
        <p:spPr>
          <a:xfrm>
            <a:off x="594360" y="1143000"/>
            <a:ext cx="3749040" cy="150876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목적</a:t>
            </a:r>
            <a:endParaRPr lang="en-US" sz="1300" dirty="0"/>
          </a:p>
          <a:p>
            <a:pPr indent="0" marL="0">
              <a:spcAft>
                <a:spcPts val="300"/>
              </a:spcAft>
              <a:buNone/>
            </a:pPr>
            <a:r>
              <a:rPr lang="en-US" sz="1200" dirty="0">
                <a:solidFill>
                  <a:srgbClr val="1E2A36"/>
                </a:solidFill>
                <a:latin typeface="맑은 고딕" pitchFamily="34" charset="0"/>
                <a:ea typeface="맑은 고딕" pitchFamily="34" charset="-122"/>
                <a:cs typeface="맑은 고딕" pitchFamily="34" charset="-120"/>
              </a:rPr>
              <a:t>업무 장비의 파손·고장 수리, 교체, 신규 지급, 주변기기 교체, 반납을 신청하는 방법을 안내한다.</a:t>
            </a:r>
            <a:endParaRPr lang="en-US" sz="1200" dirty="0"/>
          </a:p>
        </p:txBody>
      </p:sp>
      <p:sp>
        <p:nvSpPr>
          <p:cNvPr id="7" name="Shape 4"/>
          <p:cNvSpPr/>
          <p:nvPr/>
        </p:nvSpPr>
        <p:spPr>
          <a:xfrm>
            <a:off x="457200" y="2834640"/>
            <a:ext cx="4023360" cy="1783080"/>
          </a:xfrm>
          <a:prstGeom prst="roundRect">
            <a:avLst>
              <a:gd name="adj" fmla="val 4103"/>
            </a:avLst>
          </a:prstGeom>
          <a:solidFill>
            <a:srgbClr val="EEF3F7"/>
          </a:solidFill>
          <a:ln w="12700">
            <a:solidFill>
              <a:srgbClr val="EEF3F7"/>
            </a:solidFill>
            <a:prstDash val="solid"/>
          </a:ln>
        </p:spPr>
        <p:txBody>
          <a:bodyPr/>
          <a:p/>
        </p:txBody>
      </p:sp>
      <p:sp>
        <p:nvSpPr>
          <p:cNvPr id="8" name="Text 5"/>
          <p:cNvSpPr txBox="1"/>
          <p:nvPr/>
        </p:nvSpPr>
        <p:spPr>
          <a:xfrm>
            <a:off x="594360" y="2926080"/>
            <a:ext cx="3749040" cy="16002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적용 대상</a:t>
            </a:r>
            <a:endParaRPr lang="en-US" sz="1300" dirty="0"/>
          </a:p>
          <a:p>
            <a:pPr indent="0" marL="0">
              <a:spcAft>
                <a:spcPts val="300"/>
              </a:spcAft>
              <a:buNone/>
            </a:pPr>
            <a:r>
              <a:rPr lang="en-US" sz="1200" dirty="0">
                <a:solidFill>
                  <a:srgbClr val="1E2A36"/>
                </a:solidFill>
                <a:latin typeface="맑은 고딕" pitchFamily="34" charset="0"/>
                <a:ea typeface="맑은 고딕" pitchFamily="34" charset="-122"/>
                <a:cs typeface="맑은 고딕" pitchFamily="34" charset="-120"/>
              </a:rPr>
              <a:t>회사가 지급한 노트북·데스크톱과 마우스·키보드 등 주변기기에 해당한다. 개인 장비는 대상이 아니다. PC가 느리거나 부팅되지 않는 증상은 IT-HW-001을 먼저 본다.</a:t>
            </a:r>
            <a:endParaRPr lang="en-US" sz="1200" dirty="0"/>
          </a:p>
        </p:txBody>
      </p:sp>
      <p:sp>
        <p:nvSpPr>
          <p:cNvPr id="9" name="Text 6"/>
          <p:cNvSpPr txBox="1"/>
          <p:nvPr/>
        </p:nvSpPr>
        <p:spPr>
          <a:xfrm>
            <a:off x="4663440" y="1051560"/>
            <a:ext cx="4023360" cy="274320"/>
          </a:xfrm>
          <a:prstGeom prst="rect">
            <a:avLst/>
          </a:prstGeom>
          <a:noFill/>
          <a:ln/>
        </p:spPr>
        <p:txBody>
          <a:bodyPr wrap="square" lIns="0" tIns="0" rIns="0" bIns="0" rtlCol="0" anchor="ctr"/>
          <a:lstStyle/>
          <a:p>
            <a:pPr indent="0" marL="0">
              <a:buNone/>
            </a:pPr>
            <a:r>
              <a:rPr lang="en-US" sz="1300" b="1" dirty="0">
                <a:solidFill>
                  <a:srgbClr val="1F3A5F"/>
                </a:solidFill>
                <a:latin typeface="맑은 고딕" pitchFamily="34" charset="0"/>
                <a:ea typeface="맑은 고딕" pitchFamily="34" charset="-122"/>
                <a:cs typeface="맑은 고딕" pitchFamily="34" charset="-120"/>
              </a:rPr>
              <a:t>관련 시스템</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63440" y="1417320"/>
          <a:ext cx="4023360" cy="914400"/>
        </p:xfrm>
        <a:graphic>
          <a:graphicData uri="http://schemas.openxmlformats.org/drawingml/2006/table">
            <a:tbl>
              <a:tblPr/>
              <a:tblGrid>
                <a:gridCol w="1188720"/>
                <a:gridCol w="2834640"/>
              </a:tblGrid>
              <a:tr h="0">
                <a:tc>
                  <a:txBody>
                    <a:bodyPr/>
                    <a:lstStyle/>
                    <a:p>
                      <a:pPr indent="0" marL="0">
                        <a:buNone/>
                      </a:pPr>
                      <a:r>
                        <a:rPr lang="en-US" sz="1100" b="1" dirty="0">
                          <a:solidFill>
                            <a:srgbClr val="1F3A5F"/>
                          </a:solidFill>
                          <a:latin typeface="맑은 고딕" pitchFamily="34" charset="0"/>
                          <a:ea typeface="맑은 고딕" pitchFamily="34" charset="-122"/>
                          <a:cs typeface="맑은 고딕" pitchFamily="34" charset="-120"/>
                        </a:rPr>
                        <a:t>신청 경로</a:t>
                      </a:r>
                      <a:endParaRPr lang="en-US" sz="11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a:t>
                      </a:r>
                      <a:endParaRPr lang="en-US" sz="11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3A5F"/>
                          </a:solidFill>
                          <a:latin typeface="맑은 고딕" pitchFamily="34" charset="0"/>
                          <a:ea typeface="맑은 고딕" pitchFamily="34" charset="-122"/>
                          <a:cs typeface="맑은 고딕" pitchFamily="34" charset="-120"/>
                        </a:rPr>
                        <a:t>관련 시스템</a:t>
                      </a:r>
                      <a:endParaRPr lang="en-US" sz="11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100" dirty="0">
                          <a:solidFill>
                            <a:srgbClr val="1E2A36"/>
                          </a:solidFill>
                          <a:latin typeface="맑은 고딕" pitchFamily="34" charset="0"/>
                          <a:ea typeface="맑은 고딕" pitchFamily="34" charset="-122"/>
                          <a:cs typeface="맑은 고딕" pitchFamily="34" charset="-120"/>
                        </a:rPr>
                        <a:t>자산</a:t>
                      </a:r>
                      <a:endParaRPr lang="en-US" sz="11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sp>
        <p:nvSpPr>
          <p:cNvPr id="1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2. 신청 전 확인 사항 · 3. 신청 항목별 안내</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신청 전 확인 사항 · 신청 항목 목록</a:t>
            </a:r>
            <a:endParaRPr lang="en-US" sz="2000" dirty="0"/>
          </a:p>
        </p:txBody>
      </p:sp>
      <p:sp>
        <p:nvSpPr>
          <p:cNvPr id="5" name="Shape 2"/>
          <p:cNvSpPr/>
          <p:nvPr/>
        </p:nvSpPr>
        <p:spPr>
          <a:xfrm>
            <a:off x="457200" y="1051560"/>
            <a:ext cx="3291840" cy="3566160"/>
          </a:xfrm>
          <a:prstGeom prst="roundRect">
            <a:avLst>
              <a:gd name="adj" fmla="val 2222"/>
            </a:avLst>
          </a:prstGeom>
          <a:solidFill>
            <a:srgbClr val="EEF3F7"/>
          </a:solidFill>
          <a:ln w="12700">
            <a:solidFill>
              <a:srgbClr val="EEF3F7"/>
            </a:solidFill>
            <a:prstDash val="solid"/>
          </a:ln>
        </p:spPr>
        <p:txBody>
          <a:bodyPr/>
          <a:p/>
        </p:txBody>
      </p:sp>
      <p:sp>
        <p:nvSpPr>
          <p:cNvPr id="6" name="Text 3"/>
          <p:cNvSpPr txBox="1"/>
          <p:nvPr/>
        </p:nvSpPr>
        <p:spPr>
          <a:xfrm>
            <a:off x="594360" y="1143000"/>
            <a:ext cx="301752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2. 신청 전 확인 사항</a:t>
            </a:r>
            <a:endParaRPr lang="en-US" sz="1300" dirty="0"/>
          </a:p>
          <a:p>
            <a:pPr marL="342900" indent="-342900">
              <a:spcAft>
                <a:spcPts val="300"/>
              </a:spcAft>
              <a:buSzPct val="100000"/>
              <a:buFont typeface="+mj-lt"/>
              <a:buAutoNum type="arabicPeriod" startAt="1"/>
            </a:pPr>
            <a:r>
              <a:rPr lang="en-US" sz="1150" dirty="0">
                <a:solidFill>
                  <a:srgbClr val="1E2A36"/>
                </a:solidFill>
                <a:latin typeface="맑은 고딕" pitchFamily="34" charset="0"/>
                <a:ea typeface="맑은 고딕" pitchFamily="34" charset="-122"/>
                <a:cs typeface="맑은 고딕" pitchFamily="34" charset="-120"/>
              </a:rPr>
              <a:t>음료를 쏟았거나 떨어뜨렸으면 바로 전원을 끄고 충전기를 뺀다. 다시 켜 보지 않는다.</a:t>
            </a:r>
            <a:endParaRPr lang="en-US" sz="1150" dirty="0"/>
          </a:p>
          <a:p>
            <a:pPr marL="342900" indent="-342900">
              <a:spcAft>
                <a:spcPts val="300"/>
              </a:spcAft>
              <a:buSzPct val="100000"/>
              <a:buFont typeface="+mj-lt"/>
              <a:buAutoNum type="arabicPeriod" startAt="1"/>
            </a:pPr>
            <a:r>
              <a:rPr lang="en-US" sz="1150" dirty="0">
                <a:solidFill>
                  <a:srgbClr val="1E2A36"/>
                </a:solidFill>
                <a:latin typeface="맑은 고딕" pitchFamily="34" charset="0"/>
                <a:ea typeface="맑은 고딕" pitchFamily="34" charset="-122"/>
                <a:cs typeface="맑은 고딕" pitchFamily="34" charset="-120"/>
              </a:rPr>
              <a:t>업무용 PC 교체 주기는 지급일로부터 3년이다.</a:t>
            </a:r>
            <a:endParaRPr lang="en-US" sz="1150" dirty="0"/>
          </a:p>
          <a:p>
            <a:pPr marL="342900" indent="-342900">
              <a:spcAft>
                <a:spcPts val="300"/>
              </a:spcAft>
              <a:buSzPct val="100000"/>
              <a:buFont typeface="+mj-lt"/>
              <a:buAutoNum type="arabicPeriod" startAt="1"/>
            </a:pPr>
            <a:r>
              <a:rPr lang="en-US" sz="1150" dirty="0">
                <a:solidFill>
                  <a:srgbClr val="1E2A36"/>
                </a:solidFill>
                <a:latin typeface="맑은 고딕" pitchFamily="34" charset="0"/>
                <a:ea typeface="맑은 고딕" pitchFamily="34" charset="-122"/>
                <a:cs typeface="맑은 고딕" pitchFamily="34" charset="-120"/>
              </a:rPr>
              <a:t>개발 직군은 macOS/Windows 중 선택할 수 있고, 그 외 직군은 Windows가 기본이다.</a:t>
            </a:r>
            <a:endParaRPr lang="en-US" sz="1150" dirty="0"/>
          </a:p>
          <a:p>
            <a:pPr marL="342900" indent="-342900">
              <a:spcAft>
                <a:spcPts val="300"/>
              </a:spcAft>
              <a:buSzPct val="100000"/>
              <a:buFont typeface="+mj-lt"/>
              <a:buAutoNum type="arabicPeriod" startAt="1"/>
            </a:pPr>
            <a:r>
              <a:rPr lang="en-US" sz="1150" dirty="0">
                <a:solidFill>
                  <a:srgbClr val="1E2A36"/>
                </a:solidFill>
                <a:latin typeface="맑은 고딕" pitchFamily="34" charset="0"/>
                <a:ea typeface="맑은 고딕" pitchFamily="34" charset="-122"/>
                <a:cs typeface="맑은 고딕" pitchFamily="34" charset="-120"/>
              </a:rPr>
              <a:t>PC가 느리거나 부팅이 안 되는 증상은 IT-HW-001을 먼저 본다.</a:t>
            </a:r>
            <a:endParaRPr lang="en-US" sz="1150" dirty="0"/>
          </a:p>
          <a:p>
            <a:pPr marL="342900" indent="-342900">
              <a:spcAft>
                <a:spcPts val="300"/>
              </a:spcAft>
              <a:buSzPct val="100000"/>
              <a:buFont typeface="+mj-lt"/>
              <a:buAutoNum type="arabicPeriod" startAt="1"/>
            </a:pPr>
            <a:r>
              <a:rPr lang="en-US" sz="1150" dirty="0">
                <a:solidFill>
                  <a:srgbClr val="1E2A36"/>
                </a:solidFill>
                <a:latin typeface="맑은 고딕" pitchFamily="34" charset="0"/>
                <a:ea typeface="맑은 고딕" pitchFamily="34" charset="-122"/>
                <a:cs typeface="맑은 고딕" pitchFamily="34" charset="-120"/>
              </a:rPr>
              <a:t>정전 등으로 같은 층의 여러 장비가 한꺼번에 고장 나면 각자 신청하지 말고 IT 헬프데스크 내선 1000으로 바로 전화한다.</a:t>
            </a:r>
            <a:endParaRPr lang="en-US" sz="1150" dirty="0"/>
          </a:p>
          <a:p>
            <a:pPr marL="342900" indent="-342900">
              <a:spcAft>
                <a:spcPts val="300"/>
              </a:spcAft>
              <a:buSzPct val="100000"/>
              <a:buFont typeface="+mj-lt"/>
              <a:buAutoNum type="arabicPeriod" startAt="1"/>
            </a:pPr>
            <a:r>
              <a:rPr lang="en-US" sz="1150" dirty="0">
                <a:solidFill>
                  <a:srgbClr val="1E2A36"/>
                </a:solidFill>
                <a:latin typeface="맑은 고딕" pitchFamily="34" charset="0"/>
                <a:ea typeface="맑은 고딕" pitchFamily="34" charset="-122"/>
                <a:cs typeface="맑은 고딕" pitchFamily="34" charset="-120"/>
              </a:rPr>
              <a:t>장비를 잃어버렸으면 IT-SEC-003 3.7에 따라 바로 신고한다.</a:t>
            </a:r>
            <a:endParaRPr lang="en-US" sz="1150" dirty="0"/>
          </a:p>
        </p:txBody>
      </p:sp>
      <p:sp>
        <p:nvSpPr>
          <p:cNvPr id="7" name="Text 4"/>
          <p:cNvSpPr txBox="1"/>
          <p:nvPr/>
        </p:nvSpPr>
        <p:spPr>
          <a:xfrm>
            <a:off x="3931920" y="1051560"/>
            <a:ext cx="4754880" cy="274320"/>
          </a:xfrm>
          <a:prstGeom prst="rect">
            <a:avLst/>
          </a:prstGeom>
          <a:noFill/>
          <a:ln/>
        </p:spPr>
        <p:txBody>
          <a:bodyPr wrap="square" lIns="0" tIns="0" rIns="0" bIns="0" rtlCol="0" anchor="ctr"/>
          <a:lstStyle/>
          <a:p>
            <a:pPr indent="0" marL="0">
              <a:buNone/>
            </a:pPr>
            <a:r>
              <a:rPr lang="en-US" sz="1300" b="1" dirty="0">
                <a:solidFill>
                  <a:srgbClr val="1F3A5F"/>
                </a:solidFill>
                <a:latin typeface="맑은 고딕" pitchFamily="34" charset="0"/>
                <a:ea typeface="맑은 고딕" pitchFamily="34" charset="-122"/>
                <a:cs typeface="맑은 고딕" pitchFamily="34" charset="-120"/>
              </a:rPr>
              <a:t>3. 신청 항목 목록</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931920" y="1417320"/>
          <a:ext cx="4754880" cy="914400"/>
        </p:xfrm>
        <a:graphic>
          <a:graphicData uri="http://schemas.openxmlformats.org/drawingml/2006/table">
            <a:tbl>
              <a:tblPr/>
              <a:tblGrid>
                <a:gridCol w="411480"/>
                <a:gridCol w="1874520"/>
                <a:gridCol w="868680"/>
                <a:gridCol w="868680"/>
                <a:gridCol w="731520"/>
              </a:tblGrid>
              <a:tr h="0">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번호</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제목</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문의 유형</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처리 주체</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담당 부서</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3.1</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노트북 침수·파손 수리 신청</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HW-04</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3.2</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키보드·포트 등 부품 고장 수리 신청</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HW-04</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3.3</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교체 주기(3년)가 지난 노트북 교체 신청</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3.4</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교체 주기 전 고사양 노트북 신청</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신청·승인 후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3.5</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신규 입사자 PC 준비 요청</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3.6</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마우스·키보드 등 주변기기 교체 신청</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3.7</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퇴사·교체 시 장비 반납</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sp>
        <p:nvSpPr>
          <p:cNvPr id="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3.1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3.1 노트북 침수·파손 수리 신청</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HW-04</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접수 후 1영업일</a:t>
            </a:r>
            <a:endParaRPr lang="en-US" sz="950" dirty="0"/>
          </a:p>
        </p:txBody>
      </p:sp>
      <p:sp>
        <p:nvSpPr>
          <p:cNvPr id="13" name="Shape 10"/>
          <p:cNvSpPr/>
          <p:nvPr/>
        </p:nvSpPr>
        <p:spPr>
          <a:xfrm>
            <a:off x="457200" y="1417320"/>
            <a:ext cx="4023360" cy="1764485"/>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581605"/>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노트북 키보드에 커피 등 음료를 쏟았다.</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노트북을 떨어뜨려 화면이나 본체가 파손됐다.</a:t>
            </a:r>
            <a:endParaRPr lang="en-US" sz="1200" dirty="0"/>
          </a:p>
        </p:txBody>
      </p:sp>
      <p:sp>
        <p:nvSpPr>
          <p:cNvPr id="15" name="Shape 12"/>
          <p:cNvSpPr/>
          <p:nvPr/>
        </p:nvSpPr>
        <p:spPr>
          <a:xfrm>
            <a:off x="457200" y="3273245"/>
            <a:ext cx="4023360" cy="1344474"/>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364685"/>
            <a:ext cx="3749040" cy="1161594"/>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장비를 쓰는 본인</a:t>
            </a:r>
            <a:endParaRPr lang="en-US" sz="1200" dirty="0"/>
          </a:p>
        </p:txBody>
      </p:sp>
      <p:sp>
        <p:nvSpPr>
          <p:cNvPr id="17" name="Shape 14"/>
          <p:cNvSpPr/>
          <p:nvPr/>
        </p:nvSpPr>
        <p:spPr>
          <a:xfrm>
            <a:off x="4663440" y="1417320"/>
            <a:ext cx="4023360" cy="1606252"/>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423372"/>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사번</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노트북 모델명</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사고 경위와 시각</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파손 부위 사진</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백업이 필요한 데이터</a:t>
            </a:r>
            <a:endParaRPr lang="en-US" sz="1200" dirty="0"/>
          </a:p>
        </p:txBody>
      </p:sp>
      <p:sp>
        <p:nvSpPr>
          <p:cNvPr id="19" name="Shape 16"/>
          <p:cNvSpPr/>
          <p:nvPr/>
        </p:nvSpPr>
        <p:spPr>
          <a:xfrm>
            <a:off x="4663440" y="3115012"/>
            <a:ext cx="4023360" cy="1502707"/>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206452"/>
            <a:ext cx="3749040" cy="1319827"/>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사번</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노트북 모델명</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사고 일시</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FAQ-017</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3.1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3.1 노트북 침수·파손 수리 신청</a:t>
            </a:r>
            <a:endParaRPr lang="en-US" sz="2000" dirty="0"/>
          </a:p>
        </p:txBody>
      </p:sp>
      <p:sp>
        <p:nvSpPr>
          <p:cNvPr id="5" name="Shape 2"/>
          <p:cNvSpPr/>
          <p:nvPr/>
        </p:nvSpPr>
        <p:spPr>
          <a:xfrm>
            <a:off x="457200" y="1051560"/>
            <a:ext cx="4937760" cy="356616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즉시 전원을 끄고 충전기를 분리합니다. 다시 켜 보지 않습니다.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'수리'를 선택하고 경위와 사진을 적어 제출합니다. 급하면 IT 헬프데스크(내선 1000)로 전화합니다.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안내받은 시간에 엔드포인트지원팀에 장비를 맡깁니다.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수리 기간에는 대여 노트북을 받아 씁니다.</a:t>
            </a:r>
            <a:endParaRPr lang="en-US" sz="1100" dirty="0"/>
          </a:p>
        </p:txBody>
      </p:sp>
      <p:sp>
        <p:nvSpPr>
          <p:cNvPr id="7" name="Shape 7"/>
          <p:cNvSpPr/>
          <p:nvPr/>
        </p:nvSpPr>
        <p:spPr>
          <a:xfrm>
            <a:off x="5577840" y="1051560"/>
            <a:ext cx="3108960" cy="1141557"/>
          </a:xfrm>
          <a:prstGeom prst="roundRect">
            <a:avLst>
              <a:gd name="adj" fmla="val 5000"/>
            </a:avLst>
          </a:prstGeom>
          <a:solidFill>
            <a:srgbClr val="EEF3F7"/>
          </a:solidFill>
          <a:ln w="12700">
            <a:solidFill>
              <a:srgbClr val="EEF3F7"/>
            </a:solidFill>
            <a:prstDash val="solid"/>
          </a:ln>
        </p:spPr>
        <p:txBody>
          <a:bodyPr/>
          <a:p/>
        </p:txBody>
      </p:sp>
      <p:sp>
        <p:nvSpPr>
          <p:cNvPr id="8" name="Text 8"/>
          <p:cNvSpPr txBox="1"/>
          <p:nvPr/>
        </p:nvSpPr>
        <p:spPr>
          <a:xfrm>
            <a:off x="5715000" y="1143000"/>
            <a:ext cx="2834640" cy="958677"/>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승인 없음 (접수 후 엔드포인트지원팀 처리)</a:t>
            </a:r>
            <a:endParaRPr lang="en-US" sz="1050" dirty="0"/>
          </a:p>
        </p:txBody>
      </p:sp>
      <p:sp>
        <p:nvSpPr>
          <p:cNvPr id="9" name="Shape 9"/>
          <p:cNvSpPr/>
          <p:nvPr/>
        </p:nvSpPr>
        <p:spPr>
          <a:xfrm>
            <a:off x="5577840" y="2284557"/>
            <a:ext cx="3108960" cy="1327826"/>
          </a:xfrm>
          <a:prstGeom prst="roundRect">
            <a:avLst>
              <a:gd name="adj" fmla="val 8000"/>
            </a:avLst>
          </a:prstGeom>
          <a:solidFill>
            <a:srgbClr val="E3F2EA"/>
          </a:solidFill>
          <a:ln w="12700">
            <a:solidFill>
              <a:srgbClr val="E3F2EA"/>
            </a:solidFill>
            <a:prstDash val="solid"/>
          </a:ln>
        </p:spPr>
        <p:txBody>
          <a:bodyPr/>
          <a:p/>
        </p:txBody>
      </p:sp>
      <p:sp>
        <p:nvSpPr>
          <p:cNvPr id="10" name="Text 10"/>
          <p:cNvSpPr txBox="1"/>
          <p:nvPr/>
        </p:nvSpPr>
        <p:spPr>
          <a:xfrm>
            <a:off x="5715000" y="2375997"/>
            <a:ext cx="2834640" cy="1144946"/>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접수 후 1영업일 안에 점검과 데이터 백업을 하고 수리를 진행한다. 제조사 수리(부품 대기 포함)는 더 걸리며, 그동안 대여 노트북을 쓴다.</a:t>
            </a:r>
            <a:endParaRPr lang="en-US" sz="1000" dirty="0"/>
          </a:p>
        </p:txBody>
      </p:sp>
      <p:sp>
        <p:nvSpPr>
          <p:cNvPr id="11" name="Shape 11"/>
          <p:cNvSpPr/>
          <p:nvPr/>
        </p:nvSpPr>
        <p:spPr>
          <a:xfrm>
            <a:off x="5577840" y="3703824"/>
            <a:ext cx="3108960" cy="913895"/>
          </a:xfrm>
          <a:prstGeom prst="roundRect">
            <a:avLst>
              <a:gd name="adj" fmla="val 7273"/>
            </a:avLst>
          </a:prstGeom>
          <a:solidFill>
            <a:srgbClr val="FCEBDD"/>
          </a:solidFill>
          <a:ln w="12700">
            <a:solidFill>
              <a:srgbClr val="FCEBDD"/>
            </a:solidFill>
            <a:prstDash val="solid"/>
          </a:ln>
        </p:spPr>
        <p:txBody>
          <a:bodyPr/>
          <a:p/>
        </p:txBody>
      </p:sp>
      <p:sp>
        <p:nvSpPr>
          <p:cNvPr id="12" name="Text 12"/>
          <p:cNvSpPr txBox="1"/>
          <p:nvPr/>
        </p:nvSpPr>
        <p:spPr>
          <a:xfrm>
            <a:off x="5715000" y="3795264"/>
            <a:ext cx="2834640" cy="731015"/>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개인 장비는 수리 대상이 아니다.</a:t>
            </a:r>
            <a:endParaRPr lang="en-US" sz="100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3.2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3.2 키보드·포트 등 부품 고장 수리 신청</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HW-04</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접수 후 1영업일</a:t>
            </a:r>
            <a:endParaRPr lang="en-US" sz="950" dirty="0"/>
          </a:p>
        </p:txBody>
      </p:sp>
      <p:sp>
        <p:nvSpPr>
          <p:cNvPr id="13" name="Shape 10"/>
          <p:cNvSpPr/>
          <p:nvPr/>
        </p:nvSpPr>
        <p:spPr>
          <a:xfrm>
            <a:off x="457200" y="1417320"/>
            <a:ext cx="4023360" cy="1900367"/>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717487"/>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노트북 키보드 몇 개 키가 눌리지 않는다.</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사무실 정전 이후 노트북 USB 포트에 꽂은 장비가 자꾸 끊긴다.</a:t>
            </a:r>
            <a:endParaRPr lang="en-US" sz="1200" dirty="0"/>
          </a:p>
        </p:txBody>
      </p:sp>
      <p:sp>
        <p:nvSpPr>
          <p:cNvPr id="15" name="Shape 12"/>
          <p:cNvSpPr/>
          <p:nvPr/>
        </p:nvSpPr>
        <p:spPr>
          <a:xfrm>
            <a:off x="457200" y="3409127"/>
            <a:ext cx="4023360" cy="1208592"/>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500567"/>
            <a:ext cx="3749040" cy="1025712"/>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장비를 쓰는 본인</a:t>
            </a:r>
            <a:endParaRPr lang="en-US" sz="1200" dirty="0"/>
          </a:p>
        </p:txBody>
      </p:sp>
      <p:sp>
        <p:nvSpPr>
          <p:cNvPr id="17" name="Shape 14"/>
          <p:cNvSpPr/>
          <p:nvPr/>
        </p:nvSpPr>
        <p:spPr>
          <a:xfrm>
            <a:off x="4663440" y="1417320"/>
            <a:ext cx="4023360" cy="1490104"/>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307224"/>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사번</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노트북 모델명</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증상 (어느 키·어느 포트)</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증상이 시작된 시점</a:t>
            </a:r>
            <a:endParaRPr lang="en-US" sz="1200" dirty="0"/>
          </a:p>
        </p:txBody>
      </p:sp>
      <p:sp>
        <p:nvSpPr>
          <p:cNvPr id="19" name="Shape 16"/>
          <p:cNvSpPr/>
          <p:nvPr/>
        </p:nvSpPr>
        <p:spPr>
          <a:xfrm>
            <a:off x="4663440" y="2998864"/>
            <a:ext cx="4023360" cy="1618855"/>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090304"/>
            <a:ext cx="3749040" cy="1435975"/>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사번</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노트북 모델명</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증상</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FAQ-017</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3.2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3.2 키보드·포트 등 부품 고장 수리 신청</a:t>
            </a:r>
            <a:endParaRPr lang="en-US" sz="2000" dirty="0"/>
          </a:p>
        </p:txBody>
      </p:sp>
      <p:sp>
        <p:nvSpPr>
          <p:cNvPr id="5" name="Shape 2"/>
          <p:cNvSpPr/>
          <p:nvPr/>
        </p:nvSpPr>
        <p:spPr>
          <a:xfrm>
            <a:off x="457200" y="1051560"/>
            <a:ext cx="4937760" cy="356616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외장 키보드나 다른 포트로 같은 증상인지 확인합니다.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'수리'를 선택하고 증상을 적어 제출합니다.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안내받은 시간에 장비를 맡깁니다.</a:t>
            </a:r>
            <a:endParaRPr lang="en-US" sz="1100" dirty="0"/>
          </a:p>
        </p:txBody>
      </p:sp>
      <p:sp>
        <p:nvSpPr>
          <p:cNvPr id="7" name="Shape 7"/>
          <p:cNvSpPr/>
          <p:nvPr/>
        </p:nvSpPr>
        <p:spPr>
          <a:xfrm>
            <a:off x="5577840" y="1051560"/>
            <a:ext cx="3108960" cy="1075750"/>
          </a:xfrm>
          <a:prstGeom prst="roundRect">
            <a:avLst>
              <a:gd name="adj" fmla="val 5000"/>
            </a:avLst>
          </a:prstGeom>
          <a:solidFill>
            <a:srgbClr val="EEF3F7"/>
          </a:solidFill>
          <a:ln w="12700">
            <a:solidFill>
              <a:srgbClr val="EEF3F7"/>
            </a:solidFill>
            <a:prstDash val="solid"/>
          </a:ln>
        </p:spPr>
        <p:txBody>
          <a:bodyPr/>
          <a:p/>
        </p:txBody>
      </p:sp>
      <p:sp>
        <p:nvSpPr>
          <p:cNvPr id="8" name="Text 8"/>
          <p:cNvSpPr txBox="1"/>
          <p:nvPr/>
        </p:nvSpPr>
        <p:spPr>
          <a:xfrm>
            <a:off x="5715000" y="1143000"/>
            <a:ext cx="2834640" cy="89287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승인 없음 (접수 후 엔드포인트지원팀 처리)</a:t>
            </a:r>
            <a:endParaRPr lang="en-US" sz="1050" dirty="0"/>
          </a:p>
        </p:txBody>
      </p:sp>
      <p:sp>
        <p:nvSpPr>
          <p:cNvPr id="9" name="Shape 9"/>
          <p:cNvSpPr/>
          <p:nvPr/>
        </p:nvSpPr>
        <p:spPr>
          <a:xfrm>
            <a:off x="5577840" y="2218750"/>
            <a:ext cx="3108960" cy="1251281"/>
          </a:xfrm>
          <a:prstGeom prst="roundRect">
            <a:avLst>
              <a:gd name="adj" fmla="val 8000"/>
            </a:avLst>
          </a:prstGeom>
          <a:solidFill>
            <a:srgbClr val="E3F2EA"/>
          </a:solidFill>
          <a:ln w="12700">
            <a:solidFill>
              <a:srgbClr val="E3F2EA"/>
            </a:solidFill>
            <a:prstDash val="solid"/>
          </a:ln>
        </p:spPr>
        <p:txBody>
          <a:bodyPr/>
          <a:p/>
        </p:txBody>
      </p:sp>
      <p:sp>
        <p:nvSpPr>
          <p:cNvPr id="10" name="Text 10"/>
          <p:cNvSpPr txBox="1"/>
          <p:nvPr/>
        </p:nvSpPr>
        <p:spPr>
          <a:xfrm>
            <a:off x="5715000" y="2310190"/>
            <a:ext cx="2834640" cy="1068401"/>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접수 후 1영업일 안에 점검하고, 무상 보증 기간이면 제조사 보증 수리로 접수한다. 메인보드 수리처럼 오래 걸리면 대여 노트북을 지급한다.</a:t>
            </a:r>
            <a:endParaRPr lang="en-US" sz="1000" dirty="0"/>
          </a:p>
        </p:txBody>
      </p:sp>
      <p:sp>
        <p:nvSpPr>
          <p:cNvPr id="11" name="Shape 11"/>
          <p:cNvSpPr/>
          <p:nvPr/>
        </p:nvSpPr>
        <p:spPr>
          <a:xfrm>
            <a:off x="5577840" y="3561472"/>
            <a:ext cx="3108960" cy="1056247"/>
          </a:xfrm>
          <a:prstGeom prst="roundRect">
            <a:avLst>
              <a:gd name="adj" fmla="val 7273"/>
            </a:avLst>
          </a:prstGeom>
          <a:solidFill>
            <a:srgbClr val="FCEBDD"/>
          </a:solidFill>
          <a:ln w="12700">
            <a:solidFill>
              <a:srgbClr val="FCEBDD"/>
            </a:solidFill>
            <a:prstDash val="solid"/>
          </a:ln>
        </p:spPr>
        <p:txBody>
          <a:bodyPr/>
          <a:p/>
        </p:txBody>
      </p:sp>
      <p:sp>
        <p:nvSpPr>
          <p:cNvPr id="12" name="Text 12"/>
          <p:cNvSpPr txBox="1"/>
          <p:nvPr/>
        </p:nvSpPr>
        <p:spPr>
          <a:xfrm>
            <a:off x="5715000" y="3652912"/>
            <a:ext cx="2834640" cy="873367"/>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사용자 과실로 인한 파손은 3.1 절차로 처리된다.</a:t>
            </a:r>
            <a:endParaRPr lang="en-US" sz="100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3.3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3.3 교체 주기(3년)가 지난 노트북 교체 신청</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접수 후 1영업일</a:t>
            </a:r>
            <a:endParaRPr lang="en-US" sz="950" dirty="0"/>
          </a:p>
        </p:txBody>
      </p:sp>
      <p:sp>
        <p:nvSpPr>
          <p:cNvPr id="13" name="Shape 10"/>
          <p:cNvSpPr/>
          <p:nvPr/>
        </p:nvSpPr>
        <p:spPr>
          <a:xfrm>
            <a:off x="457200" y="1417320"/>
            <a:ext cx="4023360" cy="1554480"/>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3716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노트북을 받은 지 3년이 지나 교체하려 한다.</a:t>
            </a:r>
            <a:endParaRPr lang="en-US" sz="1200" dirty="0"/>
          </a:p>
        </p:txBody>
      </p:sp>
      <p:sp>
        <p:nvSpPr>
          <p:cNvPr id="15" name="Shape 12"/>
          <p:cNvSpPr/>
          <p:nvPr/>
        </p:nvSpPr>
        <p:spPr>
          <a:xfrm>
            <a:off x="457200" y="3063240"/>
            <a:ext cx="4023360" cy="1554480"/>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154680"/>
            <a:ext cx="3749040" cy="13716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지급일로부터 3년이 지난 장비 사용자</a:t>
            </a:r>
            <a:endParaRPr lang="en-US" sz="1200" dirty="0"/>
          </a:p>
        </p:txBody>
      </p:sp>
      <p:sp>
        <p:nvSpPr>
          <p:cNvPr id="17" name="Shape 14"/>
          <p:cNvSpPr/>
          <p:nvPr/>
        </p:nvSpPr>
        <p:spPr>
          <a:xfrm>
            <a:off x="4663440" y="1417320"/>
            <a:ext cx="4023360" cy="1579666"/>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396786"/>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사번</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현재 노트북 지급일 (모르면 헬프데스크에서 교체 예정일 확인)</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희망 OS (개발 직군)</a:t>
            </a:r>
            <a:endParaRPr lang="en-US" sz="1200" dirty="0"/>
          </a:p>
        </p:txBody>
      </p:sp>
      <p:sp>
        <p:nvSpPr>
          <p:cNvPr id="19" name="Shape 16"/>
          <p:cNvSpPr/>
          <p:nvPr/>
        </p:nvSpPr>
        <p:spPr>
          <a:xfrm>
            <a:off x="4663440" y="3088426"/>
            <a:ext cx="4023360" cy="1529293"/>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179866"/>
            <a:ext cx="3749040" cy="1346413"/>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사번</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현재 장비 지급일</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FAQ-018</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3.3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3.3 교체 주기(3년)가 지난 노트북 교체 신청</a:t>
            </a:r>
            <a:endParaRPr lang="en-US" sz="2000" dirty="0"/>
          </a:p>
        </p:txBody>
      </p:sp>
      <p:sp>
        <p:nvSpPr>
          <p:cNvPr id="5" name="Shape 2"/>
          <p:cNvSpPr/>
          <p:nvPr/>
        </p:nvSpPr>
        <p:spPr>
          <a:xfrm>
            <a:off x="457200" y="1051560"/>
            <a:ext cx="4937760" cy="214884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196596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헬프데스크에 내 장비의 교체 예정일을 확인합니다.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'교체'를 선택해 제출합니다.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새 장비를 받으면 데이터를 옮기고 기존 장비는 3.7에 따라 반납합니다.</a:t>
            </a:r>
            <a:endParaRPr lang="en-US" sz="1100" dirty="0"/>
          </a:p>
        </p:txBody>
      </p:sp>
      <p:sp>
        <p:nvSpPr>
          <p:cNvPr id="7" name="Shape 4"/>
          <p:cNvSpPr/>
          <p:nvPr/>
        </p:nvSpPr>
        <p:spPr>
          <a:xfrm>
            <a:off x="457200" y="3291840"/>
            <a:ext cx="4937760" cy="914400"/>
          </a:xfrm>
          <a:prstGeom prst="roundRect">
            <a:avLst>
              <a:gd name="adj" fmla="val 6000"/>
            </a:avLst>
          </a:prstGeom>
          <a:solidFill>
            <a:srgbClr val="FFFFFF"/>
          </a:solidFill>
          <a:ln w="12700">
            <a:solidFill>
              <a:srgbClr val="8A949E"/>
            </a:solidFill>
            <a:prstDash val="dash"/>
          </a:ln>
        </p:spPr>
        <p:txBody>
          <a:bodyPr/>
          <a:p/>
        </p:txBody>
      </p:sp>
      <p:sp>
        <p:nvSpPr>
          <p:cNvPr id="9" name="Text 6"/>
          <p:cNvSpPr txBox="1"/>
          <p:nvPr/>
        </p:nvSpPr>
        <p:spPr>
          <a:xfrm>
            <a:off x="457200" y="4251960"/>
            <a:ext cx="4937760" cy="365760"/>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3.3.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신청 종류(수리/교체/신규 지급/비품/반납) 선택 위치를 표시한다.</a:t>
            </a:r>
            <a:endParaRPr lang="en-US" sz="950" dirty="0"/>
          </a:p>
        </p:txBody>
      </p:sp>
      <p:sp>
        <p:nvSpPr>
          <p:cNvPr id="10" name="Shape 7"/>
          <p:cNvSpPr/>
          <p:nvPr/>
        </p:nvSpPr>
        <p:spPr>
          <a:xfrm>
            <a:off x="5577840" y="1051560"/>
            <a:ext cx="3108960" cy="1107490"/>
          </a:xfrm>
          <a:prstGeom prst="roundRect">
            <a:avLst>
              <a:gd name="adj" fmla="val 5000"/>
            </a:avLst>
          </a:prstGeom>
          <a:solidFill>
            <a:srgbClr val="EEF3F7"/>
          </a:solidFill>
          <a:ln w="12700">
            <a:solidFill>
              <a:srgbClr val="EEF3F7"/>
            </a:solidFill>
            <a:prstDash val="solid"/>
          </a:ln>
        </p:spPr>
        <p:txBody>
          <a:bodyPr/>
          <a:p/>
        </p:txBody>
      </p:sp>
      <p:sp>
        <p:nvSpPr>
          <p:cNvPr id="11" name="Text 8"/>
          <p:cNvSpPr txBox="1"/>
          <p:nvPr/>
        </p:nvSpPr>
        <p:spPr>
          <a:xfrm>
            <a:off x="5715000" y="1143000"/>
            <a:ext cx="2834640" cy="92461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승인 없음 (접수 후 엔드포인트지원팀 처리)</a:t>
            </a:r>
            <a:endParaRPr lang="en-US" sz="1050" dirty="0"/>
          </a:p>
        </p:txBody>
      </p:sp>
      <p:sp>
        <p:nvSpPr>
          <p:cNvPr id="12" name="Shape 9"/>
          <p:cNvSpPr/>
          <p:nvPr/>
        </p:nvSpPr>
        <p:spPr>
          <a:xfrm>
            <a:off x="5577840" y="2250490"/>
            <a:ext cx="3108960" cy="1041718"/>
          </a:xfrm>
          <a:prstGeom prst="roundRect">
            <a:avLst>
              <a:gd name="adj" fmla="val 8000"/>
            </a:avLst>
          </a:prstGeom>
          <a:solidFill>
            <a:srgbClr val="E3F2EA"/>
          </a:solidFill>
          <a:ln w="12700">
            <a:solidFill>
              <a:srgbClr val="E3F2EA"/>
            </a:solidFill>
            <a:prstDash val="solid"/>
          </a:ln>
        </p:spPr>
        <p:txBody>
          <a:bodyPr/>
          <a:p/>
        </p:txBody>
      </p:sp>
      <p:sp>
        <p:nvSpPr>
          <p:cNvPr id="13" name="Text 10"/>
          <p:cNvSpPr txBox="1"/>
          <p:nvPr/>
        </p:nvSpPr>
        <p:spPr>
          <a:xfrm>
            <a:off x="5715000" y="2341930"/>
            <a:ext cx="2834640" cy="858838"/>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접수 후 1영업일 안에 지급 일정이 안내되고, 보안 프로그램까지 설치된 장비를 받는다.</a:t>
            </a:r>
            <a:endParaRPr lang="en-US" sz="1000" dirty="0"/>
          </a:p>
        </p:txBody>
      </p:sp>
      <p:sp>
        <p:nvSpPr>
          <p:cNvPr id="14" name="Shape 11"/>
          <p:cNvSpPr/>
          <p:nvPr/>
        </p:nvSpPr>
        <p:spPr>
          <a:xfrm>
            <a:off x="5577840" y="3383649"/>
            <a:ext cx="3108960" cy="1234070"/>
          </a:xfrm>
          <a:prstGeom prst="roundRect">
            <a:avLst>
              <a:gd name="adj" fmla="val 7273"/>
            </a:avLst>
          </a:prstGeom>
          <a:solidFill>
            <a:srgbClr val="FCEBDD"/>
          </a:solidFill>
          <a:ln w="12700">
            <a:solidFill>
              <a:srgbClr val="FCEBDD"/>
            </a:solidFill>
            <a:prstDash val="solid"/>
          </a:ln>
        </p:spPr>
        <p:txBody>
          <a:bodyPr/>
          <a:p/>
        </p:txBody>
      </p:sp>
      <p:sp>
        <p:nvSpPr>
          <p:cNvPr id="15" name="Text 12"/>
          <p:cNvSpPr txBox="1"/>
          <p:nvPr/>
        </p:nvSpPr>
        <p:spPr>
          <a:xfrm>
            <a:off x="5715000" y="3475089"/>
            <a:ext cx="2834640" cy="1051190"/>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지급일로부터 3년이 지나지 않았으면 교체되지 않는다. 업무상 고사양이 필요하면 3.4로 신청한다.</a:t>
            </a:r>
            <a:endParaRPr lang="en-US" sz="1000" dirty="0"/>
          </a:p>
        </p:txBody>
      </p:sp>
      <p:sp>
        <p:nvSpPr>
          <p:cNvPr id="1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pic>
        <p:nvPicPr>
          <p:cNvPr id="17" name="Picture 16" descr="그림 3.3. 장비 신청 양식. 신청 종류(수리/교체/신규 지급/비품/반납) 선택 위치를 표시한다."/>
          <p:cNvPicPr>
            <a:picLocks noChangeAspect="1"/>
          </p:cNvPicPr>
          <p:nvPr/>
        </p:nvPicPr>
        <p:blipFill>
          <a:blip r:embed="rId2"/>
          <a:stretch>
            <a:fillRect/>
          </a:stretch>
        </p:blipFill>
        <p:spPr>
          <a:xfrm>
            <a:off x="1976511" y="3337560"/>
            <a:ext cx="1899138" cy="8229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3.3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3.3 교체 주기(3년)가 지난 노트북 교체 신청</a:t>
            </a:r>
            <a:endParaRPr lang="en-US" sz="2000" dirty="0"/>
          </a:p>
        </p:txBody>
      </p:sp>
      <p:pic>
        <p:nvPicPr>
          <p:cNvPr id="5" name="Picture 4" descr="그림 3.3. 장비 신청 양식. 신청 종류(수리/교체/신규 지급/비품/반납) 선택 위치를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3.3.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신청 종류(수리/교체/신규 지급/비품/반납) 선택 위치를 표시한다.</a:t>
            </a:r>
            <a:endParaRPr lang="en-US" sz="950" dirty="0"/>
          </a:p>
        </p:txBody>
      </p:sp>
      <p:sp>
        <p:nvSpPr>
          <p:cNvPr id="1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3.4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3.4 교체 주기 전 고사양 노트북 신청</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신청·승인 후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승인 후 1영업일</a:t>
            </a:r>
            <a:endParaRPr lang="en-US" sz="950" dirty="0"/>
          </a:p>
        </p:txBody>
      </p:sp>
      <p:sp>
        <p:nvSpPr>
          <p:cNvPr id="13" name="Shape 10"/>
          <p:cNvSpPr/>
          <p:nvPr/>
        </p:nvSpPr>
        <p:spPr>
          <a:xfrm>
            <a:off x="457200" y="1417320"/>
            <a:ext cx="4023360" cy="1554480"/>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3716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AI 모델 분석 등 업무 때문에 더 높은 사양의 노트북이 필요하다.</a:t>
            </a:r>
            <a:endParaRPr lang="en-US" sz="1200" dirty="0"/>
          </a:p>
        </p:txBody>
      </p:sp>
      <p:sp>
        <p:nvSpPr>
          <p:cNvPr id="15" name="Shape 12"/>
          <p:cNvSpPr/>
          <p:nvPr/>
        </p:nvSpPr>
        <p:spPr>
          <a:xfrm>
            <a:off x="457200" y="3063240"/>
            <a:ext cx="4023360" cy="1554480"/>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154680"/>
            <a:ext cx="3749040" cy="13716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업무상 고사양 장비가 필요한 임직원 (부서장 승인 필요)</a:t>
            </a:r>
            <a:endParaRPr lang="en-US" sz="1200" dirty="0"/>
          </a:p>
        </p:txBody>
      </p:sp>
      <p:sp>
        <p:nvSpPr>
          <p:cNvPr id="17" name="Shape 14"/>
          <p:cNvSpPr/>
          <p:nvPr/>
        </p:nvSpPr>
        <p:spPr>
          <a:xfrm>
            <a:off x="4663440" y="1417320"/>
            <a:ext cx="4023360" cy="1464405"/>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281525"/>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사번</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필요한 사양과 사유</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사용하는 프로그램</a:t>
            </a:r>
            <a:endParaRPr lang="en-US" sz="1200" dirty="0"/>
          </a:p>
        </p:txBody>
      </p:sp>
      <p:sp>
        <p:nvSpPr>
          <p:cNvPr id="19" name="Shape 16"/>
          <p:cNvSpPr/>
          <p:nvPr/>
        </p:nvSpPr>
        <p:spPr>
          <a:xfrm>
            <a:off x="4663440" y="2973165"/>
            <a:ext cx="4023360" cy="1644554"/>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064605"/>
            <a:ext cx="3749040" cy="1461674"/>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사번</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필요한 사양</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FAQ-018</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3.4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3.4 교체 주기 전 고사양 노트북 신청</a:t>
            </a:r>
            <a:endParaRPr lang="en-US" sz="2000" dirty="0"/>
          </a:p>
        </p:txBody>
      </p:sp>
      <p:sp>
        <p:nvSpPr>
          <p:cNvPr id="5" name="Shape 2"/>
          <p:cNvSpPr/>
          <p:nvPr/>
        </p:nvSpPr>
        <p:spPr>
          <a:xfrm>
            <a:off x="457200" y="1051560"/>
            <a:ext cx="4937760" cy="356616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'교체'를 선택하고 고사양이 필요한 사유를 적습니다.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제출하면 부서장에게 결재가 올라갑니다.</a:t>
            </a:r>
            <a:endParaRPr lang="en-US" sz="1100" dirty="0"/>
          </a:p>
        </p:txBody>
      </p:sp>
      <p:sp>
        <p:nvSpPr>
          <p:cNvPr id="7" name="Shape 7"/>
          <p:cNvSpPr/>
          <p:nvPr/>
        </p:nvSpPr>
        <p:spPr>
          <a:xfrm>
            <a:off x="5577840" y="1051560"/>
            <a:ext cx="3108960" cy="1174251"/>
          </a:xfrm>
          <a:prstGeom prst="roundRect">
            <a:avLst>
              <a:gd name="adj" fmla="val 5000"/>
            </a:avLst>
          </a:prstGeom>
          <a:solidFill>
            <a:srgbClr val="EEF3F7"/>
          </a:solidFill>
          <a:ln w="12700">
            <a:solidFill>
              <a:srgbClr val="EEF3F7"/>
            </a:solidFill>
            <a:prstDash val="solid"/>
          </a:ln>
        </p:spPr>
        <p:txBody>
          <a:bodyPr/>
          <a:p/>
        </p:txBody>
      </p:sp>
      <p:sp>
        <p:nvSpPr>
          <p:cNvPr id="8" name="Text 8"/>
          <p:cNvSpPr txBox="1"/>
          <p:nvPr/>
        </p:nvSpPr>
        <p:spPr>
          <a:xfrm>
            <a:off x="5715000" y="1143000"/>
            <a:ext cx="2834640" cy="991371"/>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부서장 승인</a:t>
            </a:r>
            <a:endParaRPr lang="en-US" sz="105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엔드포인트지원팀 재고 확인 후 지급</a:t>
            </a:r>
            <a:endParaRPr lang="en-US" sz="1050" dirty="0"/>
          </a:p>
        </p:txBody>
      </p:sp>
      <p:sp>
        <p:nvSpPr>
          <p:cNvPr id="9" name="Shape 9"/>
          <p:cNvSpPr/>
          <p:nvPr/>
        </p:nvSpPr>
        <p:spPr>
          <a:xfrm>
            <a:off x="5577840" y="2317251"/>
            <a:ext cx="3108960" cy="1104514"/>
          </a:xfrm>
          <a:prstGeom prst="roundRect">
            <a:avLst>
              <a:gd name="adj" fmla="val 8000"/>
            </a:avLst>
          </a:prstGeom>
          <a:solidFill>
            <a:srgbClr val="E3F2EA"/>
          </a:solidFill>
          <a:ln w="12700">
            <a:solidFill>
              <a:srgbClr val="E3F2EA"/>
            </a:solidFill>
            <a:prstDash val="solid"/>
          </a:ln>
        </p:spPr>
        <p:txBody>
          <a:bodyPr/>
          <a:p/>
        </p:txBody>
      </p:sp>
      <p:sp>
        <p:nvSpPr>
          <p:cNvPr id="10" name="Text 10"/>
          <p:cNvSpPr txBox="1"/>
          <p:nvPr/>
        </p:nvSpPr>
        <p:spPr>
          <a:xfrm>
            <a:off x="5715000" y="2408691"/>
            <a:ext cx="2834640" cy="921634"/>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부서장 승인 후 1영업일 안에 지급 가능 여부와 일정이 안내된다.</a:t>
            </a:r>
            <a:endParaRPr lang="en-US" sz="1000" dirty="0"/>
          </a:p>
        </p:txBody>
      </p:sp>
      <p:sp>
        <p:nvSpPr>
          <p:cNvPr id="11" name="Shape 11"/>
          <p:cNvSpPr/>
          <p:nvPr/>
        </p:nvSpPr>
        <p:spPr>
          <a:xfrm>
            <a:off x="5577840" y="3513205"/>
            <a:ext cx="3108960" cy="1104514"/>
          </a:xfrm>
          <a:prstGeom prst="roundRect">
            <a:avLst>
              <a:gd name="adj" fmla="val 7273"/>
            </a:avLst>
          </a:prstGeom>
          <a:solidFill>
            <a:srgbClr val="FCEBDD"/>
          </a:solidFill>
          <a:ln w="12700">
            <a:solidFill>
              <a:srgbClr val="FCEBDD"/>
            </a:solidFill>
            <a:prstDash val="solid"/>
          </a:ln>
        </p:spPr>
        <p:txBody>
          <a:bodyPr/>
          <a:p/>
        </p:txBody>
      </p:sp>
      <p:sp>
        <p:nvSpPr>
          <p:cNvPr id="12" name="Text 12"/>
          <p:cNvSpPr txBox="1"/>
          <p:nvPr/>
        </p:nvSpPr>
        <p:spPr>
          <a:xfrm>
            <a:off x="5715000" y="3604645"/>
            <a:ext cx="2834640" cy="921634"/>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업무상 필요가 확인되지 않으면 반려된다. 교체 주기가 될 때까지 기존 장비를 쓴다.</a:t>
            </a:r>
            <a:endParaRPr lang="en-US" sz="100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3.5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3.5 신규 입사자 PC 준비 요청</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접수 후 1영업일</a:t>
            </a:r>
            <a:endParaRPr lang="en-US" sz="950" dirty="0"/>
          </a:p>
        </p:txBody>
      </p:sp>
      <p:sp>
        <p:nvSpPr>
          <p:cNvPr id="13" name="Shape 10"/>
          <p:cNvSpPr/>
          <p:nvPr/>
        </p:nvSpPr>
        <p:spPr>
          <a:xfrm>
            <a:off x="457200" y="1417320"/>
            <a:ext cx="4023360" cy="1554480"/>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3716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다음 주 입사자가 쓸 PC를 준비해야 한다.</a:t>
            </a:r>
            <a:endParaRPr lang="en-US" sz="1200" dirty="0"/>
          </a:p>
        </p:txBody>
      </p:sp>
      <p:sp>
        <p:nvSpPr>
          <p:cNvPr id="15" name="Shape 12"/>
          <p:cNvSpPr/>
          <p:nvPr/>
        </p:nvSpPr>
        <p:spPr>
          <a:xfrm>
            <a:off x="457200" y="3063240"/>
            <a:ext cx="4023360" cy="1554480"/>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154680"/>
            <a:ext cx="3749040" cy="137160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입사자의 소속 팀장 또는 팀 담당자</a:t>
            </a:r>
            <a:endParaRPr lang="en-US" sz="1200" dirty="0"/>
          </a:p>
        </p:txBody>
      </p:sp>
      <p:sp>
        <p:nvSpPr>
          <p:cNvPr id="17" name="Shape 14"/>
          <p:cNvSpPr/>
          <p:nvPr/>
        </p:nvSpPr>
        <p:spPr>
          <a:xfrm>
            <a:off x="4663440" y="1417320"/>
            <a:ext cx="4023360" cy="1464405"/>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281525"/>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입사자 이름과 입사일</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인원 수</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직군 (개발 직군이면 희망 OS)</a:t>
            </a:r>
            <a:endParaRPr lang="en-US" sz="1200" dirty="0"/>
          </a:p>
        </p:txBody>
      </p:sp>
      <p:sp>
        <p:nvSpPr>
          <p:cNvPr id="19" name="Shape 16"/>
          <p:cNvSpPr/>
          <p:nvPr/>
        </p:nvSpPr>
        <p:spPr>
          <a:xfrm>
            <a:off x="4663440" y="2973165"/>
            <a:ext cx="4023360" cy="1644554"/>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064605"/>
            <a:ext cx="3749040" cy="1461674"/>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입사자 이름</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입사일</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FAQ-018</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3.5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3.5 신규 입사자 PC 준비 요청</a:t>
            </a:r>
            <a:endParaRPr lang="en-US" sz="2000" dirty="0"/>
          </a:p>
        </p:txBody>
      </p:sp>
      <p:sp>
        <p:nvSpPr>
          <p:cNvPr id="5" name="Shape 2"/>
          <p:cNvSpPr/>
          <p:nvPr/>
        </p:nvSpPr>
        <p:spPr>
          <a:xfrm>
            <a:off x="457200" y="1051560"/>
            <a:ext cx="4937760" cy="356616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'신규 지급'을 선택합니다.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입사자 정보와 입사일을 적어 제출합니다.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입사일에 세팅이 끝난 PC를 받습니다.</a:t>
            </a:r>
            <a:endParaRPr lang="en-US" sz="1100" dirty="0"/>
          </a:p>
        </p:txBody>
      </p:sp>
      <p:sp>
        <p:nvSpPr>
          <p:cNvPr id="7" name="Shape 7"/>
          <p:cNvSpPr/>
          <p:nvPr/>
        </p:nvSpPr>
        <p:spPr>
          <a:xfrm>
            <a:off x="5577840" y="1051560"/>
            <a:ext cx="3108960" cy="1075750"/>
          </a:xfrm>
          <a:prstGeom prst="roundRect">
            <a:avLst>
              <a:gd name="adj" fmla="val 5000"/>
            </a:avLst>
          </a:prstGeom>
          <a:solidFill>
            <a:srgbClr val="EEF3F7"/>
          </a:solidFill>
          <a:ln w="12700">
            <a:solidFill>
              <a:srgbClr val="EEF3F7"/>
            </a:solidFill>
            <a:prstDash val="solid"/>
          </a:ln>
        </p:spPr>
        <p:txBody>
          <a:bodyPr/>
          <a:p/>
        </p:txBody>
      </p:sp>
      <p:sp>
        <p:nvSpPr>
          <p:cNvPr id="8" name="Text 8"/>
          <p:cNvSpPr txBox="1"/>
          <p:nvPr/>
        </p:nvSpPr>
        <p:spPr>
          <a:xfrm>
            <a:off x="5715000" y="1143000"/>
            <a:ext cx="2834640" cy="89287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승인 없음 (접수 후 엔드포인트지원팀 처리)</a:t>
            </a:r>
            <a:endParaRPr lang="en-US" sz="1050" dirty="0"/>
          </a:p>
        </p:txBody>
      </p:sp>
      <p:sp>
        <p:nvSpPr>
          <p:cNvPr id="9" name="Shape 9"/>
          <p:cNvSpPr/>
          <p:nvPr/>
        </p:nvSpPr>
        <p:spPr>
          <a:xfrm>
            <a:off x="5577840" y="2218750"/>
            <a:ext cx="3108960" cy="1251281"/>
          </a:xfrm>
          <a:prstGeom prst="roundRect">
            <a:avLst>
              <a:gd name="adj" fmla="val 8000"/>
            </a:avLst>
          </a:prstGeom>
          <a:solidFill>
            <a:srgbClr val="E3F2EA"/>
          </a:solidFill>
          <a:ln w="12700">
            <a:solidFill>
              <a:srgbClr val="E3F2EA"/>
            </a:solidFill>
            <a:prstDash val="solid"/>
          </a:ln>
        </p:spPr>
        <p:txBody>
          <a:bodyPr/>
          <a:p/>
        </p:txBody>
      </p:sp>
      <p:sp>
        <p:nvSpPr>
          <p:cNvPr id="10" name="Text 10"/>
          <p:cNvSpPr txBox="1"/>
          <p:nvPr/>
        </p:nvSpPr>
        <p:spPr>
          <a:xfrm>
            <a:off x="5715000" y="2310190"/>
            <a:ext cx="2834640" cy="1068401"/>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접수 후 1영업일 안에 재고를 확인하고, 보안 프로그램 설치까지 마친 PC를 입사일에 전달한다.</a:t>
            </a:r>
            <a:endParaRPr lang="en-US" sz="1000" dirty="0"/>
          </a:p>
        </p:txBody>
      </p:sp>
      <p:sp>
        <p:nvSpPr>
          <p:cNvPr id="11" name="Shape 11"/>
          <p:cNvSpPr/>
          <p:nvPr/>
        </p:nvSpPr>
        <p:spPr>
          <a:xfrm>
            <a:off x="5577840" y="3561472"/>
            <a:ext cx="3108960" cy="1056247"/>
          </a:xfrm>
          <a:prstGeom prst="roundRect">
            <a:avLst>
              <a:gd name="adj" fmla="val 7273"/>
            </a:avLst>
          </a:prstGeom>
          <a:solidFill>
            <a:srgbClr val="FCEBDD"/>
          </a:solidFill>
          <a:ln w="12700">
            <a:solidFill>
              <a:srgbClr val="FCEBDD"/>
            </a:solidFill>
            <a:prstDash val="solid"/>
          </a:ln>
        </p:spPr>
        <p:txBody>
          <a:bodyPr/>
          <a:p/>
        </p:txBody>
      </p:sp>
      <p:sp>
        <p:nvSpPr>
          <p:cNvPr id="12" name="Text 12"/>
          <p:cNvSpPr txBox="1"/>
          <p:nvPr/>
        </p:nvSpPr>
        <p:spPr>
          <a:xfrm>
            <a:off x="5715000" y="3652912"/>
            <a:ext cx="2834640" cy="873367"/>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입사일이 정해지지 않았으면 보완 요청을 받는다.</a:t>
            </a:r>
            <a:endParaRPr lang="en-US" sz="100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3.6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3.6 마우스·키보드 등 주변기기 교체 신청</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접수 후 1영업일</a:t>
            </a:r>
            <a:endParaRPr lang="en-US" sz="950" dirty="0"/>
          </a:p>
        </p:txBody>
      </p:sp>
      <p:sp>
        <p:nvSpPr>
          <p:cNvPr id="13" name="Shape 10"/>
          <p:cNvSpPr/>
          <p:nvPr/>
        </p:nvSpPr>
        <p:spPr>
          <a:xfrm>
            <a:off x="457200" y="1417320"/>
            <a:ext cx="4023360" cy="1733303"/>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550423"/>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마우스·키보드 등 주변기기가 고장 나 새로 받고 싶다.</a:t>
            </a:r>
            <a:endParaRPr lang="en-US" sz="1200" dirty="0"/>
          </a:p>
        </p:txBody>
      </p:sp>
      <p:sp>
        <p:nvSpPr>
          <p:cNvPr id="15" name="Shape 12"/>
          <p:cNvSpPr/>
          <p:nvPr/>
        </p:nvSpPr>
        <p:spPr>
          <a:xfrm>
            <a:off x="457200" y="3242063"/>
            <a:ext cx="4023360" cy="1375656"/>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333503"/>
            <a:ext cx="3749040" cy="1192776"/>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장비를 쓰는 본인</a:t>
            </a:r>
            <a:endParaRPr lang="en-US" sz="1200" dirty="0"/>
          </a:p>
        </p:txBody>
      </p:sp>
      <p:sp>
        <p:nvSpPr>
          <p:cNvPr id="17" name="Shape 14"/>
          <p:cNvSpPr/>
          <p:nvPr/>
        </p:nvSpPr>
        <p:spPr>
          <a:xfrm>
            <a:off x="4663440" y="1417320"/>
            <a:ext cx="4023360" cy="1464405"/>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281525"/>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사번</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주변기기 종류</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고장 증상</a:t>
            </a:r>
            <a:endParaRPr lang="en-US" sz="1200" dirty="0"/>
          </a:p>
        </p:txBody>
      </p:sp>
      <p:sp>
        <p:nvSpPr>
          <p:cNvPr id="19" name="Shape 16"/>
          <p:cNvSpPr/>
          <p:nvPr/>
        </p:nvSpPr>
        <p:spPr>
          <a:xfrm>
            <a:off x="4663440" y="2973165"/>
            <a:ext cx="4023360" cy="1644554"/>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064605"/>
            <a:ext cx="3749040" cy="1461674"/>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사번</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주변기기 종류</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FAQ-018</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3.6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3.6 마우스·키보드 등 주변기기 교체 신청</a:t>
            </a:r>
            <a:endParaRPr lang="en-US" sz="2000" dirty="0"/>
          </a:p>
        </p:txBody>
      </p:sp>
      <p:sp>
        <p:nvSpPr>
          <p:cNvPr id="5" name="Shape 2"/>
          <p:cNvSpPr/>
          <p:nvPr/>
        </p:nvSpPr>
        <p:spPr>
          <a:xfrm>
            <a:off x="457200" y="1051560"/>
            <a:ext cx="4937760" cy="356616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'비품'을 선택합니다.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주변기기 종류와 증상을 적어 제출합니다.</a:t>
            </a:r>
            <a:endParaRPr lang="en-US" sz="1100" dirty="0"/>
          </a:p>
        </p:txBody>
      </p:sp>
      <p:sp>
        <p:nvSpPr>
          <p:cNvPr id="7" name="Shape 7"/>
          <p:cNvSpPr/>
          <p:nvPr/>
        </p:nvSpPr>
        <p:spPr>
          <a:xfrm>
            <a:off x="5577840" y="1051560"/>
            <a:ext cx="3108960" cy="1300692"/>
          </a:xfrm>
          <a:prstGeom prst="roundRect">
            <a:avLst>
              <a:gd name="adj" fmla="val 5000"/>
            </a:avLst>
          </a:prstGeom>
          <a:solidFill>
            <a:srgbClr val="EEF3F7"/>
          </a:solidFill>
          <a:ln w="12700">
            <a:solidFill>
              <a:srgbClr val="EEF3F7"/>
            </a:solidFill>
            <a:prstDash val="solid"/>
          </a:ln>
        </p:spPr>
        <p:txBody>
          <a:bodyPr/>
          <a:p/>
        </p:txBody>
      </p:sp>
      <p:sp>
        <p:nvSpPr>
          <p:cNvPr id="8" name="Text 8"/>
          <p:cNvSpPr txBox="1"/>
          <p:nvPr/>
        </p:nvSpPr>
        <p:spPr>
          <a:xfrm>
            <a:off x="5715000" y="1143000"/>
            <a:ext cx="2834640" cy="1117812"/>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승인 없음 (접수 후 엔드포인트지원팀 처리)</a:t>
            </a:r>
            <a:endParaRPr lang="en-US" sz="1050" dirty="0"/>
          </a:p>
        </p:txBody>
      </p:sp>
      <p:sp>
        <p:nvSpPr>
          <p:cNvPr id="9" name="Shape 9"/>
          <p:cNvSpPr/>
          <p:nvPr/>
        </p:nvSpPr>
        <p:spPr>
          <a:xfrm>
            <a:off x="5577840" y="2443692"/>
            <a:ext cx="3108960" cy="1041293"/>
          </a:xfrm>
          <a:prstGeom prst="roundRect">
            <a:avLst>
              <a:gd name="adj" fmla="val 8000"/>
            </a:avLst>
          </a:prstGeom>
          <a:solidFill>
            <a:srgbClr val="E3F2EA"/>
          </a:solidFill>
          <a:ln w="12700">
            <a:solidFill>
              <a:srgbClr val="E3F2EA"/>
            </a:solidFill>
            <a:prstDash val="solid"/>
          </a:ln>
        </p:spPr>
        <p:txBody>
          <a:bodyPr/>
          <a:p/>
        </p:txBody>
      </p:sp>
      <p:sp>
        <p:nvSpPr>
          <p:cNvPr id="10" name="Text 10"/>
          <p:cNvSpPr txBox="1"/>
          <p:nvPr/>
        </p:nvSpPr>
        <p:spPr>
          <a:xfrm>
            <a:off x="5715000" y="2535132"/>
            <a:ext cx="2834640" cy="858413"/>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접수 후 1영업일 안에 재고에서 지급한다.</a:t>
            </a:r>
            <a:endParaRPr lang="en-US" sz="1000" dirty="0"/>
          </a:p>
        </p:txBody>
      </p:sp>
      <p:sp>
        <p:nvSpPr>
          <p:cNvPr id="11" name="Shape 11"/>
          <p:cNvSpPr/>
          <p:nvPr/>
        </p:nvSpPr>
        <p:spPr>
          <a:xfrm>
            <a:off x="5577840" y="3576426"/>
            <a:ext cx="3108960" cy="1041293"/>
          </a:xfrm>
          <a:prstGeom prst="roundRect">
            <a:avLst>
              <a:gd name="adj" fmla="val 7273"/>
            </a:avLst>
          </a:prstGeom>
          <a:solidFill>
            <a:srgbClr val="FCEBDD"/>
          </a:solidFill>
          <a:ln w="12700">
            <a:solidFill>
              <a:srgbClr val="FCEBDD"/>
            </a:solidFill>
            <a:prstDash val="solid"/>
          </a:ln>
        </p:spPr>
        <p:txBody>
          <a:bodyPr/>
          <a:p/>
        </p:txBody>
      </p:sp>
      <p:sp>
        <p:nvSpPr>
          <p:cNvPr id="12" name="Text 12"/>
          <p:cNvSpPr txBox="1"/>
          <p:nvPr/>
        </p:nvSpPr>
        <p:spPr>
          <a:xfrm>
            <a:off x="5715000" y="3667866"/>
            <a:ext cx="2834640" cy="858413"/>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개인 구매 주변기기는 대상이 아니다.</a:t>
            </a:r>
            <a:endParaRPr lang="en-US" sz="100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3.7 신청 전 준비</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3.7 퇴사·교체 시 장비 반납</a:t>
            </a:r>
            <a:endParaRPr lang="en-US" sz="2000" dirty="0"/>
          </a:p>
        </p:txBody>
      </p:sp>
      <p:sp>
        <p:nvSpPr>
          <p:cNvPr id="5" name="Shape 2"/>
          <p:cNvSpPr/>
          <p:nvPr/>
        </p:nvSpPr>
        <p:spPr>
          <a:xfrm>
            <a:off x="457200" y="987552"/>
            <a:ext cx="1463040" cy="292608"/>
          </a:xfrm>
          <a:prstGeom prst="roundRect">
            <a:avLst>
              <a:gd name="adj" fmla="val 50000"/>
            </a:avLst>
          </a:prstGeom>
          <a:solidFill>
            <a:srgbClr val="EEF3F7"/>
          </a:solidFill>
          <a:ln w="12700">
            <a:solidFill>
              <a:srgbClr val="EEF3F7"/>
            </a:solidFill>
            <a:prstDash val="solid"/>
          </a:ln>
        </p:spPr>
        <p:txBody>
          <a:bodyPr/>
          <a:p/>
        </p:txBody>
      </p:sp>
      <p:sp>
        <p:nvSpPr>
          <p:cNvPr id="6" name="Text 3"/>
          <p:cNvSpPr txBox="1"/>
          <p:nvPr/>
        </p:nvSpPr>
        <p:spPr>
          <a:xfrm>
            <a:off x="457200" y="987552"/>
            <a:ext cx="14630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문의 유형  </a:t>
            </a:r>
            <a:pPr algn="ctr" indent="0" marL="0">
              <a:buNone/>
            </a:pPr>
            <a:r>
              <a:rPr lang="en-US" sz="950" dirty="0">
                <a:solidFill>
                  <a:srgbClr val="1E2A36"/>
                </a:solidFill>
                <a:latin typeface="맑은 고딕" pitchFamily="34" charset="0"/>
                <a:ea typeface="맑은 고딕" pitchFamily="34" charset="-122"/>
                <a:cs typeface="맑은 고딕" pitchFamily="34" charset="-120"/>
              </a:rPr>
              <a:t>HW-05</a:t>
            </a:r>
            <a:endParaRPr lang="en-US" sz="950" dirty="0"/>
          </a:p>
        </p:txBody>
      </p:sp>
      <p:sp>
        <p:nvSpPr>
          <p:cNvPr id="7" name="Shape 4"/>
          <p:cNvSpPr/>
          <p:nvPr/>
        </p:nvSpPr>
        <p:spPr>
          <a:xfrm>
            <a:off x="2029968" y="987552"/>
            <a:ext cx="3291840" cy="292608"/>
          </a:xfrm>
          <a:prstGeom prst="roundRect">
            <a:avLst>
              <a:gd name="adj" fmla="val 50000"/>
            </a:avLst>
          </a:prstGeom>
          <a:solidFill>
            <a:srgbClr val="EEF3F7"/>
          </a:solidFill>
          <a:ln w="12700">
            <a:solidFill>
              <a:srgbClr val="EEF3F7"/>
            </a:solidFill>
            <a:prstDash val="solid"/>
          </a:ln>
        </p:spPr>
        <p:txBody>
          <a:bodyPr/>
          <a:p/>
        </p:txBody>
      </p:sp>
      <p:sp>
        <p:nvSpPr>
          <p:cNvPr id="8" name="Text 5"/>
          <p:cNvSpPr txBox="1"/>
          <p:nvPr/>
        </p:nvSpPr>
        <p:spPr>
          <a:xfrm>
            <a:off x="2029968" y="987552"/>
            <a:ext cx="329184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주체  </a:t>
            </a:r>
            <a:pPr algn="ctr" indent="0" marL="0">
              <a:buNone/>
            </a:pPr>
            <a:r>
              <a:rPr lang="en-US" sz="950" dirty="0">
                <a:solidFill>
                  <a:srgbClr val="1E2A36"/>
                </a:solidFill>
                <a:latin typeface="맑은 고딕" pitchFamily="34" charset="0"/>
                <a:ea typeface="맑은 고딕" pitchFamily="34" charset="-122"/>
                <a:cs typeface="맑은 고딕" pitchFamily="34" charset="-120"/>
              </a:rPr>
              <a:t>IT 담당자 처리</a:t>
            </a:r>
            <a:endParaRPr lang="en-US" sz="950" dirty="0"/>
          </a:p>
        </p:txBody>
      </p:sp>
      <p:sp>
        <p:nvSpPr>
          <p:cNvPr id="9" name="Shape 6"/>
          <p:cNvSpPr/>
          <p:nvPr/>
        </p:nvSpPr>
        <p:spPr>
          <a:xfrm>
            <a:off x="5431536" y="987552"/>
            <a:ext cx="1554480" cy="292608"/>
          </a:xfrm>
          <a:prstGeom prst="roundRect">
            <a:avLst>
              <a:gd name="adj" fmla="val 50000"/>
            </a:avLst>
          </a:prstGeom>
          <a:solidFill>
            <a:srgbClr val="EEF3F7"/>
          </a:solidFill>
          <a:ln w="12700">
            <a:solidFill>
              <a:srgbClr val="EEF3F7"/>
            </a:solidFill>
            <a:prstDash val="solid"/>
          </a:ln>
        </p:spPr>
        <p:txBody>
          <a:bodyPr/>
          <a:p/>
        </p:txBody>
      </p:sp>
      <p:sp>
        <p:nvSpPr>
          <p:cNvPr id="10" name="Text 7"/>
          <p:cNvSpPr txBox="1"/>
          <p:nvPr/>
        </p:nvSpPr>
        <p:spPr>
          <a:xfrm>
            <a:off x="5431536" y="987552"/>
            <a:ext cx="1554480"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담당 부서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엔드포인트지원팀</a:t>
            </a:r>
            <a:endParaRPr lang="en-US" sz="950" dirty="0"/>
          </a:p>
        </p:txBody>
      </p:sp>
      <p:sp>
        <p:nvSpPr>
          <p:cNvPr id="11" name="Shape 8"/>
          <p:cNvSpPr/>
          <p:nvPr/>
        </p:nvSpPr>
        <p:spPr>
          <a:xfrm>
            <a:off x="7095744" y="987552"/>
            <a:ext cx="1591056" cy="292608"/>
          </a:xfrm>
          <a:prstGeom prst="roundRect">
            <a:avLst>
              <a:gd name="adj" fmla="val 50000"/>
            </a:avLst>
          </a:prstGeom>
          <a:solidFill>
            <a:srgbClr val="EEF3F7"/>
          </a:solidFill>
          <a:ln w="12700">
            <a:solidFill>
              <a:srgbClr val="EEF3F7"/>
            </a:solidFill>
            <a:prstDash val="solid"/>
          </a:ln>
        </p:spPr>
        <p:txBody>
          <a:bodyPr/>
          <a:p/>
        </p:txBody>
      </p:sp>
      <p:sp>
        <p:nvSpPr>
          <p:cNvPr id="12" name="Text 9"/>
          <p:cNvSpPr txBox="1"/>
          <p:nvPr/>
        </p:nvSpPr>
        <p:spPr>
          <a:xfrm>
            <a:off x="7095744" y="987552"/>
            <a:ext cx="1591056" cy="292608"/>
          </a:xfrm>
          <a:prstGeom prst="rect">
            <a:avLst/>
          </a:prstGeom>
          <a:noFill/>
          <a:ln/>
        </p:spPr>
        <p:txBody>
          <a:bodyPr wrap="square" lIns="0" tIns="0" rIns="0" bIns="0" rtlCol="0" anchor="ctr"/>
          <a:lstStyle/>
          <a:p>
            <a:pPr algn="ctr" indent="0" marL="0">
              <a:buNone/>
            </a:pPr>
            <a:r>
              <a:rPr lang="en-US" sz="950" b="1" dirty="0">
                <a:solidFill>
                  <a:srgbClr val="1F3A5F"/>
                </a:solidFill>
                <a:latin typeface="맑은 고딕" pitchFamily="34" charset="0"/>
                <a:ea typeface="맑은 고딕" pitchFamily="34" charset="-122"/>
                <a:cs typeface="맑은 고딕" pitchFamily="34" charset="-120"/>
              </a:rPr>
              <a:t>처리 기간  </a:t>
            </a:r>
            <a:pPr algn="ctr" indent="0" marL="0">
              <a:buNone/>
            </a:pPr>
            <a:r>
              <a:rPr lang="en-US" sz="950" dirty="0">
                <a:solidFill>
                  <a:srgbClr val="1E2A36"/>
                </a:solidFill>
                <a:latin typeface="맑은 고딕" pitchFamily="34" charset="0"/>
                <a:ea typeface="맑은 고딕" pitchFamily="34" charset="-122"/>
                <a:cs typeface="맑은 고딕" pitchFamily="34" charset="-120"/>
              </a:rPr>
              <a:t>접수 후 1영업일</a:t>
            </a:r>
            <a:endParaRPr lang="en-US" sz="950" dirty="0"/>
          </a:p>
        </p:txBody>
      </p:sp>
      <p:sp>
        <p:nvSpPr>
          <p:cNvPr id="13" name="Shape 10"/>
          <p:cNvSpPr/>
          <p:nvPr/>
        </p:nvSpPr>
        <p:spPr>
          <a:xfrm>
            <a:off x="457200" y="1417320"/>
            <a:ext cx="4023360" cy="1733303"/>
          </a:xfrm>
          <a:prstGeom prst="roundRect">
            <a:avLst>
              <a:gd name="adj" fmla="val 4706"/>
            </a:avLst>
          </a:prstGeom>
          <a:solidFill>
            <a:srgbClr val="EEF3F7"/>
          </a:solidFill>
          <a:ln w="12700">
            <a:solidFill>
              <a:srgbClr val="EEF3F7"/>
            </a:solidFill>
            <a:prstDash val="solid"/>
          </a:ln>
        </p:spPr>
        <p:txBody>
          <a:bodyPr/>
          <a:p/>
        </p:txBody>
      </p:sp>
      <p:sp>
        <p:nvSpPr>
          <p:cNvPr id="14" name="Text 11"/>
          <p:cNvSpPr txBox="1"/>
          <p:nvPr/>
        </p:nvSpPr>
        <p:spPr>
          <a:xfrm>
            <a:off x="594360" y="1508760"/>
            <a:ext cx="3749040" cy="1550423"/>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이럴 때 신청합니다</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퇴사하거나 새 장비를 받아 기존 장비를 반납해야 한다.</a:t>
            </a:r>
            <a:endParaRPr lang="en-US" sz="1200" dirty="0"/>
          </a:p>
        </p:txBody>
      </p:sp>
      <p:sp>
        <p:nvSpPr>
          <p:cNvPr id="15" name="Shape 12"/>
          <p:cNvSpPr/>
          <p:nvPr/>
        </p:nvSpPr>
        <p:spPr>
          <a:xfrm>
            <a:off x="457200" y="3242063"/>
            <a:ext cx="4023360" cy="1375656"/>
          </a:xfrm>
          <a:prstGeom prst="roundRect">
            <a:avLst>
              <a:gd name="adj" fmla="val 4706"/>
            </a:avLst>
          </a:prstGeom>
          <a:solidFill>
            <a:srgbClr val="EEF3F7"/>
          </a:solidFill>
          <a:ln w="12700">
            <a:solidFill>
              <a:srgbClr val="EEF3F7"/>
            </a:solidFill>
            <a:prstDash val="solid"/>
          </a:ln>
        </p:spPr>
        <p:txBody>
          <a:bodyPr/>
          <a:p/>
        </p:txBody>
      </p:sp>
      <p:sp>
        <p:nvSpPr>
          <p:cNvPr id="16" name="Text 13"/>
          <p:cNvSpPr txBox="1"/>
          <p:nvPr/>
        </p:nvSpPr>
        <p:spPr>
          <a:xfrm>
            <a:off x="594360" y="3333503"/>
            <a:ext cx="3749040" cy="1192776"/>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대상</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장비를 쓰던 본인</a:t>
            </a:r>
            <a:endParaRPr lang="en-US" sz="1200" dirty="0"/>
          </a:p>
        </p:txBody>
      </p:sp>
      <p:sp>
        <p:nvSpPr>
          <p:cNvPr id="17" name="Shape 14"/>
          <p:cNvSpPr/>
          <p:nvPr/>
        </p:nvSpPr>
        <p:spPr>
          <a:xfrm>
            <a:off x="4663440" y="1417320"/>
            <a:ext cx="4023360" cy="1464405"/>
          </a:xfrm>
          <a:prstGeom prst="roundRect">
            <a:avLst>
              <a:gd name="adj" fmla="val 4000"/>
            </a:avLst>
          </a:prstGeom>
          <a:solidFill>
            <a:srgbClr val="EEF3F7"/>
          </a:solidFill>
          <a:ln w="12700">
            <a:solidFill>
              <a:srgbClr val="EEF3F7"/>
            </a:solidFill>
            <a:prstDash val="solid"/>
          </a:ln>
        </p:spPr>
        <p:txBody>
          <a:bodyPr/>
          <a:p/>
        </p:txBody>
      </p:sp>
      <p:sp>
        <p:nvSpPr>
          <p:cNvPr id="18" name="Text 15"/>
          <p:cNvSpPr txBox="1"/>
          <p:nvPr/>
        </p:nvSpPr>
        <p:spPr>
          <a:xfrm>
            <a:off x="4800600" y="1508760"/>
            <a:ext cx="3749040" cy="1281525"/>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준비할 정보</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사번</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반납할 장비</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업무 데이터 백업 여부</a:t>
            </a:r>
            <a:endParaRPr lang="en-US" sz="1200" dirty="0"/>
          </a:p>
        </p:txBody>
      </p:sp>
      <p:sp>
        <p:nvSpPr>
          <p:cNvPr id="19" name="Shape 16"/>
          <p:cNvSpPr/>
          <p:nvPr/>
        </p:nvSpPr>
        <p:spPr>
          <a:xfrm>
            <a:off x="4663440" y="2973165"/>
            <a:ext cx="4023360" cy="1644554"/>
          </a:xfrm>
          <a:prstGeom prst="roundRect">
            <a:avLst>
              <a:gd name="adj" fmla="val 5714"/>
            </a:avLst>
          </a:prstGeom>
          <a:solidFill>
            <a:srgbClr val="EEF3F7"/>
          </a:solidFill>
          <a:ln w="12700">
            <a:solidFill>
              <a:srgbClr val="EEF3F7"/>
            </a:solidFill>
            <a:prstDash val="solid"/>
          </a:ln>
        </p:spPr>
        <p:txBody>
          <a:bodyPr/>
          <a:p/>
        </p:txBody>
      </p:sp>
      <p:sp>
        <p:nvSpPr>
          <p:cNvPr id="20" name="Text 17"/>
          <p:cNvSpPr txBox="1"/>
          <p:nvPr/>
        </p:nvSpPr>
        <p:spPr>
          <a:xfrm>
            <a:off x="4800600" y="3064605"/>
            <a:ext cx="3749040" cy="1461674"/>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문의 시 알려 주실 정보</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신청 번호</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사번</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반납할 장비</a:t>
            </a:r>
            <a:endParaRPr lang="en-US" sz="1050" dirty="0"/>
          </a:p>
          <a:p>
            <a:pPr indent="0" marL="0">
              <a:spcBef>
                <a:spcPts val="400"/>
              </a:spcBef>
              <a:buNone/>
            </a:pPr>
            <a:r>
              <a:rPr lang="en-US" sz="1050" b="1" dirty="0">
                <a:solidFill>
                  <a:srgbClr val="1E2A36"/>
                </a:solidFill>
                <a:latin typeface="맑은 고딕" pitchFamily="34" charset="0"/>
                <a:ea typeface="맑은 고딕" pitchFamily="34" charset="-122"/>
                <a:cs typeface="맑은 고딕" pitchFamily="34" charset="-120"/>
              </a:rPr>
              <a:t>관련 FAQ: </a:t>
            </a:r>
            <a:pPr indent="0" marL="0">
              <a:buNone/>
            </a:pPr>
            <a:r>
              <a:rPr lang="en-US" sz="1050" dirty="0">
                <a:solidFill>
                  <a:srgbClr val="1E2A36"/>
                </a:solidFill>
                <a:latin typeface="맑은 고딕" pitchFamily="34" charset="0"/>
                <a:ea typeface="맑은 고딕" pitchFamily="34" charset="-122"/>
                <a:cs typeface="맑은 고딕" pitchFamily="34" charset="-120"/>
              </a:rPr>
              <a:t>FAQ-018</a:t>
            </a:r>
            <a:endParaRPr lang="en-US" sz="1050" dirty="0"/>
          </a:p>
        </p:txBody>
      </p:sp>
      <p:sp>
        <p:nvSpPr>
          <p:cNvPr id="21"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3.7 신청 방법</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3.7 퇴사·교체 시 장비 반납</a:t>
            </a:r>
            <a:endParaRPr lang="en-US" sz="2000" dirty="0"/>
          </a:p>
        </p:txBody>
      </p:sp>
      <p:sp>
        <p:nvSpPr>
          <p:cNvPr id="5" name="Shape 2"/>
          <p:cNvSpPr/>
          <p:nvPr/>
        </p:nvSpPr>
        <p:spPr>
          <a:xfrm>
            <a:off x="457200" y="1051560"/>
            <a:ext cx="4937760" cy="3566160"/>
          </a:xfrm>
          <a:prstGeom prst="roundRect">
            <a:avLst>
              <a:gd name="adj" fmla="val 3404"/>
            </a:avLst>
          </a:prstGeom>
          <a:solidFill>
            <a:srgbClr val="EEF3F7"/>
          </a:solidFill>
          <a:ln w="12700">
            <a:solidFill>
              <a:srgbClr val="EEF3F7"/>
            </a:solidFill>
            <a:prstDash val="solid"/>
          </a:ln>
        </p:spPr>
        <p:txBody>
          <a:bodyPr/>
          <a:p/>
        </p:txBody>
      </p:sp>
      <p:sp>
        <p:nvSpPr>
          <p:cNvPr id="6" name="Text 3"/>
          <p:cNvSpPr txBox="1"/>
          <p:nvPr/>
        </p:nvSpPr>
        <p:spPr>
          <a:xfrm>
            <a:off x="594360" y="1143000"/>
            <a:ext cx="4663440" cy="338328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신청 방법</a:t>
            </a:r>
            <a:endParaRPr lang="en-US" sz="13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업무 파일을 팀 공유 드라이브로 옮깁니다.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그룹웨어 &gt; IT 요청 &gt; 장비 신청에서 '반납'을 선택해 제출합니다.</a:t>
            </a:r>
            <a:endParaRPr lang="en-US" sz="1100" dirty="0"/>
          </a:p>
          <a:p>
            <a:pPr marL="342900" indent="-342900">
              <a:spcAft>
                <a:spcPts val="300"/>
              </a:spcAft>
              <a:buSzPct val="100000"/>
              <a:buFont typeface="+mj-lt"/>
              <a:buAutoNum type="arabicPeriod" startAt="1"/>
            </a:pPr>
            <a:r>
              <a:rPr lang="en-US" sz="1100" dirty="0">
                <a:solidFill>
                  <a:srgbClr val="1E2A36"/>
                </a:solidFill>
                <a:latin typeface="맑은 고딕" pitchFamily="34" charset="0"/>
                <a:ea typeface="맑은 고딕" pitchFamily="34" charset="-122"/>
                <a:cs typeface="맑은 고딕" pitchFamily="34" charset="-120"/>
              </a:rPr>
              <a:t>직접 초기화하지 말고 그대로 엔드포인트지원팀에 반납합니다. 초기화는 IT에서 진행합니다.</a:t>
            </a:r>
            <a:endParaRPr lang="en-US" sz="1100" dirty="0"/>
          </a:p>
        </p:txBody>
      </p:sp>
      <p:sp>
        <p:nvSpPr>
          <p:cNvPr id="7" name="Shape 7"/>
          <p:cNvSpPr/>
          <p:nvPr/>
        </p:nvSpPr>
        <p:spPr>
          <a:xfrm>
            <a:off x="5577840" y="1051560"/>
            <a:ext cx="3108960" cy="1141557"/>
          </a:xfrm>
          <a:prstGeom prst="roundRect">
            <a:avLst>
              <a:gd name="adj" fmla="val 5000"/>
            </a:avLst>
          </a:prstGeom>
          <a:solidFill>
            <a:srgbClr val="EEF3F7"/>
          </a:solidFill>
          <a:ln w="12700">
            <a:solidFill>
              <a:srgbClr val="EEF3F7"/>
            </a:solidFill>
            <a:prstDash val="solid"/>
          </a:ln>
        </p:spPr>
        <p:txBody>
          <a:bodyPr/>
          <a:p/>
        </p:txBody>
      </p:sp>
      <p:sp>
        <p:nvSpPr>
          <p:cNvPr id="8" name="Text 8"/>
          <p:cNvSpPr txBox="1"/>
          <p:nvPr/>
        </p:nvSpPr>
        <p:spPr>
          <a:xfrm>
            <a:off x="5715000" y="1143000"/>
            <a:ext cx="2834640" cy="958677"/>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승인 절차</a:t>
            </a:r>
            <a:endParaRPr lang="en-US" sz="1300" dirty="0"/>
          </a:p>
          <a:p>
            <a:pPr marL="342900" indent="-342900">
              <a:spcAft>
                <a:spcPts val="300"/>
              </a:spcAft>
              <a:buSzPct val="100000"/>
              <a:buFont typeface="+mj-lt"/>
              <a:buAutoNum type="arabicPeriod" startAt="1"/>
            </a:pPr>
            <a:r>
              <a:rPr lang="en-US" sz="1050" dirty="0">
                <a:solidFill>
                  <a:srgbClr val="1E2A36"/>
                </a:solidFill>
                <a:latin typeface="맑은 고딕" pitchFamily="34" charset="0"/>
                <a:ea typeface="맑은 고딕" pitchFamily="34" charset="-122"/>
                <a:cs typeface="맑은 고딕" pitchFamily="34" charset="-120"/>
              </a:rPr>
              <a:t>승인 없음 (접수 후 엔드포인트지원팀 처리)</a:t>
            </a:r>
            <a:endParaRPr lang="en-US" sz="1050" dirty="0"/>
          </a:p>
        </p:txBody>
      </p:sp>
      <p:sp>
        <p:nvSpPr>
          <p:cNvPr id="9" name="Shape 9"/>
          <p:cNvSpPr/>
          <p:nvPr/>
        </p:nvSpPr>
        <p:spPr>
          <a:xfrm>
            <a:off x="5577840" y="2284557"/>
            <a:ext cx="3108960" cy="1120861"/>
          </a:xfrm>
          <a:prstGeom prst="roundRect">
            <a:avLst>
              <a:gd name="adj" fmla="val 8000"/>
            </a:avLst>
          </a:prstGeom>
          <a:solidFill>
            <a:srgbClr val="E3F2EA"/>
          </a:solidFill>
          <a:ln w="12700">
            <a:solidFill>
              <a:srgbClr val="E3F2EA"/>
            </a:solidFill>
            <a:prstDash val="solid"/>
          </a:ln>
        </p:spPr>
        <p:txBody>
          <a:bodyPr/>
          <a:p/>
        </p:txBody>
      </p:sp>
      <p:sp>
        <p:nvSpPr>
          <p:cNvPr id="10" name="Text 10"/>
          <p:cNvSpPr txBox="1"/>
          <p:nvPr/>
        </p:nvSpPr>
        <p:spPr>
          <a:xfrm>
            <a:off x="5715000" y="2375997"/>
            <a:ext cx="2834640" cy="937981"/>
          </a:xfrm>
          <a:prstGeom prst="rect">
            <a:avLst/>
          </a:prstGeom>
          <a:noFill/>
          <a:ln/>
        </p:spPr>
        <p:txBody>
          <a:bodyPr wrap="square" lIns="0" tIns="0" rIns="0" bIns="0" rtlCol="0" anchor="t"/>
          <a:lstStyle/>
          <a:p>
            <a:pPr indent="0" marL="0">
              <a:spcAft>
                <a:spcPts val="600"/>
              </a:spcAft>
              <a:buNone/>
            </a:pPr>
            <a:r>
              <a:rPr lang="en-US" sz="1300" b="1" dirty="0">
                <a:solidFill>
                  <a:srgbClr val="1E8E5A"/>
                </a:solidFill>
                <a:latin typeface="맑은 고딕" pitchFamily="34" charset="0"/>
                <a:ea typeface="맑은 고딕" pitchFamily="34" charset="-122"/>
                <a:cs typeface="맑은 고딕" pitchFamily="34" charset="-120"/>
              </a:rPr>
              <a:t>처리 기간과 결과 확인</a:t>
            </a:r>
            <a:endParaRPr lang="en-US" sz="1300" dirty="0"/>
          </a:p>
          <a:p>
            <a:pPr indent="0" marL="0">
              <a:spcAft>
                <a:spcPts val="300"/>
              </a:spcAft>
              <a:buNone/>
            </a:pPr>
            <a:r>
              <a:rPr lang="en-US" sz="1000" dirty="0">
                <a:solidFill>
                  <a:srgbClr val="1E2A36"/>
                </a:solidFill>
                <a:latin typeface="맑은 고딕" pitchFamily="34" charset="0"/>
                <a:ea typeface="맑은 고딕" pitchFamily="34" charset="-122"/>
                <a:cs typeface="맑은 고딕" pitchFamily="34" charset="-120"/>
              </a:rPr>
              <a:t>접수 후 1영업일 안에 반납 일정이 안내되고, 반납한 장비는 IT에서 초기화한다.</a:t>
            </a:r>
            <a:endParaRPr lang="en-US" sz="1000" dirty="0"/>
          </a:p>
        </p:txBody>
      </p:sp>
      <p:sp>
        <p:nvSpPr>
          <p:cNvPr id="11" name="Shape 11"/>
          <p:cNvSpPr/>
          <p:nvPr/>
        </p:nvSpPr>
        <p:spPr>
          <a:xfrm>
            <a:off x="5577840" y="3496858"/>
            <a:ext cx="3108960" cy="1120861"/>
          </a:xfrm>
          <a:prstGeom prst="roundRect">
            <a:avLst>
              <a:gd name="adj" fmla="val 7273"/>
            </a:avLst>
          </a:prstGeom>
          <a:solidFill>
            <a:srgbClr val="FCEBDD"/>
          </a:solidFill>
          <a:ln w="12700">
            <a:solidFill>
              <a:srgbClr val="FCEBDD"/>
            </a:solidFill>
            <a:prstDash val="solid"/>
          </a:ln>
        </p:spPr>
        <p:txBody>
          <a:bodyPr/>
          <a:p/>
        </p:txBody>
      </p:sp>
      <p:sp>
        <p:nvSpPr>
          <p:cNvPr id="12" name="Text 12"/>
          <p:cNvSpPr txBox="1"/>
          <p:nvPr/>
        </p:nvSpPr>
        <p:spPr>
          <a:xfrm>
            <a:off x="5715000" y="3588298"/>
            <a:ext cx="2834640" cy="937981"/>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반려되는 경우</a:t>
            </a:r>
            <a:endParaRPr lang="en-US" sz="1300" dirty="0"/>
          </a:p>
          <a:p>
            <a:pPr marL="152400" indent="-152400">
              <a:spcAft>
                <a:spcPts val="300"/>
              </a:spcAft>
              <a:buSzPct val="100000"/>
              <a:buChar char="•"/>
            </a:pPr>
            <a:r>
              <a:rPr lang="en-US" sz="1000" dirty="0">
                <a:solidFill>
                  <a:srgbClr val="1E2A36"/>
                </a:solidFill>
                <a:latin typeface="맑은 고딕" pitchFamily="34" charset="0"/>
                <a:ea typeface="맑은 고딕" pitchFamily="34" charset="-122"/>
                <a:cs typeface="맑은 고딕" pitchFamily="34" charset="-120"/>
              </a:rPr>
              <a:t>장비를 분실했으면 반납이 아니라 IT-SEC-003 3.7에 따라 분실 신고를 한다.</a:t>
            </a:r>
            <a:endParaRPr lang="en-US" sz="100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4. 자주 묻는 질문</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4. 자주 묻는 질문</a:t>
            </a:r>
            <a:endParaRPr lang="en-US" sz="2000" dirty="0"/>
          </a:p>
        </p:txBody>
      </p:sp>
      <p:sp>
        <p:nvSpPr>
          <p:cNvPr id="5" name="Shape 2"/>
          <p:cNvSpPr/>
          <p:nvPr/>
        </p:nvSpPr>
        <p:spPr>
          <a:xfrm>
            <a:off x="457200" y="1051560"/>
            <a:ext cx="4023360" cy="3200400"/>
          </a:xfrm>
          <a:prstGeom prst="roundRect">
            <a:avLst>
              <a:gd name="adj" fmla="val 4324"/>
            </a:avLst>
          </a:prstGeom>
          <a:solidFill>
            <a:srgbClr val="EEF3F7"/>
          </a:solidFill>
          <a:ln w="12700">
            <a:solidFill>
              <a:srgbClr val="EEF3F7"/>
            </a:solidFill>
            <a:prstDash val="solid"/>
          </a:ln>
        </p:spPr>
        <p:txBody>
          <a:bodyPr/>
          <a:p/>
        </p:txBody>
      </p:sp>
      <p:sp>
        <p:nvSpPr>
          <p:cNvPr id="6" name="Text 3"/>
          <p:cNvSpPr txBox="1"/>
          <p:nvPr/>
        </p:nvSpPr>
        <p:spPr>
          <a:xfrm>
            <a:off x="594360" y="1161288"/>
            <a:ext cx="3749040" cy="3017520"/>
          </a:xfrm>
          <a:prstGeom prst="rect">
            <a:avLst/>
          </a:prstGeom>
          <a:noFill/>
          <a:ln/>
        </p:spPr>
        <p:txBody>
          <a:bodyPr wrap="square" lIns="0" tIns="0" rIns="0" bIns="0" rtlCol="0" anchor="t"/>
          <a:lstStyle/>
          <a:p>
            <a:pPr indent="0" marL="0">
              <a:spcAft>
                <a:spcPts val="600"/>
              </a:spcAft>
              <a:buNone/>
            </a:pPr>
            <a:r>
              <a:rPr lang="en-US" sz="1200" b="1" dirty="0">
                <a:solidFill>
                  <a:srgbClr val="1B6F7A"/>
                </a:solidFill>
                <a:latin typeface="맑은 고딕" pitchFamily="34" charset="0"/>
                <a:ea typeface="맑은 고딕" pitchFamily="34" charset="-122"/>
                <a:cs typeface="맑은 고딕" pitchFamily="34" charset="-120"/>
              </a:rPr>
              <a:t>Q. </a:t>
            </a:r>
            <a:pPr indent="0" marL="0">
              <a:spcAft>
                <a:spcPts val="600"/>
              </a:spcAft>
              <a:buNone/>
            </a:pPr>
            <a:r>
              <a:rPr lang="en-US" sz="1200" dirty="0">
                <a:solidFill>
                  <a:srgbClr val="1E2A36"/>
                </a:solidFill>
                <a:latin typeface="맑은 고딕" pitchFamily="34" charset="0"/>
                <a:ea typeface="맑은 고딕" pitchFamily="34" charset="-122"/>
                <a:cs typeface="맑은 고딕" pitchFamily="34" charset="-120"/>
              </a:rPr>
              <a:t>노트북에 음료를 쏟았거나 파손됐어요. (FAQ-017)</a:t>
            </a:r>
            <a:endParaRPr lang="en-US" sz="1200" dirty="0"/>
          </a:p>
          <a:p>
            <a:pPr indent="0" marL="0">
              <a:spcAft>
                <a:spcPts val="600"/>
              </a:spcAft>
              <a:buNone/>
            </a:pPr>
            <a:r>
              <a:rPr lang="en-US" sz="1200" b="1" dirty="0">
                <a:solidFill>
                  <a:srgbClr val="D9661F"/>
                </a:solidFill>
                <a:latin typeface="맑은 고딕" pitchFamily="34" charset="0"/>
                <a:ea typeface="맑은 고딕" pitchFamily="34" charset="-122"/>
                <a:cs typeface="맑은 고딕" pitchFamily="34" charset="-120"/>
              </a:rPr>
              <a:t>A. </a:t>
            </a:r>
            <a:pPr indent="0" marL="0">
              <a:spcAft>
                <a:spcPts val="600"/>
              </a:spcAft>
              <a:buNone/>
            </a:pPr>
            <a:r>
              <a:rPr lang="en-US" sz="1200" dirty="0">
                <a:solidFill>
                  <a:srgbClr val="1E2A36"/>
                </a:solidFill>
                <a:latin typeface="맑은 고딕" pitchFamily="34" charset="0"/>
                <a:ea typeface="맑은 고딕" pitchFamily="34" charset="-122"/>
                <a:cs typeface="맑은 고딕" pitchFamily="34" charset="-120"/>
              </a:rPr>
              <a:t>즉시 전원을 끄고 충전기를 분리하세요. 엔드포인트지원팀에 접수하면 데이터 백업 후 수리를 진행하고 필요하면 대여 장비를 지급합니다.</a:t>
            </a:r>
            <a:endParaRPr lang="en-US" sz="1200" dirty="0"/>
          </a:p>
        </p:txBody>
      </p:sp>
      <p:sp>
        <p:nvSpPr>
          <p:cNvPr id="7" name="Shape 2"/>
          <p:cNvSpPr/>
          <p:nvPr/>
        </p:nvSpPr>
        <p:spPr>
          <a:xfrm>
            <a:off x="4663440" y="1051560"/>
            <a:ext cx="4023360" cy="3200400"/>
          </a:xfrm>
          <a:prstGeom prst="roundRect">
            <a:avLst>
              <a:gd name="adj" fmla="val 4324"/>
            </a:avLst>
          </a:prstGeom>
          <a:solidFill>
            <a:srgbClr val="EEF3F7"/>
          </a:solidFill>
          <a:ln w="12700">
            <a:solidFill>
              <a:srgbClr val="EEF3F7"/>
            </a:solidFill>
            <a:prstDash val="solid"/>
          </a:ln>
        </p:spPr>
        <p:txBody>
          <a:bodyPr/>
          <a:p/>
        </p:txBody>
      </p:sp>
      <p:sp>
        <p:nvSpPr>
          <p:cNvPr id="8" name="Text 3"/>
          <p:cNvSpPr txBox="1"/>
          <p:nvPr/>
        </p:nvSpPr>
        <p:spPr>
          <a:xfrm>
            <a:off x="4800600" y="1161288"/>
            <a:ext cx="3749040" cy="3017520"/>
          </a:xfrm>
          <a:prstGeom prst="rect">
            <a:avLst/>
          </a:prstGeom>
          <a:noFill/>
          <a:ln/>
        </p:spPr>
        <p:txBody>
          <a:bodyPr wrap="square" lIns="0" tIns="0" rIns="0" bIns="0" rtlCol="0" anchor="t"/>
          <a:lstStyle/>
          <a:p>
            <a:pPr indent="0" marL="0">
              <a:spcAft>
                <a:spcPts val="600"/>
              </a:spcAft>
              <a:buNone/>
            </a:pPr>
            <a:r>
              <a:rPr lang="en-US" sz="1200" b="1" dirty="0">
                <a:solidFill>
                  <a:srgbClr val="1B6F7A"/>
                </a:solidFill>
                <a:latin typeface="맑은 고딕" pitchFamily="34" charset="0"/>
                <a:ea typeface="맑은 고딕" pitchFamily="34" charset="-122"/>
                <a:cs typeface="맑은 고딕" pitchFamily="34" charset="-120"/>
              </a:rPr>
              <a:t>Q. </a:t>
            </a:r>
            <a:pPr indent="0" marL="0">
              <a:spcAft>
                <a:spcPts val="600"/>
              </a:spcAft>
              <a:buNone/>
            </a:pPr>
            <a:r>
              <a:rPr lang="en-US" sz="1200" dirty="0">
                <a:solidFill>
                  <a:srgbClr val="1E2A36"/>
                </a:solidFill>
                <a:latin typeface="맑은 고딕" pitchFamily="34" charset="0"/>
                <a:ea typeface="맑은 고딕" pitchFamily="34" charset="-122"/>
                <a:cs typeface="맑은 고딕" pitchFamily="34" charset="-120"/>
              </a:rPr>
              <a:t>노트북 교체·반납은 어떻게 하나요? (FAQ-018)</a:t>
            </a:r>
            <a:endParaRPr lang="en-US" sz="1200" dirty="0"/>
          </a:p>
          <a:p>
            <a:pPr indent="0" marL="0">
              <a:spcAft>
                <a:spcPts val="600"/>
              </a:spcAft>
              <a:buNone/>
            </a:pPr>
            <a:r>
              <a:rPr lang="en-US" sz="1200" b="1" dirty="0">
                <a:solidFill>
                  <a:srgbClr val="D9661F"/>
                </a:solidFill>
                <a:latin typeface="맑은 고딕" pitchFamily="34" charset="0"/>
                <a:ea typeface="맑은 고딕" pitchFamily="34" charset="-122"/>
                <a:cs typeface="맑은 고딕" pitchFamily="34" charset="-120"/>
              </a:rPr>
              <a:t>A. </a:t>
            </a:r>
            <a:pPr indent="0" marL="0">
              <a:spcAft>
                <a:spcPts val="600"/>
              </a:spcAft>
              <a:buNone/>
            </a:pPr>
            <a:r>
              <a:rPr lang="en-US" sz="1200" dirty="0">
                <a:solidFill>
                  <a:srgbClr val="1E2A36"/>
                </a:solidFill>
                <a:latin typeface="맑은 고딕" pitchFamily="34" charset="0"/>
                <a:ea typeface="맑은 고딕" pitchFamily="34" charset="-122"/>
                <a:cs typeface="맑은 고딕" pitchFamily="34" charset="-120"/>
              </a:rPr>
              <a:t>업무용 PC 교체 주기는 지급일로부터 3년입니다. 개발 직군은 macOS/Windows 중 선택, 그 외 직군은 Windows가 기본입니다. 반납 시 초기화는 IT에서 진행하므로 그대로 반납하면 됩니다.</a:t>
            </a:r>
            <a:endParaRPr lang="en-US" sz="1200" dirty="0"/>
          </a:p>
        </p:txBody>
      </p:sp>
      <p:sp>
        <p:nvSpPr>
          <p:cNvPr id="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8</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5. 주의사항 · 6. 문의처</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주의사항 · 문의처</a:t>
            </a:r>
            <a:endParaRPr lang="en-US" sz="2000" dirty="0"/>
          </a:p>
        </p:txBody>
      </p:sp>
      <p:sp>
        <p:nvSpPr>
          <p:cNvPr id="5" name="Shape 2"/>
          <p:cNvSpPr/>
          <p:nvPr/>
        </p:nvSpPr>
        <p:spPr>
          <a:xfrm>
            <a:off x="457200" y="1051560"/>
            <a:ext cx="3474720" cy="3566160"/>
          </a:xfrm>
          <a:prstGeom prst="roundRect">
            <a:avLst>
              <a:gd name="adj" fmla="val 2105"/>
            </a:avLst>
          </a:prstGeom>
          <a:solidFill>
            <a:srgbClr val="FCEBDD"/>
          </a:solidFill>
          <a:ln w="12700">
            <a:solidFill>
              <a:srgbClr val="FCEBDD"/>
            </a:solidFill>
            <a:prstDash val="solid"/>
          </a:ln>
        </p:spPr>
        <p:txBody>
          <a:bodyPr/>
          <a:p/>
        </p:txBody>
      </p:sp>
      <p:sp>
        <p:nvSpPr>
          <p:cNvPr id="6" name="Text 3"/>
          <p:cNvSpPr txBox="1"/>
          <p:nvPr/>
        </p:nvSpPr>
        <p:spPr>
          <a:xfrm>
            <a:off x="594360" y="1143000"/>
            <a:ext cx="3200400" cy="3383280"/>
          </a:xfrm>
          <a:prstGeom prst="rect">
            <a:avLst/>
          </a:prstGeom>
          <a:noFill/>
          <a:ln/>
        </p:spPr>
        <p:txBody>
          <a:bodyPr wrap="square" lIns="0" tIns="0" rIns="0" bIns="0" rtlCol="0" anchor="t"/>
          <a:lstStyle/>
          <a:p>
            <a:pPr indent="0" marL="0">
              <a:spcAft>
                <a:spcPts val="600"/>
              </a:spcAft>
              <a:buNone/>
            </a:pPr>
            <a:r>
              <a:rPr lang="en-US" sz="1300" b="1" dirty="0">
                <a:solidFill>
                  <a:srgbClr val="D9661F"/>
                </a:solidFill>
                <a:latin typeface="맑은 고딕" pitchFamily="34" charset="0"/>
                <a:ea typeface="맑은 고딕" pitchFamily="34" charset="-122"/>
                <a:cs typeface="맑은 고딕" pitchFamily="34" charset="-120"/>
              </a:rPr>
              <a:t>5. 주의사항</a:t>
            </a:r>
            <a:endParaRPr lang="en-US" sz="13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음료를 쏟은 장비를 다시 켜지 않는다.</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회사 장비를 개인적으로 수리업체에 맡기지 않는다.</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반납 전에 직접 초기화하지 않는다.</a:t>
            </a:r>
            <a:endParaRPr lang="en-US" sz="1200" dirty="0"/>
          </a:p>
          <a:p>
            <a:pPr marL="152400" indent="-152400">
              <a:spcAft>
                <a:spcPts val="300"/>
              </a:spcAft>
              <a:buSzPct val="100000"/>
              <a:buChar char="•"/>
            </a:pPr>
            <a:r>
              <a:rPr lang="en-US" sz="1200" dirty="0">
                <a:solidFill>
                  <a:srgbClr val="1E2A36"/>
                </a:solidFill>
                <a:latin typeface="맑은 고딕" pitchFamily="34" charset="0"/>
                <a:ea typeface="맑은 고딕" pitchFamily="34" charset="-122"/>
                <a:cs typeface="맑은 고딕" pitchFamily="34" charset="-120"/>
              </a:rPr>
              <a:t>장비를 잃어버렸으면 IT-SEC-003에 따라 바로 신고한다.</a:t>
            </a:r>
            <a:endParaRPr lang="en-US" sz="1200" dirty="0"/>
          </a:p>
        </p:txBody>
      </p:sp>
      <p:sp>
        <p:nvSpPr>
          <p:cNvPr id="7" name="Text 4"/>
          <p:cNvSpPr txBox="1"/>
          <p:nvPr/>
        </p:nvSpPr>
        <p:spPr>
          <a:xfrm>
            <a:off x="4114800" y="1051560"/>
            <a:ext cx="4572000" cy="274320"/>
          </a:xfrm>
          <a:prstGeom prst="rect">
            <a:avLst/>
          </a:prstGeom>
          <a:noFill/>
          <a:ln/>
        </p:spPr>
        <p:txBody>
          <a:bodyPr wrap="square" lIns="0" tIns="0" rIns="0" bIns="0" rtlCol="0" anchor="ctr"/>
          <a:lstStyle/>
          <a:p>
            <a:pPr indent="0" marL="0">
              <a:buNone/>
            </a:pPr>
            <a:r>
              <a:rPr lang="en-US" sz="1300" b="1" dirty="0">
                <a:solidFill>
                  <a:srgbClr val="1F3A5F"/>
                </a:solidFill>
                <a:latin typeface="맑은 고딕" pitchFamily="34" charset="0"/>
                <a:ea typeface="맑은 고딕" pitchFamily="34" charset="-122"/>
                <a:cs typeface="맑은 고딕" pitchFamily="34" charset="-120"/>
              </a:rPr>
              <a:t>6. 문의처</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0" y="1417320"/>
          <a:ext cx="4572000" cy="914400"/>
        </p:xfrm>
        <a:graphic>
          <a:graphicData uri="http://schemas.openxmlformats.org/drawingml/2006/table">
            <a:tbl>
              <a:tblPr/>
              <a:tblGrid>
                <a:gridCol w="1097280"/>
                <a:gridCol w="3474720"/>
              </a:tblGrid>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담당 부서</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엔드포인트지원팀</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1차 접수</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서비스데스크</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전화</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IT 헬프데스크 내선 1000 (평일 09:00~18:00)</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메신저</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#it-helpdesk 채널</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A5F"/>
                          </a:solidFill>
                          <a:latin typeface="맑은 고딕" pitchFamily="34" charset="0"/>
                          <a:ea typeface="맑은 고딕" pitchFamily="34" charset="-122"/>
                          <a:cs typeface="맑은 고딕" pitchFamily="34" charset="-120"/>
                        </a:rPr>
                        <a:t>메일</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EF3F7"/>
                    </a:solidFill>
                  </a:tcPr>
                </a:tc>
                <a:tc>
                  <a:txBody>
                    <a:bodyPr/>
                    <a:lstStyle/>
                    <a:p>
                      <a:pPr indent="0" marL="0">
                        <a:buNone/>
                      </a:pPr>
                      <a:r>
                        <a:rPr lang="en-US" sz="1050" dirty="0">
                          <a:solidFill>
                            <a:srgbClr val="1E2A36"/>
                          </a:solidFill>
                          <a:latin typeface="맑은 고딕" pitchFamily="34" charset="0"/>
                          <a:ea typeface="맑은 고딕" pitchFamily="34" charset="-122"/>
                          <a:cs typeface="맑은 고딕" pitchFamily="34" charset="-120"/>
                        </a:rPr>
                        <a:t>it-helpdesk@hanwha-ict.example (가상)</a:t>
                      </a:r>
                      <a:endParaRPr lang="en-US" sz="10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sp>
        <p:nvSpPr>
          <p:cNvPr id="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9</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부록</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부록</a:t>
            </a:r>
            <a:endParaRPr lang="en-US" sz="2000" dirty="0"/>
          </a:p>
        </p:txBody>
      </p:sp>
      <p:sp>
        <p:nvSpPr>
          <p:cNvPr id="5" name="Shape 2"/>
          <p:cNvSpPr/>
          <p:nvPr/>
        </p:nvSpPr>
        <p:spPr>
          <a:xfrm>
            <a:off x="457200" y="1051560"/>
            <a:ext cx="4023360" cy="1920240"/>
          </a:xfrm>
          <a:prstGeom prst="roundRect">
            <a:avLst>
              <a:gd name="adj" fmla="val 3810"/>
            </a:avLst>
          </a:prstGeom>
          <a:solidFill>
            <a:srgbClr val="EEF3F7"/>
          </a:solidFill>
          <a:ln w="12700">
            <a:solidFill>
              <a:srgbClr val="EEF3F7"/>
            </a:solidFill>
            <a:prstDash val="solid"/>
          </a:ln>
        </p:spPr>
        <p:txBody>
          <a:bodyPr/>
          <a:p/>
        </p:txBody>
      </p:sp>
      <p:sp>
        <p:nvSpPr>
          <p:cNvPr id="6" name="Text 3"/>
          <p:cNvSpPr txBox="1"/>
          <p:nvPr/>
        </p:nvSpPr>
        <p:spPr>
          <a:xfrm>
            <a:off x="594360" y="1143000"/>
            <a:ext cx="3749040" cy="173736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맑은 고딕" pitchFamily="34" charset="0"/>
                <a:ea typeface="맑은 고딕" pitchFamily="34" charset="-122"/>
                <a:cs typeface="맑은 고딕" pitchFamily="34" charset="-120"/>
              </a:rPr>
              <a:t>관련 문서</a:t>
            </a:r>
            <a:endParaRPr lang="en-US" sz="130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IT-HW-001 업무 PC 기본 장애 대응 가이드</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IT-ACS-003 퇴사·부서이동 권한 변경 가이드</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IT-SEC-003 계정 도용·장비 분실 신고 가이드</a:t>
            </a:r>
            <a:endParaRPr lang="en-US" sz="1050" dirty="0"/>
          </a:p>
          <a:p>
            <a:pPr marL="152400" indent="-152400">
              <a:spcAft>
                <a:spcPts val="300"/>
              </a:spcAft>
              <a:buSzPct val="100000"/>
              <a:buChar char="•"/>
            </a:pPr>
            <a:r>
              <a:rPr lang="en-US" sz="1050" dirty="0">
                <a:solidFill>
                  <a:srgbClr val="1E2A36"/>
                </a:solidFill>
                <a:latin typeface="맑은 고딕" pitchFamily="34" charset="0"/>
                <a:ea typeface="맑은 고딕" pitchFamily="34" charset="-122"/>
                <a:cs typeface="맑은 고딕" pitchFamily="34" charset="-120"/>
              </a:rPr>
              <a:t>IT-STD-001 IT 서비스 운영 기준</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914400"/>
        </p:xfrm>
        <a:graphic>
          <a:graphicData uri="http://schemas.openxmlformats.org/drawingml/2006/table">
            <a:tbl>
              <a:tblPr/>
              <a:tblGrid>
                <a:gridCol w="1097280"/>
                <a:gridCol w="2926080"/>
              </a:tblGrid>
              <a:tr h="0">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용어</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설명</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대여 노트북</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수리 기간 동안 임시로 쓰는 회사 노트북</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교체 주기</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950" dirty="0">
                          <a:solidFill>
                            <a:srgbClr val="1E2A36"/>
                          </a:solidFill>
                          <a:latin typeface="맑은 고딕" pitchFamily="34" charset="0"/>
                          <a:ea typeface="맑은 고딕" pitchFamily="34" charset="-122"/>
                          <a:cs typeface="맑은 고딕" pitchFamily="34" charset="-120"/>
                        </a:rPr>
                        <a:t>업무용 PC를 새 장비로 바꿀 수 있는 기간. 지급일로부터 3년</a:t>
                      </a:r>
                      <a:endParaRPr lang="en-US" sz="95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457200" y="3200400"/>
          <a:ext cx="8229600" cy="914400"/>
        </p:xfrm>
        <a:graphic>
          <a:graphicData uri="http://schemas.openxmlformats.org/drawingml/2006/table">
            <a:tbl>
              <a:tblPr/>
              <a:tblGrid>
                <a:gridCol w="914400"/>
                <a:gridCol w="1463040"/>
                <a:gridCol w="1828800"/>
                <a:gridCol w="4023360"/>
              </a:tblGrid>
              <a:tr h="0">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버전</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개정일</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작성자</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변경 내용</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F3A5F"/>
                    </a:solidFill>
                  </a:tcPr>
                </a:tc>
              </a:tr>
              <a:tr h="0">
                <a:tc>
                  <a:txBody>
                    <a:bodyPr/>
                    <a:lstStyle/>
                    <a:p>
                      <a:pPr indent="0" marL="0">
                        <a:buNone/>
                      </a:pPr>
                      <a:r>
                        <a:rPr lang="en-US" sz="1000" dirty="0">
                          <a:solidFill>
                            <a:srgbClr val="1E2A36"/>
                          </a:solidFill>
                          <a:latin typeface="맑은 고딕" pitchFamily="34" charset="0"/>
                          <a:ea typeface="맑은 고딕" pitchFamily="34" charset="-122"/>
                          <a:cs typeface="맑은 고딕" pitchFamily="34" charset="-120"/>
                        </a:rPr>
                        <a:t>v1.0</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00" dirty="0">
                          <a:solidFill>
                            <a:srgbClr val="1E2A36"/>
                          </a:solidFill>
                          <a:latin typeface="맑은 고딕" pitchFamily="34" charset="0"/>
                          <a:ea typeface="맑은 고딕" pitchFamily="34" charset="-122"/>
                          <a:cs typeface="맑은 고딕" pitchFamily="34" charset="-120"/>
                        </a:rPr>
                        <a:t>2026-03-01</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00" dirty="0">
                          <a:solidFill>
                            <a:srgbClr val="1E2A36"/>
                          </a:solidFill>
                          <a:latin typeface="맑은 고딕" pitchFamily="34" charset="0"/>
                          <a:ea typeface="맑은 고딕" pitchFamily="34" charset="-122"/>
                          <a:cs typeface="맑은 고딕" pitchFamily="34" charset="-120"/>
                        </a:rPr>
                        <a:t>엔드포인트지원팀</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000" dirty="0">
                          <a:solidFill>
                            <a:srgbClr val="1E2A36"/>
                          </a:solidFill>
                          <a:latin typeface="맑은 고딕" pitchFamily="34" charset="0"/>
                          <a:ea typeface="맑은 고딕" pitchFamily="34" charset="-122"/>
                          <a:cs typeface="맑은 고딕" pitchFamily="34" charset="-120"/>
                        </a:rPr>
                        <a:t>최초 작성</a:t>
                      </a:r>
                      <a:endParaRPr lang="en-US" sz="1000" dirty="0">
                        <a:latin typeface="맑은 고딕" charset="0"/>
                        <a:ea typeface="맑은 고딕" charset="0"/>
                        <a:cs typeface="맑은 고딕" charset="0"/>
                      </a:endParaRPr>
                    </a:p>
                  </a:txBody>
                  <a:tcPr marL="73152" marR="73152" marT="45720" marB="4572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r>
            </a:tbl>
          </a:graphicData>
        </a:graphic>
      </p:graphicFrame>
      <p:sp>
        <p:nvSpPr>
          <p:cNvPr id="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10</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3.1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3.1 노트북 침수·파손 수리 신청</a:t>
            </a:r>
            <a:endParaRPr lang="en-US" sz="2000" dirty="0"/>
          </a:p>
        </p:txBody>
      </p:sp>
      <p:pic>
        <p:nvPicPr>
          <p:cNvPr id="5" name="Picture 4" descr="그림 3.1. 장비 신청 양식. '수리' 선택과 사고 경위·사진을 적는 위치를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3.1.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'수리' 선택과 사고 경위·사진을 적는 위치를 표시한다.</a:t>
            </a:r>
            <a:endParaRPr lang="en-US" sz="95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3.2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3.2 키보드·포트 등 부품 고장 수리 신청</a:t>
            </a:r>
            <a:endParaRPr lang="en-US" sz="2000" dirty="0"/>
          </a:p>
        </p:txBody>
      </p:sp>
      <p:pic>
        <p:nvPicPr>
          <p:cNvPr id="5" name="Picture 4" descr="그림 3.2. 장비 신청 양식. '수리' 선택과 증상을 적는 위치를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3.2.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'수리' 선택과 증상을 적는 위치를 표시한다.</a:t>
            </a:r>
            <a:endParaRPr lang="en-US" sz="95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3.4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3.4 교체 주기 전 고사양 노트북 신청</a:t>
            </a:r>
            <a:endParaRPr lang="en-US" sz="2000" dirty="0"/>
          </a:p>
        </p:txBody>
      </p:sp>
      <p:pic>
        <p:nvPicPr>
          <p:cNvPr id="5" name="Picture 4" descr="그림 3.4. 장비 신청 양식. '교체' 선택과 고사양 사유를 적는 위치, 승인 흐름을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3.4.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'교체' 선택과 고사양 사유를 적는 위치, 승인 흐름을 표시한다.</a:t>
            </a:r>
            <a:endParaRPr lang="en-US" sz="95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3.5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3.5 신규 입사자 PC 준비 요청</a:t>
            </a:r>
            <a:endParaRPr lang="en-US" sz="2000" dirty="0"/>
          </a:p>
        </p:txBody>
      </p:sp>
      <p:pic>
        <p:nvPicPr>
          <p:cNvPr id="5" name="Picture 4" descr="그림 3.5. 장비 신청 양식. '신규 지급' 선택과 입사자 정보를 적는 위치를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3.5.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'신규 지급' 선택과 입사자 정보를 적는 위치를 표시한다.</a:t>
            </a:r>
            <a:endParaRPr lang="en-US" sz="95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3.6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3.6 마우스·키보드 등 주변기기 교체 신청</a:t>
            </a:r>
            <a:endParaRPr lang="en-US" sz="2000" dirty="0"/>
          </a:p>
        </p:txBody>
      </p:sp>
      <p:pic>
        <p:nvPicPr>
          <p:cNvPr id="5" name="Picture 4" descr="그림 3.6. 장비 신청 양식. '비품' 선택과 주변기기 종류·증상을 적는 위치를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3.6.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'비품' 선택과 주변기기 종류·증상을 적는 위치를 표시한다.</a:t>
            </a:r>
            <a:endParaRPr lang="en-US" sz="95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txBox="1"/>
          <p:nvPr/>
        </p:nvSpPr>
        <p:spPr>
          <a:xfrm>
            <a:off x="457200" y="164592"/>
            <a:ext cx="8229600" cy="228600"/>
          </a:xfrm>
          <a:prstGeom prst="rect">
            <a:avLst/>
          </a:prstGeom>
          <a:noFill/>
          <a:ln/>
        </p:spPr>
        <p:txBody>
          <a:bodyPr wrap="square" lIns="0" tIns="0" rIns="0" bIns="0" rtlCol="0" anchor="ctr"/>
          <a:lstStyle/>
          <a:p>
            <a:pPr indent="0" marL="0">
              <a:buNone/>
            </a:pPr>
            <a:r>
              <a:rPr lang="en-US" sz="1000" b="1" dirty="0">
                <a:solidFill>
                  <a:srgbClr val="1B6F7A"/>
                </a:solidFill>
                <a:latin typeface="맑은 고딕" pitchFamily="34" charset="0"/>
                <a:ea typeface="맑은 고딕" pitchFamily="34" charset="-122"/>
                <a:cs typeface="맑은 고딕" pitchFamily="34" charset="-120"/>
              </a:rPr>
              <a:t>3. 신청 항목별 안내 · 3.7 화면 예시</a:t>
            </a:r>
            <a:endParaRPr lang="en-US" sz="1000" dirty="0"/>
          </a:p>
        </p:txBody>
      </p:sp>
      <p:sp>
        <p:nvSpPr>
          <p:cNvPr id="4" name="Text 0"/>
          <p:cNvSpPr/>
          <p:nvPr>
            <p:ph idx="100" type="title" hasCustomPrompt="1"/>
          </p:nvPr>
        </p:nvSpPr>
        <p:spPr>
          <a:xfrm>
            <a:off x="457200" y="384048"/>
            <a:ext cx="8229600" cy="502920"/>
          </a:xfrm>
          <a:prstGeom prst="rect">
            <a:avLst/>
          </a:prstGeom>
          <a:noFill/>
          <a:ln/>
        </p:spPr>
        <p:txBody>
          <a:bodyPr wrap="square" lIns="0" tIns="0" rIns="0" bIns="0" rtlCol="0" anchor="ctr"/>
          <a:lstStyle/>
          <a:p>
            <a:pPr algn="l" indent="0" marL="0">
              <a:buNone/>
            </a:pPr>
            <a:r>
              <a:rPr lang="en-US" sz="2000" b="1" dirty="0">
                <a:solidFill>
                  <a:srgbClr val="1F3A5F"/>
                </a:solidFill>
                <a:latin typeface="맑은 고딕" pitchFamily="34" charset="0"/>
                <a:ea typeface="맑은 고딕" pitchFamily="34" charset="-122"/>
                <a:cs typeface="맑은 고딕" pitchFamily="34" charset="-120"/>
              </a:rPr>
              <a:t>3.7 퇴사·교체 시 장비 반납</a:t>
            </a:r>
            <a:endParaRPr lang="en-US" sz="2000" dirty="0"/>
          </a:p>
        </p:txBody>
      </p:sp>
      <p:pic>
        <p:nvPicPr>
          <p:cNvPr id="5" name="Picture 4" descr="그림 3.7. 장비 신청 양식. '반납' 선택 위치를 표시한다."/>
          <p:cNvPicPr>
            <a:picLocks noChangeAspect="1"/>
          </p:cNvPicPr>
          <p:nvPr/>
        </p:nvPicPr>
        <p:blipFill>
          <a:blip r:embed="rId2"/>
          <a:stretch>
            <a:fillRect/>
          </a:stretch>
        </p:blipFill>
        <p:spPr>
          <a:xfrm>
            <a:off x="457200" y="987552"/>
            <a:ext cx="8229600" cy="3566160"/>
          </a:xfrm>
          <a:prstGeom prst="rect">
            <a:avLst/>
          </a:prstGeom>
        </p:spPr>
      </p:pic>
      <p:sp>
        <p:nvSpPr>
          <p:cNvPr id="9" name="Text 6"/>
          <p:cNvSpPr txBox="1"/>
          <p:nvPr/>
        </p:nvSpPr>
        <p:spPr>
          <a:xfrm>
            <a:off x="457200" y="4590000"/>
            <a:ext cx="8229600" cy="201168"/>
          </a:xfrm>
          <a:prstGeom prst="rect">
            <a:avLst/>
          </a:prstGeom>
          <a:noFill/>
          <a:ln/>
        </p:spPr>
        <p:txBody>
          <a:bodyPr wrap="square" lIns="0" tIns="0" rIns="0" bIns="0" rtlCol="0" anchor="t"/>
          <a:lstStyle/>
          <a:p>
            <a:pPr indent="0" marL="0">
              <a:buNone/>
            </a:pPr>
            <a:r>
              <a:rPr lang="en-US" sz="950" b="1" dirty="0">
                <a:solidFill>
                  <a:srgbClr val="4A5560"/>
                </a:solidFill>
                <a:latin typeface="맑은 고딕" pitchFamily="34" charset="0"/>
                <a:ea typeface="맑은 고딕" pitchFamily="34" charset="-122"/>
                <a:cs typeface="맑은 고딕" pitchFamily="34" charset="-120"/>
              </a:rPr>
              <a:t>그림 3.7. </a:t>
            </a:r>
            <a:pPr indent="0" marL="0">
              <a:buNone/>
            </a:pPr>
            <a:r>
              <a:rPr lang="en-US" sz="950" dirty="0">
                <a:solidFill>
                  <a:srgbClr val="8A949E"/>
                </a:solidFill>
                <a:latin typeface="맑은 고딕" pitchFamily="34" charset="0"/>
                <a:ea typeface="맑은 고딕" pitchFamily="34" charset="-122"/>
                <a:cs typeface="맑은 고딕" pitchFamily="34" charset="-120"/>
              </a:rPr>
              <a:t>장비 신청 양식. '반납' 선택 위치를 표시한다.</a:t>
            </a:r>
            <a:endParaRPr lang="en-US" sz="950" dirty="0"/>
          </a:p>
        </p:txBody>
      </p:sp>
      <p:sp>
        <p:nvSpPr>
          <p:cNvPr id="1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49E"/>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IT Guide">
  <a:themeElements>
    <a:clrScheme name="IT Guide">
      <a:dk1>
        <a:srgbClr val="1E2A36"/>
      </a:dk1>
      <a:lt1>
        <a:srgbClr val="FFFFFF"/>
      </a:lt1>
      <a:dk2>
        <a:srgbClr val="1F3A5F"/>
      </a:dk2>
      <a:lt2>
        <a:srgbClr val="EEF3F7"/>
      </a:lt2>
      <a:accent1>
        <a:srgbClr val="1F3A5F"/>
      </a:accent1>
      <a:accent2>
        <a:srgbClr val="1B6F7A"/>
      </a:accent2>
      <a:accent3>
        <a:srgbClr val="D9661F"/>
      </a:accent3>
      <a:accent4>
        <a:srgbClr val="1E8E5A"/>
      </a:accent4>
      <a:accent5>
        <a:srgbClr val="C98A00"/>
      </a:accent5>
      <a:accent6>
        <a:srgbClr val="C0392B"/>
      </a:accent6>
      <a:hlink>
        <a:srgbClr val="1B6F7A"/>
      </a:hlink>
      <a:folHlink>
        <a:srgbClr val="8A949E"/>
      </a:folHlink>
    </a:clrScheme>
    <a:fontScheme name="IT Guid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IT-HW-002 업무 장비 교체·수리 신청 가이드</dc:title>
  <dc:subject>PptxGenJS Presentation</dc:subject>
  <dc:creator>엔드포인트지원팀</dc:creator>
  <cp:lastModifiedBy>엔드포인트지원팀</cp:lastModifiedBy>
  <cp:revision>1</cp:revision>
  <dcterms:created xsi:type="dcterms:W3CDTF">2026-10-08T16:02:03Z</dcterms:created>
  <dcterms:modified xsi:type="dcterms:W3CDTF">2026-10-08T16:02:03Z</dcterms:modified>
</cp:coreProperties>
</file>