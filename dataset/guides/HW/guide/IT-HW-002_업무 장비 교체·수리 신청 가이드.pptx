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84200" y="1651000"/>
            <a:ext cx="1168400" cy="50800"/>
          </a:xfrm>
          <a:prstGeom prst="rect">
            <a:avLst/>
          </a:prstGeom>
          <a:solidFill>
            <a:srgbClr val="E85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84200" y="2108200"/>
            <a:ext cx="11023600" cy="270510"/>
          </a:xfrm>
          <a:prstGeom prst="rect">
            <a:avLst/>
          </a:prstGeom>
          <a:noFill/>
        </p:spPr>
        <p:txBody>
          <a:bodyPr wrap="none" lIns="0" rIns="0" tIns="0" bIns="0" anchor="t">
            <a:spAutoFit/>
          </a:bodyPr>
          <a:lstStyle/>
          <a:p>
            <a:pPr algn="l">
              <a:lnSpc>
                <a:spcPts val="2129"/>
              </a:lnSpc>
              <a:spcBef>
                <a:spcPts val="0"/>
              </a:spcBef>
              <a:spcAft>
                <a:spcPts val="0"/>
              </a:spcAft>
            </a:pPr>
            <a:r>
              <a:rPr sz="1500" b="0">
                <a:solidFill>
                  <a:srgbClr val="5A6270"/>
                </a:solidFill>
                <a:latin typeface="Malgun Gothic"/>
                <a:ea typeface="Malgun Gothic"/>
                <a:cs typeface="Malgun Gothic"/>
              </a:rPr>
              <a:t>가상 ICT 기업 임직원 IT 안내 · HW·업무 PC</a:t>
            </a:r>
          </a:p>
        </p:txBody>
      </p:sp>
      <p:sp>
        <p:nvSpPr>
          <p:cNvPr id="5" name="TextBox 4"/>
          <p:cNvSpPr txBox="1"/>
          <p:nvPr/>
        </p:nvSpPr>
        <p:spPr>
          <a:xfrm>
            <a:off x="584200" y="2489200"/>
            <a:ext cx="11023600" cy="609600"/>
          </a:xfrm>
          <a:prstGeom prst="rect">
            <a:avLst/>
          </a:prstGeom>
          <a:noFill/>
        </p:spPr>
        <p:txBody>
          <a:bodyPr wrap="none" lIns="0" rIns="0" tIns="0" bIns="0" anchor="t">
            <a:spAutoFit/>
          </a:bodyPr>
          <a:lstStyle/>
          <a:p>
            <a:pPr algn="l">
              <a:lnSpc>
                <a:spcPts val="4800"/>
              </a:lnSpc>
              <a:spcBef>
                <a:spcPts val="0"/>
              </a:spcBef>
              <a:spcAft>
                <a:spcPts val="0"/>
              </a:spcAft>
            </a:pPr>
            <a:r>
              <a:rPr sz="4000" b="1">
                <a:solidFill>
                  <a:srgbClr val="1D2433"/>
                </a:solidFill>
                <a:latin typeface="Malgun Gothic"/>
                <a:ea typeface="Malgun Gothic"/>
                <a:cs typeface="Malgun Gothic"/>
              </a:rPr>
              <a:t>업무 장비 교체·수리 신청 가이드</a:t>
            </a:r>
          </a:p>
        </p:txBody>
      </p:sp>
      <p:sp>
        <p:nvSpPr>
          <p:cNvPr id="6" name="TextBox 5"/>
          <p:cNvSpPr txBox="1"/>
          <p:nvPr/>
        </p:nvSpPr>
        <p:spPr>
          <a:xfrm>
            <a:off x="584200" y="3149600"/>
            <a:ext cx="11023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IT-HW-002  |  엔드포인트지원팀  |  2026.10.16  |  Ver 2.0</a:t>
            </a:r>
          </a:p>
        </p:txBody>
      </p:sp>
      <p:sp>
        <p:nvSpPr>
          <p:cNvPr id="7" name="Rounded Rectangle 6"/>
          <p:cNvSpPr/>
          <p:nvPr/>
        </p:nvSpPr>
        <p:spPr>
          <a:xfrm>
            <a:off x="584200" y="3581400"/>
            <a:ext cx="1680815" cy="304800"/>
          </a:xfrm>
          <a:prstGeom prst="roundRect">
            <a:avLst>
              <a:gd name="adj" fmla="val 16666"/>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300" y="3644900"/>
            <a:ext cx="1680815" cy="198374"/>
          </a:xfrm>
          <a:prstGeom prst="rect">
            <a:avLst/>
          </a:prstGeom>
          <a:noFill/>
        </p:spPr>
        <p:txBody>
          <a:bodyPr wrap="none" lIns="0" rIns="0" tIns="0" bIns="0" anchor="t">
            <a:spAutoFit/>
          </a:bodyPr>
          <a:lstStyle/>
          <a:p>
            <a:pPr algn="l">
              <a:lnSpc>
                <a:spcPts val="1562"/>
              </a:lnSpc>
              <a:spcBef>
                <a:spcPts val="0"/>
              </a:spcBef>
              <a:spcAft>
                <a:spcPts val="0"/>
              </a:spcAft>
            </a:pPr>
            <a:r>
              <a:rPr sz="1100" b="1">
                <a:solidFill>
                  <a:srgbClr val="FFFFFF"/>
                </a:solidFill>
                <a:latin typeface="Malgun Gothic"/>
                <a:ea typeface="Malgun Gothic"/>
                <a:cs typeface="Malgun Gothic"/>
              </a:rPr>
              <a:t>사내 일반 · 전 임직원</a:t>
            </a:r>
          </a:p>
        </p:txBody>
      </p:sp>
      <p:sp>
        <p:nvSpPr>
          <p:cNvPr id="9" name="TextBox 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10" name="TextBox 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 / 34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문서 정보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IT-HW-002</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1752600"/>
        </p:xfrm>
        <a:graphic>
          <a:graphicData uri="http://schemas.openxmlformats.org/drawingml/2006/table">
            <a:tbl>
              <a:tblPr firstRow="0" bandRow="0">
                <a:tableStyleId>{5940675A-B579-460E-94D1-54222C63F5DA}</a:tableStyleId>
              </a:tblPr>
              <a:tblGrid>
                <a:gridCol w="1732280"/>
                <a:gridCol w="3779520"/>
                <a:gridCol w="1732280"/>
                <a:gridCol w="3779520"/>
              </a:tblGrid>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번호</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IT-HW-002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버전</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분류</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 HW·업무 PC</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시행일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문서 유형</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신청·절차 안내</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열람 등급</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일반 (전 임직원)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관리 부서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승인자</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엔드포인트지원팀장</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대상</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전 임직원 (회사 지급 장비 사용자)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담당자 매뉴얼</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IT-HW-002-M</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포함 시나리오</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HW-04, HW-05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1">
                          <a:solidFill>
                            <a:srgbClr val="1F3A5F"/>
                          </a:solidFill>
                          <a:latin typeface="Malgun Gothic"/>
                          <a:ea typeface="Malgun Gothic"/>
                          <a:cs typeface="Malgun Gothic"/>
                        </a:rPr>
                        <a:t>관련 FAQ</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graphicFrame>
        <p:nvGraphicFramePr>
          <p:cNvPr id="7" name="Table 6"/>
          <p:cNvGraphicFramePr>
            <a:graphicFrameLocks noGrp="1"/>
          </p:cNvGraphicFramePr>
          <p:nvPr/>
        </p:nvGraphicFramePr>
        <p:xfrm>
          <a:off x="584200" y="3022600"/>
          <a:ext cx="11023600" cy="457200"/>
        </p:xfrm>
        <a:graphic>
          <a:graphicData uri="http://schemas.openxmlformats.org/drawingml/2006/table">
            <a:tbl>
              <a:tblPr firstRow="0" bandRow="0">
                <a:tableStyleId>{5940675A-B579-460E-94D1-54222C63F5DA}</a:tableStyleId>
              </a:tblPr>
              <a:tblGrid>
                <a:gridCol w="1732280"/>
                <a:gridCol w="9291320"/>
              </a:tblGrid>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키워드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노트북에 물을 쏟았어요, 커피, 음료, 침수, 파손, 액정, 수리, 키보드 일부 키가 안 눌려요, USB 포트 인식 불량, 정전, 무상 보증, 대여 노트북, 교체, 교체 주기 3년,</a:t>
                      </a:r>
                    </a:p>
                    <a:p>
                      <a:pPr algn="l">
                        <a:lnSpc>
                          <a:spcPts val="1300"/>
                        </a:lnSpc>
                        <a:spcBef>
                          <a:spcPts val="0"/>
                        </a:spcBef>
                        <a:spcAft>
                          <a:spcPts val="0"/>
                        </a:spcAft>
                      </a:pPr>
                      <a:r>
                        <a:rPr sz="1000" b="0">
                          <a:solidFill>
                            <a:srgbClr val="1D2433"/>
                          </a:solidFill>
                          <a:latin typeface="Malgun Gothic"/>
                          <a:ea typeface="Malgun Gothic"/>
                          <a:cs typeface="Malgun Gothic"/>
                        </a:rPr>
                        <a:t>노트북 교체 가능한가요, 고사양 노트북, 반납, PC 반납 절차, 초기화, 신규 입사자 PC 준비, 마우스 고장, 키보드 신청, 비품</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9" name="TextBox 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 / 34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Contents</a:t>
            </a:r>
          </a:p>
        </p:txBody>
      </p:sp>
      <p:cxnSp>
        <p:nvCxnSpPr>
          <p:cNvPr id="4" name="Connector 3"/>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965200" y="1244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1. 개요</a:t>
            </a:r>
          </a:p>
        </p:txBody>
      </p:sp>
      <p:cxnSp>
        <p:nvCxnSpPr>
          <p:cNvPr id="6" name="Connector 5"/>
          <p:cNvCxnSpPr/>
          <p:nvPr/>
        </p:nvCxnSpPr>
        <p:spPr>
          <a:xfrm>
            <a:off x="1659892" y="1431290"/>
            <a:ext cx="84239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0185400" y="1244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4p</a:t>
            </a:r>
          </a:p>
        </p:txBody>
      </p:sp>
      <p:sp>
        <p:nvSpPr>
          <p:cNvPr id="8" name="TextBox 7"/>
          <p:cNvSpPr txBox="1"/>
          <p:nvPr/>
        </p:nvSpPr>
        <p:spPr>
          <a:xfrm>
            <a:off x="965200" y="16764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2. 신청 전 확인 사항</a:t>
            </a:r>
          </a:p>
        </p:txBody>
      </p:sp>
      <p:cxnSp>
        <p:nvCxnSpPr>
          <p:cNvPr id="9" name="Connector 8"/>
          <p:cNvCxnSpPr/>
          <p:nvPr/>
        </p:nvCxnSpPr>
        <p:spPr>
          <a:xfrm>
            <a:off x="2736416" y="1863090"/>
            <a:ext cx="7347384"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10185400" y="1676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6p</a:t>
            </a:r>
          </a:p>
        </p:txBody>
      </p:sp>
      <p:sp>
        <p:nvSpPr>
          <p:cNvPr id="11" name="TextBox 10"/>
          <p:cNvSpPr txBox="1"/>
          <p:nvPr/>
        </p:nvSpPr>
        <p:spPr>
          <a:xfrm>
            <a:off x="965200" y="21082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3. 신청 항목별 안내</a:t>
            </a:r>
          </a:p>
        </p:txBody>
      </p:sp>
      <p:cxnSp>
        <p:nvCxnSpPr>
          <p:cNvPr id="12" name="Connector 11"/>
          <p:cNvCxnSpPr/>
          <p:nvPr/>
        </p:nvCxnSpPr>
        <p:spPr>
          <a:xfrm>
            <a:off x="2673908" y="2294890"/>
            <a:ext cx="74098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0185400" y="2108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8p</a:t>
            </a:r>
          </a:p>
        </p:txBody>
      </p:sp>
      <p:sp>
        <p:nvSpPr>
          <p:cNvPr id="14" name="TextBox 13"/>
          <p:cNvSpPr txBox="1"/>
          <p:nvPr/>
        </p:nvSpPr>
        <p:spPr>
          <a:xfrm>
            <a:off x="965200" y="25400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4. 자주 묻는 질문</a:t>
            </a:r>
          </a:p>
        </p:txBody>
      </p:sp>
      <p:cxnSp>
        <p:nvCxnSpPr>
          <p:cNvPr id="15" name="Connector 14"/>
          <p:cNvCxnSpPr/>
          <p:nvPr/>
        </p:nvCxnSpPr>
        <p:spPr>
          <a:xfrm>
            <a:off x="2496108" y="2726690"/>
            <a:ext cx="7587692"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185400" y="25400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26p</a:t>
            </a:r>
          </a:p>
        </p:txBody>
      </p:sp>
      <p:sp>
        <p:nvSpPr>
          <p:cNvPr id="17" name="TextBox 16"/>
          <p:cNvSpPr txBox="1"/>
          <p:nvPr/>
        </p:nvSpPr>
        <p:spPr>
          <a:xfrm>
            <a:off x="965200" y="29718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5. 주의사항</a:t>
            </a:r>
          </a:p>
        </p:txBody>
      </p:sp>
      <p:cxnSp>
        <p:nvCxnSpPr>
          <p:cNvPr id="18" name="Connector 17"/>
          <p:cNvCxnSpPr/>
          <p:nvPr/>
        </p:nvCxnSpPr>
        <p:spPr>
          <a:xfrm>
            <a:off x="2015492" y="3158490"/>
            <a:ext cx="80683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0185400" y="29718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28p</a:t>
            </a:r>
          </a:p>
        </p:txBody>
      </p:sp>
      <p:sp>
        <p:nvSpPr>
          <p:cNvPr id="20" name="TextBox 19"/>
          <p:cNvSpPr txBox="1"/>
          <p:nvPr/>
        </p:nvSpPr>
        <p:spPr>
          <a:xfrm>
            <a:off x="965200" y="3403600"/>
            <a:ext cx="9499600" cy="252476"/>
          </a:xfrm>
          <a:prstGeom prst="rect">
            <a:avLst/>
          </a:prstGeom>
          <a:noFill/>
        </p:spPr>
        <p:txBody>
          <a:bodyPr wrap="none" lIns="0" rIns="0" tIns="0" bIns="0" anchor="t">
            <a:spAutoFit/>
          </a:bodyPr>
          <a:lstStyle/>
          <a:p>
            <a:pPr algn="l">
              <a:lnSpc>
                <a:spcPts val="1988"/>
              </a:lnSpc>
              <a:spcBef>
                <a:spcPts val="0"/>
              </a:spcBef>
              <a:spcAft>
                <a:spcPts val="0"/>
              </a:spcAft>
            </a:pPr>
            <a:r>
              <a:rPr sz="1400" b="1">
                <a:solidFill>
                  <a:srgbClr val="1F3A5F"/>
                </a:solidFill>
                <a:latin typeface="Malgun Gothic"/>
                <a:ea typeface="Malgun Gothic"/>
                <a:cs typeface="Malgun Gothic"/>
              </a:rPr>
              <a:t>6. 문의처</a:t>
            </a:r>
          </a:p>
        </p:txBody>
      </p:sp>
      <p:cxnSp>
        <p:nvCxnSpPr>
          <p:cNvPr id="21" name="Connector 20"/>
          <p:cNvCxnSpPr/>
          <p:nvPr/>
        </p:nvCxnSpPr>
        <p:spPr>
          <a:xfrm>
            <a:off x="1837692" y="3590290"/>
            <a:ext cx="8246108"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10185400" y="34036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30p</a:t>
            </a:r>
          </a:p>
        </p:txBody>
      </p:sp>
      <p:sp>
        <p:nvSpPr>
          <p:cNvPr id="23" name="TextBox 22"/>
          <p:cNvSpPr txBox="1"/>
          <p:nvPr/>
        </p:nvSpPr>
        <p:spPr>
          <a:xfrm>
            <a:off x="965200" y="38354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부록 · 관련 문서 · 용어</a:t>
            </a:r>
          </a:p>
        </p:txBody>
      </p:sp>
      <p:cxnSp>
        <p:nvCxnSpPr>
          <p:cNvPr id="24" name="Connector 23"/>
          <p:cNvCxnSpPr/>
          <p:nvPr/>
        </p:nvCxnSpPr>
        <p:spPr>
          <a:xfrm>
            <a:off x="2710706" y="4002088"/>
            <a:ext cx="7373094"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185400" y="38354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32p</a:t>
            </a:r>
          </a:p>
        </p:txBody>
      </p:sp>
      <p:sp>
        <p:nvSpPr>
          <p:cNvPr id="26" name="TextBox 25"/>
          <p:cNvSpPr txBox="1"/>
          <p:nvPr/>
        </p:nvSpPr>
        <p:spPr>
          <a:xfrm>
            <a:off x="965200" y="4267200"/>
            <a:ext cx="9499600" cy="225425"/>
          </a:xfrm>
          <a:prstGeom prst="rect">
            <a:avLst/>
          </a:prstGeom>
          <a:noFill/>
        </p:spPr>
        <p:txBody>
          <a:bodyPr wrap="none" lIns="0" rIns="0" tIns="0" bIns="0" anchor="t">
            <a:spAutoFit/>
          </a:bodyPr>
          <a:lstStyle/>
          <a:p>
            <a:pPr algn="l">
              <a:lnSpc>
                <a:spcPts val="1775"/>
              </a:lnSpc>
              <a:spcBef>
                <a:spcPts val="0"/>
              </a:spcBef>
              <a:spcAft>
                <a:spcPts val="0"/>
              </a:spcAft>
            </a:pPr>
            <a:r>
              <a:rPr sz="1250" b="0">
                <a:solidFill>
                  <a:srgbClr val="5A6270"/>
                </a:solidFill>
                <a:latin typeface="Malgun Gothic"/>
                <a:ea typeface="Malgun Gothic"/>
                <a:cs typeface="Malgun Gothic"/>
              </a:rPr>
              <a:t>개정 이력</a:t>
            </a:r>
          </a:p>
        </p:txBody>
      </p:sp>
      <p:cxnSp>
        <p:nvCxnSpPr>
          <p:cNvPr id="27" name="Connector 26"/>
          <p:cNvCxnSpPr/>
          <p:nvPr/>
        </p:nvCxnSpPr>
        <p:spPr>
          <a:xfrm>
            <a:off x="1783011" y="4433888"/>
            <a:ext cx="8300789" cy="0"/>
          </a:xfrm>
          <a:prstGeom prst="line">
            <a:avLst/>
          </a:prstGeom>
          <a:ln w="7620">
            <a:solidFill>
              <a:srgbClr val="C9CDD3"/>
            </a:solidFill>
            <a:prstDash val="sysDot"/>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0185400" y="4267200"/>
            <a:ext cx="762000" cy="216408"/>
          </a:xfrm>
          <a:prstGeom prst="rect">
            <a:avLst/>
          </a:prstGeom>
          <a:noFill/>
        </p:spPr>
        <p:txBody>
          <a:bodyPr wrap="none" lIns="0" rIns="0" tIns="0" bIns="0" anchor="t">
            <a:spAutoFit/>
          </a:bodyPr>
          <a:lstStyle/>
          <a:p>
            <a:pPr algn="r">
              <a:lnSpc>
                <a:spcPts val="1704"/>
              </a:lnSpc>
              <a:spcBef>
                <a:spcPts val="0"/>
              </a:spcBef>
              <a:spcAft>
                <a:spcPts val="0"/>
              </a:spcAft>
            </a:pPr>
            <a:r>
              <a:rPr sz="1200" b="0">
                <a:solidFill>
                  <a:srgbClr val="5A6270"/>
                </a:solidFill>
                <a:latin typeface="Malgun Gothic"/>
                <a:ea typeface="Malgun Gothic"/>
                <a:cs typeface="Malgun Gothic"/>
              </a:rPr>
              <a:t>34p</a:t>
            </a:r>
          </a:p>
        </p:txBody>
      </p:sp>
      <p:sp>
        <p:nvSpPr>
          <p:cNvPr id="29" name="TextBox 2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30" name="TextBox 2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 / 34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01</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개요</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가상 ICT 기업 · IT-HW-002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4 / 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개요</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01. 개요</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목적</a:t>
            </a:r>
          </a:p>
        </p:txBody>
      </p:sp>
      <p:sp>
        <p:nvSpPr>
          <p:cNvPr id="7" name="TextBox 6"/>
          <p:cNvSpPr txBox="1"/>
          <p:nvPr/>
        </p:nvSpPr>
        <p:spPr>
          <a:xfrm>
            <a:off x="584200" y="1492885"/>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업무 장비의 파손·고장 수리, 교체, 신규 지급, 주변기기 교체, 반납을 신청하는 방법을 안내한다.</a:t>
            </a:r>
          </a:p>
        </p:txBody>
      </p:sp>
      <p:sp>
        <p:nvSpPr>
          <p:cNvPr id="8" name="TextBox 7"/>
          <p:cNvSpPr txBox="1"/>
          <p:nvPr/>
        </p:nvSpPr>
        <p:spPr>
          <a:xfrm>
            <a:off x="584200" y="178917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적용 대상</a:t>
            </a:r>
          </a:p>
        </p:txBody>
      </p:sp>
      <p:sp>
        <p:nvSpPr>
          <p:cNvPr id="9" name="TextBox 8"/>
          <p:cNvSpPr txBox="1"/>
          <p:nvPr/>
        </p:nvSpPr>
        <p:spPr>
          <a:xfrm>
            <a:off x="584200" y="2113661"/>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회사가 지급한 노트북·데스크톱과 마우스·키보드 등 주변기기에 해당한다. 개인 장비는 대상이 아니다. PC가 느리거나 부팅되지 않는 증상은 IT-HW-001을 먼저 본다.</a:t>
            </a:r>
          </a:p>
        </p:txBody>
      </p:sp>
      <p:sp>
        <p:nvSpPr>
          <p:cNvPr id="10" name="TextBox 9"/>
          <p:cNvSpPr txBox="1"/>
          <p:nvPr/>
        </p:nvSpPr>
        <p:spPr>
          <a:xfrm>
            <a:off x="584200" y="240995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관련 시스템</a:t>
            </a:r>
          </a:p>
        </p:txBody>
      </p:sp>
      <p:graphicFrame>
        <p:nvGraphicFramePr>
          <p:cNvPr id="11" name="Table 10"/>
          <p:cNvGraphicFramePr>
            <a:graphicFrameLocks noGrp="1"/>
          </p:cNvGraphicFramePr>
          <p:nvPr/>
        </p:nvGraphicFramePr>
        <p:xfrm>
          <a:off x="584200" y="2734437"/>
          <a:ext cx="11023600" cy="584200"/>
        </p:xfrm>
        <a:graphic>
          <a:graphicData uri="http://schemas.openxmlformats.org/drawingml/2006/table">
            <a:tbl>
              <a:tblPr firstRow="0" bandRow="0">
                <a:tableStyleId>{5940675A-B579-460E-94D1-54222C63F5DA}</a:tableStyleId>
              </a:tblPr>
              <a:tblGrid>
                <a:gridCol w="2624667"/>
                <a:gridCol w="8398933"/>
              </a:tblGrid>
              <a:tr h="2921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신청 경로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그룹웨어 &gt; IT 요청 &gt; 장비 신청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관련 시스템</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자산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12" name="TextBox 1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13" name="TextBox 1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5 / 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02</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신청 전 확인 사항</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가상 ICT 기업 · IT-HW-002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6 /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신청 전 확인 사항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02. 신청 전 확인 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35000" y="1168400"/>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7" name="TextBox 6"/>
          <p:cNvSpPr txBox="1"/>
          <p:nvPr/>
        </p:nvSpPr>
        <p:spPr>
          <a:xfrm>
            <a:off x="838200" y="116840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음료를 쏟았거나 떨어뜨렸으면 바로 전원을 끄고 충전기를 뺀다. 다시 켜 보지 않는다.</a:t>
            </a:r>
          </a:p>
        </p:txBody>
      </p:sp>
      <p:sp>
        <p:nvSpPr>
          <p:cNvPr id="8" name="TextBox 7"/>
          <p:cNvSpPr txBox="1"/>
          <p:nvPr/>
        </p:nvSpPr>
        <p:spPr>
          <a:xfrm>
            <a:off x="635000" y="140754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9" name="TextBox 8"/>
          <p:cNvSpPr txBox="1"/>
          <p:nvPr/>
        </p:nvSpPr>
        <p:spPr>
          <a:xfrm>
            <a:off x="838200" y="140754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업무용 PC 교체 주기는 지급일로부터 3년이다.</a:t>
            </a:r>
          </a:p>
        </p:txBody>
      </p:sp>
      <p:sp>
        <p:nvSpPr>
          <p:cNvPr id="10" name="TextBox 9"/>
          <p:cNvSpPr txBox="1"/>
          <p:nvPr/>
        </p:nvSpPr>
        <p:spPr>
          <a:xfrm>
            <a:off x="635000" y="164668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1" name="TextBox 10"/>
          <p:cNvSpPr txBox="1"/>
          <p:nvPr/>
        </p:nvSpPr>
        <p:spPr>
          <a:xfrm>
            <a:off x="838200" y="164668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개발 직군은 macOS/Windows 중 선택할 수 있고, 그 외 직군은 Windows가 기본이다.</a:t>
            </a:r>
          </a:p>
        </p:txBody>
      </p:sp>
      <p:sp>
        <p:nvSpPr>
          <p:cNvPr id="12" name="TextBox 11"/>
          <p:cNvSpPr txBox="1"/>
          <p:nvPr/>
        </p:nvSpPr>
        <p:spPr>
          <a:xfrm>
            <a:off x="635000" y="188582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188582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PC가 느리거나 부팅이 안 되는 증상은 IT-HW-001을 먼저 본다.</a:t>
            </a:r>
          </a:p>
        </p:txBody>
      </p:sp>
      <p:sp>
        <p:nvSpPr>
          <p:cNvPr id="14" name="TextBox 13"/>
          <p:cNvSpPr txBox="1"/>
          <p:nvPr/>
        </p:nvSpPr>
        <p:spPr>
          <a:xfrm>
            <a:off x="635000" y="212496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5" name="TextBox 14"/>
          <p:cNvSpPr txBox="1"/>
          <p:nvPr/>
        </p:nvSpPr>
        <p:spPr>
          <a:xfrm>
            <a:off x="838200" y="212496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정전 등으로 같은 층의 여러 장비가 한꺼번에 고장 나면 각자 신청하지 말고 IT 헬프데스크 내선 1000으로 바로 전화한다.</a:t>
            </a:r>
          </a:p>
        </p:txBody>
      </p:sp>
      <p:sp>
        <p:nvSpPr>
          <p:cNvPr id="16" name="TextBox 15"/>
          <p:cNvSpPr txBox="1"/>
          <p:nvPr/>
        </p:nvSpPr>
        <p:spPr>
          <a:xfrm>
            <a:off x="635000" y="236410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7" name="TextBox 16"/>
          <p:cNvSpPr txBox="1"/>
          <p:nvPr/>
        </p:nvSpPr>
        <p:spPr>
          <a:xfrm>
            <a:off x="838200" y="236410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장비를 잃어버렸으면 IT-SEC-003 3.7에 따라 바로 신고한다.</a:t>
            </a:r>
          </a:p>
        </p:txBody>
      </p:sp>
      <p:sp>
        <p:nvSpPr>
          <p:cNvPr id="18" name="TextBox 1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19" name="TextBox 1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7 / 34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03</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신청 항목별 안내</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가상 ICT 기업 · IT-HW-002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8 / 34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신청 항목별 안내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1" cy="2336800"/>
        </p:xfrm>
        <a:graphic>
          <a:graphicData uri="http://schemas.openxmlformats.org/drawingml/2006/table">
            <a:tbl>
              <a:tblPr firstRow="0" bandRow="0">
                <a:tableStyleId>{5940675A-B579-460E-94D1-54222C63F5DA}</a:tableStyleId>
              </a:tblPr>
              <a:tblGrid>
                <a:gridCol w="922643"/>
                <a:gridCol w="4455897"/>
                <a:gridCol w="1326660"/>
                <a:gridCol w="2150190"/>
                <a:gridCol w="2168211"/>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번호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제목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문의 유형</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처리 구분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담당 부서</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노트북 침수·파손 수리 신청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3.2</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키보드·포트 등 부품 고장 수리 신청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교체 주기(3년)가 지난 노트북 교체 신청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3.4</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교체 주기 전 고사양 노트북 신청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8A5A00"/>
                          </a:solidFill>
                          <a:latin typeface="Malgun Gothic"/>
                          <a:ea typeface="Malgun Gothic"/>
                          <a:cs typeface="Malgun Gothic"/>
                        </a:rPr>
                        <a:t>신청·승인 후 처리</a:t>
                      </a:r>
                    </a:p>
                  </a:txBody>
                  <a:tcPr marL="76200" marR="76200" marT="63500" marB="63500" anchor="t">
                    <a:solidFill>
                      <a:srgbClr val="FDF3D8"/>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신규 입사자 PC 준비 요청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마우스·키보드 등 주변기기 교체 신청</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3.7</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퇴사·교체 시 장비 반납</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HW-05</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1F3A5F"/>
                          </a:solidFill>
                          <a:latin typeface="Malgun Gothic"/>
                          <a:ea typeface="Malgun Gothic"/>
                          <a:cs typeface="Malgun Gothic"/>
                        </a:rPr>
                        <a:t>IT 담당자 처리</a:t>
                      </a:r>
                    </a:p>
                  </a:txBody>
                  <a:tcPr marL="76200" marR="76200" marT="63500" marB="63500" anchor="t">
                    <a:solidFill>
                      <a:srgbClr val="E3EAF3"/>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9 / 34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3.1 노트북 침수·파손 수리 신청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811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571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HW-04</a:t>
            </a:r>
          </a:p>
        </p:txBody>
      </p:sp>
      <p:sp>
        <p:nvSpPr>
          <p:cNvPr id="10" name="Rectangle 9"/>
          <p:cNvSpPr/>
          <p:nvPr/>
        </p:nvSpPr>
        <p:spPr>
          <a:xfrm>
            <a:off x="1867359"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43559"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72407" y="1168400"/>
            <a:ext cx="990054" cy="292100"/>
          </a:xfrm>
          <a:prstGeom prst="rect">
            <a:avLst/>
          </a:prstGeom>
          <a:solidFill>
            <a:srgbClr val="E3EAF3"/>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8607" y="1219200"/>
            <a:ext cx="837654"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IT 담당자 처리</a:t>
            </a:r>
          </a:p>
        </p:txBody>
      </p:sp>
      <p:sp>
        <p:nvSpPr>
          <p:cNvPr id="14" name="Rectangle 13"/>
          <p:cNvSpPr/>
          <p:nvPr/>
        </p:nvSpPr>
        <p:spPr>
          <a:xfrm>
            <a:off x="3562462"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8662"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7510" y="1168400"/>
            <a:ext cx="1168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3710" y="1219200"/>
            <a:ext cx="1016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엔드포인트지원팀</a:t>
            </a:r>
          </a:p>
        </p:txBody>
      </p:sp>
      <p:sp>
        <p:nvSpPr>
          <p:cNvPr id="18" name="Rectangle 17"/>
          <p:cNvSpPr/>
          <p:nvPr/>
        </p:nvSpPr>
        <p:spPr>
          <a:xfrm>
            <a:off x="543591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1211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기간</a:t>
            </a:r>
          </a:p>
        </p:txBody>
      </p:sp>
      <p:sp>
        <p:nvSpPr>
          <p:cNvPr id="20" name="Rectangle 19"/>
          <p:cNvSpPr/>
          <p:nvPr/>
        </p:nvSpPr>
        <p:spPr>
          <a:xfrm>
            <a:off x="6140958" y="1168400"/>
            <a:ext cx="1077305"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158" y="1219200"/>
            <a:ext cx="92490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접수 후 1영업일</a:t>
            </a:r>
          </a:p>
        </p:txBody>
      </p:sp>
      <p:sp>
        <p:nvSpPr>
          <p:cNvPr id="22" name="Rectangle 21"/>
          <p:cNvSpPr/>
          <p:nvPr/>
        </p:nvSpPr>
        <p:spPr>
          <a:xfrm>
            <a:off x="7218263"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94463"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4" name="Rectangle 23"/>
          <p:cNvSpPr/>
          <p:nvPr/>
        </p:nvSpPr>
        <p:spPr>
          <a:xfrm>
            <a:off x="79238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000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FAQ-017</a:t>
            </a:r>
          </a:p>
        </p:txBody>
      </p:sp>
      <p:sp>
        <p:nvSpPr>
          <p:cNvPr id="26" name="TextBox 25"/>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이럴 때 신청합니다</a:t>
            </a:r>
          </a:p>
        </p:txBody>
      </p:sp>
      <p:sp>
        <p:nvSpPr>
          <p:cNvPr id="27" name="TextBox 26"/>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8" name="TextBox 27"/>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 키보드에 커피 등 음료를 쏟았다.</a:t>
            </a:r>
          </a:p>
        </p:txBody>
      </p:sp>
      <p:sp>
        <p:nvSpPr>
          <p:cNvPr id="29" name="TextBox 28"/>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0" name="TextBox 29"/>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노트북을 떨어뜨려 화면이나 본체가 파손됐다.</a:t>
            </a:r>
          </a:p>
        </p:txBody>
      </p:sp>
      <p:sp>
        <p:nvSpPr>
          <p:cNvPr id="31" name="TextBox 30"/>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대상</a:t>
            </a:r>
          </a:p>
        </p:txBody>
      </p:sp>
      <p:sp>
        <p:nvSpPr>
          <p:cNvPr id="32" name="TextBox 31"/>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3" name="TextBox 32"/>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장비를 쓰는 본인</a:t>
            </a:r>
          </a:p>
        </p:txBody>
      </p:sp>
      <p:sp>
        <p:nvSpPr>
          <p:cNvPr id="34" name="TextBox 33"/>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준비할 정보</a:t>
            </a:r>
          </a:p>
        </p:txBody>
      </p:sp>
      <p:sp>
        <p:nvSpPr>
          <p:cNvPr id="35" name="TextBox 34"/>
          <p:cNvSpPr txBox="1"/>
          <p:nvPr/>
        </p:nvSpPr>
        <p:spPr>
          <a:xfrm>
            <a:off x="635000" y="33799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6" name="TextBox 35"/>
          <p:cNvSpPr txBox="1"/>
          <p:nvPr/>
        </p:nvSpPr>
        <p:spPr>
          <a:xfrm>
            <a:off x="838200" y="33799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37" name="TextBox 36"/>
          <p:cNvSpPr txBox="1"/>
          <p:nvPr/>
        </p:nvSpPr>
        <p:spPr>
          <a:xfrm>
            <a:off x="635000" y="36191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8" name="TextBox 37"/>
          <p:cNvSpPr txBox="1"/>
          <p:nvPr/>
        </p:nvSpPr>
        <p:spPr>
          <a:xfrm>
            <a:off x="838200" y="36191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 모델명</a:t>
            </a:r>
          </a:p>
        </p:txBody>
      </p:sp>
      <p:sp>
        <p:nvSpPr>
          <p:cNvPr id="39" name="TextBox 38"/>
          <p:cNvSpPr txBox="1"/>
          <p:nvPr/>
        </p:nvSpPr>
        <p:spPr>
          <a:xfrm>
            <a:off x="635000" y="3858260"/>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40" name="TextBox 39"/>
          <p:cNvSpPr txBox="1"/>
          <p:nvPr/>
        </p:nvSpPr>
        <p:spPr>
          <a:xfrm>
            <a:off x="838200" y="385826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사고 경위와 시각</a:t>
            </a:r>
          </a:p>
        </p:txBody>
      </p:sp>
      <p:sp>
        <p:nvSpPr>
          <p:cNvPr id="41" name="TextBox 40"/>
          <p:cNvSpPr txBox="1"/>
          <p:nvPr/>
        </p:nvSpPr>
        <p:spPr>
          <a:xfrm>
            <a:off x="635000" y="409740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42" name="TextBox 41"/>
          <p:cNvSpPr txBox="1"/>
          <p:nvPr/>
        </p:nvSpPr>
        <p:spPr>
          <a:xfrm>
            <a:off x="838200" y="409740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파손 부위 사진</a:t>
            </a:r>
          </a:p>
        </p:txBody>
      </p:sp>
      <p:sp>
        <p:nvSpPr>
          <p:cNvPr id="43" name="TextBox 42"/>
          <p:cNvSpPr txBox="1"/>
          <p:nvPr/>
        </p:nvSpPr>
        <p:spPr>
          <a:xfrm>
            <a:off x="635000" y="433654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44" name="TextBox 43"/>
          <p:cNvSpPr txBox="1"/>
          <p:nvPr/>
        </p:nvSpPr>
        <p:spPr>
          <a:xfrm>
            <a:off x="838200" y="433654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백업이 필요한 데이터</a:t>
            </a:r>
          </a:p>
        </p:txBody>
      </p:sp>
      <p:sp>
        <p:nvSpPr>
          <p:cNvPr id="45" name="TextBox 44"/>
          <p:cNvSpPr txBox="1"/>
          <p:nvPr/>
        </p:nvSpPr>
        <p:spPr>
          <a:xfrm>
            <a:off x="584200" y="462648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방법</a:t>
            </a:r>
          </a:p>
        </p:txBody>
      </p:sp>
      <p:sp>
        <p:nvSpPr>
          <p:cNvPr id="46" name="TextBox 45"/>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47" name="TextBox 46"/>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10 / 34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3.1 노트북 침수·파손 수리 신청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7" name="TextBox 6"/>
          <p:cNvSpPr txBox="1"/>
          <p:nvPr/>
        </p:nvSpPr>
        <p:spPr>
          <a:xfrm>
            <a:off x="838200" y="1168400"/>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즉시 전원을 끄고 충전기를 분리합니다. 다시 켜 보지 않습니다.</a:t>
            </a:r>
          </a:p>
        </p:txBody>
      </p:sp>
      <p:sp>
        <p:nvSpPr>
          <p:cNvPr id="8" name="TextBox 7"/>
          <p:cNvSpPr txBox="1"/>
          <p:nvPr/>
        </p:nvSpPr>
        <p:spPr>
          <a:xfrm>
            <a:off x="584200" y="140754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9" name="TextBox 8"/>
          <p:cNvSpPr txBox="1"/>
          <p:nvPr/>
        </p:nvSpPr>
        <p:spPr>
          <a:xfrm>
            <a:off x="838200" y="140754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그룹웨어 &gt; IT 요청 &gt; 장비 신청에서 '수리'를 선택하고 경위와 사진을</a:t>
            </a:r>
          </a:p>
          <a:p>
            <a:pPr algn="l">
              <a:lnSpc>
                <a:spcPts val="1632"/>
              </a:lnSpc>
              <a:spcBef>
                <a:spcPts val="0"/>
              </a:spcBef>
              <a:spcAft>
                <a:spcPts val="0"/>
              </a:spcAft>
            </a:pPr>
            <a:r>
              <a:rPr sz="1150" b="0">
                <a:solidFill>
                  <a:srgbClr val="1D2433"/>
                </a:solidFill>
                <a:latin typeface="Malgun Gothic"/>
                <a:ea typeface="Malgun Gothic"/>
                <a:cs typeface="Malgun Gothic"/>
              </a:rPr>
              <a:t>적어 제출합니다. 급하면 IT 헬프데스크(내선 1000)로 전화합니다.</a:t>
            </a:r>
          </a:p>
        </p:txBody>
      </p:sp>
      <p:sp>
        <p:nvSpPr>
          <p:cNvPr id="10" name="TextBox 9"/>
          <p:cNvSpPr txBox="1"/>
          <p:nvPr/>
        </p:nvSpPr>
        <p:spPr>
          <a:xfrm>
            <a:off x="584200" y="185407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11" name="TextBox 10"/>
          <p:cNvSpPr txBox="1"/>
          <p:nvPr/>
        </p:nvSpPr>
        <p:spPr>
          <a:xfrm>
            <a:off x="838200" y="1854073"/>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안내받은 시간에 엔드포인트지원팀에 장비를 맡깁니다.</a:t>
            </a:r>
          </a:p>
        </p:txBody>
      </p:sp>
      <p:sp>
        <p:nvSpPr>
          <p:cNvPr id="12" name="TextBox 11"/>
          <p:cNvSpPr txBox="1"/>
          <p:nvPr/>
        </p:nvSpPr>
        <p:spPr>
          <a:xfrm>
            <a:off x="584200" y="2093214"/>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④</a:t>
            </a:r>
          </a:p>
        </p:txBody>
      </p:sp>
      <p:sp>
        <p:nvSpPr>
          <p:cNvPr id="13" name="TextBox 12"/>
          <p:cNvSpPr txBox="1"/>
          <p:nvPr/>
        </p:nvSpPr>
        <p:spPr>
          <a:xfrm>
            <a:off x="838200" y="2093214"/>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수리 기간에는 대여 노트북을 받아 씁니다.</a:t>
            </a:r>
          </a:p>
        </p:txBody>
      </p:sp>
      <p:sp>
        <p:nvSpPr>
          <p:cNvPr id="14" name="Rectangle 13"/>
          <p:cNvSpPr/>
          <p:nvPr/>
        </p:nvSpPr>
        <p:spPr>
          <a:xfrm>
            <a:off x="5883656" y="1168400"/>
            <a:ext cx="5724144" cy="248046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IT-HW-002_01.png"/>
          <p:cNvPicPr>
            <a:picLocks noChangeAspect="1"/>
          </p:cNvPicPr>
          <p:nvPr/>
        </p:nvPicPr>
        <p:blipFill>
          <a:blip r:embed="rId2"/>
          <a:stretch>
            <a:fillRect/>
          </a:stretch>
        </p:blipFill>
        <p:spPr>
          <a:xfrm>
            <a:off x="5883656" y="1168400"/>
            <a:ext cx="5724144" cy="2480462"/>
          </a:xfrm>
          <a:prstGeom prst="rect">
            <a:avLst/>
          </a:prstGeom>
        </p:spPr>
      </p:pic>
      <p:sp>
        <p:nvSpPr>
          <p:cNvPr id="16" name="TextBox 15"/>
          <p:cNvSpPr txBox="1"/>
          <p:nvPr/>
        </p:nvSpPr>
        <p:spPr>
          <a:xfrm>
            <a:off x="5883656" y="3699662"/>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3.1-1. 장비 신청 양식. '수리' 선택과 사고 경위·사진을 적는 위치를 표시한다.</a:t>
            </a:r>
          </a:p>
        </p:txBody>
      </p:sp>
      <p:sp>
        <p:nvSpPr>
          <p:cNvPr id="17" name="TextBox 16"/>
          <p:cNvSpPr txBox="1"/>
          <p:nvPr/>
        </p:nvSpPr>
        <p:spPr>
          <a:xfrm>
            <a:off x="584200" y="400700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승인 절차</a:t>
            </a:r>
          </a:p>
        </p:txBody>
      </p:sp>
      <p:sp>
        <p:nvSpPr>
          <p:cNvPr id="18" name="TextBox 17"/>
          <p:cNvSpPr txBox="1"/>
          <p:nvPr/>
        </p:nvSpPr>
        <p:spPr>
          <a:xfrm>
            <a:off x="635000" y="433148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19" name="TextBox 18"/>
          <p:cNvSpPr txBox="1"/>
          <p:nvPr/>
        </p:nvSpPr>
        <p:spPr>
          <a:xfrm>
            <a:off x="838200" y="43314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승인 없음 (접수 후 엔드포인트지원팀 처리)</a:t>
            </a:r>
          </a:p>
        </p:txBody>
      </p:sp>
      <p:sp>
        <p:nvSpPr>
          <p:cNvPr id="20" name="TextBox 19"/>
          <p:cNvSpPr txBox="1"/>
          <p:nvPr/>
        </p:nvSpPr>
        <p:spPr>
          <a:xfrm>
            <a:off x="584200" y="462142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기간과 결과 확인</a:t>
            </a:r>
          </a:p>
        </p:txBody>
      </p:sp>
      <p:sp>
        <p:nvSpPr>
          <p:cNvPr id="21" name="TextBox 20"/>
          <p:cNvSpPr txBox="1"/>
          <p:nvPr/>
        </p:nvSpPr>
        <p:spPr>
          <a:xfrm>
            <a:off x="584200" y="4945913"/>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접수 후 1영업일 안에 점검과 데이터 백업을 하고 수리를 진행한다. 제조사 수리(부품 대기 포함)는 더 걸리며, 그동안 대여 노트북을 쓴다.</a:t>
            </a:r>
          </a:p>
        </p:txBody>
      </p:sp>
      <p:sp>
        <p:nvSpPr>
          <p:cNvPr id="22" name="TextBox 21"/>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23" name="TextBox 22"/>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11 / 34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3.1 노트북 침수·파손 수리 신청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반려되는 경우</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개인 장비는 수리 대상이 아니다.</a:t>
            </a:r>
          </a:p>
        </p:txBody>
      </p:sp>
      <p:sp>
        <p:nvSpPr>
          <p:cNvPr id="9" name="TextBox 8"/>
          <p:cNvSpPr txBox="1"/>
          <p:nvPr/>
        </p:nvSpPr>
        <p:spPr>
          <a:xfrm>
            <a:off x="584200" y="17828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시 알려 주실 정보</a:t>
            </a:r>
          </a:p>
        </p:txBody>
      </p:sp>
      <p:sp>
        <p:nvSpPr>
          <p:cNvPr id="10" name="TextBox 9"/>
          <p:cNvSpPr txBox="1"/>
          <p:nvPr/>
        </p:nvSpPr>
        <p:spPr>
          <a:xfrm>
            <a:off x="635000" y="210731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1" name="TextBox 10"/>
          <p:cNvSpPr txBox="1"/>
          <p:nvPr/>
        </p:nvSpPr>
        <p:spPr>
          <a:xfrm>
            <a:off x="838200" y="210731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번호</a:t>
            </a:r>
          </a:p>
        </p:txBody>
      </p:sp>
      <p:sp>
        <p:nvSpPr>
          <p:cNvPr id="12" name="TextBox 11"/>
          <p:cNvSpPr txBox="1"/>
          <p:nvPr/>
        </p:nvSpPr>
        <p:spPr>
          <a:xfrm>
            <a:off x="635000" y="23464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23464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14" name="TextBox 13"/>
          <p:cNvSpPr txBox="1"/>
          <p:nvPr/>
        </p:nvSpPr>
        <p:spPr>
          <a:xfrm>
            <a:off x="635000" y="258559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5" name="TextBox 14"/>
          <p:cNvSpPr txBox="1"/>
          <p:nvPr/>
        </p:nvSpPr>
        <p:spPr>
          <a:xfrm>
            <a:off x="838200" y="258559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 모델명</a:t>
            </a:r>
          </a:p>
        </p:txBody>
      </p:sp>
      <p:sp>
        <p:nvSpPr>
          <p:cNvPr id="16" name="TextBox 15"/>
          <p:cNvSpPr txBox="1"/>
          <p:nvPr/>
        </p:nvSpPr>
        <p:spPr>
          <a:xfrm>
            <a:off x="635000" y="282473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7" name="TextBox 16"/>
          <p:cNvSpPr txBox="1"/>
          <p:nvPr/>
        </p:nvSpPr>
        <p:spPr>
          <a:xfrm>
            <a:off x="838200" y="282473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사고 일시</a:t>
            </a:r>
          </a:p>
        </p:txBody>
      </p:sp>
      <p:sp>
        <p:nvSpPr>
          <p:cNvPr id="18" name="TextBox 1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19" name="TextBox 1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12 / 34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3.2 키보드·포트 등 부품 고장 수리 신청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811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571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HW-04</a:t>
            </a:r>
          </a:p>
        </p:txBody>
      </p:sp>
      <p:sp>
        <p:nvSpPr>
          <p:cNvPr id="10" name="Rectangle 9"/>
          <p:cNvSpPr/>
          <p:nvPr/>
        </p:nvSpPr>
        <p:spPr>
          <a:xfrm>
            <a:off x="1867359"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43559"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72407" y="1168400"/>
            <a:ext cx="990054" cy="292100"/>
          </a:xfrm>
          <a:prstGeom prst="rect">
            <a:avLst/>
          </a:prstGeom>
          <a:solidFill>
            <a:srgbClr val="E3EAF3"/>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8607" y="1219200"/>
            <a:ext cx="837654"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IT 담당자 처리</a:t>
            </a:r>
          </a:p>
        </p:txBody>
      </p:sp>
      <p:sp>
        <p:nvSpPr>
          <p:cNvPr id="14" name="Rectangle 13"/>
          <p:cNvSpPr/>
          <p:nvPr/>
        </p:nvSpPr>
        <p:spPr>
          <a:xfrm>
            <a:off x="3562462"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8662"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7510" y="1168400"/>
            <a:ext cx="1168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3710" y="1219200"/>
            <a:ext cx="1016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엔드포인트지원팀</a:t>
            </a:r>
          </a:p>
        </p:txBody>
      </p:sp>
      <p:sp>
        <p:nvSpPr>
          <p:cNvPr id="18" name="Rectangle 17"/>
          <p:cNvSpPr/>
          <p:nvPr/>
        </p:nvSpPr>
        <p:spPr>
          <a:xfrm>
            <a:off x="543591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1211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기간</a:t>
            </a:r>
          </a:p>
        </p:txBody>
      </p:sp>
      <p:sp>
        <p:nvSpPr>
          <p:cNvPr id="20" name="Rectangle 19"/>
          <p:cNvSpPr/>
          <p:nvPr/>
        </p:nvSpPr>
        <p:spPr>
          <a:xfrm>
            <a:off x="6140958" y="1168400"/>
            <a:ext cx="1077305"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158" y="1219200"/>
            <a:ext cx="92490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접수 후 1영업일</a:t>
            </a:r>
          </a:p>
        </p:txBody>
      </p:sp>
      <p:sp>
        <p:nvSpPr>
          <p:cNvPr id="22" name="Rectangle 21"/>
          <p:cNvSpPr/>
          <p:nvPr/>
        </p:nvSpPr>
        <p:spPr>
          <a:xfrm>
            <a:off x="7218263"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94463"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4" name="Rectangle 23"/>
          <p:cNvSpPr/>
          <p:nvPr/>
        </p:nvSpPr>
        <p:spPr>
          <a:xfrm>
            <a:off x="79238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000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FAQ-017</a:t>
            </a:r>
          </a:p>
        </p:txBody>
      </p:sp>
      <p:sp>
        <p:nvSpPr>
          <p:cNvPr id="26" name="TextBox 25"/>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이럴 때 신청합니다</a:t>
            </a:r>
          </a:p>
        </p:txBody>
      </p:sp>
      <p:sp>
        <p:nvSpPr>
          <p:cNvPr id="27" name="TextBox 26"/>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8" name="TextBox 27"/>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 키보드 몇 개 키가 눌리지 않는다.</a:t>
            </a:r>
          </a:p>
        </p:txBody>
      </p:sp>
      <p:sp>
        <p:nvSpPr>
          <p:cNvPr id="29" name="TextBox 28"/>
          <p:cNvSpPr txBox="1"/>
          <p:nvPr/>
        </p:nvSpPr>
        <p:spPr>
          <a:xfrm>
            <a:off x="635000" y="21511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0" name="TextBox 29"/>
          <p:cNvSpPr txBox="1"/>
          <p:nvPr/>
        </p:nvSpPr>
        <p:spPr>
          <a:xfrm>
            <a:off x="838200" y="21511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사무실 정전 이후 노트북 USB 포트에 꽂은 장비가 자꾸 끊긴다.</a:t>
            </a:r>
          </a:p>
        </p:txBody>
      </p:sp>
      <p:sp>
        <p:nvSpPr>
          <p:cNvPr id="31" name="TextBox 30"/>
          <p:cNvSpPr txBox="1"/>
          <p:nvPr/>
        </p:nvSpPr>
        <p:spPr>
          <a:xfrm>
            <a:off x="584200" y="24410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대상</a:t>
            </a:r>
          </a:p>
        </p:txBody>
      </p:sp>
      <p:sp>
        <p:nvSpPr>
          <p:cNvPr id="32" name="TextBox 31"/>
          <p:cNvSpPr txBox="1"/>
          <p:nvPr/>
        </p:nvSpPr>
        <p:spPr>
          <a:xfrm>
            <a:off x="635000" y="27655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3" name="TextBox 32"/>
          <p:cNvSpPr txBox="1"/>
          <p:nvPr/>
        </p:nvSpPr>
        <p:spPr>
          <a:xfrm>
            <a:off x="838200" y="27655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장비를 쓰는 본인</a:t>
            </a:r>
          </a:p>
        </p:txBody>
      </p:sp>
      <p:sp>
        <p:nvSpPr>
          <p:cNvPr id="34" name="TextBox 33"/>
          <p:cNvSpPr txBox="1"/>
          <p:nvPr/>
        </p:nvSpPr>
        <p:spPr>
          <a:xfrm>
            <a:off x="584200" y="305549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준비할 정보</a:t>
            </a:r>
          </a:p>
        </p:txBody>
      </p:sp>
      <p:sp>
        <p:nvSpPr>
          <p:cNvPr id="35" name="TextBox 34"/>
          <p:cNvSpPr txBox="1"/>
          <p:nvPr/>
        </p:nvSpPr>
        <p:spPr>
          <a:xfrm>
            <a:off x="635000" y="33799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6" name="TextBox 35"/>
          <p:cNvSpPr txBox="1"/>
          <p:nvPr/>
        </p:nvSpPr>
        <p:spPr>
          <a:xfrm>
            <a:off x="838200" y="33799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37" name="TextBox 36"/>
          <p:cNvSpPr txBox="1"/>
          <p:nvPr/>
        </p:nvSpPr>
        <p:spPr>
          <a:xfrm>
            <a:off x="635000" y="36191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8" name="TextBox 37"/>
          <p:cNvSpPr txBox="1"/>
          <p:nvPr/>
        </p:nvSpPr>
        <p:spPr>
          <a:xfrm>
            <a:off x="838200" y="36191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 모델명</a:t>
            </a:r>
          </a:p>
        </p:txBody>
      </p:sp>
      <p:sp>
        <p:nvSpPr>
          <p:cNvPr id="39" name="TextBox 38"/>
          <p:cNvSpPr txBox="1"/>
          <p:nvPr/>
        </p:nvSpPr>
        <p:spPr>
          <a:xfrm>
            <a:off x="635000" y="3858260"/>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40" name="TextBox 39"/>
          <p:cNvSpPr txBox="1"/>
          <p:nvPr/>
        </p:nvSpPr>
        <p:spPr>
          <a:xfrm>
            <a:off x="838200" y="385826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증상 (어느 키·어느 포트)</a:t>
            </a:r>
          </a:p>
        </p:txBody>
      </p:sp>
      <p:sp>
        <p:nvSpPr>
          <p:cNvPr id="41" name="TextBox 40"/>
          <p:cNvSpPr txBox="1"/>
          <p:nvPr/>
        </p:nvSpPr>
        <p:spPr>
          <a:xfrm>
            <a:off x="635000" y="409740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42" name="TextBox 41"/>
          <p:cNvSpPr txBox="1"/>
          <p:nvPr/>
        </p:nvSpPr>
        <p:spPr>
          <a:xfrm>
            <a:off x="838200" y="409740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증상이 시작된 시점</a:t>
            </a:r>
          </a:p>
        </p:txBody>
      </p:sp>
      <p:sp>
        <p:nvSpPr>
          <p:cNvPr id="43" name="TextBox 42"/>
          <p:cNvSpPr txBox="1"/>
          <p:nvPr/>
        </p:nvSpPr>
        <p:spPr>
          <a:xfrm>
            <a:off x="584200" y="438734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방법</a:t>
            </a:r>
          </a:p>
        </p:txBody>
      </p:sp>
      <p:sp>
        <p:nvSpPr>
          <p:cNvPr id="44" name="TextBox 4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45" name="TextBox 4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13 / 34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3.2 키보드·포트 등 부품 고장 수리 신청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7" name="TextBox 6"/>
          <p:cNvSpPr txBox="1"/>
          <p:nvPr/>
        </p:nvSpPr>
        <p:spPr>
          <a:xfrm>
            <a:off x="838200" y="1168400"/>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외장 키보드나 다른 포트로 같은 증상인지 확인합니다.</a:t>
            </a:r>
          </a:p>
        </p:txBody>
      </p:sp>
      <p:sp>
        <p:nvSpPr>
          <p:cNvPr id="8" name="TextBox 7"/>
          <p:cNvSpPr txBox="1"/>
          <p:nvPr/>
        </p:nvSpPr>
        <p:spPr>
          <a:xfrm>
            <a:off x="584200" y="1407541"/>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9" name="TextBox 8"/>
          <p:cNvSpPr txBox="1"/>
          <p:nvPr/>
        </p:nvSpPr>
        <p:spPr>
          <a:xfrm>
            <a:off x="838200" y="1407541"/>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그룹웨어 &gt; IT 요청 &gt; 장비 신청에서 '수리'를 선택하고 증상을 적어</a:t>
            </a:r>
          </a:p>
          <a:p>
            <a:pPr algn="l">
              <a:lnSpc>
                <a:spcPts val="1632"/>
              </a:lnSpc>
              <a:spcBef>
                <a:spcPts val="0"/>
              </a:spcBef>
              <a:spcAft>
                <a:spcPts val="0"/>
              </a:spcAft>
            </a:pPr>
            <a:r>
              <a:rPr sz="1150" b="0">
                <a:solidFill>
                  <a:srgbClr val="1D2433"/>
                </a:solidFill>
                <a:latin typeface="Malgun Gothic"/>
                <a:ea typeface="Malgun Gothic"/>
                <a:cs typeface="Malgun Gothic"/>
              </a:rPr>
              <a:t>제출합니다.</a:t>
            </a:r>
          </a:p>
        </p:txBody>
      </p:sp>
      <p:sp>
        <p:nvSpPr>
          <p:cNvPr id="10" name="TextBox 9"/>
          <p:cNvSpPr txBox="1"/>
          <p:nvPr/>
        </p:nvSpPr>
        <p:spPr>
          <a:xfrm>
            <a:off x="584200" y="1854073"/>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11" name="TextBox 10"/>
          <p:cNvSpPr txBox="1"/>
          <p:nvPr/>
        </p:nvSpPr>
        <p:spPr>
          <a:xfrm>
            <a:off x="838200" y="1854073"/>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안내받은 시간에 장비를 맡깁니다.</a:t>
            </a:r>
          </a:p>
        </p:txBody>
      </p:sp>
      <p:sp>
        <p:nvSpPr>
          <p:cNvPr id="12" name="Rectangle 11"/>
          <p:cNvSpPr/>
          <p:nvPr/>
        </p:nvSpPr>
        <p:spPr>
          <a:xfrm>
            <a:off x="5883656" y="1168400"/>
            <a:ext cx="5724144" cy="2480462"/>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IT-HW-002_02.png"/>
          <p:cNvPicPr>
            <a:picLocks noChangeAspect="1"/>
          </p:cNvPicPr>
          <p:nvPr/>
        </p:nvPicPr>
        <p:blipFill>
          <a:blip r:embed="rId2"/>
          <a:stretch>
            <a:fillRect/>
          </a:stretch>
        </p:blipFill>
        <p:spPr>
          <a:xfrm>
            <a:off x="5883656" y="1168400"/>
            <a:ext cx="5724144" cy="2480462"/>
          </a:xfrm>
          <a:prstGeom prst="rect">
            <a:avLst/>
          </a:prstGeom>
        </p:spPr>
      </p:pic>
      <p:sp>
        <p:nvSpPr>
          <p:cNvPr id="14" name="TextBox 13"/>
          <p:cNvSpPr txBox="1"/>
          <p:nvPr/>
        </p:nvSpPr>
        <p:spPr>
          <a:xfrm>
            <a:off x="5883656" y="3699662"/>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3.2-1. 장비 신청 양식. '수리' 선택과 증상을 적는 위치를 표시한다.</a:t>
            </a:r>
          </a:p>
        </p:txBody>
      </p:sp>
      <p:sp>
        <p:nvSpPr>
          <p:cNvPr id="15" name="TextBox 14"/>
          <p:cNvSpPr txBox="1"/>
          <p:nvPr/>
        </p:nvSpPr>
        <p:spPr>
          <a:xfrm>
            <a:off x="584200" y="400700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승인 절차</a:t>
            </a:r>
          </a:p>
        </p:txBody>
      </p:sp>
      <p:sp>
        <p:nvSpPr>
          <p:cNvPr id="16" name="TextBox 15"/>
          <p:cNvSpPr txBox="1"/>
          <p:nvPr/>
        </p:nvSpPr>
        <p:spPr>
          <a:xfrm>
            <a:off x="635000" y="433148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17" name="TextBox 16"/>
          <p:cNvSpPr txBox="1"/>
          <p:nvPr/>
        </p:nvSpPr>
        <p:spPr>
          <a:xfrm>
            <a:off x="838200" y="43314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승인 없음 (접수 후 엔드포인트지원팀 처리)</a:t>
            </a:r>
          </a:p>
        </p:txBody>
      </p:sp>
      <p:sp>
        <p:nvSpPr>
          <p:cNvPr id="18" name="TextBox 17"/>
          <p:cNvSpPr txBox="1"/>
          <p:nvPr/>
        </p:nvSpPr>
        <p:spPr>
          <a:xfrm>
            <a:off x="584200" y="462142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기간과 결과 확인</a:t>
            </a:r>
          </a:p>
        </p:txBody>
      </p:sp>
      <p:sp>
        <p:nvSpPr>
          <p:cNvPr id="19" name="TextBox 18"/>
          <p:cNvSpPr txBox="1"/>
          <p:nvPr/>
        </p:nvSpPr>
        <p:spPr>
          <a:xfrm>
            <a:off x="584200" y="4945913"/>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접수 후 1영업일 안에 점검하고, 무상 보증 기간이면 제조사 보증 수리로 접수한다. 메인보드 수리처럼 오래 걸리면 대여 노트북을 지급한다.</a:t>
            </a:r>
          </a:p>
        </p:txBody>
      </p:sp>
      <p:sp>
        <p:nvSpPr>
          <p:cNvPr id="20" name="TextBox 1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21" name="TextBox 2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14 / 34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3.2 키보드·포트 등 부품 고장 수리 신청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반려되는 경우</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사용자 과실로 인한 파손은 3.1 절차로 처리된다.</a:t>
            </a:r>
          </a:p>
        </p:txBody>
      </p:sp>
      <p:sp>
        <p:nvSpPr>
          <p:cNvPr id="9" name="TextBox 8"/>
          <p:cNvSpPr txBox="1"/>
          <p:nvPr/>
        </p:nvSpPr>
        <p:spPr>
          <a:xfrm>
            <a:off x="584200" y="17828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시 알려 주실 정보</a:t>
            </a:r>
          </a:p>
        </p:txBody>
      </p:sp>
      <p:sp>
        <p:nvSpPr>
          <p:cNvPr id="10" name="TextBox 9"/>
          <p:cNvSpPr txBox="1"/>
          <p:nvPr/>
        </p:nvSpPr>
        <p:spPr>
          <a:xfrm>
            <a:off x="635000" y="210731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1" name="TextBox 10"/>
          <p:cNvSpPr txBox="1"/>
          <p:nvPr/>
        </p:nvSpPr>
        <p:spPr>
          <a:xfrm>
            <a:off x="838200" y="210731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번호</a:t>
            </a:r>
          </a:p>
        </p:txBody>
      </p:sp>
      <p:sp>
        <p:nvSpPr>
          <p:cNvPr id="12" name="TextBox 11"/>
          <p:cNvSpPr txBox="1"/>
          <p:nvPr/>
        </p:nvSpPr>
        <p:spPr>
          <a:xfrm>
            <a:off x="635000" y="234645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234645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14" name="TextBox 13"/>
          <p:cNvSpPr txBox="1"/>
          <p:nvPr/>
        </p:nvSpPr>
        <p:spPr>
          <a:xfrm>
            <a:off x="635000" y="258559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5" name="TextBox 14"/>
          <p:cNvSpPr txBox="1"/>
          <p:nvPr/>
        </p:nvSpPr>
        <p:spPr>
          <a:xfrm>
            <a:off x="838200" y="258559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 모델명</a:t>
            </a:r>
          </a:p>
        </p:txBody>
      </p:sp>
      <p:sp>
        <p:nvSpPr>
          <p:cNvPr id="16" name="TextBox 15"/>
          <p:cNvSpPr txBox="1"/>
          <p:nvPr/>
        </p:nvSpPr>
        <p:spPr>
          <a:xfrm>
            <a:off x="635000" y="282473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7" name="TextBox 16"/>
          <p:cNvSpPr txBox="1"/>
          <p:nvPr/>
        </p:nvSpPr>
        <p:spPr>
          <a:xfrm>
            <a:off x="838200" y="282473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증상</a:t>
            </a:r>
          </a:p>
        </p:txBody>
      </p:sp>
      <p:sp>
        <p:nvSpPr>
          <p:cNvPr id="18" name="TextBox 17"/>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19" name="TextBox 18"/>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15 / 34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3.3 교체 주기(3년)가 지난 노트북 교체 신청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811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571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HW-05</a:t>
            </a:r>
          </a:p>
        </p:txBody>
      </p:sp>
      <p:sp>
        <p:nvSpPr>
          <p:cNvPr id="10" name="Rectangle 9"/>
          <p:cNvSpPr/>
          <p:nvPr/>
        </p:nvSpPr>
        <p:spPr>
          <a:xfrm>
            <a:off x="1867359"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43559"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72407" y="1168400"/>
            <a:ext cx="990054" cy="292100"/>
          </a:xfrm>
          <a:prstGeom prst="rect">
            <a:avLst/>
          </a:prstGeom>
          <a:solidFill>
            <a:srgbClr val="E3EAF3"/>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8607" y="1219200"/>
            <a:ext cx="837654"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IT 담당자 처리</a:t>
            </a:r>
          </a:p>
        </p:txBody>
      </p:sp>
      <p:sp>
        <p:nvSpPr>
          <p:cNvPr id="14" name="Rectangle 13"/>
          <p:cNvSpPr/>
          <p:nvPr/>
        </p:nvSpPr>
        <p:spPr>
          <a:xfrm>
            <a:off x="3562462"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8662"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7510" y="1168400"/>
            <a:ext cx="1168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3710" y="1219200"/>
            <a:ext cx="1016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엔드포인트지원팀</a:t>
            </a:r>
          </a:p>
        </p:txBody>
      </p:sp>
      <p:sp>
        <p:nvSpPr>
          <p:cNvPr id="18" name="Rectangle 17"/>
          <p:cNvSpPr/>
          <p:nvPr/>
        </p:nvSpPr>
        <p:spPr>
          <a:xfrm>
            <a:off x="543591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1211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기간</a:t>
            </a:r>
          </a:p>
        </p:txBody>
      </p:sp>
      <p:sp>
        <p:nvSpPr>
          <p:cNvPr id="20" name="Rectangle 19"/>
          <p:cNvSpPr/>
          <p:nvPr/>
        </p:nvSpPr>
        <p:spPr>
          <a:xfrm>
            <a:off x="6140958" y="1168400"/>
            <a:ext cx="1077305"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158" y="1219200"/>
            <a:ext cx="92490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접수 후 1영업일</a:t>
            </a:r>
          </a:p>
        </p:txBody>
      </p:sp>
      <p:sp>
        <p:nvSpPr>
          <p:cNvPr id="22" name="Rectangle 21"/>
          <p:cNvSpPr/>
          <p:nvPr/>
        </p:nvSpPr>
        <p:spPr>
          <a:xfrm>
            <a:off x="7218263"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94463"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4" name="Rectangle 23"/>
          <p:cNvSpPr/>
          <p:nvPr/>
        </p:nvSpPr>
        <p:spPr>
          <a:xfrm>
            <a:off x="79238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000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FAQ-018</a:t>
            </a:r>
          </a:p>
        </p:txBody>
      </p:sp>
      <p:sp>
        <p:nvSpPr>
          <p:cNvPr id="26" name="TextBox 25"/>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이럴 때 신청합니다</a:t>
            </a:r>
          </a:p>
        </p:txBody>
      </p:sp>
      <p:sp>
        <p:nvSpPr>
          <p:cNvPr id="27" name="TextBox 26"/>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8" name="TextBox 27"/>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노트북을 받은 지 3년이 지나 교체하려 한다.</a:t>
            </a:r>
          </a:p>
        </p:txBody>
      </p:sp>
      <p:sp>
        <p:nvSpPr>
          <p:cNvPr id="29" name="TextBox 28"/>
          <p:cNvSpPr txBox="1"/>
          <p:nvPr/>
        </p:nvSpPr>
        <p:spPr>
          <a:xfrm>
            <a:off x="584200" y="22019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대상</a:t>
            </a:r>
          </a:p>
        </p:txBody>
      </p:sp>
      <p:sp>
        <p:nvSpPr>
          <p:cNvPr id="30" name="TextBox 29"/>
          <p:cNvSpPr txBox="1"/>
          <p:nvPr/>
        </p:nvSpPr>
        <p:spPr>
          <a:xfrm>
            <a:off x="635000" y="252641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1" name="TextBox 30"/>
          <p:cNvSpPr txBox="1"/>
          <p:nvPr/>
        </p:nvSpPr>
        <p:spPr>
          <a:xfrm>
            <a:off x="838200" y="252641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지급일로부터 3년이 지난 장비 사용자</a:t>
            </a:r>
          </a:p>
        </p:txBody>
      </p:sp>
      <p:sp>
        <p:nvSpPr>
          <p:cNvPr id="32" name="TextBox 31"/>
          <p:cNvSpPr txBox="1"/>
          <p:nvPr/>
        </p:nvSpPr>
        <p:spPr>
          <a:xfrm>
            <a:off x="584200" y="281635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준비할 정보</a:t>
            </a:r>
          </a:p>
        </p:txBody>
      </p:sp>
      <p:sp>
        <p:nvSpPr>
          <p:cNvPr id="33" name="TextBox 32"/>
          <p:cNvSpPr txBox="1"/>
          <p:nvPr/>
        </p:nvSpPr>
        <p:spPr>
          <a:xfrm>
            <a:off x="635000" y="314083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4" name="TextBox 33"/>
          <p:cNvSpPr txBox="1"/>
          <p:nvPr/>
        </p:nvSpPr>
        <p:spPr>
          <a:xfrm>
            <a:off x="838200" y="314083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35" name="TextBox 34"/>
          <p:cNvSpPr txBox="1"/>
          <p:nvPr/>
        </p:nvSpPr>
        <p:spPr>
          <a:xfrm>
            <a:off x="635000" y="33799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6" name="TextBox 35"/>
          <p:cNvSpPr txBox="1"/>
          <p:nvPr/>
        </p:nvSpPr>
        <p:spPr>
          <a:xfrm>
            <a:off x="838200" y="33799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현재 노트북 지급일 (모르면 헬프데스크에서 교체 예정일 확인)</a:t>
            </a:r>
          </a:p>
        </p:txBody>
      </p:sp>
      <p:sp>
        <p:nvSpPr>
          <p:cNvPr id="37" name="TextBox 36"/>
          <p:cNvSpPr txBox="1"/>
          <p:nvPr/>
        </p:nvSpPr>
        <p:spPr>
          <a:xfrm>
            <a:off x="635000" y="36191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8" name="TextBox 37"/>
          <p:cNvSpPr txBox="1"/>
          <p:nvPr/>
        </p:nvSpPr>
        <p:spPr>
          <a:xfrm>
            <a:off x="838200" y="36191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희망 OS (개발 직군)</a:t>
            </a:r>
          </a:p>
        </p:txBody>
      </p:sp>
      <p:sp>
        <p:nvSpPr>
          <p:cNvPr id="39" name="TextBox 38"/>
          <p:cNvSpPr txBox="1"/>
          <p:nvPr/>
        </p:nvSpPr>
        <p:spPr>
          <a:xfrm>
            <a:off x="584200" y="390906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방법</a:t>
            </a:r>
          </a:p>
        </p:txBody>
      </p:sp>
      <p:sp>
        <p:nvSpPr>
          <p:cNvPr id="40" name="TextBox 39"/>
          <p:cNvSpPr txBox="1"/>
          <p:nvPr/>
        </p:nvSpPr>
        <p:spPr>
          <a:xfrm>
            <a:off x="584200" y="423354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41" name="TextBox 40"/>
          <p:cNvSpPr txBox="1"/>
          <p:nvPr/>
        </p:nvSpPr>
        <p:spPr>
          <a:xfrm>
            <a:off x="838200" y="4233545"/>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헬프데스크에 내 장비의 교체 예정일을 확인합니다.</a:t>
            </a:r>
          </a:p>
        </p:txBody>
      </p:sp>
      <p:sp>
        <p:nvSpPr>
          <p:cNvPr id="42" name="TextBox 41"/>
          <p:cNvSpPr txBox="1"/>
          <p:nvPr/>
        </p:nvSpPr>
        <p:spPr>
          <a:xfrm>
            <a:off x="584200" y="4472686"/>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43" name="TextBox 42"/>
          <p:cNvSpPr txBox="1"/>
          <p:nvPr/>
        </p:nvSpPr>
        <p:spPr>
          <a:xfrm>
            <a:off x="838200" y="4472686"/>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그룹웨어 &gt; IT 요청 &gt; 장비 신청에서 '교체'를 선택해 제출합니다.</a:t>
            </a:r>
          </a:p>
        </p:txBody>
      </p:sp>
      <p:sp>
        <p:nvSpPr>
          <p:cNvPr id="44" name="TextBox 43"/>
          <p:cNvSpPr txBox="1"/>
          <p:nvPr/>
        </p:nvSpPr>
        <p:spPr>
          <a:xfrm>
            <a:off x="584200" y="4711827"/>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45" name="TextBox 44"/>
          <p:cNvSpPr txBox="1"/>
          <p:nvPr/>
        </p:nvSpPr>
        <p:spPr>
          <a:xfrm>
            <a:off x="838200" y="4711827"/>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새 장비를 받으면 데이터를 옮기고 기존 장비는 3.7에 따라 반납합니다.</a:t>
            </a:r>
          </a:p>
        </p:txBody>
      </p:sp>
      <p:sp>
        <p:nvSpPr>
          <p:cNvPr id="46" name="Rectangle 45"/>
          <p:cNvSpPr/>
          <p:nvPr/>
        </p:nvSpPr>
        <p:spPr>
          <a:xfrm>
            <a:off x="6599672" y="4233545"/>
            <a:ext cx="4292112" cy="185991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IT-HW-002_03.png"/>
          <p:cNvPicPr>
            <a:picLocks noChangeAspect="1"/>
          </p:cNvPicPr>
          <p:nvPr/>
        </p:nvPicPr>
        <p:blipFill>
          <a:blip r:embed="rId2"/>
          <a:stretch>
            <a:fillRect/>
          </a:stretch>
        </p:blipFill>
        <p:spPr>
          <a:xfrm>
            <a:off x="6599672" y="4233545"/>
            <a:ext cx="4292112" cy="1859915"/>
          </a:xfrm>
          <a:prstGeom prst="rect">
            <a:avLst/>
          </a:prstGeom>
        </p:spPr>
      </p:pic>
      <p:sp>
        <p:nvSpPr>
          <p:cNvPr id="48" name="TextBox 47"/>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3.3-1. 장비 신청 양식. 신청 종류(수리/교체/신규 지급/비품/반납) 선택 위치를 표시한다.</a:t>
            </a:r>
          </a:p>
        </p:txBody>
      </p:sp>
      <p:sp>
        <p:nvSpPr>
          <p:cNvPr id="49" name="TextBox 4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50" name="TextBox 4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16 / 34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3.3 교체 주기(3년)가 지난 노트북 교체 신청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승인 절차</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승인 없음 (접수 후 엔드포인트지원팀 처리)</a:t>
            </a:r>
          </a:p>
        </p:txBody>
      </p:sp>
      <p:sp>
        <p:nvSpPr>
          <p:cNvPr id="9" name="TextBox 8"/>
          <p:cNvSpPr txBox="1"/>
          <p:nvPr/>
        </p:nvSpPr>
        <p:spPr>
          <a:xfrm>
            <a:off x="584200" y="17828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기간과 결과 확인</a:t>
            </a:r>
          </a:p>
        </p:txBody>
      </p:sp>
      <p:sp>
        <p:nvSpPr>
          <p:cNvPr id="10" name="TextBox 9"/>
          <p:cNvSpPr txBox="1"/>
          <p:nvPr/>
        </p:nvSpPr>
        <p:spPr>
          <a:xfrm>
            <a:off x="584200" y="2107311"/>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접수 후 1영업일 안에 지급 일정이 안내되고, 보안 프로그램까지 설치된 장비를 받는다.</a:t>
            </a:r>
          </a:p>
        </p:txBody>
      </p:sp>
      <p:sp>
        <p:nvSpPr>
          <p:cNvPr id="11" name="TextBox 10"/>
          <p:cNvSpPr txBox="1"/>
          <p:nvPr/>
        </p:nvSpPr>
        <p:spPr>
          <a:xfrm>
            <a:off x="584200" y="240360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반려되는 경우</a:t>
            </a:r>
          </a:p>
        </p:txBody>
      </p:sp>
      <p:sp>
        <p:nvSpPr>
          <p:cNvPr id="12" name="TextBox 11"/>
          <p:cNvSpPr txBox="1"/>
          <p:nvPr/>
        </p:nvSpPr>
        <p:spPr>
          <a:xfrm>
            <a:off x="635000" y="272808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2728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지급일로부터 3년이 지나지 않았으면 교체되지 않는다. 업무상 고사양이 필요하면 3.4로 신청한다.</a:t>
            </a:r>
          </a:p>
        </p:txBody>
      </p:sp>
      <p:sp>
        <p:nvSpPr>
          <p:cNvPr id="14" name="TextBox 13"/>
          <p:cNvSpPr txBox="1"/>
          <p:nvPr/>
        </p:nvSpPr>
        <p:spPr>
          <a:xfrm>
            <a:off x="584200" y="301802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시 알려 주실 정보</a:t>
            </a:r>
          </a:p>
        </p:txBody>
      </p:sp>
      <p:sp>
        <p:nvSpPr>
          <p:cNvPr id="15" name="TextBox 14"/>
          <p:cNvSpPr txBox="1"/>
          <p:nvPr/>
        </p:nvSpPr>
        <p:spPr>
          <a:xfrm>
            <a:off x="635000" y="334251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334251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번호</a:t>
            </a:r>
          </a:p>
        </p:txBody>
      </p:sp>
      <p:sp>
        <p:nvSpPr>
          <p:cNvPr id="17" name="TextBox 16"/>
          <p:cNvSpPr txBox="1"/>
          <p:nvPr/>
        </p:nvSpPr>
        <p:spPr>
          <a:xfrm>
            <a:off x="635000" y="358165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8" name="TextBox 17"/>
          <p:cNvSpPr txBox="1"/>
          <p:nvPr/>
        </p:nvSpPr>
        <p:spPr>
          <a:xfrm>
            <a:off x="838200" y="358165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19" name="TextBox 18"/>
          <p:cNvSpPr txBox="1"/>
          <p:nvPr/>
        </p:nvSpPr>
        <p:spPr>
          <a:xfrm>
            <a:off x="635000" y="382079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0" name="TextBox 19"/>
          <p:cNvSpPr txBox="1"/>
          <p:nvPr/>
        </p:nvSpPr>
        <p:spPr>
          <a:xfrm>
            <a:off x="838200" y="382079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현재 장비 지급일</a:t>
            </a:r>
          </a:p>
        </p:txBody>
      </p:sp>
      <p:sp>
        <p:nvSpPr>
          <p:cNvPr id="21" name="TextBox 20"/>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22" name="TextBox 21"/>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17 / 34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3.4 교체 주기 전 고사양 노트북 신청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811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571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HW-05</a:t>
            </a:r>
          </a:p>
        </p:txBody>
      </p:sp>
      <p:sp>
        <p:nvSpPr>
          <p:cNvPr id="10" name="Rectangle 9"/>
          <p:cNvSpPr/>
          <p:nvPr/>
        </p:nvSpPr>
        <p:spPr>
          <a:xfrm>
            <a:off x="1867359"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43559"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72407" y="1168400"/>
            <a:ext cx="1163935" cy="292100"/>
          </a:xfrm>
          <a:prstGeom prst="rect">
            <a:avLst/>
          </a:prstGeom>
          <a:solidFill>
            <a:srgbClr val="FDF3D8"/>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8607" y="1219200"/>
            <a:ext cx="101153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8A5A00"/>
                </a:solidFill>
                <a:latin typeface="Malgun Gothic"/>
                <a:ea typeface="Malgun Gothic"/>
                <a:cs typeface="Malgun Gothic"/>
              </a:rPr>
              <a:t>신청·승인 후 처리</a:t>
            </a:r>
          </a:p>
        </p:txBody>
      </p:sp>
      <p:sp>
        <p:nvSpPr>
          <p:cNvPr id="14" name="Rectangle 13"/>
          <p:cNvSpPr/>
          <p:nvPr/>
        </p:nvSpPr>
        <p:spPr>
          <a:xfrm>
            <a:off x="3736342"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812542"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441391" y="1168400"/>
            <a:ext cx="1168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517591" y="1219200"/>
            <a:ext cx="1016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엔드포인트지원팀</a:t>
            </a:r>
          </a:p>
        </p:txBody>
      </p:sp>
      <p:sp>
        <p:nvSpPr>
          <p:cNvPr id="18" name="Rectangle 17"/>
          <p:cNvSpPr/>
          <p:nvPr/>
        </p:nvSpPr>
        <p:spPr>
          <a:xfrm>
            <a:off x="5609791"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685991"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기간</a:t>
            </a:r>
          </a:p>
        </p:txBody>
      </p:sp>
      <p:sp>
        <p:nvSpPr>
          <p:cNvPr id="20" name="Rectangle 19"/>
          <p:cNvSpPr/>
          <p:nvPr/>
        </p:nvSpPr>
        <p:spPr>
          <a:xfrm>
            <a:off x="6314839" y="1168400"/>
            <a:ext cx="1077305"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391039" y="1219200"/>
            <a:ext cx="92490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승인 후 1영업일</a:t>
            </a:r>
          </a:p>
        </p:txBody>
      </p:sp>
      <p:sp>
        <p:nvSpPr>
          <p:cNvPr id="22" name="Rectangle 21"/>
          <p:cNvSpPr/>
          <p:nvPr/>
        </p:nvSpPr>
        <p:spPr>
          <a:xfrm>
            <a:off x="7392144"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468344"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4" name="Rectangle 23"/>
          <p:cNvSpPr/>
          <p:nvPr/>
        </p:nvSpPr>
        <p:spPr>
          <a:xfrm>
            <a:off x="8097751"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173951"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FAQ-018</a:t>
            </a:r>
          </a:p>
        </p:txBody>
      </p:sp>
      <p:sp>
        <p:nvSpPr>
          <p:cNvPr id="26" name="TextBox 25"/>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이럴 때 신청합니다</a:t>
            </a:r>
          </a:p>
        </p:txBody>
      </p:sp>
      <p:sp>
        <p:nvSpPr>
          <p:cNvPr id="27" name="TextBox 26"/>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8" name="TextBox 27"/>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AI 모델 분석 등 업무 때문에 더 높은 사양의 노트북이 필요하다.</a:t>
            </a:r>
          </a:p>
        </p:txBody>
      </p:sp>
      <p:sp>
        <p:nvSpPr>
          <p:cNvPr id="29" name="TextBox 28"/>
          <p:cNvSpPr txBox="1"/>
          <p:nvPr/>
        </p:nvSpPr>
        <p:spPr>
          <a:xfrm>
            <a:off x="584200" y="22019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대상</a:t>
            </a:r>
          </a:p>
        </p:txBody>
      </p:sp>
      <p:sp>
        <p:nvSpPr>
          <p:cNvPr id="30" name="TextBox 29"/>
          <p:cNvSpPr txBox="1"/>
          <p:nvPr/>
        </p:nvSpPr>
        <p:spPr>
          <a:xfrm>
            <a:off x="635000" y="252641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1" name="TextBox 30"/>
          <p:cNvSpPr txBox="1"/>
          <p:nvPr/>
        </p:nvSpPr>
        <p:spPr>
          <a:xfrm>
            <a:off x="838200" y="252641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업무상 고사양 장비가 필요한 임직원 (부서장 승인 필요)</a:t>
            </a:r>
          </a:p>
        </p:txBody>
      </p:sp>
      <p:sp>
        <p:nvSpPr>
          <p:cNvPr id="32" name="TextBox 31"/>
          <p:cNvSpPr txBox="1"/>
          <p:nvPr/>
        </p:nvSpPr>
        <p:spPr>
          <a:xfrm>
            <a:off x="584200" y="281635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준비할 정보</a:t>
            </a:r>
          </a:p>
        </p:txBody>
      </p:sp>
      <p:sp>
        <p:nvSpPr>
          <p:cNvPr id="33" name="TextBox 32"/>
          <p:cNvSpPr txBox="1"/>
          <p:nvPr/>
        </p:nvSpPr>
        <p:spPr>
          <a:xfrm>
            <a:off x="635000" y="314083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4" name="TextBox 33"/>
          <p:cNvSpPr txBox="1"/>
          <p:nvPr/>
        </p:nvSpPr>
        <p:spPr>
          <a:xfrm>
            <a:off x="838200" y="314083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35" name="TextBox 34"/>
          <p:cNvSpPr txBox="1"/>
          <p:nvPr/>
        </p:nvSpPr>
        <p:spPr>
          <a:xfrm>
            <a:off x="635000" y="33799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6" name="TextBox 35"/>
          <p:cNvSpPr txBox="1"/>
          <p:nvPr/>
        </p:nvSpPr>
        <p:spPr>
          <a:xfrm>
            <a:off x="838200" y="33799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필요한 사양과 사유</a:t>
            </a:r>
          </a:p>
        </p:txBody>
      </p:sp>
      <p:sp>
        <p:nvSpPr>
          <p:cNvPr id="37" name="TextBox 36"/>
          <p:cNvSpPr txBox="1"/>
          <p:nvPr/>
        </p:nvSpPr>
        <p:spPr>
          <a:xfrm>
            <a:off x="635000" y="36191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8" name="TextBox 37"/>
          <p:cNvSpPr txBox="1"/>
          <p:nvPr/>
        </p:nvSpPr>
        <p:spPr>
          <a:xfrm>
            <a:off x="838200" y="36191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사용하는 프로그램</a:t>
            </a:r>
          </a:p>
        </p:txBody>
      </p:sp>
      <p:sp>
        <p:nvSpPr>
          <p:cNvPr id="39" name="TextBox 38"/>
          <p:cNvSpPr txBox="1"/>
          <p:nvPr/>
        </p:nvSpPr>
        <p:spPr>
          <a:xfrm>
            <a:off x="584200" y="390906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방법</a:t>
            </a:r>
          </a:p>
        </p:txBody>
      </p:sp>
      <p:sp>
        <p:nvSpPr>
          <p:cNvPr id="40" name="TextBox 39"/>
          <p:cNvSpPr txBox="1"/>
          <p:nvPr/>
        </p:nvSpPr>
        <p:spPr>
          <a:xfrm>
            <a:off x="584200" y="423354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41" name="TextBox 40"/>
          <p:cNvSpPr txBox="1"/>
          <p:nvPr/>
        </p:nvSpPr>
        <p:spPr>
          <a:xfrm>
            <a:off x="838200" y="4233545"/>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그룹웨어 &gt; IT 요청 &gt; 장비 신청에서 '교체'를 선택하고 고사양이 필요한</a:t>
            </a:r>
          </a:p>
          <a:p>
            <a:pPr algn="l">
              <a:lnSpc>
                <a:spcPts val="1632"/>
              </a:lnSpc>
              <a:spcBef>
                <a:spcPts val="0"/>
              </a:spcBef>
              <a:spcAft>
                <a:spcPts val="0"/>
              </a:spcAft>
            </a:pPr>
            <a:r>
              <a:rPr sz="1150" b="0">
                <a:solidFill>
                  <a:srgbClr val="1D2433"/>
                </a:solidFill>
                <a:latin typeface="Malgun Gothic"/>
                <a:ea typeface="Malgun Gothic"/>
                <a:cs typeface="Malgun Gothic"/>
              </a:rPr>
              <a:t>사유를 적습니다.</a:t>
            </a:r>
          </a:p>
        </p:txBody>
      </p:sp>
      <p:sp>
        <p:nvSpPr>
          <p:cNvPr id="42" name="TextBox 41"/>
          <p:cNvSpPr txBox="1"/>
          <p:nvPr/>
        </p:nvSpPr>
        <p:spPr>
          <a:xfrm>
            <a:off x="584200" y="4680077"/>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43" name="TextBox 42"/>
          <p:cNvSpPr txBox="1"/>
          <p:nvPr/>
        </p:nvSpPr>
        <p:spPr>
          <a:xfrm>
            <a:off x="838200" y="4680077"/>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제출하면 부서장에게 결재가 올라갑니다.</a:t>
            </a:r>
          </a:p>
        </p:txBody>
      </p:sp>
      <p:sp>
        <p:nvSpPr>
          <p:cNvPr id="44" name="Rectangle 43"/>
          <p:cNvSpPr/>
          <p:nvPr/>
        </p:nvSpPr>
        <p:spPr>
          <a:xfrm>
            <a:off x="6599672" y="4233545"/>
            <a:ext cx="4292112" cy="185991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Picture 44" descr="IT-HW-002_04.png"/>
          <p:cNvPicPr>
            <a:picLocks noChangeAspect="1"/>
          </p:cNvPicPr>
          <p:nvPr/>
        </p:nvPicPr>
        <p:blipFill>
          <a:blip r:embed="rId2"/>
          <a:stretch>
            <a:fillRect/>
          </a:stretch>
        </p:blipFill>
        <p:spPr>
          <a:xfrm>
            <a:off x="6599672" y="4233545"/>
            <a:ext cx="4292112" cy="1859915"/>
          </a:xfrm>
          <a:prstGeom prst="rect">
            <a:avLst/>
          </a:prstGeom>
        </p:spPr>
      </p:pic>
      <p:sp>
        <p:nvSpPr>
          <p:cNvPr id="46" name="TextBox 45"/>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3.4-1. 장비 신청 양식. '교체' 선택과 고사양 사유를 적는 위치, 승인 흐름을 표시한다.</a:t>
            </a:r>
          </a:p>
        </p:txBody>
      </p:sp>
      <p:sp>
        <p:nvSpPr>
          <p:cNvPr id="47" name="TextBox 4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48" name="TextBox 4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18 / 34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3.4 교체 주기 전 고사양 노트북 신청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승인 절차</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부서장 승인</a:t>
            </a:r>
          </a:p>
        </p:txBody>
      </p:sp>
      <p:sp>
        <p:nvSpPr>
          <p:cNvPr id="9" name="TextBox 8"/>
          <p:cNvSpPr txBox="1"/>
          <p:nvPr/>
        </p:nvSpPr>
        <p:spPr>
          <a:xfrm>
            <a:off x="635000" y="173202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10" name="TextBox 9"/>
          <p:cNvSpPr txBox="1"/>
          <p:nvPr/>
        </p:nvSpPr>
        <p:spPr>
          <a:xfrm>
            <a:off x="838200" y="173202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엔드포인트지원팀 재고 확인 후 지급</a:t>
            </a:r>
          </a:p>
        </p:txBody>
      </p:sp>
      <p:sp>
        <p:nvSpPr>
          <p:cNvPr id="11" name="TextBox 10"/>
          <p:cNvSpPr txBox="1"/>
          <p:nvPr/>
        </p:nvSpPr>
        <p:spPr>
          <a:xfrm>
            <a:off x="584200" y="2021967"/>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기간과 결과 확인</a:t>
            </a:r>
          </a:p>
        </p:txBody>
      </p:sp>
      <p:sp>
        <p:nvSpPr>
          <p:cNvPr id="12" name="TextBox 11"/>
          <p:cNvSpPr txBox="1"/>
          <p:nvPr/>
        </p:nvSpPr>
        <p:spPr>
          <a:xfrm>
            <a:off x="584200" y="2346452"/>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부서장 승인 후 1영업일 안에 지급 가능 여부와 일정이 안내된다.</a:t>
            </a:r>
          </a:p>
        </p:txBody>
      </p:sp>
      <p:sp>
        <p:nvSpPr>
          <p:cNvPr id="13" name="TextBox 12"/>
          <p:cNvSpPr txBox="1"/>
          <p:nvPr/>
        </p:nvSpPr>
        <p:spPr>
          <a:xfrm>
            <a:off x="584200" y="2642743"/>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반려되는 경우</a:t>
            </a:r>
          </a:p>
        </p:txBody>
      </p:sp>
      <p:sp>
        <p:nvSpPr>
          <p:cNvPr id="14" name="TextBox 13"/>
          <p:cNvSpPr txBox="1"/>
          <p:nvPr/>
        </p:nvSpPr>
        <p:spPr>
          <a:xfrm>
            <a:off x="635000" y="296722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5" name="TextBox 14"/>
          <p:cNvSpPr txBox="1"/>
          <p:nvPr/>
        </p:nvSpPr>
        <p:spPr>
          <a:xfrm>
            <a:off x="838200" y="296722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업무상 필요가 확인되지 않으면 반려된다. 교체 주기가 될 때까지 기존 장비를 쓴다.</a:t>
            </a:r>
          </a:p>
        </p:txBody>
      </p:sp>
      <p:sp>
        <p:nvSpPr>
          <p:cNvPr id="16" name="TextBox 15"/>
          <p:cNvSpPr txBox="1"/>
          <p:nvPr/>
        </p:nvSpPr>
        <p:spPr>
          <a:xfrm>
            <a:off x="584200" y="3257169"/>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시 알려 주실 정보</a:t>
            </a:r>
          </a:p>
        </p:txBody>
      </p:sp>
      <p:sp>
        <p:nvSpPr>
          <p:cNvPr id="17" name="TextBox 16"/>
          <p:cNvSpPr txBox="1"/>
          <p:nvPr/>
        </p:nvSpPr>
        <p:spPr>
          <a:xfrm>
            <a:off x="635000" y="358165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8" name="TextBox 17"/>
          <p:cNvSpPr txBox="1"/>
          <p:nvPr/>
        </p:nvSpPr>
        <p:spPr>
          <a:xfrm>
            <a:off x="838200" y="358165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번호</a:t>
            </a:r>
          </a:p>
        </p:txBody>
      </p:sp>
      <p:sp>
        <p:nvSpPr>
          <p:cNvPr id="19" name="TextBox 18"/>
          <p:cNvSpPr txBox="1"/>
          <p:nvPr/>
        </p:nvSpPr>
        <p:spPr>
          <a:xfrm>
            <a:off x="635000" y="382079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0" name="TextBox 19"/>
          <p:cNvSpPr txBox="1"/>
          <p:nvPr/>
        </p:nvSpPr>
        <p:spPr>
          <a:xfrm>
            <a:off x="838200" y="382079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21" name="TextBox 20"/>
          <p:cNvSpPr txBox="1"/>
          <p:nvPr/>
        </p:nvSpPr>
        <p:spPr>
          <a:xfrm>
            <a:off x="635000" y="4059936"/>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2" name="TextBox 21"/>
          <p:cNvSpPr txBox="1"/>
          <p:nvPr/>
        </p:nvSpPr>
        <p:spPr>
          <a:xfrm>
            <a:off x="838200" y="4059936"/>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필요한 사양</a:t>
            </a:r>
          </a:p>
        </p:txBody>
      </p:sp>
      <p:sp>
        <p:nvSpPr>
          <p:cNvPr id="23" name="TextBox 22"/>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24" name="TextBox 23"/>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19 / 34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3.5 신규 입사자 PC 준비 요청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811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571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HW-05</a:t>
            </a:r>
          </a:p>
        </p:txBody>
      </p:sp>
      <p:sp>
        <p:nvSpPr>
          <p:cNvPr id="10" name="Rectangle 9"/>
          <p:cNvSpPr/>
          <p:nvPr/>
        </p:nvSpPr>
        <p:spPr>
          <a:xfrm>
            <a:off x="1867359"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43559"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72407" y="1168400"/>
            <a:ext cx="990054" cy="292100"/>
          </a:xfrm>
          <a:prstGeom prst="rect">
            <a:avLst/>
          </a:prstGeom>
          <a:solidFill>
            <a:srgbClr val="E3EAF3"/>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8607" y="1219200"/>
            <a:ext cx="837654"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IT 담당자 처리</a:t>
            </a:r>
          </a:p>
        </p:txBody>
      </p:sp>
      <p:sp>
        <p:nvSpPr>
          <p:cNvPr id="14" name="Rectangle 13"/>
          <p:cNvSpPr/>
          <p:nvPr/>
        </p:nvSpPr>
        <p:spPr>
          <a:xfrm>
            <a:off x="3562462"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8662"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7510" y="1168400"/>
            <a:ext cx="1168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3710" y="1219200"/>
            <a:ext cx="1016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엔드포인트지원팀</a:t>
            </a:r>
          </a:p>
        </p:txBody>
      </p:sp>
      <p:sp>
        <p:nvSpPr>
          <p:cNvPr id="18" name="Rectangle 17"/>
          <p:cNvSpPr/>
          <p:nvPr/>
        </p:nvSpPr>
        <p:spPr>
          <a:xfrm>
            <a:off x="543591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1211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기간</a:t>
            </a:r>
          </a:p>
        </p:txBody>
      </p:sp>
      <p:sp>
        <p:nvSpPr>
          <p:cNvPr id="20" name="Rectangle 19"/>
          <p:cNvSpPr/>
          <p:nvPr/>
        </p:nvSpPr>
        <p:spPr>
          <a:xfrm>
            <a:off x="6140958" y="1168400"/>
            <a:ext cx="1077305"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158" y="1219200"/>
            <a:ext cx="92490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접수 후 1영업일</a:t>
            </a:r>
          </a:p>
        </p:txBody>
      </p:sp>
      <p:sp>
        <p:nvSpPr>
          <p:cNvPr id="22" name="Rectangle 21"/>
          <p:cNvSpPr/>
          <p:nvPr/>
        </p:nvSpPr>
        <p:spPr>
          <a:xfrm>
            <a:off x="7218263"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94463"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4" name="Rectangle 23"/>
          <p:cNvSpPr/>
          <p:nvPr/>
        </p:nvSpPr>
        <p:spPr>
          <a:xfrm>
            <a:off x="79238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000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FAQ-018</a:t>
            </a:r>
          </a:p>
        </p:txBody>
      </p:sp>
      <p:sp>
        <p:nvSpPr>
          <p:cNvPr id="26" name="TextBox 25"/>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이럴 때 신청합니다</a:t>
            </a:r>
          </a:p>
        </p:txBody>
      </p:sp>
      <p:sp>
        <p:nvSpPr>
          <p:cNvPr id="27" name="TextBox 26"/>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8" name="TextBox 27"/>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다음 주 입사자가 쓸 PC를 준비해야 한다.</a:t>
            </a:r>
          </a:p>
        </p:txBody>
      </p:sp>
      <p:sp>
        <p:nvSpPr>
          <p:cNvPr id="29" name="TextBox 28"/>
          <p:cNvSpPr txBox="1"/>
          <p:nvPr/>
        </p:nvSpPr>
        <p:spPr>
          <a:xfrm>
            <a:off x="584200" y="22019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대상</a:t>
            </a:r>
          </a:p>
        </p:txBody>
      </p:sp>
      <p:sp>
        <p:nvSpPr>
          <p:cNvPr id="30" name="TextBox 29"/>
          <p:cNvSpPr txBox="1"/>
          <p:nvPr/>
        </p:nvSpPr>
        <p:spPr>
          <a:xfrm>
            <a:off x="635000" y="252641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1" name="TextBox 30"/>
          <p:cNvSpPr txBox="1"/>
          <p:nvPr/>
        </p:nvSpPr>
        <p:spPr>
          <a:xfrm>
            <a:off x="838200" y="252641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입사자의 소속 팀장 또는 팀 담당자</a:t>
            </a:r>
          </a:p>
        </p:txBody>
      </p:sp>
      <p:sp>
        <p:nvSpPr>
          <p:cNvPr id="32" name="TextBox 31"/>
          <p:cNvSpPr txBox="1"/>
          <p:nvPr/>
        </p:nvSpPr>
        <p:spPr>
          <a:xfrm>
            <a:off x="584200" y="281635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준비할 정보</a:t>
            </a:r>
          </a:p>
        </p:txBody>
      </p:sp>
      <p:sp>
        <p:nvSpPr>
          <p:cNvPr id="33" name="TextBox 32"/>
          <p:cNvSpPr txBox="1"/>
          <p:nvPr/>
        </p:nvSpPr>
        <p:spPr>
          <a:xfrm>
            <a:off x="635000" y="314083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4" name="TextBox 33"/>
          <p:cNvSpPr txBox="1"/>
          <p:nvPr/>
        </p:nvSpPr>
        <p:spPr>
          <a:xfrm>
            <a:off x="838200" y="314083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입사자 이름과 입사일</a:t>
            </a:r>
          </a:p>
        </p:txBody>
      </p:sp>
      <p:sp>
        <p:nvSpPr>
          <p:cNvPr id="35" name="TextBox 34"/>
          <p:cNvSpPr txBox="1"/>
          <p:nvPr/>
        </p:nvSpPr>
        <p:spPr>
          <a:xfrm>
            <a:off x="635000" y="33799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6" name="TextBox 35"/>
          <p:cNvSpPr txBox="1"/>
          <p:nvPr/>
        </p:nvSpPr>
        <p:spPr>
          <a:xfrm>
            <a:off x="838200" y="33799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인원 수</a:t>
            </a:r>
          </a:p>
        </p:txBody>
      </p:sp>
      <p:sp>
        <p:nvSpPr>
          <p:cNvPr id="37" name="TextBox 36"/>
          <p:cNvSpPr txBox="1"/>
          <p:nvPr/>
        </p:nvSpPr>
        <p:spPr>
          <a:xfrm>
            <a:off x="635000" y="36191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8" name="TextBox 37"/>
          <p:cNvSpPr txBox="1"/>
          <p:nvPr/>
        </p:nvSpPr>
        <p:spPr>
          <a:xfrm>
            <a:off x="838200" y="36191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직군 (개발 직군이면 희망 OS)</a:t>
            </a:r>
          </a:p>
        </p:txBody>
      </p:sp>
      <p:sp>
        <p:nvSpPr>
          <p:cNvPr id="39" name="TextBox 38"/>
          <p:cNvSpPr txBox="1"/>
          <p:nvPr/>
        </p:nvSpPr>
        <p:spPr>
          <a:xfrm>
            <a:off x="584200" y="390906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방법</a:t>
            </a:r>
          </a:p>
        </p:txBody>
      </p:sp>
      <p:sp>
        <p:nvSpPr>
          <p:cNvPr id="40" name="TextBox 39"/>
          <p:cNvSpPr txBox="1"/>
          <p:nvPr/>
        </p:nvSpPr>
        <p:spPr>
          <a:xfrm>
            <a:off x="584200" y="423354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41" name="TextBox 40"/>
          <p:cNvSpPr txBox="1"/>
          <p:nvPr/>
        </p:nvSpPr>
        <p:spPr>
          <a:xfrm>
            <a:off x="838200" y="4233545"/>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그룹웨어 &gt; IT 요청 &gt; 장비 신청에서 '신규 지급'을 선택합니다.</a:t>
            </a:r>
          </a:p>
        </p:txBody>
      </p:sp>
      <p:sp>
        <p:nvSpPr>
          <p:cNvPr id="42" name="TextBox 41"/>
          <p:cNvSpPr txBox="1"/>
          <p:nvPr/>
        </p:nvSpPr>
        <p:spPr>
          <a:xfrm>
            <a:off x="584200" y="4472686"/>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43" name="TextBox 42"/>
          <p:cNvSpPr txBox="1"/>
          <p:nvPr/>
        </p:nvSpPr>
        <p:spPr>
          <a:xfrm>
            <a:off x="838200" y="4472686"/>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입사자 정보와 입사일을 적어 제출합니다.</a:t>
            </a:r>
          </a:p>
        </p:txBody>
      </p:sp>
      <p:sp>
        <p:nvSpPr>
          <p:cNvPr id="44" name="TextBox 43"/>
          <p:cNvSpPr txBox="1"/>
          <p:nvPr/>
        </p:nvSpPr>
        <p:spPr>
          <a:xfrm>
            <a:off x="584200" y="4711827"/>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45" name="TextBox 44"/>
          <p:cNvSpPr txBox="1"/>
          <p:nvPr/>
        </p:nvSpPr>
        <p:spPr>
          <a:xfrm>
            <a:off x="838200" y="4711827"/>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입사일에 세팅이 끝난 PC를 받습니다.</a:t>
            </a:r>
          </a:p>
        </p:txBody>
      </p:sp>
      <p:sp>
        <p:nvSpPr>
          <p:cNvPr id="46" name="Rectangle 45"/>
          <p:cNvSpPr/>
          <p:nvPr/>
        </p:nvSpPr>
        <p:spPr>
          <a:xfrm>
            <a:off x="6599672" y="4233545"/>
            <a:ext cx="4292112" cy="185991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IT-HW-002_05.png"/>
          <p:cNvPicPr>
            <a:picLocks noChangeAspect="1"/>
          </p:cNvPicPr>
          <p:nvPr/>
        </p:nvPicPr>
        <p:blipFill>
          <a:blip r:embed="rId2"/>
          <a:stretch>
            <a:fillRect/>
          </a:stretch>
        </p:blipFill>
        <p:spPr>
          <a:xfrm>
            <a:off x="6599672" y="4233545"/>
            <a:ext cx="4292112" cy="1859915"/>
          </a:xfrm>
          <a:prstGeom prst="rect">
            <a:avLst/>
          </a:prstGeom>
        </p:spPr>
      </p:pic>
      <p:sp>
        <p:nvSpPr>
          <p:cNvPr id="48" name="TextBox 47"/>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3.5-1. 장비 신청 양식. '신규 지급' 선택과 입사자 정보를 적는 위치를 표시한다.</a:t>
            </a:r>
          </a:p>
        </p:txBody>
      </p:sp>
      <p:sp>
        <p:nvSpPr>
          <p:cNvPr id="49" name="TextBox 4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50" name="TextBox 4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20 / 34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3.5 신규 입사자 PC 준비 요청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승인 절차</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승인 없음 (접수 후 엔드포인트지원팀 처리)</a:t>
            </a:r>
          </a:p>
        </p:txBody>
      </p:sp>
      <p:sp>
        <p:nvSpPr>
          <p:cNvPr id="9" name="TextBox 8"/>
          <p:cNvSpPr txBox="1"/>
          <p:nvPr/>
        </p:nvSpPr>
        <p:spPr>
          <a:xfrm>
            <a:off x="584200" y="17828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기간과 결과 확인</a:t>
            </a:r>
          </a:p>
        </p:txBody>
      </p:sp>
      <p:sp>
        <p:nvSpPr>
          <p:cNvPr id="10" name="TextBox 9"/>
          <p:cNvSpPr txBox="1"/>
          <p:nvPr/>
        </p:nvSpPr>
        <p:spPr>
          <a:xfrm>
            <a:off x="584200" y="2107311"/>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접수 후 1영업일 안에 재고를 확인하고, 보안 프로그램 설치까지 마친 PC를 입사일에 전달한다.</a:t>
            </a:r>
          </a:p>
        </p:txBody>
      </p:sp>
      <p:sp>
        <p:nvSpPr>
          <p:cNvPr id="11" name="TextBox 10"/>
          <p:cNvSpPr txBox="1"/>
          <p:nvPr/>
        </p:nvSpPr>
        <p:spPr>
          <a:xfrm>
            <a:off x="584200" y="240360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반려되는 경우</a:t>
            </a:r>
          </a:p>
        </p:txBody>
      </p:sp>
      <p:sp>
        <p:nvSpPr>
          <p:cNvPr id="12" name="TextBox 11"/>
          <p:cNvSpPr txBox="1"/>
          <p:nvPr/>
        </p:nvSpPr>
        <p:spPr>
          <a:xfrm>
            <a:off x="635000" y="272808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2728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입사일이 정해지지 않았으면 보완 요청을 받는다.</a:t>
            </a:r>
          </a:p>
        </p:txBody>
      </p:sp>
      <p:sp>
        <p:nvSpPr>
          <p:cNvPr id="14" name="TextBox 13"/>
          <p:cNvSpPr txBox="1"/>
          <p:nvPr/>
        </p:nvSpPr>
        <p:spPr>
          <a:xfrm>
            <a:off x="584200" y="301802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시 알려 주실 정보</a:t>
            </a:r>
          </a:p>
        </p:txBody>
      </p:sp>
      <p:sp>
        <p:nvSpPr>
          <p:cNvPr id="15" name="TextBox 14"/>
          <p:cNvSpPr txBox="1"/>
          <p:nvPr/>
        </p:nvSpPr>
        <p:spPr>
          <a:xfrm>
            <a:off x="635000" y="334251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334251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번호</a:t>
            </a:r>
          </a:p>
        </p:txBody>
      </p:sp>
      <p:sp>
        <p:nvSpPr>
          <p:cNvPr id="17" name="TextBox 16"/>
          <p:cNvSpPr txBox="1"/>
          <p:nvPr/>
        </p:nvSpPr>
        <p:spPr>
          <a:xfrm>
            <a:off x="635000" y="358165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8" name="TextBox 17"/>
          <p:cNvSpPr txBox="1"/>
          <p:nvPr/>
        </p:nvSpPr>
        <p:spPr>
          <a:xfrm>
            <a:off x="838200" y="358165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입사자 이름</a:t>
            </a:r>
          </a:p>
        </p:txBody>
      </p:sp>
      <p:sp>
        <p:nvSpPr>
          <p:cNvPr id="19" name="TextBox 18"/>
          <p:cNvSpPr txBox="1"/>
          <p:nvPr/>
        </p:nvSpPr>
        <p:spPr>
          <a:xfrm>
            <a:off x="635000" y="382079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0" name="TextBox 19"/>
          <p:cNvSpPr txBox="1"/>
          <p:nvPr/>
        </p:nvSpPr>
        <p:spPr>
          <a:xfrm>
            <a:off x="838200" y="382079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입사일</a:t>
            </a:r>
          </a:p>
        </p:txBody>
      </p:sp>
      <p:sp>
        <p:nvSpPr>
          <p:cNvPr id="21" name="TextBox 20"/>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22" name="TextBox 21"/>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21 / 34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3.6 마우스·키보드 등 주변기기 교체 신청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811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571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HW-05</a:t>
            </a:r>
          </a:p>
        </p:txBody>
      </p:sp>
      <p:sp>
        <p:nvSpPr>
          <p:cNvPr id="10" name="Rectangle 9"/>
          <p:cNvSpPr/>
          <p:nvPr/>
        </p:nvSpPr>
        <p:spPr>
          <a:xfrm>
            <a:off x="1867359"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43559"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72407" y="1168400"/>
            <a:ext cx="990054" cy="292100"/>
          </a:xfrm>
          <a:prstGeom prst="rect">
            <a:avLst/>
          </a:prstGeom>
          <a:solidFill>
            <a:srgbClr val="E3EAF3"/>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8607" y="1219200"/>
            <a:ext cx="837654"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IT 담당자 처리</a:t>
            </a:r>
          </a:p>
        </p:txBody>
      </p:sp>
      <p:sp>
        <p:nvSpPr>
          <p:cNvPr id="14" name="Rectangle 13"/>
          <p:cNvSpPr/>
          <p:nvPr/>
        </p:nvSpPr>
        <p:spPr>
          <a:xfrm>
            <a:off x="3562462"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8662"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7510" y="1168400"/>
            <a:ext cx="1168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3710" y="1219200"/>
            <a:ext cx="1016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엔드포인트지원팀</a:t>
            </a:r>
          </a:p>
        </p:txBody>
      </p:sp>
      <p:sp>
        <p:nvSpPr>
          <p:cNvPr id="18" name="Rectangle 17"/>
          <p:cNvSpPr/>
          <p:nvPr/>
        </p:nvSpPr>
        <p:spPr>
          <a:xfrm>
            <a:off x="543591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1211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기간</a:t>
            </a:r>
          </a:p>
        </p:txBody>
      </p:sp>
      <p:sp>
        <p:nvSpPr>
          <p:cNvPr id="20" name="Rectangle 19"/>
          <p:cNvSpPr/>
          <p:nvPr/>
        </p:nvSpPr>
        <p:spPr>
          <a:xfrm>
            <a:off x="6140958" y="1168400"/>
            <a:ext cx="1077305"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158" y="1219200"/>
            <a:ext cx="92490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접수 후 1영업일</a:t>
            </a:r>
          </a:p>
        </p:txBody>
      </p:sp>
      <p:sp>
        <p:nvSpPr>
          <p:cNvPr id="22" name="Rectangle 21"/>
          <p:cNvSpPr/>
          <p:nvPr/>
        </p:nvSpPr>
        <p:spPr>
          <a:xfrm>
            <a:off x="7218263"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94463"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4" name="Rectangle 23"/>
          <p:cNvSpPr/>
          <p:nvPr/>
        </p:nvSpPr>
        <p:spPr>
          <a:xfrm>
            <a:off x="79238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000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FAQ-018</a:t>
            </a:r>
          </a:p>
        </p:txBody>
      </p:sp>
      <p:sp>
        <p:nvSpPr>
          <p:cNvPr id="26" name="TextBox 25"/>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이럴 때 신청합니다</a:t>
            </a:r>
          </a:p>
        </p:txBody>
      </p:sp>
      <p:sp>
        <p:nvSpPr>
          <p:cNvPr id="27" name="TextBox 26"/>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8" name="TextBox 27"/>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마우스·키보드 등 주변기기가 고장 나 새로 받고 싶다.</a:t>
            </a:r>
          </a:p>
        </p:txBody>
      </p:sp>
      <p:sp>
        <p:nvSpPr>
          <p:cNvPr id="29" name="TextBox 28"/>
          <p:cNvSpPr txBox="1"/>
          <p:nvPr/>
        </p:nvSpPr>
        <p:spPr>
          <a:xfrm>
            <a:off x="584200" y="22019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대상</a:t>
            </a:r>
          </a:p>
        </p:txBody>
      </p:sp>
      <p:sp>
        <p:nvSpPr>
          <p:cNvPr id="30" name="TextBox 29"/>
          <p:cNvSpPr txBox="1"/>
          <p:nvPr/>
        </p:nvSpPr>
        <p:spPr>
          <a:xfrm>
            <a:off x="635000" y="252641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1" name="TextBox 30"/>
          <p:cNvSpPr txBox="1"/>
          <p:nvPr/>
        </p:nvSpPr>
        <p:spPr>
          <a:xfrm>
            <a:off x="838200" y="252641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장비를 쓰는 본인</a:t>
            </a:r>
          </a:p>
        </p:txBody>
      </p:sp>
      <p:sp>
        <p:nvSpPr>
          <p:cNvPr id="32" name="TextBox 31"/>
          <p:cNvSpPr txBox="1"/>
          <p:nvPr/>
        </p:nvSpPr>
        <p:spPr>
          <a:xfrm>
            <a:off x="584200" y="281635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준비할 정보</a:t>
            </a:r>
          </a:p>
        </p:txBody>
      </p:sp>
      <p:sp>
        <p:nvSpPr>
          <p:cNvPr id="33" name="TextBox 32"/>
          <p:cNvSpPr txBox="1"/>
          <p:nvPr/>
        </p:nvSpPr>
        <p:spPr>
          <a:xfrm>
            <a:off x="635000" y="314083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4" name="TextBox 33"/>
          <p:cNvSpPr txBox="1"/>
          <p:nvPr/>
        </p:nvSpPr>
        <p:spPr>
          <a:xfrm>
            <a:off x="838200" y="314083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35" name="TextBox 34"/>
          <p:cNvSpPr txBox="1"/>
          <p:nvPr/>
        </p:nvSpPr>
        <p:spPr>
          <a:xfrm>
            <a:off x="635000" y="33799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6" name="TextBox 35"/>
          <p:cNvSpPr txBox="1"/>
          <p:nvPr/>
        </p:nvSpPr>
        <p:spPr>
          <a:xfrm>
            <a:off x="838200" y="33799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주변기기 종류</a:t>
            </a:r>
          </a:p>
        </p:txBody>
      </p:sp>
      <p:sp>
        <p:nvSpPr>
          <p:cNvPr id="37" name="TextBox 36"/>
          <p:cNvSpPr txBox="1"/>
          <p:nvPr/>
        </p:nvSpPr>
        <p:spPr>
          <a:xfrm>
            <a:off x="635000" y="36191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8" name="TextBox 37"/>
          <p:cNvSpPr txBox="1"/>
          <p:nvPr/>
        </p:nvSpPr>
        <p:spPr>
          <a:xfrm>
            <a:off x="838200" y="36191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고장 증상</a:t>
            </a:r>
          </a:p>
        </p:txBody>
      </p:sp>
      <p:sp>
        <p:nvSpPr>
          <p:cNvPr id="39" name="TextBox 38"/>
          <p:cNvSpPr txBox="1"/>
          <p:nvPr/>
        </p:nvSpPr>
        <p:spPr>
          <a:xfrm>
            <a:off x="584200" y="390906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방법</a:t>
            </a:r>
          </a:p>
        </p:txBody>
      </p:sp>
      <p:sp>
        <p:nvSpPr>
          <p:cNvPr id="40" name="TextBox 39"/>
          <p:cNvSpPr txBox="1"/>
          <p:nvPr/>
        </p:nvSpPr>
        <p:spPr>
          <a:xfrm>
            <a:off x="584200" y="423354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41" name="TextBox 40"/>
          <p:cNvSpPr txBox="1"/>
          <p:nvPr/>
        </p:nvSpPr>
        <p:spPr>
          <a:xfrm>
            <a:off x="838200" y="4233545"/>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그룹웨어 &gt; IT 요청 &gt; 장비 신청에서 '비품'을 선택합니다.</a:t>
            </a:r>
          </a:p>
        </p:txBody>
      </p:sp>
      <p:sp>
        <p:nvSpPr>
          <p:cNvPr id="42" name="TextBox 41"/>
          <p:cNvSpPr txBox="1"/>
          <p:nvPr/>
        </p:nvSpPr>
        <p:spPr>
          <a:xfrm>
            <a:off x="584200" y="4472686"/>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43" name="TextBox 42"/>
          <p:cNvSpPr txBox="1"/>
          <p:nvPr/>
        </p:nvSpPr>
        <p:spPr>
          <a:xfrm>
            <a:off x="838200" y="4472686"/>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주변기기 종류와 증상을 적어 제출합니다.</a:t>
            </a:r>
          </a:p>
        </p:txBody>
      </p:sp>
      <p:sp>
        <p:nvSpPr>
          <p:cNvPr id="44" name="Rectangle 43"/>
          <p:cNvSpPr/>
          <p:nvPr/>
        </p:nvSpPr>
        <p:spPr>
          <a:xfrm>
            <a:off x="6599672" y="4233545"/>
            <a:ext cx="4292112" cy="185991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5" name="Picture 44" descr="IT-HW-002_06.png"/>
          <p:cNvPicPr>
            <a:picLocks noChangeAspect="1"/>
          </p:cNvPicPr>
          <p:nvPr/>
        </p:nvPicPr>
        <p:blipFill>
          <a:blip r:embed="rId2"/>
          <a:stretch>
            <a:fillRect/>
          </a:stretch>
        </p:blipFill>
        <p:spPr>
          <a:xfrm>
            <a:off x="6599672" y="4233545"/>
            <a:ext cx="4292112" cy="1859915"/>
          </a:xfrm>
          <a:prstGeom prst="rect">
            <a:avLst/>
          </a:prstGeom>
        </p:spPr>
      </p:pic>
      <p:sp>
        <p:nvSpPr>
          <p:cNvPr id="46" name="TextBox 45"/>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3.6-1. 장비 신청 양식. '비품' 선택과 주변기기 종류·증상을 적는 위치를 표시한다.</a:t>
            </a:r>
          </a:p>
        </p:txBody>
      </p:sp>
      <p:sp>
        <p:nvSpPr>
          <p:cNvPr id="47" name="TextBox 4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48" name="TextBox 4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22 / 34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3.6 마우스·키보드 등 주변기기 교체 신청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승인 절차</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승인 없음 (접수 후 엔드포인트지원팀 처리)</a:t>
            </a:r>
          </a:p>
        </p:txBody>
      </p:sp>
      <p:sp>
        <p:nvSpPr>
          <p:cNvPr id="9" name="TextBox 8"/>
          <p:cNvSpPr txBox="1"/>
          <p:nvPr/>
        </p:nvSpPr>
        <p:spPr>
          <a:xfrm>
            <a:off x="584200" y="17828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기간과 결과 확인</a:t>
            </a:r>
          </a:p>
        </p:txBody>
      </p:sp>
      <p:sp>
        <p:nvSpPr>
          <p:cNvPr id="10" name="TextBox 9"/>
          <p:cNvSpPr txBox="1"/>
          <p:nvPr/>
        </p:nvSpPr>
        <p:spPr>
          <a:xfrm>
            <a:off x="584200" y="2107311"/>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접수 후 1영업일 안에 재고에서 지급한다.</a:t>
            </a:r>
          </a:p>
        </p:txBody>
      </p:sp>
      <p:sp>
        <p:nvSpPr>
          <p:cNvPr id="11" name="TextBox 10"/>
          <p:cNvSpPr txBox="1"/>
          <p:nvPr/>
        </p:nvSpPr>
        <p:spPr>
          <a:xfrm>
            <a:off x="584200" y="240360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반려되는 경우</a:t>
            </a:r>
          </a:p>
        </p:txBody>
      </p:sp>
      <p:sp>
        <p:nvSpPr>
          <p:cNvPr id="12" name="TextBox 11"/>
          <p:cNvSpPr txBox="1"/>
          <p:nvPr/>
        </p:nvSpPr>
        <p:spPr>
          <a:xfrm>
            <a:off x="635000" y="272808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2728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개인 구매 주변기기는 대상이 아니다.</a:t>
            </a:r>
          </a:p>
        </p:txBody>
      </p:sp>
      <p:sp>
        <p:nvSpPr>
          <p:cNvPr id="14" name="TextBox 13"/>
          <p:cNvSpPr txBox="1"/>
          <p:nvPr/>
        </p:nvSpPr>
        <p:spPr>
          <a:xfrm>
            <a:off x="584200" y="301802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시 알려 주실 정보</a:t>
            </a:r>
          </a:p>
        </p:txBody>
      </p:sp>
      <p:sp>
        <p:nvSpPr>
          <p:cNvPr id="15" name="TextBox 14"/>
          <p:cNvSpPr txBox="1"/>
          <p:nvPr/>
        </p:nvSpPr>
        <p:spPr>
          <a:xfrm>
            <a:off x="635000" y="334251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334251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번호</a:t>
            </a:r>
          </a:p>
        </p:txBody>
      </p:sp>
      <p:sp>
        <p:nvSpPr>
          <p:cNvPr id="17" name="TextBox 16"/>
          <p:cNvSpPr txBox="1"/>
          <p:nvPr/>
        </p:nvSpPr>
        <p:spPr>
          <a:xfrm>
            <a:off x="635000" y="358165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8" name="TextBox 17"/>
          <p:cNvSpPr txBox="1"/>
          <p:nvPr/>
        </p:nvSpPr>
        <p:spPr>
          <a:xfrm>
            <a:off x="838200" y="358165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19" name="TextBox 18"/>
          <p:cNvSpPr txBox="1"/>
          <p:nvPr/>
        </p:nvSpPr>
        <p:spPr>
          <a:xfrm>
            <a:off x="635000" y="382079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0" name="TextBox 19"/>
          <p:cNvSpPr txBox="1"/>
          <p:nvPr/>
        </p:nvSpPr>
        <p:spPr>
          <a:xfrm>
            <a:off x="838200" y="382079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주변기기 종류</a:t>
            </a:r>
          </a:p>
        </p:txBody>
      </p:sp>
      <p:sp>
        <p:nvSpPr>
          <p:cNvPr id="21" name="TextBox 20"/>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22" name="TextBox 21"/>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23 / 34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3.7 퇴사·교체 시 장비 반납</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58420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6040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문의 유형</a:t>
            </a:r>
          </a:p>
        </p:txBody>
      </p:sp>
      <p:sp>
        <p:nvSpPr>
          <p:cNvPr id="8" name="Rectangle 7"/>
          <p:cNvSpPr/>
          <p:nvPr/>
        </p:nvSpPr>
        <p:spPr>
          <a:xfrm>
            <a:off x="1289248" y="1168400"/>
            <a:ext cx="57811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65448" y="1219200"/>
            <a:ext cx="42571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HW-05</a:t>
            </a:r>
          </a:p>
        </p:txBody>
      </p:sp>
      <p:sp>
        <p:nvSpPr>
          <p:cNvPr id="10" name="Rectangle 9"/>
          <p:cNvSpPr/>
          <p:nvPr/>
        </p:nvSpPr>
        <p:spPr>
          <a:xfrm>
            <a:off x="1867359"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943559"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구분</a:t>
            </a:r>
          </a:p>
        </p:txBody>
      </p:sp>
      <p:sp>
        <p:nvSpPr>
          <p:cNvPr id="12" name="Rectangle 11"/>
          <p:cNvSpPr/>
          <p:nvPr/>
        </p:nvSpPr>
        <p:spPr>
          <a:xfrm>
            <a:off x="2572407" y="1168400"/>
            <a:ext cx="990054" cy="292100"/>
          </a:xfrm>
          <a:prstGeom prst="rect">
            <a:avLst/>
          </a:prstGeom>
          <a:solidFill>
            <a:srgbClr val="E3EAF3"/>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2648607" y="1219200"/>
            <a:ext cx="837654"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IT 담당자 처리</a:t>
            </a:r>
          </a:p>
        </p:txBody>
      </p:sp>
      <p:sp>
        <p:nvSpPr>
          <p:cNvPr id="14" name="Rectangle 13"/>
          <p:cNvSpPr/>
          <p:nvPr/>
        </p:nvSpPr>
        <p:spPr>
          <a:xfrm>
            <a:off x="3562462"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638662"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담당 부서</a:t>
            </a:r>
          </a:p>
        </p:txBody>
      </p:sp>
      <p:sp>
        <p:nvSpPr>
          <p:cNvPr id="16" name="Rectangle 15"/>
          <p:cNvSpPr/>
          <p:nvPr/>
        </p:nvSpPr>
        <p:spPr>
          <a:xfrm>
            <a:off x="4267510" y="1168400"/>
            <a:ext cx="1168400"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343710" y="1219200"/>
            <a:ext cx="1016000"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엔드포인트지원팀</a:t>
            </a:r>
          </a:p>
        </p:txBody>
      </p:sp>
      <p:sp>
        <p:nvSpPr>
          <p:cNvPr id="18" name="Rectangle 17"/>
          <p:cNvSpPr/>
          <p:nvPr/>
        </p:nvSpPr>
        <p:spPr>
          <a:xfrm>
            <a:off x="5435910" y="1168400"/>
            <a:ext cx="705048"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512110" y="1219200"/>
            <a:ext cx="552648"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처리 기간</a:t>
            </a:r>
          </a:p>
        </p:txBody>
      </p:sp>
      <p:sp>
        <p:nvSpPr>
          <p:cNvPr id="20" name="Rectangle 19"/>
          <p:cNvSpPr/>
          <p:nvPr/>
        </p:nvSpPr>
        <p:spPr>
          <a:xfrm>
            <a:off x="6140958" y="1168400"/>
            <a:ext cx="1077305"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217158" y="1219200"/>
            <a:ext cx="924905"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접수 후 1영업일</a:t>
            </a:r>
          </a:p>
        </p:txBody>
      </p:sp>
      <p:sp>
        <p:nvSpPr>
          <p:cNvPr id="22" name="Rectangle 21"/>
          <p:cNvSpPr/>
          <p:nvPr/>
        </p:nvSpPr>
        <p:spPr>
          <a:xfrm>
            <a:off x="7218263" y="1168400"/>
            <a:ext cx="705607" cy="292100"/>
          </a:xfrm>
          <a:prstGeom prst="rect">
            <a:avLst/>
          </a:prstGeom>
          <a:solidFill>
            <a:srgbClr val="ECEFF2"/>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294463" y="1219200"/>
            <a:ext cx="553207"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F3A5F"/>
                </a:solidFill>
                <a:latin typeface="Malgun Gothic"/>
                <a:ea typeface="Malgun Gothic"/>
                <a:cs typeface="Malgun Gothic"/>
              </a:rPr>
              <a:t>관련 FAQ</a:t>
            </a:r>
          </a:p>
        </p:txBody>
      </p:sp>
      <p:sp>
        <p:nvSpPr>
          <p:cNvPr id="24" name="Rectangle 23"/>
          <p:cNvSpPr/>
          <p:nvPr/>
        </p:nvSpPr>
        <p:spPr>
          <a:xfrm>
            <a:off x="7923870" y="1168400"/>
            <a:ext cx="680306" cy="292100"/>
          </a:xfrm>
          <a:prstGeom prst="rect">
            <a:avLst/>
          </a:prstGeom>
          <a:solidFill>
            <a:srgbClr val="FFFEFA"/>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000070" y="1219200"/>
            <a:ext cx="527906" cy="180340"/>
          </a:xfrm>
          <a:prstGeom prst="rect">
            <a:avLst/>
          </a:prstGeom>
          <a:noFill/>
        </p:spPr>
        <p:txBody>
          <a:bodyPr wrap="none" lIns="0" rIns="0" tIns="0" bIns="0" anchor="t">
            <a:spAutoFit/>
          </a:bodyPr>
          <a:lstStyle/>
          <a:p>
            <a:pPr algn="l">
              <a:lnSpc>
                <a:spcPts val="1420"/>
              </a:lnSpc>
              <a:spcBef>
                <a:spcPts val="0"/>
              </a:spcBef>
              <a:spcAft>
                <a:spcPts val="0"/>
              </a:spcAft>
            </a:pPr>
            <a:r>
              <a:rPr sz="1000" b="1">
                <a:solidFill>
                  <a:srgbClr val="1D2433"/>
                </a:solidFill>
                <a:latin typeface="Malgun Gothic"/>
                <a:ea typeface="Malgun Gothic"/>
                <a:cs typeface="Malgun Gothic"/>
              </a:rPr>
              <a:t>FAQ-018</a:t>
            </a:r>
          </a:p>
        </p:txBody>
      </p:sp>
      <p:sp>
        <p:nvSpPr>
          <p:cNvPr id="26" name="TextBox 25"/>
          <p:cNvSpPr txBox="1"/>
          <p:nvPr/>
        </p:nvSpPr>
        <p:spPr>
          <a:xfrm>
            <a:off x="584200" y="15875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이럴 때 신청합니다</a:t>
            </a:r>
          </a:p>
        </p:txBody>
      </p:sp>
      <p:sp>
        <p:nvSpPr>
          <p:cNvPr id="27" name="TextBox 26"/>
          <p:cNvSpPr txBox="1"/>
          <p:nvPr/>
        </p:nvSpPr>
        <p:spPr>
          <a:xfrm>
            <a:off x="635000" y="19119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8" name="TextBox 27"/>
          <p:cNvSpPr txBox="1"/>
          <p:nvPr/>
        </p:nvSpPr>
        <p:spPr>
          <a:xfrm>
            <a:off x="838200" y="19119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퇴사하거나 새 장비를 받아 기존 장비를 반납해야 한다.</a:t>
            </a:r>
          </a:p>
        </p:txBody>
      </p:sp>
      <p:sp>
        <p:nvSpPr>
          <p:cNvPr id="29" name="TextBox 28"/>
          <p:cNvSpPr txBox="1"/>
          <p:nvPr/>
        </p:nvSpPr>
        <p:spPr>
          <a:xfrm>
            <a:off x="584200" y="22019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대상</a:t>
            </a:r>
          </a:p>
        </p:txBody>
      </p:sp>
      <p:sp>
        <p:nvSpPr>
          <p:cNvPr id="30" name="TextBox 29"/>
          <p:cNvSpPr txBox="1"/>
          <p:nvPr/>
        </p:nvSpPr>
        <p:spPr>
          <a:xfrm>
            <a:off x="635000" y="252641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1" name="TextBox 30"/>
          <p:cNvSpPr txBox="1"/>
          <p:nvPr/>
        </p:nvSpPr>
        <p:spPr>
          <a:xfrm>
            <a:off x="838200" y="252641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장비를 쓰던 본인</a:t>
            </a:r>
          </a:p>
        </p:txBody>
      </p:sp>
      <p:sp>
        <p:nvSpPr>
          <p:cNvPr id="32" name="TextBox 31"/>
          <p:cNvSpPr txBox="1"/>
          <p:nvPr/>
        </p:nvSpPr>
        <p:spPr>
          <a:xfrm>
            <a:off x="584200" y="281635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준비할 정보</a:t>
            </a:r>
          </a:p>
        </p:txBody>
      </p:sp>
      <p:sp>
        <p:nvSpPr>
          <p:cNvPr id="33" name="TextBox 32"/>
          <p:cNvSpPr txBox="1"/>
          <p:nvPr/>
        </p:nvSpPr>
        <p:spPr>
          <a:xfrm>
            <a:off x="635000" y="314083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4" name="TextBox 33"/>
          <p:cNvSpPr txBox="1"/>
          <p:nvPr/>
        </p:nvSpPr>
        <p:spPr>
          <a:xfrm>
            <a:off x="838200" y="314083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35" name="TextBox 34"/>
          <p:cNvSpPr txBox="1"/>
          <p:nvPr/>
        </p:nvSpPr>
        <p:spPr>
          <a:xfrm>
            <a:off x="635000" y="3379978"/>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6" name="TextBox 35"/>
          <p:cNvSpPr txBox="1"/>
          <p:nvPr/>
        </p:nvSpPr>
        <p:spPr>
          <a:xfrm>
            <a:off x="838200" y="3379978"/>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반납할 장비</a:t>
            </a:r>
          </a:p>
        </p:txBody>
      </p:sp>
      <p:sp>
        <p:nvSpPr>
          <p:cNvPr id="37" name="TextBox 36"/>
          <p:cNvSpPr txBox="1"/>
          <p:nvPr/>
        </p:nvSpPr>
        <p:spPr>
          <a:xfrm>
            <a:off x="635000" y="3619119"/>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38" name="TextBox 37"/>
          <p:cNvSpPr txBox="1"/>
          <p:nvPr/>
        </p:nvSpPr>
        <p:spPr>
          <a:xfrm>
            <a:off x="838200" y="3619119"/>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업무 데이터 백업 여부</a:t>
            </a:r>
          </a:p>
        </p:txBody>
      </p:sp>
      <p:sp>
        <p:nvSpPr>
          <p:cNvPr id="39" name="TextBox 38"/>
          <p:cNvSpPr txBox="1"/>
          <p:nvPr/>
        </p:nvSpPr>
        <p:spPr>
          <a:xfrm>
            <a:off x="584200" y="390906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신청 방법</a:t>
            </a:r>
          </a:p>
        </p:txBody>
      </p:sp>
      <p:sp>
        <p:nvSpPr>
          <p:cNvPr id="40" name="TextBox 39"/>
          <p:cNvSpPr txBox="1"/>
          <p:nvPr/>
        </p:nvSpPr>
        <p:spPr>
          <a:xfrm>
            <a:off x="584200" y="4233545"/>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41" name="TextBox 40"/>
          <p:cNvSpPr txBox="1"/>
          <p:nvPr/>
        </p:nvSpPr>
        <p:spPr>
          <a:xfrm>
            <a:off x="838200" y="4233545"/>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업무 파일을 팀 공유 드라이브로 옮깁니다.</a:t>
            </a:r>
          </a:p>
        </p:txBody>
      </p:sp>
      <p:sp>
        <p:nvSpPr>
          <p:cNvPr id="42" name="TextBox 41"/>
          <p:cNvSpPr txBox="1"/>
          <p:nvPr/>
        </p:nvSpPr>
        <p:spPr>
          <a:xfrm>
            <a:off x="584200" y="4472686"/>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②</a:t>
            </a:r>
          </a:p>
        </p:txBody>
      </p:sp>
      <p:sp>
        <p:nvSpPr>
          <p:cNvPr id="43" name="TextBox 42"/>
          <p:cNvSpPr txBox="1"/>
          <p:nvPr/>
        </p:nvSpPr>
        <p:spPr>
          <a:xfrm>
            <a:off x="838200" y="4472686"/>
            <a:ext cx="4816856"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그룹웨어 &gt; IT 요청 &gt; 장비 신청에서 '반납'을 선택해 제출합니다.</a:t>
            </a:r>
          </a:p>
        </p:txBody>
      </p:sp>
      <p:sp>
        <p:nvSpPr>
          <p:cNvPr id="44" name="TextBox 43"/>
          <p:cNvSpPr txBox="1"/>
          <p:nvPr/>
        </p:nvSpPr>
        <p:spPr>
          <a:xfrm>
            <a:off x="584200" y="4711827"/>
            <a:ext cx="2286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③</a:t>
            </a:r>
          </a:p>
        </p:txBody>
      </p:sp>
      <p:sp>
        <p:nvSpPr>
          <p:cNvPr id="45" name="TextBox 44"/>
          <p:cNvSpPr txBox="1"/>
          <p:nvPr/>
        </p:nvSpPr>
        <p:spPr>
          <a:xfrm>
            <a:off x="838200" y="4711827"/>
            <a:ext cx="4816856" cy="414782"/>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직접 초기화하지 말고 그대로 엔드포인트지원팀에 반납합니다. 초기화는</a:t>
            </a:r>
          </a:p>
          <a:p>
            <a:pPr algn="l">
              <a:lnSpc>
                <a:spcPts val="1632"/>
              </a:lnSpc>
              <a:spcBef>
                <a:spcPts val="0"/>
              </a:spcBef>
              <a:spcAft>
                <a:spcPts val="0"/>
              </a:spcAft>
            </a:pPr>
            <a:r>
              <a:rPr sz="1150" b="0">
                <a:solidFill>
                  <a:srgbClr val="1D2433"/>
                </a:solidFill>
                <a:latin typeface="Malgun Gothic"/>
                <a:ea typeface="Malgun Gothic"/>
                <a:cs typeface="Malgun Gothic"/>
              </a:rPr>
              <a:t>IT에서 진행합니다.</a:t>
            </a:r>
          </a:p>
        </p:txBody>
      </p:sp>
      <p:sp>
        <p:nvSpPr>
          <p:cNvPr id="46" name="Rectangle 45"/>
          <p:cNvSpPr/>
          <p:nvPr/>
        </p:nvSpPr>
        <p:spPr>
          <a:xfrm>
            <a:off x="6599672" y="4233545"/>
            <a:ext cx="4292112" cy="1859915"/>
          </a:xfrm>
          <a:prstGeom prst="rect">
            <a:avLst/>
          </a:prstGeom>
          <a:solidFill>
            <a:srgbClr val="FFFFFF"/>
          </a:solidFill>
          <a:ln w="10160">
            <a:solidFill>
              <a:srgbClr val="DBD9D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IT-HW-002_07.png"/>
          <p:cNvPicPr>
            <a:picLocks noChangeAspect="1"/>
          </p:cNvPicPr>
          <p:nvPr/>
        </p:nvPicPr>
        <p:blipFill>
          <a:blip r:embed="rId2"/>
          <a:stretch>
            <a:fillRect/>
          </a:stretch>
        </p:blipFill>
        <p:spPr>
          <a:xfrm>
            <a:off x="6599672" y="4233545"/>
            <a:ext cx="4292112" cy="1859915"/>
          </a:xfrm>
          <a:prstGeom prst="rect">
            <a:avLst/>
          </a:prstGeom>
        </p:spPr>
      </p:pic>
      <p:sp>
        <p:nvSpPr>
          <p:cNvPr id="48" name="TextBox 47"/>
          <p:cNvSpPr txBox="1"/>
          <p:nvPr/>
        </p:nvSpPr>
        <p:spPr>
          <a:xfrm>
            <a:off x="5883656" y="6144260"/>
            <a:ext cx="5724144" cy="180340"/>
          </a:xfrm>
          <a:prstGeom prst="rect">
            <a:avLst/>
          </a:prstGeom>
          <a:noFill/>
        </p:spPr>
        <p:txBody>
          <a:bodyPr wrap="none" lIns="0" rIns="0" tIns="0" bIns="0" anchor="t">
            <a:spAutoFit/>
          </a:bodyPr>
          <a:lstStyle/>
          <a:p>
            <a:pPr algn="ctr">
              <a:lnSpc>
                <a:spcPts val="1420"/>
              </a:lnSpc>
              <a:spcBef>
                <a:spcPts val="0"/>
              </a:spcBef>
              <a:spcAft>
                <a:spcPts val="0"/>
              </a:spcAft>
            </a:pPr>
            <a:r>
              <a:rPr sz="1000" b="0">
                <a:solidFill>
                  <a:srgbClr val="5A6270"/>
                </a:solidFill>
                <a:latin typeface="Malgun Gothic"/>
                <a:ea typeface="Malgun Gothic"/>
                <a:cs typeface="Malgun Gothic"/>
              </a:rPr>
              <a:t>그림 3.7-1. 장비 신청 양식. '반납' 선택 위치를 표시한다.</a:t>
            </a:r>
          </a:p>
        </p:txBody>
      </p:sp>
      <p:sp>
        <p:nvSpPr>
          <p:cNvPr id="49" name="TextBox 48"/>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50" name="TextBox 49"/>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24 / 34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3.7 퇴사·교체 시 장비 반납 (계속)</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03. 신청 항목별 안내</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승인 절차</a:t>
            </a:r>
          </a:p>
        </p:txBody>
      </p:sp>
      <p:sp>
        <p:nvSpPr>
          <p:cNvPr id="7" name="TextBox 6"/>
          <p:cNvSpPr txBox="1"/>
          <p:nvPr/>
        </p:nvSpPr>
        <p:spPr>
          <a:xfrm>
            <a:off x="635000" y="149288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E8590C"/>
                </a:solidFill>
                <a:latin typeface="Malgun Gothic"/>
                <a:ea typeface="Malgun Gothic"/>
                <a:cs typeface="Malgun Gothic"/>
              </a:rPr>
              <a:t>①</a:t>
            </a:r>
          </a:p>
        </p:txBody>
      </p:sp>
      <p:sp>
        <p:nvSpPr>
          <p:cNvPr id="8" name="TextBox 7"/>
          <p:cNvSpPr txBox="1"/>
          <p:nvPr/>
        </p:nvSpPr>
        <p:spPr>
          <a:xfrm>
            <a:off x="838200" y="149288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승인 없음 (접수 후 엔드포인트지원팀 처리)</a:t>
            </a:r>
          </a:p>
        </p:txBody>
      </p:sp>
      <p:sp>
        <p:nvSpPr>
          <p:cNvPr id="9" name="TextBox 8"/>
          <p:cNvSpPr txBox="1"/>
          <p:nvPr/>
        </p:nvSpPr>
        <p:spPr>
          <a:xfrm>
            <a:off x="584200" y="1782826"/>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처리 기간과 결과 확인</a:t>
            </a:r>
          </a:p>
        </p:txBody>
      </p:sp>
      <p:sp>
        <p:nvSpPr>
          <p:cNvPr id="10" name="TextBox 9"/>
          <p:cNvSpPr txBox="1"/>
          <p:nvPr/>
        </p:nvSpPr>
        <p:spPr>
          <a:xfrm>
            <a:off x="584200" y="2107311"/>
            <a:ext cx="11023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접수 후 1영업일 안에 반납 일정이 안내되고, 반납한 장비는 IT에서 초기화한다.</a:t>
            </a:r>
          </a:p>
        </p:txBody>
      </p:sp>
      <p:sp>
        <p:nvSpPr>
          <p:cNvPr id="11" name="TextBox 10"/>
          <p:cNvSpPr txBox="1"/>
          <p:nvPr/>
        </p:nvSpPr>
        <p:spPr>
          <a:xfrm>
            <a:off x="584200" y="2403602"/>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반려되는 경우</a:t>
            </a:r>
          </a:p>
        </p:txBody>
      </p:sp>
      <p:sp>
        <p:nvSpPr>
          <p:cNvPr id="12" name="TextBox 11"/>
          <p:cNvSpPr txBox="1"/>
          <p:nvPr/>
        </p:nvSpPr>
        <p:spPr>
          <a:xfrm>
            <a:off x="635000" y="2728087"/>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2728087"/>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장비를 분실했으면 반납이 아니라 IT-SEC-003 3.7에 따라 분실 신고를 한다.</a:t>
            </a:r>
          </a:p>
        </p:txBody>
      </p:sp>
      <p:sp>
        <p:nvSpPr>
          <p:cNvPr id="14" name="TextBox 13"/>
          <p:cNvSpPr txBox="1"/>
          <p:nvPr/>
        </p:nvSpPr>
        <p:spPr>
          <a:xfrm>
            <a:off x="584200" y="3018028"/>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문의 시 알려 주실 정보</a:t>
            </a:r>
          </a:p>
        </p:txBody>
      </p:sp>
      <p:sp>
        <p:nvSpPr>
          <p:cNvPr id="15" name="TextBox 14"/>
          <p:cNvSpPr txBox="1"/>
          <p:nvPr/>
        </p:nvSpPr>
        <p:spPr>
          <a:xfrm>
            <a:off x="635000" y="334251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6" name="TextBox 15"/>
          <p:cNvSpPr txBox="1"/>
          <p:nvPr/>
        </p:nvSpPr>
        <p:spPr>
          <a:xfrm>
            <a:off x="838200" y="334251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신청 번호</a:t>
            </a:r>
          </a:p>
        </p:txBody>
      </p:sp>
      <p:sp>
        <p:nvSpPr>
          <p:cNvPr id="17" name="TextBox 16"/>
          <p:cNvSpPr txBox="1"/>
          <p:nvPr/>
        </p:nvSpPr>
        <p:spPr>
          <a:xfrm>
            <a:off x="635000" y="3581654"/>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8" name="TextBox 17"/>
          <p:cNvSpPr txBox="1"/>
          <p:nvPr/>
        </p:nvSpPr>
        <p:spPr>
          <a:xfrm>
            <a:off x="838200" y="3581654"/>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사번</a:t>
            </a:r>
          </a:p>
        </p:txBody>
      </p:sp>
      <p:sp>
        <p:nvSpPr>
          <p:cNvPr id="19" name="TextBox 18"/>
          <p:cNvSpPr txBox="1"/>
          <p:nvPr/>
        </p:nvSpPr>
        <p:spPr>
          <a:xfrm>
            <a:off x="635000" y="3820795"/>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20" name="TextBox 19"/>
          <p:cNvSpPr txBox="1"/>
          <p:nvPr/>
        </p:nvSpPr>
        <p:spPr>
          <a:xfrm>
            <a:off x="838200" y="3820795"/>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반납할 장비</a:t>
            </a:r>
          </a:p>
        </p:txBody>
      </p:sp>
      <p:sp>
        <p:nvSpPr>
          <p:cNvPr id="21" name="Rectangle 20"/>
          <p:cNvSpPr/>
          <p:nvPr/>
        </p:nvSpPr>
        <p:spPr>
          <a:xfrm>
            <a:off x="584200" y="4110736"/>
            <a:ext cx="11023600" cy="59994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11200" y="4212336"/>
            <a:ext cx="10769600" cy="396748"/>
          </a:xfrm>
          <a:prstGeom prst="rect">
            <a:avLst/>
          </a:prstGeom>
          <a:noFill/>
        </p:spPr>
        <p:txBody>
          <a:bodyPr wrap="none" lIns="0" rIns="0" tIns="0" bIns="0" anchor="t">
            <a:spAutoFit/>
          </a:bodyPr>
          <a:lstStyle/>
          <a:p>
            <a:pPr algn="l">
              <a:lnSpc>
                <a:spcPts val="1562"/>
              </a:lnSpc>
              <a:spcBef>
                <a:spcPts val="0"/>
              </a:spcBef>
              <a:spcAft>
                <a:spcPts val="0"/>
              </a:spcAft>
            </a:pPr>
            <a:r>
              <a:rPr sz="1100" b="0">
                <a:solidFill>
                  <a:srgbClr val="5A6270"/>
                </a:solidFill>
                <a:latin typeface="Malgun Gothic"/>
                <a:ea typeface="Malgun Gothic"/>
                <a:cs typeface="Malgun Gothic"/>
              </a:rPr>
              <a:t>※ 퇴사할 때 계정은 퇴사일 18시에 자동 비활성화되고(IT-ACS-003 3.3), 유료 SW 라이선스도 함께 회수됩니다(IT-SW-002 3.7). 반납 전에 업무 파일을 팀 공유 드라이브로</a:t>
            </a:r>
          </a:p>
          <a:p>
            <a:pPr algn="l">
              <a:lnSpc>
                <a:spcPts val="1562"/>
              </a:lnSpc>
              <a:spcBef>
                <a:spcPts val="0"/>
              </a:spcBef>
              <a:spcAft>
                <a:spcPts val="0"/>
              </a:spcAft>
            </a:pPr>
            <a:r>
              <a:rPr sz="1100" b="0">
                <a:solidFill>
                  <a:srgbClr val="5A6270"/>
                </a:solidFill>
                <a:latin typeface="Malgun Gothic"/>
                <a:ea typeface="Malgun Gothic"/>
                <a:cs typeface="Malgun Gothic"/>
              </a:rPr>
              <a:t>옮깁니다.</a:t>
            </a:r>
          </a:p>
        </p:txBody>
      </p:sp>
      <p:sp>
        <p:nvSpPr>
          <p:cNvPr id="23" name="TextBox 22"/>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24" name="TextBox 23"/>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25 / 34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04</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자주 묻는 질문</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가상 ICT 기업 · IT-HW-002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26 / 34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자주 묻는 질문</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04. 자주 묻는 질문</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1206500"/>
        </p:xfrm>
        <a:graphic>
          <a:graphicData uri="http://schemas.openxmlformats.org/drawingml/2006/table">
            <a:tbl>
              <a:tblPr firstRow="0" bandRow="0">
                <a:tableStyleId>{5940675A-B579-460E-94D1-54222C63F5DA}</a:tableStyleId>
              </a:tblPr>
              <a:tblGrid>
                <a:gridCol w="3674533"/>
                <a:gridCol w="7349067"/>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질문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답변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노트북에 음료를 쏟았거나 파손됐어요. (FAQ-017)</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즉시 전원을 끄고 충전기를 분리하세요. 엔드포인트지원팀에 접수하면 데이터 백업 후 수리를 진행하고 필요하면 대여 장비를</a:t>
                      </a:r>
                    </a:p>
                    <a:p>
                      <a:pPr algn="l">
                        <a:lnSpc>
                          <a:spcPts val="1300"/>
                        </a:lnSpc>
                        <a:spcBef>
                          <a:spcPts val="0"/>
                        </a:spcBef>
                        <a:spcAft>
                          <a:spcPts val="0"/>
                        </a:spcAft>
                      </a:pPr>
                      <a:r>
                        <a:rPr sz="1000" b="0">
                          <a:solidFill>
                            <a:srgbClr val="1D2433"/>
                          </a:solidFill>
                          <a:latin typeface="Malgun Gothic"/>
                          <a:ea typeface="Malgun Gothic"/>
                          <a:cs typeface="Malgun Gothic"/>
                        </a:rPr>
                        <a:t>지급합니다.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1">
                          <a:solidFill>
                            <a:srgbClr val="1D2433"/>
                          </a:solidFill>
                          <a:latin typeface="Malgun Gothic"/>
                          <a:ea typeface="Malgun Gothic"/>
                          <a:cs typeface="Malgun Gothic"/>
                        </a:rPr>
                        <a:t>노트북 교체·반납은 어떻게 하나요? (FAQ-018)</a:t>
                      </a:r>
                    </a:p>
                  </a:txBody>
                  <a:tcPr marL="76200" marR="76200" marT="63500" marB="63500" anchor="t">
                    <a:solidFill>
                      <a:srgbClr val="ECEFF2"/>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업무용 PC 교체 주기는 지급일로부터 3년입니다. 개발 직군은 macOS/Windows 중 선택, 그 외 직군은 Windows가 기본입니다.</a:t>
                      </a:r>
                    </a:p>
                    <a:p>
                      <a:pPr algn="l">
                        <a:lnSpc>
                          <a:spcPts val="1300"/>
                        </a:lnSpc>
                        <a:spcBef>
                          <a:spcPts val="0"/>
                        </a:spcBef>
                        <a:spcAft>
                          <a:spcPts val="0"/>
                        </a:spcAft>
                      </a:pPr>
                      <a:r>
                        <a:rPr sz="1000" b="0">
                          <a:solidFill>
                            <a:srgbClr val="1D2433"/>
                          </a:solidFill>
                          <a:latin typeface="Malgun Gothic"/>
                          <a:ea typeface="Malgun Gothic"/>
                          <a:cs typeface="Malgun Gothic"/>
                        </a:rPr>
                        <a:t>반납 시 초기화는 IT에서 진행하므로 그대로 반납하면 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27 / 34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05</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주의사항</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가상 ICT 기업 · IT-HW-002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28 / 34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주의사항</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05. 주의사항</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35000" y="1168400"/>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7" name="TextBox 6"/>
          <p:cNvSpPr txBox="1"/>
          <p:nvPr/>
        </p:nvSpPr>
        <p:spPr>
          <a:xfrm>
            <a:off x="838200" y="1168400"/>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음료를 쏟은 장비를 다시 켜지 않는다.</a:t>
            </a:r>
          </a:p>
        </p:txBody>
      </p:sp>
      <p:sp>
        <p:nvSpPr>
          <p:cNvPr id="8" name="TextBox 7"/>
          <p:cNvSpPr txBox="1"/>
          <p:nvPr/>
        </p:nvSpPr>
        <p:spPr>
          <a:xfrm>
            <a:off x="635000" y="1407541"/>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9" name="TextBox 8"/>
          <p:cNvSpPr txBox="1"/>
          <p:nvPr/>
        </p:nvSpPr>
        <p:spPr>
          <a:xfrm>
            <a:off x="838200" y="1407541"/>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회사 장비를 개인적으로 수리업체에 맡기지 않는다.</a:t>
            </a:r>
          </a:p>
        </p:txBody>
      </p:sp>
      <p:sp>
        <p:nvSpPr>
          <p:cNvPr id="10" name="TextBox 9"/>
          <p:cNvSpPr txBox="1"/>
          <p:nvPr/>
        </p:nvSpPr>
        <p:spPr>
          <a:xfrm>
            <a:off x="635000" y="1646682"/>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1" name="TextBox 10"/>
          <p:cNvSpPr txBox="1"/>
          <p:nvPr/>
        </p:nvSpPr>
        <p:spPr>
          <a:xfrm>
            <a:off x="838200" y="1646682"/>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반납 전에 직접 초기화하지 않는다.</a:t>
            </a:r>
          </a:p>
        </p:txBody>
      </p:sp>
      <p:sp>
        <p:nvSpPr>
          <p:cNvPr id="12" name="TextBox 11"/>
          <p:cNvSpPr txBox="1"/>
          <p:nvPr/>
        </p:nvSpPr>
        <p:spPr>
          <a:xfrm>
            <a:off x="635000" y="1885823"/>
            <a:ext cx="203200" cy="207391"/>
          </a:xfrm>
          <a:prstGeom prst="rect">
            <a:avLst/>
          </a:prstGeom>
          <a:noFill/>
        </p:spPr>
        <p:txBody>
          <a:bodyPr wrap="none" lIns="0" rIns="0" tIns="0" bIns="0" anchor="t">
            <a:spAutoFit/>
          </a:bodyPr>
          <a:lstStyle/>
          <a:p>
            <a:pPr algn="l">
              <a:lnSpc>
                <a:spcPts val="1632"/>
              </a:lnSpc>
              <a:spcBef>
                <a:spcPts val="0"/>
              </a:spcBef>
              <a:spcAft>
                <a:spcPts val="0"/>
              </a:spcAft>
            </a:pPr>
            <a:r>
              <a:rPr sz="1150" b="1">
                <a:solidFill>
                  <a:srgbClr val="1F3A5F"/>
                </a:solidFill>
                <a:latin typeface="Malgun Gothic"/>
                <a:ea typeface="Malgun Gothic"/>
                <a:cs typeface="Malgun Gothic"/>
              </a:rPr>
              <a:t>•</a:t>
            </a:r>
          </a:p>
        </p:txBody>
      </p:sp>
      <p:sp>
        <p:nvSpPr>
          <p:cNvPr id="13" name="TextBox 12"/>
          <p:cNvSpPr txBox="1"/>
          <p:nvPr/>
        </p:nvSpPr>
        <p:spPr>
          <a:xfrm>
            <a:off x="838200" y="1885823"/>
            <a:ext cx="10769600" cy="207391"/>
          </a:xfrm>
          <a:prstGeom prst="rect">
            <a:avLst/>
          </a:prstGeom>
          <a:noFill/>
        </p:spPr>
        <p:txBody>
          <a:bodyPr wrap="none" lIns="0" rIns="0" tIns="0" bIns="0" anchor="t">
            <a:spAutoFit/>
          </a:bodyPr>
          <a:lstStyle/>
          <a:p>
            <a:pPr algn="l">
              <a:lnSpc>
                <a:spcPts val="1632"/>
              </a:lnSpc>
              <a:spcBef>
                <a:spcPts val="0"/>
              </a:spcBef>
              <a:spcAft>
                <a:spcPts val="0"/>
              </a:spcAft>
            </a:pPr>
            <a:r>
              <a:rPr sz="1150" b="0">
                <a:solidFill>
                  <a:srgbClr val="1D2433"/>
                </a:solidFill>
                <a:latin typeface="Malgun Gothic"/>
                <a:ea typeface="Malgun Gothic"/>
                <a:cs typeface="Malgun Gothic"/>
              </a:rPr>
              <a:t>장비를 잃어버렸으면 IT-SEC-003에 따라 바로 신고한다.</a:t>
            </a:r>
          </a:p>
        </p:txBody>
      </p:sp>
      <p:sp>
        <p:nvSpPr>
          <p:cNvPr id="14" name="TextBox 13"/>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15" name="TextBox 14"/>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29 / 34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810260"/>
          </a:xfrm>
          <a:prstGeom prst="rect">
            <a:avLst/>
          </a:prstGeom>
          <a:noFill/>
        </p:spPr>
        <p:txBody>
          <a:bodyPr wrap="none" lIns="0" rIns="0" tIns="0" bIns="0" anchor="t">
            <a:spAutoFit/>
          </a:bodyPr>
          <a:lstStyle/>
          <a:p>
            <a:pPr algn="l">
              <a:lnSpc>
                <a:spcPts val="6380"/>
              </a:lnSpc>
              <a:spcBef>
                <a:spcPts val="0"/>
              </a:spcBef>
              <a:spcAft>
                <a:spcPts val="0"/>
              </a:spcAft>
            </a:pPr>
            <a:r>
              <a:rPr sz="5800" b="1">
                <a:solidFill>
                  <a:srgbClr val="E8590C"/>
                </a:solidFill>
                <a:latin typeface="Malgun Gothic"/>
                <a:ea typeface="Malgun Gothic"/>
                <a:cs typeface="Malgun Gothic"/>
              </a:rPr>
              <a:t>06</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문의처</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가상 ICT 기업 · IT-HW-002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30 / 34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문의처</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06. 문의처</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2209800"/>
        </p:xfrm>
        <a:graphic>
          <a:graphicData uri="http://schemas.openxmlformats.org/drawingml/2006/table">
            <a:tbl>
              <a:tblPr firstRow="0" bandRow="0">
                <a:tableStyleId>{5940675A-B579-460E-94D1-54222C63F5DA}</a:tableStyleId>
              </a:tblPr>
              <a:tblGrid>
                <a:gridCol w="2204720"/>
                <a:gridCol w="3307080"/>
                <a:gridCol w="5511800"/>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창구</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연락처</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이용 기준</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4572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ITssue 챗봇</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IT 포털 상단 [챗봇 문의]</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24시간. 모든 IT 문의의 기본 창구입니다. 챗봇이 해결하지 못하면 확인을 거쳐 담당 팀에</a:t>
                      </a:r>
                    </a:p>
                    <a:p>
                      <a:pPr algn="l">
                        <a:lnSpc>
                          <a:spcPts val="1300"/>
                        </a:lnSpc>
                        <a:spcBef>
                          <a:spcPts val="0"/>
                        </a:spcBef>
                        <a:spcAft>
                          <a:spcPts val="0"/>
                        </a:spcAft>
                      </a:pPr>
                      <a:r>
                        <a:rPr sz="1000" b="0">
                          <a:solidFill>
                            <a:srgbClr val="1D2433"/>
                          </a:solidFill>
                          <a:latin typeface="Malgun Gothic"/>
                          <a:ea typeface="Malgun Gothic"/>
                          <a:cs typeface="Malgun Gothic"/>
                        </a:rPr>
                        <a:t>티켓으로 접수합니다.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헬프데스크 (서비스데스크)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1000 (평일 09:00~18:00)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PC나 챗봇을 쓸 수 없을 때, 여러 사람이 함께 업무를 못 할 때, 본인 확인이 필요한 처리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정보보안팀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내선 1119</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링크 클릭·비밀번호 입력·감염 의심·계정 도용·장비 분실처럼 바로 알려야 할 보안 문제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메신저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 채널</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(챗봇을 쓸 수 없을 때)</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메일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it-helpdesk@ict.example</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일반 IT 문의. 비밀번호·인증번호는 메일로 보내지 않습니다.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처리 상황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사내 메신저 알림</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접수·담당자 배정·처리 완료를 알려 드립니다. 진행 상황은 [내 요청 현황]에서도 봅니다.</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31 / 34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D29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2489200"/>
            <a:ext cx="11023600" cy="558800"/>
          </a:xfrm>
          <a:prstGeom prst="rect">
            <a:avLst/>
          </a:prstGeom>
          <a:noFill/>
        </p:spPr>
        <p:txBody>
          <a:bodyPr wrap="none" lIns="0" rIns="0" tIns="0" bIns="0" anchor="t">
            <a:spAutoFit/>
          </a:bodyPr>
          <a:lstStyle/>
          <a:p>
            <a:pPr algn="l">
              <a:lnSpc>
                <a:spcPts val="4400"/>
              </a:lnSpc>
              <a:spcBef>
                <a:spcPts val="0"/>
              </a:spcBef>
              <a:spcAft>
                <a:spcPts val="0"/>
              </a:spcAft>
            </a:pPr>
            <a:r>
              <a:rPr sz="4000" b="1">
                <a:solidFill>
                  <a:srgbClr val="E8590C"/>
                </a:solidFill>
                <a:latin typeface="Malgun Gothic"/>
                <a:ea typeface="Malgun Gothic"/>
                <a:cs typeface="Malgun Gothic"/>
              </a:rPr>
              <a:t>부록</a:t>
            </a:r>
          </a:p>
        </p:txBody>
      </p:sp>
      <p:sp>
        <p:nvSpPr>
          <p:cNvPr id="4" name="TextBox 3"/>
          <p:cNvSpPr txBox="1"/>
          <p:nvPr/>
        </p:nvSpPr>
        <p:spPr>
          <a:xfrm>
            <a:off x="584200" y="3505200"/>
            <a:ext cx="11023600" cy="518160"/>
          </a:xfrm>
          <a:prstGeom prst="rect">
            <a:avLst/>
          </a:prstGeom>
          <a:noFill/>
        </p:spPr>
        <p:txBody>
          <a:bodyPr wrap="none" lIns="0" rIns="0" tIns="0" bIns="0" anchor="t">
            <a:spAutoFit/>
          </a:bodyPr>
          <a:lstStyle/>
          <a:p>
            <a:pPr algn="l">
              <a:lnSpc>
                <a:spcPts val="4079"/>
              </a:lnSpc>
              <a:spcBef>
                <a:spcPts val="0"/>
              </a:spcBef>
              <a:spcAft>
                <a:spcPts val="0"/>
              </a:spcAft>
            </a:pPr>
            <a:r>
              <a:rPr sz="3400" b="1">
                <a:solidFill>
                  <a:srgbClr val="FFFFFF"/>
                </a:solidFill>
                <a:latin typeface="Malgun Gothic"/>
                <a:ea typeface="Malgun Gothic"/>
                <a:cs typeface="Malgun Gothic"/>
              </a:rPr>
              <a:t>관련 문서 · 용어</a:t>
            </a:r>
          </a:p>
        </p:txBody>
      </p:sp>
      <p:sp>
        <p:nvSpPr>
          <p:cNvPr id="5" name="TextBox 4"/>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AEB6C2"/>
                </a:solidFill>
                <a:latin typeface="Malgun Gothic"/>
                <a:ea typeface="Malgun Gothic"/>
                <a:cs typeface="Malgun Gothic"/>
              </a:rPr>
              <a:t>© 가상 ICT 기업 · IT-HW-002 · 사내 일반</a:t>
            </a:r>
          </a:p>
        </p:txBody>
      </p:sp>
      <p:sp>
        <p:nvSpPr>
          <p:cNvPr id="6" name="TextBox 5"/>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AEB6C2"/>
                </a:solidFill>
                <a:latin typeface="Malgun Gothic"/>
                <a:ea typeface="Malgun Gothic"/>
                <a:cs typeface="Malgun Gothic"/>
              </a:rPr>
              <a:t>32 / 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관련 문서 · 용어</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584200" y="1168400"/>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관련 문서</a:t>
            </a:r>
          </a:p>
        </p:txBody>
      </p:sp>
      <p:graphicFrame>
        <p:nvGraphicFramePr>
          <p:cNvPr id="7" name="Table 6"/>
          <p:cNvGraphicFramePr>
            <a:graphicFrameLocks noGrp="1"/>
          </p:cNvGraphicFramePr>
          <p:nvPr/>
        </p:nvGraphicFramePr>
        <p:xfrm>
          <a:off x="584200" y="1492885"/>
          <a:ext cx="11023600" cy="1460500"/>
        </p:xfrm>
        <a:graphic>
          <a:graphicData uri="http://schemas.openxmlformats.org/drawingml/2006/table">
            <a:tbl>
              <a:tblPr firstRow="0" bandRow="0">
                <a:tableStyleId>{5940675A-B579-460E-94D1-54222C63F5DA}</a:tableStyleId>
              </a:tblPr>
              <a:tblGrid>
                <a:gridCol w="1837267"/>
                <a:gridCol w="4133850"/>
                <a:gridCol w="5052483"/>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 번호</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문서명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이럴 때 봅니다</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IT-HW-001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 PC 기본 장애 대응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 </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IT-ACS-003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퇴사·부서이동 권한 변경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 </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IT-SEC-003</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계정 도용·장비 분실 신고 가이드</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 </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IT-STD-001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IT 서비스 운영 기준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 </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8" name="TextBox 7"/>
          <p:cNvSpPr txBox="1"/>
          <p:nvPr/>
        </p:nvSpPr>
        <p:spPr>
          <a:xfrm>
            <a:off x="584200" y="3054985"/>
            <a:ext cx="11023600" cy="222885"/>
          </a:xfrm>
          <a:prstGeom prst="rect">
            <a:avLst/>
          </a:prstGeom>
          <a:noFill/>
        </p:spPr>
        <p:txBody>
          <a:bodyPr wrap="none" lIns="0" rIns="0" tIns="0" bIns="0" anchor="t">
            <a:spAutoFit/>
          </a:bodyPr>
          <a:lstStyle/>
          <a:p>
            <a:pPr algn="l">
              <a:lnSpc>
                <a:spcPts val="1755"/>
              </a:lnSpc>
              <a:spcBef>
                <a:spcPts val="0"/>
              </a:spcBef>
              <a:spcAft>
                <a:spcPts val="0"/>
              </a:spcAft>
            </a:pPr>
            <a:r>
              <a:rPr sz="1350" b="1">
                <a:solidFill>
                  <a:srgbClr val="B8430E"/>
                </a:solidFill>
                <a:latin typeface="Malgun Gothic"/>
                <a:ea typeface="Malgun Gothic"/>
                <a:cs typeface="Malgun Gothic"/>
              </a:rPr>
              <a:t>용어</a:t>
            </a:r>
          </a:p>
        </p:txBody>
      </p:sp>
      <p:graphicFrame>
        <p:nvGraphicFramePr>
          <p:cNvPr id="9" name="Table 8"/>
          <p:cNvGraphicFramePr>
            <a:graphicFrameLocks noGrp="1"/>
          </p:cNvGraphicFramePr>
          <p:nvPr/>
        </p:nvGraphicFramePr>
        <p:xfrm>
          <a:off x="584200" y="3379470"/>
          <a:ext cx="11023600" cy="876300"/>
        </p:xfrm>
        <a:graphic>
          <a:graphicData uri="http://schemas.openxmlformats.org/drawingml/2006/table">
            <a:tbl>
              <a:tblPr firstRow="0" bandRow="0">
                <a:tableStyleId>{5940675A-B579-460E-94D1-54222C63F5DA}</a:tableStyleId>
              </a:tblPr>
              <a:tblGrid>
                <a:gridCol w="2179301"/>
                <a:gridCol w="8844299"/>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용어</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설명</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대여 노트북</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수리 기간 동안 임시로 쓰는 회사 노트북</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교체 주기</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업무용 PC를 새 장비로 바꿀 수 있는 기간. 지급일로부터 3년</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10" name="TextBox 9"/>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11" name="TextBox 10"/>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33 / 34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AFA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84200" y="562610"/>
            <a:ext cx="8483600" cy="349250"/>
          </a:xfrm>
          <a:prstGeom prst="rect">
            <a:avLst/>
          </a:prstGeom>
          <a:noFill/>
        </p:spPr>
        <p:txBody>
          <a:bodyPr wrap="none" lIns="0" rIns="0" tIns="0" bIns="0" anchor="t">
            <a:spAutoFit/>
          </a:bodyPr>
          <a:lstStyle/>
          <a:p>
            <a:pPr algn="l">
              <a:lnSpc>
                <a:spcPts val="2750"/>
              </a:lnSpc>
              <a:spcBef>
                <a:spcPts val="0"/>
              </a:spcBef>
              <a:spcAft>
                <a:spcPts val="0"/>
              </a:spcAft>
            </a:pPr>
            <a:r>
              <a:rPr sz="2200" b="1">
                <a:solidFill>
                  <a:srgbClr val="1D2433"/>
                </a:solidFill>
                <a:latin typeface="Malgun Gothic"/>
                <a:ea typeface="Malgun Gothic"/>
                <a:cs typeface="Malgun Gothic"/>
              </a:rPr>
              <a:t>개정 이력</a:t>
            </a:r>
          </a:p>
        </p:txBody>
      </p:sp>
      <p:sp>
        <p:nvSpPr>
          <p:cNvPr id="4" name="TextBox 3"/>
          <p:cNvSpPr txBox="1"/>
          <p:nvPr/>
        </p:nvSpPr>
        <p:spPr>
          <a:xfrm>
            <a:off x="8813800" y="635000"/>
            <a:ext cx="2794000" cy="180340"/>
          </a:xfrm>
          <a:prstGeom prst="rect">
            <a:avLst/>
          </a:prstGeom>
          <a:noFill/>
        </p:spPr>
        <p:txBody>
          <a:bodyPr wrap="none" lIns="0" rIns="0" tIns="0" bIns="0" anchor="t">
            <a:spAutoFit/>
          </a:bodyPr>
          <a:lstStyle/>
          <a:p>
            <a:pPr algn="r">
              <a:lnSpc>
                <a:spcPts val="1420"/>
              </a:lnSpc>
              <a:spcBef>
                <a:spcPts val="0"/>
              </a:spcBef>
              <a:spcAft>
                <a:spcPts val="0"/>
              </a:spcAft>
            </a:pPr>
            <a:r>
              <a:rPr sz="1000" b="1">
                <a:solidFill>
                  <a:srgbClr val="1F3A5F"/>
                </a:solidFill>
                <a:latin typeface="Malgun Gothic"/>
                <a:ea typeface="Malgun Gothic"/>
                <a:cs typeface="Malgun Gothic"/>
              </a:rPr>
              <a:t>부록</a:t>
            </a:r>
          </a:p>
        </p:txBody>
      </p:sp>
      <p:cxnSp>
        <p:nvCxnSpPr>
          <p:cNvPr id="5" name="Connector 4"/>
          <p:cNvCxnSpPr/>
          <p:nvPr/>
        </p:nvCxnSpPr>
        <p:spPr>
          <a:xfrm>
            <a:off x="584200" y="939800"/>
            <a:ext cx="11023600" cy="0"/>
          </a:xfrm>
          <a:prstGeom prst="line">
            <a:avLst/>
          </a:prstGeom>
          <a:ln w="20320">
            <a:solidFill>
              <a:srgbClr val="1F3A5F"/>
            </a:solidFill>
          </a:ln>
        </p:spPr>
        <p:style>
          <a:lnRef idx="2">
            <a:schemeClr val="accent1"/>
          </a:lnRef>
          <a:fillRef idx="0">
            <a:schemeClr val="accent1"/>
          </a:fillRef>
          <a:effectRef idx="1">
            <a:schemeClr val="accent1"/>
          </a:effectRef>
          <a:fontRef idx="minor">
            <a:schemeClr val="tx1"/>
          </a:fontRef>
        </p:style>
      </p:cxnSp>
      <p:graphicFrame>
        <p:nvGraphicFramePr>
          <p:cNvPr id="6" name="Table 5"/>
          <p:cNvGraphicFramePr>
            <a:graphicFrameLocks noGrp="1"/>
          </p:cNvGraphicFramePr>
          <p:nvPr/>
        </p:nvGraphicFramePr>
        <p:xfrm>
          <a:off x="584200" y="1168400"/>
          <a:ext cx="11023600" cy="876300"/>
        </p:xfrm>
        <a:graphic>
          <a:graphicData uri="http://schemas.openxmlformats.org/drawingml/2006/table">
            <a:tbl>
              <a:tblPr firstRow="0" bandRow="0">
                <a:tableStyleId>{5940675A-B579-460E-94D1-54222C63F5DA}</a:tableStyleId>
              </a:tblPr>
              <a:tblGrid>
                <a:gridCol w="1002145"/>
                <a:gridCol w="1403004"/>
                <a:gridCol w="1603433"/>
                <a:gridCol w="7015018"/>
              </a:tblGrid>
              <a:tr h="292100">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버전</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개정일</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작성자</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ctr">
                        <a:lnSpc>
                          <a:spcPts val="1300"/>
                        </a:lnSpc>
                        <a:spcBef>
                          <a:spcPts val="0"/>
                        </a:spcBef>
                        <a:spcAft>
                          <a:spcPts val="0"/>
                        </a:spcAft>
                      </a:pPr>
                      <a:r>
                        <a:rPr sz="1000" b="1">
                          <a:solidFill>
                            <a:srgbClr val="FFFFFF"/>
                          </a:solidFill>
                          <a:latin typeface="Malgun Gothic"/>
                          <a:ea typeface="Malgun Gothic"/>
                          <a:cs typeface="Malgun Gothic"/>
                        </a:rPr>
                        <a:t>변경 내용</a:t>
                      </a:r>
                    </a:p>
                  </a:txBody>
                  <a:tcPr marL="76200" marR="76200" marT="63500" marB="63500" anchor="t">
                    <a:solidFill>
                      <a:srgbClr val="1F3A5F"/>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v1.0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2026-03-01</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최초 작성</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r h="292100">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v2.0</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2026-10-16</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엔드포인트지원팀</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c>
                  <a:txBody>
                    <a:bodyPr wrap="none" lIns="0" rIns="0" tIns="0" bIns="0" anchor="t"/>
                    <a:lstStyle/>
                    <a:p>
                      <a:pPr algn="l">
                        <a:lnSpc>
                          <a:spcPts val="1300"/>
                        </a:lnSpc>
                        <a:spcBef>
                          <a:spcPts val="0"/>
                        </a:spcBef>
                        <a:spcAft>
                          <a:spcPts val="0"/>
                        </a:spcAft>
                      </a:pPr>
                      <a:r>
                        <a:rPr sz="1000" b="0">
                          <a:solidFill>
                            <a:srgbClr val="1D2433"/>
                          </a:solidFill>
                          <a:latin typeface="Malgun Gothic"/>
                          <a:ea typeface="Malgun Gothic"/>
                          <a:cs typeface="Malgun Gothic"/>
                        </a:rPr>
                        <a:t>7개 분류 통합 정리본. 문서 양식·열람 등급·용어·연락처를 통일하고 분류 사이의 중복 내용을 한 문서로 정리</a:t>
                      </a:r>
                    </a:p>
                  </a:txBody>
                  <a:tcPr marL="76200" marR="76200" marT="63500" marB="63500" anchor="t">
                    <a:solidFill>
                      <a:srgbClr val="FFFEFA"/>
                    </a:solidFill>
                    <a:lnL w="7620">
                      <a:solidFill>
                        <a:srgbClr val="DBD9D3"/>
                      </a:solidFill>
                    </a:lnL>
                    <a:lnR w="7620">
                      <a:solidFill>
                        <a:srgbClr val="DBD9D3"/>
                      </a:solidFill>
                    </a:lnR>
                    <a:lnT w="7620">
                      <a:solidFill>
                        <a:srgbClr val="DBD9D3"/>
                      </a:solidFill>
                    </a:lnT>
                    <a:lnB w="7620">
                      <a:solidFill>
                        <a:srgbClr val="DBD9D3"/>
                      </a:solidFill>
                    </a:lnB>
                  </a:tcPr>
                </a:tc>
              </a:tr>
            </a:tbl>
          </a:graphicData>
        </a:graphic>
      </p:graphicFrame>
      <p:sp>
        <p:nvSpPr>
          <p:cNvPr id="7" name="TextBox 6"/>
          <p:cNvSpPr txBox="1"/>
          <p:nvPr/>
        </p:nvSpPr>
        <p:spPr>
          <a:xfrm>
            <a:off x="584200" y="6502400"/>
            <a:ext cx="6350000" cy="153289"/>
          </a:xfrm>
          <a:prstGeom prst="rect">
            <a:avLst/>
          </a:prstGeom>
          <a:noFill/>
        </p:spPr>
        <p:txBody>
          <a:bodyPr wrap="none" lIns="0" rIns="0" tIns="0" bIns="0" anchor="t">
            <a:spAutoFit/>
          </a:bodyPr>
          <a:lstStyle/>
          <a:p>
            <a:pPr algn="l">
              <a:lnSpc>
                <a:spcPts val="1207"/>
              </a:lnSpc>
              <a:spcBef>
                <a:spcPts val="0"/>
              </a:spcBef>
              <a:spcAft>
                <a:spcPts val="0"/>
              </a:spcAft>
            </a:pPr>
            <a:r>
              <a:rPr sz="850" b="0">
                <a:solidFill>
                  <a:srgbClr val="5A6270"/>
                </a:solidFill>
                <a:latin typeface="Malgun Gothic"/>
                <a:ea typeface="Malgun Gothic"/>
                <a:cs typeface="Malgun Gothic"/>
              </a:rPr>
              <a:t>© 가상 ICT 기업 · IT-HW-002 · 사내 일반</a:t>
            </a:r>
          </a:p>
        </p:txBody>
      </p:sp>
      <p:sp>
        <p:nvSpPr>
          <p:cNvPr id="8" name="TextBox 7"/>
          <p:cNvSpPr txBox="1"/>
          <p:nvPr/>
        </p:nvSpPr>
        <p:spPr>
          <a:xfrm>
            <a:off x="10337800" y="6502400"/>
            <a:ext cx="1270000" cy="153289"/>
          </a:xfrm>
          <a:prstGeom prst="rect">
            <a:avLst/>
          </a:prstGeom>
          <a:noFill/>
        </p:spPr>
        <p:txBody>
          <a:bodyPr wrap="none" lIns="0" rIns="0" tIns="0" bIns="0" anchor="t">
            <a:spAutoFit/>
          </a:bodyPr>
          <a:lstStyle/>
          <a:p>
            <a:pPr algn="r">
              <a:lnSpc>
                <a:spcPts val="1207"/>
              </a:lnSpc>
              <a:spcBef>
                <a:spcPts val="0"/>
              </a:spcBef>
              <a:spcAft>
                <a:spcPts val="0"/>
              </a:spcAft>
            </a:pPr>
            <a:r>
              <a:rPr sz="850" b="0">
                <a:solidFill>
                  <a:srgbClr val="5A6270"/>
                </a:solidFill>
                <a:latin typeface="Malgun Gothic"/>
                <a:ea typeface="Malgun Gothic"/>
                <a:cs typeface="Malgun Gothic"/>
              </a:rPr>
              <a:t>34 / 34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IT-HW-002 업무 장비 교체·수리 신청 가이드</dc:title>
  <dc:subject>사내 일반 · 전 임직원</dc:subject>
  <dc:creator>엔드포인트지원팀</dc:creator>
  <cp:keywords>노트북에 물을 쏟았어요, 커피, 음료, 침수, 파손, 액정, 수리, 키보드 일부 키가 안 눌려요, USB 포트 인식 불량, 정전, 무상 보증, 대여 노트북, 교체, 교체 주기 3년, 노트북 교체 가능한가요, 고사양 노트북, 반납, PC 반납 절차, 초기화, 신규 입사자 PC 준비, 마우스 고장, 키보드 신청, 비품</cp:keywords>
  <dc:description>generated using python-pptx</dc:description>
  <cp:lastModifiedBy>엔드포인트지원팀</cp:lastModifiedBy>
  <cp:revision>1</cp:revision>
  <dcterms:created xsi:type="dcterms:W3CDTF">2013-01-27T09:14:16Z</dcterms:created>
  <dcterms:modified xsi:type="dcterms:W3CDTF">2013-01-27T09:15:58Z</dcterms:modified>
  <cp:category>사내 일반</cp:category>
</cp:coreProperties>
</file>