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6" r:id="rId11"/>
    <p:sldId id="277" r:id="rId10"/>
    <p:sldId id="278" r:id="rId9"/>
    <p:sldId id="279" r:id="rId8"/>
    <p:sldId id="280" r:id="rId7"/>
    <p:sldId id="281" r:id="rId6"/>
    <p:sldId id="298" r:id="rId26"/>
    <p:sldId id="282" r:id="rId5"/>
    <p:sldId id="283" r:id="rId4"/>
    <p:sldId id="299" r:id="rId25"/>
    <p:sldId id="284" r:id="rId3"/>
    <p:sldId id="285" r:id="rId2"/>
    <p:sldId id="300" r:id="rId24"/>
    <p:sldId id="286" r:id="rId27"/>
    <p:sldId id="287" r:id="rId28"/>
    <p:sldId id="301" r:id="rId23"/>
    <p:sldId id="288" r:id="rId29"/>
    <p:sldId id="289" r:id="rId30"/>
    <p:sldId id="302" r:id="rId22"/>
    <p:sldId id="290" r:id="rId31"/>
    <p:sldId id="291" r:id="rId32"/>
    <p:sldId id="292" r:id="rId33"/>
    <p:sldId id="293" r:id="rId34"/>
    <p:sldId id="303" r:id="rId21"/>
    <p:sldId id="294" r:id="rId35"/>
    <p:sldId id="295" r:id="rId36"/>
    <p:sldId id="296" r:id="rId37"/>
    <p:sldId id="297" r:id="rId38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·개요" id="{d1c9fe69-f8fa-47c1-0b43-c16b46c1709f}">
          <p14:sldIdLst>
            <p14:sldId id="256"/>
            <p14:sldId id="257"/>
            <p14:sldId id="258"/>
            <p14:sldId id="259"/>
          </p14:sldIdLst>
        </p14:section>
        <p14:section name="3.1 증상" id="{43a5a403-6d74-43a9-58bd-7bc4a15afd61}">
          <p14:sldIdLst>
            <p14:sldId id="260"/>
            <p14:sldId id="261"/>
            <p14:sldId id="262"/>
          </p14:sldIdLst>
        </p14:section>
        <p14:section name="FAQ·문의처" id="{bbf332e7-66a9-14f5-fb28-3b7f1807f14c}">
          <p14:sldIdLst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1.xml"/><Relationship Id="rId3" Type="http://schemas.openxmlformats.org/officeDocument/2006/relationships/slide" Target="slides/slide10.xml"/><Relationship Id="rId4" Type="http://schemas.openxmlformats.org/officeDocument/2006/relationships/slide" Target="slides/slide9.xml"/><Relationship Id="rId5" Type="http://schemas.openxmlformats.org/officeDocument/2006/relationships/slide" Target="slides/slide8.xml"/><Relationship Id="rId6" Type="http://schemas.openxmlformats.org/officeDocument/2006/relationships/slide" Target="slides/slide6.xml"/><Relationship Id="rId7" Type="http://schemas.openxmlformats.org/officeDocument/2006/relationships/slide" Target="slides/slide5.xml"/><Relationship Id="rId8" Type="http://schemas.openxmlformats.org/officeDocument/2006/relationships/slide" Target="slides/slide4.xml"/><Relationship Id="rId9" Type="http://schemas.openxmlformats.org/officeDocument/2006/relationships/slide" Target="slides/slide3.xml"/><Relationship Id="rId10" Type="http://schemas.openxmlformats.org/officeDocument/2006/relationships/slide" Target="slides/slide2.xml"/><Relationship Id="rId11" Type="http://schemas.openxmlformats.org/officeDocument/2006/relationships/slide" Target="slides/slide1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21" Type="http://schemas.openxmlformats.org/officeDocument/2006/relationships/slide" Target="slides/slide28.xml"/><Relationship Id="rId22" Type="http://schemas.openxmlformats.org/officeDocument/2006/relationships/slide" Target="slides/slide27.xml"/><Relationship Id="rId23" Type="http://schemas.openxmlformats.org/officeDocument/2006/relationships/slide" Target="slides/slide26.xml"/><Relationship Id="rId24" Type="http://schemas.openxmlformats.org/officeDocument/2006/relationships/slide" Target="slides/slide25.xml"/><Relationship Id="rId25" Type="http://schemas.openxmlformats.org/officeDocument/2006/relationships/slide" Target="slides/slide24.xml"/><Relationship Id="rId26" Type="http://schemas.openxmlformats.org/officeDocument/2006/relationships/slide" Target="slides/slide7.xml"/><Relationship Id="rId27" Type="http://schemas.openxmlformats.org/officeDocument/2006/relationships/slide" Target="slides/slide12.xml"/><Relationship Id="rId28" Type="http://schemas.openxmlformats.org/officeDocument/2006/relationships/slide" Target="slides/slide13.xml"/><Relationship Id="rId29" Type="http://schemas.openxmlformats.org/officeDocument/2006/relationships/slide" Target="slides/slide14.xml"/><Relationship Id="rId30" Type="http://schemas.openxmlformats.org/officeDocument/2006/relationships/slide" Target="slides/slide15.xml"/><Relationship Id="rId31" Type="http://schemas.openxmlformats.org/officeDocument/2006/relationships/slide" Target="slides/slide16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5" Type="http://schemas.openxmlformats.org/officeDocument/2006/relationships/slide" Target="slides/slide20.xml"/><Relationship Id="rId36" Type="http://schemas.openxmlformats.org/officeDocument/2006/relationships/slide" Target="slides/slide21.xml"/><Relationship Id="rId37" Type="http://schemas.openxmlformats.org/officeDocument/2006/relationships/slide" Target="slides/slide22.xml"/><Relationship Id="rId38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IT-HW-003  프린터·복합기 이용 가이드  |  v1.0  |  사내 공개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프린터·복합기 이용 가이드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97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46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IT 가이드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6974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0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IT-HW-003   |   v1.0   |   시행일 2026-03-01   |   사내 공개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108960"/>
                <a:gridCol w="1005840"/>
                <a:gridCol w="3108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문서 번호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IT-HW-003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 HW·업무 PC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문서 유형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장애 대응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 임직원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보안 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사내 공개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 부서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시행일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승인자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 팀장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담당자 매뉴얼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IT-HW-003-M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포함 시나리오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HW-07, HW-08, HW-09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661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키워드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프린터 인쇄가 안 돼요, 인쇄 대기열에서 안 넘어가요, 복합기 인쇄 불가, 프린터 목록에 안 보입니다, 오류 E-xx, 프린터 설치, 층별 프린터, 소프트웨어 센터 프린터 설치, 스캔, 메일로 스캔, scan to email, 스캔한 파일이 메일로 안 와요, 스캔 폴더 저장 불가, 경로를 찾을 수 없음, 토너, 토너 교체 요청, 용지 걸림, 급지 롤러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목적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층별 공용 복합기로 인쇄·스캔이 안 될 때 직접 조치하는 방법, PC에 복합기를 설치하는 방법, 토너·용지 걸림 점검을 요청하는 방법을 안내한다.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57200" y="2834640"/>
            <a:ext cx="4023360" cy="1783080"/>
          </a:xfrm>
          <a:prstGeom prst="roundRect">
            <a:avLst>
              <a:gd name="adj" fmla="val 410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94360" y="2926080"/>
            <a:ext cx="3749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대상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본사·연구동의 층별 공용 복합기와 회사 지급 PC에 해당한다. 개인 프린터는 대상이 아니다.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환경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417320"/>
          <a:ext cx="40233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8346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도구·시스템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복합기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OS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Windows, macOS (개발 직군 선택)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먼저 확인할 사항 · 3. 증상별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확인할 사항 · 증상 목록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3291840" cy="3566160"/>
          </a:xfrm>
          <a:prstGeom prst="roundRect">
            <a:avLst>
              <a:gd name="adj" fmla="val 2222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먼저 확인할 사항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복합기 화면에 오류 표시가 있는지 먼저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복합기 위치(건물·층)를 확인해 둔다.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토너는 층별 비품함에 비치되어 있다.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층 복합기가 동시에 안 되면 IT 헬프데스크(내선 1000)로 전화한다.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3931920" y="10515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 목록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0" y="1417320"/>
          <a:ext cx="475488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874520"/>
                <a:gridCol w="868680"/>
                <a:gridCol w="868680"/>
                <a:gridCol w="731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번호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문의 유형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처리 주체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 부서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인쇄를 보냈는데 대기열에만 있고 출력되지 않음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HW-07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 직접 조치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복합기가 프린터 목록에 보이지 않음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HW-07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 직접 조치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복합기 화면에 '오류 E-xx'가 뜨고 아무도 인쇄할 수 없음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HW-07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처리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'메일로 스캔'한 파일이 메일로 오지 않음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HW-09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처리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스캔 후 공유폴더에 저장하면 '경로를 찾을 수 없음'이 나옴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HW-09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처리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3.6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소프트웨어 센터에서 층별 복합기 설치하기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HW-07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 직접 조치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3.7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토너 교체·용지 걸림 반복 시 복합기 점검 요청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HW-08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처리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인쇄를 보냈는데 대기열에만 있고 출력되지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HW-07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직접 조치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복합기로 인쇄를 보냈는데 대기열에만 있고 나오지 않는다.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PC의 인쇄 관리 서비스(스풀러)가 멈춤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인쇄를 보냈는데 대기열에만 있고 출력되지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214884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복합기 화면에 오류가 있는지 확인합니다.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[설정] &gt; [프린터 및 스캐너]에서 해당 복합기의 인쇄 대기열을 열어 문서를 모두 취소합니다.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PC를 재부팅한 뒤 다시 인쇄합니다.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57200" y="3291840"/>
            <a:ext cx="49377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A949E"/>
            </a:solidFill>
            <a:prstDash val="dash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457200" y="42519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인쇄 대기열 창. [프린터] &gt; [모든 문서 취소] 위치를 표시한다.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577840" y="1051560"/>
            <a:ext cx="3108960" cy="760698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5715000" y="1143000"/>
            <a:ext cx="2834640" cy="577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보낸 문서가 출력되면 해결된 것이다.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577840" y="1903698"/>
            <a:ext cx="3108960" cy="14747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5715000" y="1995138"/>
            <a:ext cx="2834640" cy="12918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재부팅 후에도 대기열에서 넘어가지 않으면 헬프데스크에 문의한다. 담당자가 원격으로 인쇄 서비스를 다시 시작한다.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복합기 화면에 오류 코드가 있으면 3.3을 본다.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층에서 동시에 인쇄가 안 되면 IT 헬프데스크 내선 1000으로 바로 전화한다.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577840" y="3469903"/>
            <a:ext cx="3108960" cy="114781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 txBox="1"/>
          <p:nvPr/>
        </p:nvSpPr>
        <p:spPr>
          <a:xfrm>
            <a:off x="5715000" y="3561343"/>
            <a:ext cx="2834640" cy="964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사번, 복합기 위치 (건물·층), 인쇄한 시각, 복합기 화면 표시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FAQ-019</a:t>
            </a:r>
            <a:endParaRPr lang="en-US" sz="1000" dirty="0"/>
          </a:p>
        </p:txBody>
      </p:sp>
      <p:sp>
        <p:nvSpPr>
          <p:cNvPr id="1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7" name="Picture 16" descr="그림 3.1. 인쇄 대기열 창. [프린터] &gt; [모든 문서 취소] 위치를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6511" y="3337560"/>
            <a:ext cx="1899138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인쇄를 보냈는데 대기열에만 있고 출력되지 않음</a:t>
            </a:r>
            <a:endParaRPr lang="en-US" sz="2000" dirty="0"/>
          </a:p>
        </p:txBody>
      </p:sp>
      <p:pic>
        <p:nvPicPr>
          <p:cNvPr id="5" name="Picture 4" descr="그림 3.1. 인쇄 대기열 창. [프린터] &gt; [모든 문서 취소] 위치를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인쇄 대기열 창. [프린터] &gt; [모든 문서 취소] 위치를 표시한다.</a:t>
            </a:r>
            <a:endParaRPr lang="en-US" sz="950" dirty="0"/>
          </a:p>
        </p:txBody>
      </p:sp>
      <p:sp>
        <p:nvSpPr>
          <p:cNvPr id="1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복합기가 프린터 목록에 보이지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HW-07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직접 조치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복합기가 PC의 프린터 목록에 보이지 않는다.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전에 쓰던 복합기로 인쇄가 되지 않는다.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복합기의 네트워크 주소(IP)가 바뀌어 PC에 등록된 연결이 끊김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복합기가 프린터 목록에 보이지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[설정] &gt; [프린터 및 스캐너]에서 해당 복합기를 제거합니다.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3.6에 따라 소프트웨어 센터에서 층별 복합기를 다시 설치합니다.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테스트 페이지를 인쇄합니다.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1119467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9365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프린터 목록에 복합기가 보이고 인쇄되면 해결된 것이다.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262467"/>
            <a:ext cx="3108960" cy="1099170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353907"/>
            <a:ext cx="2834640" cy="916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설치해도 목록에 없으면 헬프데스크에 문의한다.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453077"/>
            <a:ext cx="3108960" cy="1164642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544517"/>
            <a:ext cx="2834640" cy="981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사번, 복합기 위치, 이미 해 본 조치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FAQ-019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3.3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복합기 화면에 '오류 E-xx'가 뜨고 아무도 인쇄할 수 없음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HW-07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처리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복합기 화면에 '오류 E-xx'가 뜨고 아무도 인쇄할 수 없다.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"오류 E-xx" (xx는 오류 번호)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복합기 하드웨어 오류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3.3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복합기 화면에 '오류 E-xx'가 뜨고 아무도 인쇄할 수 없음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복합기 화면의 오류 코드를 적어 둡니다.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복합기 전원을 껐다가 1분 뒤 다시 켭니다.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오류가 나면 복합기 위치와 오류 코드를 적어 헬프데스크에 신고합니다. 담당자가 유지보수 업체 출동을 요청합니다.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복구될 때까지 가까운 층의 다른 복합기를 씁니다.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1190908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1008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복합기 오류 표시가 사라지고 인쇄되면 해결된 것이다.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333908"/>
            <a:ext cx="3108960" cy="95340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425348"/>
            <a:ext cx="2834640" cy="7705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업체 수리 일정은 헬프데스크에서 알려 준다.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378753"/>
            <a:ext cx="3108960" cy="123896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470193"/>
            <a:ext cx="2834640" cy="1056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복합기 위치, 오류 코드, 발생 시각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FAQ-019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3.4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'메일로 스캔'한 파일이 메일로 오지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HW-09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처리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복합기에서 '메일로 스캔'을 했는데 메일이 오지 않는다.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복합기의 메일 발송 계정 문제. 사용자 조치로는 해결되지 않는다.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3.4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'메일로 스캔'한 파일이 메일로 오지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메일함의 스팸(격리)함을 먼저 확인합니다.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메일 주소를 정확히 입력했는지 확인합니다.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그래도 오지 않으면 복합기 번호(위치)와 스캔한 시각을 적어 헬프데스크에 신고합니다. 담당자가 복합기 메일 발송 설정을 고칩니다.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1056111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8732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스캔한 파일이 메일로 오면 해결된 것이다.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199111"/>
            <a:ext cx="3108960" cy="10369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290551"/>
            <a:ext cx="2834640" cy="854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급한 문서는 공유폴더로 스캔하거나 다른 층 복합기를 쓴다.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327516"/>
            <a:ext cx="3108960" cy="1290203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418956"/>
            <a:ext cx="2834640" cy="1107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복합기 번호·위치, 스캔한 시각, 받는 메일 주소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FAQ-021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3.5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스캔 후 공유폴더에 저장하면 '경로를 찾을 수 없음'이 나옴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HW-09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처리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스캔한 뒤 공유폴더에 저장하면 '경로를 찾을 수 없음'이 나온다.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"경로를 찾을 수 없음"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공유폴더 경로가 바뀌었는데 복합기에 예전 경로가 등록되어 있음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3.5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스캔 후 공유폴더에 저장하면 '경로를 찾을 수 없음'이 나옴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저장하려는 공유폴더 경로가 바뀌었는지 팀에 확인합니다.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복합기 위치와 새 경로를 적어 헬프데스크에 요청합니다. 담당자가 복합기 스캔 경로를 다시 설정합니다.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급하면 '메일로 스캔'을 씁니다.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1119467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9365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스캔 파일이 공유폴더에 저장되면 해결된 것이다.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262467"/>
            <a:ext cx="3108960" cy="1099170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353907"/>
            <a:ext cx="2834640" cy="916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공유 드라이브 자체가 열리지 않으면 IT-SYS-006을 본다.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453077"/>
            <a:ext cx="3108960" cy="1164642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544517"/>
            <a:ext cx="2834640" cy="981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복합기 위치, 공유폴더 경로, 화면 메시지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FAQ-021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3.6 준비와 확인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소프트웨어 센터에서 층별 복합기 설치하기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HW-07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029968" y="987552"/>
            <a:ext cx="329184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029968" y="98755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직접 조치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431536" y="987552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431536" y="98755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095744" y="987552"/>
            <a:ext cx="159105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7095744" y="987552"/>
            <a:ext cx="1591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FAQ-019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1528995"/>
          </a:xfrm>
          <a:prstGeom prst="roundRect">
            <a:avLst>
              <a:gd name="adj" fmla="val 470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13461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사용합니다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자리를 옮겼거나 새 PC를 받아 근처 복합기를 써야 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복합기가 프린터 목록에 없다.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3037755"/>
            <a:ext cx="4023360" cy="1579964"/>
          </a:xfrm>
          <a:prstGeom prst="roundRect">
            <a:avLst>
              <a:gd name="adj" fmla="val 470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594360" y="3129195"/>
            <a:ext cx="3749040" cy="1397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준비할 것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지급 PC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사내망 연결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복합기의 위치 (건물·층)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663440" y="1417320"/>
            <a:ext cx="4023360" cy="1328552"/>
          </a:xfrm>
          <a:prstGeom prst="roundRect">
            <a:avLst>
              <a:gd name="adj" fmla="val 4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 txBox="1"/>
          <p:nvPr/>
        </p:nvSpPr>
        <p:spPr>
          <a:xfrm>
            <a:off x="4800600" y="1508760"/>
            <a:ext cx="3749040" cy="1145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프린터 목록에 복합기가 보이고 테스트 페이지가 출력되면 완료된 것이다.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663440" y="2837312"/>
            <a:ext cx="4023360" cy="1780407"/>
          </a:xfrm>
          <a:prstGeom prst="roundRect">
            <a:avLst>
              <a:gd name="adj" fmla="val 571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 txBox="1"/>
          <p:nvPr/>
        </p:nvSpPr>
        <p:spPr>
          <a:xfrm>
            <a:off x="4800600" y="2928752"/>
            <a:ext cx="3749040" cy="15975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될 때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후 인쇄가 안 되면 3.1을 본다.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원하는 층 복합기가 목록에 없으면 헬프데스크에 문의한다.</a:t>
            </a:r>
            <a:endParaRPr lang="en-US" sz="1200" dirty="0"/>
          </a:p>
        </p:txBody>
      </p:sp>
      <p:sp>
        <p:nvSpPr>
          <p:cNvPr id="2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3.6 따라하기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소프트웨어 센터에서 층별 복합기 설치하기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5120640" cy="315468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8A949E"/>
            </a:solidFill>
            <a:prstDash val="dash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457200" y="42519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3.6-1. </a:t>
            </a:r>
            <a:pPr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소프트웨어 센터 [프린터 설치] 화면. 건물·층 목록과 [설치] 버튼 위치를 표시한다.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5760720" y="1051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따라하기</a:t>
            </a:r>
            <a:endParaRPr lang="en-US" sz="1300" dirty="0"/>
          </a:p>
        </p:txBody>
      </p:sp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5760720" y="1463040"/>
            <a:ext cx="329184" cy="329184"/>
          </a:xfrm>
          <a:prstGeom prst="ellipse">
            <a:avLst/>
          </a:prstGeom>
          <a:solidFill>
            <a:srgbClr val="D9661F"/>
          </a:solidFill>
          <a:ln w="12700">
            <a:solidFill>
              <a:srgbClr val="D9661F"/>
            </a:solidFill>
            <a:prstDash val="solid"/>
          </a:ln>
        </p:spPr>
        <p:txBody>
          <a:bodyPr/>
          <a:p/>
        </p:txBody>
      </p:sp>
      <p:sp>
        <p:nvSpPr>
          <p:cNvPr id="11" name="Text 7"/>
          <p:cNvSpPr txBox="1"/>
          <p:nvPr/>
        </p:nvSpPr>
        <p:spPr>
          <a:xfrm>
            <a:off x="5760720" y="1463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6217920" y="148132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소프트웨어 센터를 실행합니다.</a:t>
            </a:r>
            <a:endParaRPr lang="en-US" sz="1050" dirty="0"/>
          </a:p>
        </p:txBody>
      </p:sp>
      <p:sp>
        <p:nvSpPr>
          <p:cNvPr id="13" name="Shape 6"/>
          <p:cNvSpPr/>
          <p:nvPr/>
        </p:nvSpPr>
        <p:spPr>
          <a:xfrm>
            <a:off x="5760720" y="1883664"/>
            <a:ext cx="329184" cy="329184"/>
          </a:xfrm>
          <a:prstGeom prst="ellipse">
            <a:avLst/>
          </a:prstGeom>
          <a:solidFill>
            <a:srgbClr val="D9661F"/>
          </a:solidFill>
          <a:ln w="12700">
            <a:solidFill>
              <a:srgbClr val="D9661F"/>
            </a:solidFill>
            <a:prstDash val="solid"/>
          </a:ln>
        </p:spPr>
        <p:txBody>
          <a:bodyPr/>
          <a:p/>
        </p:txBody>
      </p:sp>
      <p:sp>
        <p:nvSpPr>
          <p:cNvPr id="14" name="Text 7"/>
          <p:cNvSpPr txBox="1"/>
          <p:nvPr/>
        </p:nvSpPr>
        <p:spPr>
          <a:xfrm>
            <a:off x="5760720" y="18836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8"/>
          <p:cNvSpPr txBox="1"/>
          <p:nvPr/>
        </p:nvSpPr>
        <p:spPr>
          <a:xfrm>
            <a:off x="6217920" y="1901952"/>
            <a:ext cx="2468880" cy="3489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[프린터 설치]에서 건물·층에 맞는 복합기를 선택합니다.</a:t>
            </a:r>
            <a:endParaRPr lang="en-US" sz="1050" dirty="0"/>
          </a:p>
        </p:txBody>
      </p:sp>
      <p:sp>
        <p:nvSpPr>
          <p:cNvPr id="16" name="Shape 6"/>
          <p:cNvSpPr/>
          <p:nvPr/>
        </p:nvSpPr>
        <p:spPr>
          <a:xfrm>
            <a:off x="5760720" y="2324100"/>
            <a:ext cx="329184" cy="329184"/>
          </a:xfrm>
          <a:prstGeom prst="ellipse">
            <a:avLst/>
          </a:prstGeom>
          <a:solidFill>
            <a:srgbClr val="D9661F"/>
          </a:solidFill>
          <a:ln w="12700">
            <a:solidFill>
              <a:srgbClr val="D9661F"/>
            </a:solidFill>
            <a:prstDash val="solid"/>
          </a:ln>
        </p:spPr>
        <p:txBody>
          <a:bodyPr/>
          <a:p/>
        </p:txBody>
      </p:sp>
      <p:sp>
        <p:nvSpPr>
          <p:cNvPr id="17" name="Text 7"/>
          <p:cNvSpPr txBox="1"/>
          <p:nvPr/>
        </p:nvSpPr>
        <p:spPr>
          <a:xfrm>
            <a:off x="5760720" y="23241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8"/>
          <p:cNvSpPr txBox="1"/>
          <p:nvPr/>
        </p:nvSpPr>
        <p:spPr>
          <a:xfrm>
            <a:off x="6217920" y="2342388"/>
            <a:ext cx="2468880" cy="3489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[설치]를 누르고, 끝나면 테스트 페이지를 인쇄합니다.</a:t>
            </a:r>
            <a:endParaRPr lang="en-US" sz="1050" dirty="0"/>
          </a:p>
        </p:txBody>
      </p:sp>
      <p:pic>
        <p:nvPicPr>
          <p:cNvPr id="19" name="Picture 18" descr="그림 3.6-1. 소프트웨어 센터 [프린터 설치] 화면. 건물·층 목록과 [설치] 버튼 위치를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39240"/>
            <a:ext cx="5029200" cy="217932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3.7 신청 전 준비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토너 교체·용지 걸림 반복 시 복합기 점검 요청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HW-08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029968" y="987552"/>
            <a:ext cx="329184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029968" y="98755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처리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431536" y="987552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431536" y="98755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095744" y="987552"/>
            <a:ext cx="159105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7095744" y="987552"/>
            <a:ext cx="1591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기간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후 1영업일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2011304"/>
          </a:xfrm>
          <a:prstGeom prst="roundRect">
            <a:avLst>
              <a:gd name="adj" fmla="val 470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1828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신청합니다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복합기 토너가 떨어졌는데 층별 비품함에 토너가 없거나 교체가 어렵다.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복합기에 걸린 용지를 빼도 계속 걸림 표시가 난다.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3520064"/>
            <a:ext cx="4023360" cy="1097655"/>
          </a:xfrm>
          <a:prstGeom prst="roundRect">
            <a:avLst>
              <a:gd name="adj" fmla="val 470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594360" y="3611504"/>
            <a:ext cx="3749040" cy="91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신청 대상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복합기를 쓰는 임직원 누구나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663440" y="1417320"/>
            <a:ext cx="4023360" cy="1300636"/>
          </a:xfrm>
          <a:prstGeom prst="roundRect">
            <a:avLst>
              <a:gd name="adj" fmla="val 4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 txBox="1"/>
          <p:nvPr/>
        </p:nvSpPr>
        <p:spPr>
          <a:xfrm>
            <a:off x="4800600" y="1508760"/>
            <a:ext cx="3749040" cy="1117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준비할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복합기 위치 (건물·층)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토너 색상 또는 걸림 증상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663440" y="2809396"/>
            <a:ext cx="4023360" cy="1808323"/>
          </a:xfrm>
          <a:prstGeom prst="roundRect">
            <a:avLst>
              <a:gd name="adj" fmla="val 571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 txBox="1"/>
          <p:nvPr/>
        </p:nvSpPr>
        <p:spPr>
          <a:xfrm>
            <a:off x="4800600" y="2900836"/>
            <a:ext cx="3749040" cy="1625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신청 번호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복합기 위치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내용</a:t>
            </a:r>
            <a:endParaRPr lang="en-US" sz="105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5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FAQ-020</a:t>
            </a:r>
            <a:endParaRPr lang="en-US" sz="1050" dirty="0"/>
          </a:p>
        </p:txBody>
      </p:sp>
      <p:sp>
        <p:nvSpPr>
          <p:cNvPr id="2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3.7 신청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토너 교체·용지 걸림 반복 시 복합기 점검 요청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신청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비품함에 토너가 있으면 복합기 화면 안내에 따라 직접 교체합니다.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비품함에 없거나 용지 걸림이 반복되면 그룹웨어 &gt; IT 요청 &gt; 복합기 요청에 위치와 증상을 적어 제출합니다. 급하면 IT 헬프데스크(내선 1000)로 전화합니다.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롤러를 교체하기 전까지는 다른 용지함(트레이)을 씁니다.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987684"/>
          </a:xfrm>
          <a:prstGeom prst="roundRect">
            <a:avLst>
              <a:gd name="adj" fmla="val 5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804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 없음 (접수 후 서비스데스크 처리)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130684"/>
            <a:ext cx="3108960" cy="1418969"/>
          </a:xfrm>
          <a:prstGeom prst="roundRect">
            <a:avLst>
              <a:gd name="adj" fmla="val 8000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222124"/>
            <a:ext cx="2834640" cy="12360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기간과 결과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후 1영업일 안에 토너를 교체하거나 급지 롤러 교체를 요청한다. 롤러 교체 일정은 헬프데스크에서 알려 준다.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641093"/>
            <a:ext cx="3108960" cy="976626"/>
          </a:xfrm>
          <a:prstGeom prst="roundRect">
            <a:avLst>
              <a:gd name="adj" fmla="val 7273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732533"/>
            <a:ext cx="2834640" cy="7937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반려되는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프린터 소모품은 대상이 아니다.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자주 묻는 질문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자주 묻는 질문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200400"/>
          </a:xfrm>
          <a:prstGeom prst="roundRect">
            <a:avLst>
              <a:gd name="adj" fmla="val 432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6128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Q.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프린터 인쇄가 안 돼요. (FAQ-019)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복합기 화면에 오류가 있는지 확인하고, PC에서 인쇄 대기열을 비운 뒤 다시 인쇄하세요. 복합기가 목록에 없으면 소프트웨어 센터 &gt; 프린터 설치에서 층별 복합기를 추가하세요.</a:t>
            </a:r>
            <a:endParaRPr lang="en-US" sz="1200" dirty="0"/>
          </a:p>
        </p:txBody>
      </p:sp>
      <p:sp>
        <p:nvSpPr>
          <p:cNvPr id="7" name="Shape 2"/>
          <p:cNvSpPr/>
          <p:nvPr/>
        </p:nvSpPr>
        <p:spPr>
          <a:xfrm>
            <a:off x="4663440" y="1051560"/>
            <a:ext cx="4023360" cy="3200400"/>
          </a:xfrm>
          <a:prstGeom prst="roundRect">
            <a:avLst>
              <a:gd name="adj" fmla="val 432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3"/>
          <p:cNvSpPr txBox="1"/>
          <p:nvPr/>
        </p:nvSpPr>
        <p:spPr>
          <a:xfrm>
            <a:off x="4800600" y="116128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Q.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토너가 떨어졌거나 용지가 걸렸어요. (FAQ-020)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토너는 층별 비품함에 비치되어 있습니다. 용지 걸림은 복합기 화면 안내에 따라 제거하고, 반복되면 서비스데스크에 신고하세요.</a:t>
            </a:r>
            <a:endParaRPr lang="en-US" sz="1200" dirty="0"/>
          </a:p>
        </p:txBody>
      </p:sp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자주 묻는 질문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자주 묻는 질문 (계속)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200400"/>
          </a:xfrm>
          <a:prstGeom prst="roundRect">
            <a:avLst>
              <a:gd name="adj" fmla="val 432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6128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Q.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스캔한 파일이 메일로 오지 않아요. (FAQ-021)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스팸함을 먼저 확인하세요. 계속 오지 않으면 복합기 번호와 시각을 적어 신고해 주세요.</a:t>
            </a:r>
            <a:endParaRPr lang="en-US" sz="1200" dirty="0"/>
          </a:p>
        </p:txBody>
      </p:sp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주의사항 · 6. 문의처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주의사항 · 문의처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3474720" cy="3566160"/>
          </a:xfrm>
          <a:prstGeom prst="roundRect">
            <a:avLst>
              <a:gd name="adj" fmla="val 2105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2004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주의사항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기밀 문서는 출력 즉시 가져간다.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걸린 용지를 뺄 때는 복합기 화면 안내를 따르고 안쪽 부품을 억지로 당기지 않는다.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오류가 난 복합기를 여러 번 껐다 켜지 않는다.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114800" y="1051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문의처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1417320"/>
          <a:ext cx="45720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474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 부서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접수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헬프데스크 내선 1000 (평일 09:00~18:00)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메신저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#it-helpdesk 채널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it-helpdesk@hanwha-ict.example (가상)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문서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IT-SW-001 업무용 SW 설치 가이드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IT-SYS-004 메일 이용 장애 대응 가이드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IT-SYS-006 공유 드라이브·파일 복구 가이드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IT-STD-001 IT 서비스 운영 기준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051560"/>
          <a:ext cx="4023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용어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인쇄 대기열(스풀러)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인쇄할 문서를 순서대로 모아 두는 PC의 인쇄 관리 기능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메일로 스캔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스캔한 파일을 메일로 바로 보내는 복합기 기능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급지 롤러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용지함에서 종이를 끌어오는 복합기 부품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182880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개정일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 내용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 작성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복합기가 프린터 목록에 보이지 않음</a:t>
            </a:r>
            <a:endParaRPr lang="en-US" sz="2000" dirty="0"/>
          </a:p>
        </p:txBody>
      </p:sp>
      <p:pic>
        <p:nvPicPr>
          <p:cNvPr id="5" name="Picture 4" descr="그림 3.2. PC [설정] &gt; [프린터 및 스캐너]의 복합기 화면. [제거] 버튼 위치를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[설정] &gt; [프린터 및 스캐너]의 복합기 화면. [제거] 버튼 위치를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3.3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복합기 화면에 '오류 E-xx'가 뜨고 아무도 인쇄할 수 없음</a:t>
            </a:r>
            <a:endParaRPr lang="en-US" sz="2000" dirty="0"/>
          </a:p>
        </p:txBody>
      </p:sp>
      <p:pic>
        <p:nvPicPr>
          <p:cNvPr id="5" name="Picture 4" descr="그림 3.3. 복합기 오류 화면 예시와 전원 스위치. 적어 둘 오류 코드 위치를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복합기 오류 화면 예시와 전원 스위치. 적어 둘 오류 코드 위치를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3.4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'메일로 스캔'한 파일이 메일로 오지 않음</a:t>
            </a:r>
            <a:endParaRPr lang="en-US" sz="2000" dirty="0"/>
          </a:p>
        </p:txBody>
      </p:sp>
      <p:pic>
        <p:nvPicPr>
          <p:cNvPr id="5" name="Picture 4" descr="그림 3.4. 복합기 '메일로 스캔' 화면과 메일함. 받는 메일 주소와 스팸(격리)함 위치를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복합기 '메일로 스캔' 화면과 메일함. 받는 메일 주소와 스팸(격리)함 위치를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3.5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스캔 후 공유폴더에 저장하면 '경로를 찾을 수 없음'이 나옴</a:t>
            </a:r>
            <a:endParaRPr lang="en-US" sz="2000" dirty="0"/>
          </a:p>
        </p:txBody>
      </p:sp>
      <p:pic>
        <p:nvPicPr>
          <p:cNvPr id="5" name="Picture 4" descr="그림 3.5. 복합기 공유폴더 저장 오류 화면 예시. '경로를 찾을 수 없음' 메시지를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3.5.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복합기 공유폴더 저장 오류 화면 예시. '경로를 찾을 수 없음' 메시지를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3.7 화면 예시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토너 교체·용지 걸림 반복 시 복합기 점검 요청</a:t>
            </a:r>
            <a:endParaRPr lang="en-US" sz="2000" dirty="0"/>
          </a:p>
        </p:txBody>
      </p:sp>
      <p:pic>
        <p:nvPicPr>
          <p:cNvPr id="5" name="Picture 4" descr="그림 3.7. 복합기 요청 양식. 복합기 위치와 요청 내용을 적는 위치를 표시한다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87552"/>
            <a:ext cx="8229600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590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3.7.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복합기 요청 양식. 복합기 위치와 요청 내용을 적는 위치를 표시한다.</a:t>
            </a:r>
            <a:endParaRPr lang="en-US" sz="95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 Guide">
  <a:themeElements>
    <a:clrScheme name="IT Guide">
      <a:dk1>
        <a:srgbClr val="1E2A36"/>
      </a:dk1>
      <a:lt1>
        <a:srgbClr val="FFFFFF"/>
      </a:lt1>
      <a:dk2>
        <a:srgbClr val="1F3A5F"/>
      </a:dk2>
      <a:lt2>
        <a:srgbClr val="EEF3F7"/>
      </a:lt2>
      <a:accent1>
        <a:srgbClr val="1F3A5F"/>
      </a:accent1>
      <a:accent2>
        <a:srgbClr val="1B6F7A"/>
      </a:accent2>
      <a:accent3>
        <a:srgbClr val="D9661F"/>
      </a:accent3>
      <a:accent4>
        <a:srgbClr val="1E8E5A"/>
      </a:accent4>
      <a:accent5>
        <a:srgbClr val="C98A00"/>
      </a:accent5>
      <a:accent6>
        <a:srgbClr val="C0392B"/>
      </a:accent6>
      <a:hlink>
        <a:srgbClr val="1B6F7A"/>
      </a:hlink>
      <a:folHlink>
        <a:srgbClr val="8A949E"/>
      </a:folHlink>
    </a:clrScheme>
    <a:fontScheme name="IT Guid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IT-HW-003 프린터·복합기 이용 가이드</dc:title>
  <dc:subject>PptxGenJS Presentation</dc:subject>
  <dc:creator>서비스데스크</dc:creator>
  <cp:lastModifiedBy>서비스데스크</cp:lastModifiedBy>
  <cp:revision>1</cp:revision>
  <dcterms:created xsi:type="dcterms:W3CDTF">2026-10-08T16:02:03Z</dcterms:created>
  <dcterms:modified xsi:type="dcterms:W3CDTF">2026-10-08T16:02:03Z</dcterms:modified>
</cp:coreProperties>
</file>