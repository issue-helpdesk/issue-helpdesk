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가상 ICT 기업 IT 담당자 매뉴얼 · HW·업무 PC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 장비 교체·수리 처리 매뉴얼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IT-HW-002-M  |  엔드포인트지원팀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2449984" cy="304800"/>
          </a:xfrm>
          <a:prstGeom prst="roundRect">
            <a:avLst>
              <a:gd name="adj" fmla="val 16666"/>
            </a:avLst>
          </a:prstGeom>
          <a:solidFill>
            <a:srgbClr val="B84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2449984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제한 · IT 운영 담당자·관리자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5689600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IT운영·보안 조직 내부 문서입니다. 사용자에게 문서 자체를 전달하지 않고, 안내는 짝이 되는 임직원용 가이드를 기준으로 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IT-HW-002-M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36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IT-HW-002-M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IT-HW-002-M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 HW·업무 PC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 (IT 운영 담당자·관리자)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서비스데스크, 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 사용자 가이드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HW-04, HW-05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FAQ-017, FAQ-018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IT-HW-002-M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접수·분류 기준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80134" y="1863090"/>
            <a:ext cx="7603666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처리 절차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대형 장애 대응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30p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처리 기록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96108" y="31584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32p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부록 · 관련 문서 · 용어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710706" y="3570288"/>
            <a:ext cx="7373094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34p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83011" y="40020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36p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IT-HW-002-M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IT-HW-002-M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장비 파손·수리(HW-04)와 장비 지급·교체·반납(HW-05) 문의를 접수·처리하는 내부 절차를 정한다. 사용자 안내는 IT-HW-002를 기준으로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78917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담당 범위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2113661"/>
          <a:ext cx="11023600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서비스데스크(L1): 교체 주기·반납 절차·비품 신청 안내, 수리 접수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이관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엔드포인트지원팀(L2): 점검·데이터 백업·제조사 수리 접수, 대여 장비 지급, 장비 세팅·지급·회수·초기화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 L2 · 주변기기·자산 영역 (HW-04, HW-05)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자산 관리 화면, 대여 장비 관리 대장, 제조사 수리 접수 포털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IT-HW-002-M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IT-HW-002-M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 가이드의 블록별 기본값이다. 긴급도 기준은 IT-STD-001 IT 서비스 운영 기준을 따른다.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1" cy="2336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719707"/>
                <a:gridCol w="1034859"/>
                <a:gridCol w="2304186"/>
                <a:gridCol w="1214786"/>
                <a:gridCol w="1691311"/>
                <a:gridCol w="2367441"/>
                <a:gridCol w="1691311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증상·요청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긴급도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방식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이관 대상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침수·파손 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부품 고장 보증 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교체 주기 도래 교체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교체 주기 전 고사양 신청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신규 입사자 PC 준비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후 필요 시 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주변기기 교체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후 필요 시 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장비 반납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390309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422757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422757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서비스데스크(L1)가 안내만으로 끝낸 건. 티켓 없이 상담 기록만 남긴다.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446671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446671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담당자 조치가 필요한 건. 담당팀에 배정하고 상태를 RDY → WIP → FIN → CLS 으로 관리한다.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47566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긴급도 조정 조건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50811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50811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수리 때문에 업무를 전혀 할 수 없으면 HW-04를 P2로 올리고 대여 장비를 먼저 지급한다.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532028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532028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신규 입사자 PC는 입사일 기준으로 처리 순서를 정한다. 입사일이 임박하면 P3로 올린다.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IT-HW-002-M · 사내 제한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처리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IT-HW-002-M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8 / 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노트북 침수·파손 수리 신청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9407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5607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3488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9688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5144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31344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2354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89974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28593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604793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86560" y="1587500"/>
            <a:ext cx="8818880" cy="382151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IT-HW-002-M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587500"/>
            <a:ext cx="8818880" cy="382151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4200" y="5459815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3.1-1. 처리 흐름도. 접수 시 확인 질문, 판단 기준, 처리 절차, 처리 후 안내와 이관 정보를 순서대로 표시한다.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IT-HW-002-M · 사내 제한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노트북 침수·파손 수리 신청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언제, 무엇을 쏟았나요?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전원을 껐나요?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백업이 필요한 데이터가 있나요?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티켓으로 엔드포인트지원팀에 배정한다.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전원이 켜져 있으면 바로 끄도록 안내한다.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25170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284149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2841498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장비를 회수해 점검하고 데이터를 백업한다.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308063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3080639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제조사 AS로 입고하고 부품 대기 기간을 확인한다.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331978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3319780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수리 기간 동안 대여 노트북을 지급한다.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3558921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3558921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수리 후 장비를 돌려주고 대여 장비를 회수한다.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3656" y="2841498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Picture 31" descr="IT-HW-002-M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2841498"/>
            <a:ext cx="5724144" cy="248046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883656" y="53727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3.1-2. 대여 장비 관리 대장 화면. 대여 노트북 지급과 회수를 기록하는 위치를 표시한다.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IT-HW-002-M · 사내 제한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노트북 침수·파손 수리 신청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데이터를 백업하고 제조사 수리를 접수했습니다. 수리 기간 동안 대여 노트북을 써 주세요.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(엔드포인트지원팀에서 종결)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IT-HW-002-M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키보드·포트 등 부품 고장 수리 신청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9407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5607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3488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9688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5144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31344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2354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89974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28593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604793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86560" y="1587500"/>
            <a:ext cx="8818880" cy="382151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IT-HW-002-M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587500"/>
            <a:ext cx="8818880" cy="382151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4200" y="5459815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3.2-1. 처리 흐름도. 접수 시 확인 질문, 판단 기준, 처리 절차, 처리 후 안내와 이관 정보를 순서대로 표시한다.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IT-HW-002-M · 사내 제한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키보드·포트 등 부품 고장 수리 신청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어느 키·포트에서 문제가 생기나요?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외장 키보드·다른 포트로도 같은가요?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언제부터 그랬나요?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티켓으로 엔드포인트지원팀에 배정한다.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무상 보증 기간이면 제조사 보증 수리로 접수한다.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25170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284149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2841498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자산 관리 화면에서 보증 기간을 확인한다.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308063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3080639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보증 수리를 접수하고, 수리 기간이 길면 대여 노트북을 지급한다.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331978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3319780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수리 후 정상 동작을 확인한다.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83656" y="2841498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IT-HW-002-M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2841498"/>
            <a:ext cx="5724144" cy="24804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883656" y="53727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3.2-2. 자산 관리 화면. 보증 기간을 확인하는 위치를 표시한다.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IT-HW-002-M · 사내 제한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키보드·포트 등 부품 고장 수리 신청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무상 보증 수리를 접수했습니다. 수리 일정은 따로 안내드리겠습니다.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(엔드포인트지원팀에서 종결)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IT-HW-002-M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교체 주기(3년)가 지난 노트북 교체 신청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9407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5607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3488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9688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5144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31344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2354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89974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28593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604793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86560" y="1587500"/>
            <a:ext cx="8818880" cy="382151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IT-HW-002-M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587500"/>
            <a:ext cx="8818880" cy="382151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4200" y="5459815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3.3-1. 처리 흐름도. 접수 시 확인 질문, 판단 기준, 처리 절차, 처리 후 안내와 이관 정보를 순서대로 표시한다.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IT-HW-002-M · 사내 제한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교체 주기(3년)가 지난 노트북 교체 신청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현재 장비 지급일은 언제인가요?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개발 직군인가요? (OS 선택)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교체 주기와 교체 예정일 안내는 즉시 처리한다.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지급일로부터 3년이 지났으면 티켓으로 교체를 진행한다.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22805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200" y="260502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2605024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자산 관리 화면에서 지급일을 확인한다.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284416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2844165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새 장비를 세팅하고 지급 일정을 안내한다.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3083306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3083306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기존 장비 회수 일정을 잡는다.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83656" y="2605024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IT-HW-002-M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2605024"/>
            <a:ext cx="5724144" cy="248046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883656" y="5136286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3.3-2. 자산 관리 화면. 지급일을 확인하는 위치를 표시한다.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IT-HW-002-M · 사내 제한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교체 주기(3년)가 지난 노트북 교체 신청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교체 장비 준비를 마쳤습니다. 데이터를 옮긴 뒤 기존 장비를 반납해 주세요.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(엔드포인트지원팀에서 종결)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IT-HW-002-M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 / 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교체 주기 전 고사양 노트북 신청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9407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5607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3488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9688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5144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31344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2354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89974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28593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604793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86560" y="1587500"/>
            <a:ext cx="8818880" cy="382151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IT-HW-002-M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587500"/>
            <a:ext cx="8818880" cy="382151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4200" y="5459815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3.4-1. 처리 흐름도. 접수 시 확인 질문, 판단 기준, 처리 절차, 처리 후 안내와 이관 정보를 순서대로 표시한다.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IT-HW-002-M · 사내 제한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교체 주기 전 고사양 노트북 신청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어떤 업무에 어떤 사양이 필요한가요?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부서장 승인을 받았나요?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교체 기준과 부서장 승인 절차를 안내한다.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부서장 승인이 있으면 티켓으로 재고를 확인해 지급한다.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22805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200" y="260502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2605024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부서장 승인을 확인한다.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284416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2844165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고사양 장비 재고를 확인한다.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3083306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3083306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장비를 세팅해 지급하고 기존 장비를 회수한다.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83656" y="2605024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IT-HW-002-M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2605024"/>
            <a:ext cx="5724144" cy="248046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883656" y="5136286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3.4-2. 자산 관리 화면의 재고 현황. 고사양 장비 재고를 확인하는 위치를 표시한다.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IT-HW-002-M · 사내 제한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 / 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교체 주기 전 고사양 노트북 신청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부서장 승인에 따라 고사양 장비를 준비했습니다.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(엔드포인트지원팀에서 종결)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IT-HW-002-M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 / 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신규 입사자 PC 준비 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9407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5607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3488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9688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5144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31344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954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574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4593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50793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86560" y="1587500"/>
            <a:ext cx="8818880" cy="382151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IT-HW-002-M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587500"/>
            <a:ext cx="8818880" cy="382151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4200" y="5459815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3.5-1. 처리 흐름도. 접수 시 확인 질문, 판단 기준, 처리 절차, 처리 후 안내와 이관 정보를 순서대로 표시한다.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IT-HW-002-M · 사내 제한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 / 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신규 입사자 PC 준비 요청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입사자 이름과 입사일은 언제인가요?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몇 명인가요?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개발 직군인가요?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재고가 있으면 즉시 접수를 확정한다.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세팅이 필요하면 티켓으로 엔드포인트지원팀에 배정한다.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25170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284149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2841498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재고를 확인한다.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308063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3080639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보안 에이전트 설치를 포함해 장비를 세팅한다.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331978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3319780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입사일에 전달한다.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83656" y="2841498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IT-HW-002-M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2841498"/>
            <a:ext cx="5724144" cy="24804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883656" y="53727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3.5-2. 자산 관리 화면의 재고 현황. 신규 입사자용 장비 재고를 확인하는 위치를 표시한다.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IT-HW-002-M · 사내 제한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22 / 36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신규 입사자 PC 준비 요청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신규 입사자 PC를 준비했습니다. 입사일에 전달드리겠습니다.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입사자 이름·입사일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65214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65214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인원 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288861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288861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직군·희망 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IT-HW-002-M · 사내 제한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23 / 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3.6 마우스·키보드 등 주변기기 교체 신청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9407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5607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3488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9688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5144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31344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954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574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4593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50793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86560" y="1587500"/>
            <a:ext cx="8818880" cy="382151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IT-HW-002-M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587500"/>
            <a:ext cx="8818880" cy="382151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4200" y="5459815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3.6-1. 처리 흐름도. 접수 시 확인 질문, 판단 기준, 처리 절차, 처리 후 안내와 이관 정보를 순서대로 표시한다.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IT-HW-002-M · 사내 제한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24 / 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3.6 마우스·키보드 등 주변기기 교체 신청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어떤 주변기기가 어떻게 고장 났나요?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비품 신청 절차를 안내하고 재고가 있으면 즉시 지급한다.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재고가 없으면 티켓으로 입고 후 지급한다.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22805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4200" y="260502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" y="2605024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재고를 확인한다.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200" y="284416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2844165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주변기기를 지급한다.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83656" y="2605024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IT-HW-002-M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2605024"/>
            <a:ext cx="5724144" cy="248046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883656" y="5136286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3.6-2. 자산 관리 화면의 재고 현황. 주변기기 재고를 확인하는 위치를 표시한다.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IT-HW-002-M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25 / 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3.6 마우스·키보드 등 주변기기 교체 신청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요청하신 주변기기를 지급했습니다.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05076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주변기기 종류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65214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65214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재고 여부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IT-HW-002-M · 사내 제한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26 / 36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3.7 퇴사·교체 시 장비 반납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9407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5607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3488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9688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5144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31344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954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574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4593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50793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86560" y="1587500"/>
            <a:ext cx="8818880" cy="382151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IT-HW-002-M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587500"/>
            <a:ext cx="8818880" cy="382151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4200" y="5459815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3.7-1. 처리 흐름도. 접수 시 확인 질문, 판단 기준, 처리 절차, 처리 후 안내와 이관 정보를 순서대로 표시한다.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IT-HW-002-M · 사내 제한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27 / 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3.7 퇴사·교체 시 장비 반납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반납 사유는 무엇인가요? (퇴사 / 교체)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 데이터를 공유 드라이브로 옮겼나요?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초기화는 IT에서 하므로 그대로 반납하면 된다고 안내하고 즉시 처리한다.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22805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4200" y="260502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" y="2605024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반납 일정을 안내한다.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200" y="284416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2844165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장비를 회수해 자산 관리 화면에 반납 처리한다.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3083306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3083306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장비를 초기화한다.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3656" y="2605024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IT-HW-002-M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2605024"/>
            <a:ext cx="5724144" cy="24804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883656" y="5136286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3.7-2. 자산 관리 화면. 회수한 장비를 반납 처리하는 위치를 표시한다.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IT-HW-002-M · 사내 제한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28 / 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3.7 퇴사·교체 시 장비 반납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반납해 주신 장비는 IT에서 초기화합니다. 따로 초기화하지 않으셔도 됩니다.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(서비스데스크에서 종결)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IT-HW-002-M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29 / 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IT-HW-002-M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30 / 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대형 장애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정전·낙뢰 등으로 같은 층 여러 장비가 동시에 고장 나면 대형 장애로 판단하고 대여 장비를 우선 배정한다.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대표 티켓(MI-YYYY-NN)을 만들고, 같은 증상의 개별 문의는 대표 티켓에 연결한다.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그룹웨어 공지사항에 장애 공지를 올리고 30분마다 갱신한다.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188582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188582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후 개별 문의를 대표 티켓 기준으로 일괄 완료(FIN) 처리하고, IT운영·보안 조직장에게 원인을 보고한다.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IT-HW-002-M · 사내 제한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31 / 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IT-HW-002-M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32 / 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처리 기록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완료(FIN) 시 티켓에 아래 항목을 남긴다. 반복되는 건은 사용자 가이드 반영 여부를 검토한다.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91100"/>
                <a:gridCol w="87325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기록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확인된 원인 한 줄 (예: VPN 클라이언트 구버전 사용)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조치 내용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실제로 한 조치. 즉시 처리면 앞에 [즉시 처리]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재발 방지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문의를 줄이기 위한 조치 (없으면 '없음')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안내에 쓴 FAQ 번호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가이드에 추가·수정이 필요한지 (필요 / 불필요)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IT-HW-002-M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33 / 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558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IT-HW-002-M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34 / 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내부 연락처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1030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IT-HW-002-M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35 / 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2026-03-01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최초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IT-HW-002-M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36 / 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IT-HW-002-M 업무 장비 교체·수리 처리 매뉴얼</dc:title>
  <dc:subject>사내 제한 · IT 운영 담당자·관리자</dc:subject>
  <dc:creator>엔드포인트지원팀</dc:creator>
  <cp:keywords/>
  <dc:description>generated using python-pptx</dc:description>
  <cp:lastModifiedBy>엔드포인트지원팀</cp:lastModifiedBy>
  <cp:revision>1</cp:revision>
  <dcterms:created xsi:type="dcterms:W3CDTF">2013-01-27T09:14:16Z</dcterms:created>
  <dcterms:modified xsi:type="dcterms:W3CDTF">2013-01-27T09:15:58Z</dcterms:modified>
  <cp:category>사내 제한</cp:category>
</cp:coreProperties>
</file>