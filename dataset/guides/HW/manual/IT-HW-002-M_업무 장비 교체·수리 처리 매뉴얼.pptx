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96" r:id="rId25"/>
    <p:sldId id="303" r:id="rId18"/>
    <p:sldId id="282" r:id="rId3"/>
    <p:sldId id="283" r:id="rId2"/>
    <p:sldId id="297" r:id="rId24"/>
    <p:sldId id="304" r:id="rId17"/>
    <p:sldId id="284" r:id="rId26"/>
    <p:sldId id="285" r:id="rId27"/>
    <p:sldId id="298" r:id="rId23"/>
    <p:sldId id="305" r:id="rId16"/>
    <p:sldId id="286" r:id="rId28"/>
    <p:sldId id="287" r:id="rId29"/>
    <p:sldId id="299" r:id="rId22"/>
    <p:sldId id="306" r:id="rId38"/>
    <p:sldId id="288" r:id="rId30"/>
    <p:sldId id="289" r:id="rId31"/>
    <p:sldId id="300" r:id="rId21"/>
    <p:sldId id="307" r:id="rId39"/>
    <p:sldId id="290" r:id="rId32"/>
    <p:sldId id="291" r:id="rId33"/>
    <p:sldId id="301" r:id="rId20"/>
    <p:sldId id="308" r:id="rId40"/>
    <p:sldId id="292" r:id="rId34"/>
    <p:sldId id="293" r:id="rId35"/>
    <p:sldId id="302" r:id="rId19"/>
    <p:sldId id="309" r:id="rId41"/>
    <p:sldId id="294" r:id="rId36"/>
    <p:sldId id="295" r:id="rId37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0.xml"/><Relationship Id="rId3" Type="http://schemas.openxmlformats.org/officeDocument/2006/relationships/slide" Target="slides/slide9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31.xml"/><Relationship Id="rId17" Type="http://schemas.openxmlformats.org/officeDocument/2006/relationships/slide" Target="slides/slide30.xml"/><Relationship Id="rId18" Type="http://schemas.openxmlformats.org/officeDocument/2006/relationships/slide" Target="slides/slide29.xml"/><Relationship Id="rId19" Type="http://schemas.openxmlformats.org/officeDocument/2006/relationships/slide" Target="slides/slide26.xml"/><Relationship Id="rId20" Type="http://schemas.openxmlformats.org/officeDocument/2006/relationships/slide" Target="slides/slide23.xml"/><Relationship Id="rId21" Type="http://schemas.openxmlformats.org/officeDocument/2006/relationships/slide" Target="slides/slide20.xml"/><Relationship Id="rId22" Type="http://schemas.openxmlformats.org/officeDocument/2006/relationships/slide" Target="slides/slide17.xml"/><Relationship Id="rId23" Type="http://schemas.openxmlformats.org/officeDocument/2006/relationships/slide" Target="slides/slide14.xml"/><Relationship Id="rId24" Type="http://schemas.openxmlformats.org/officeDocument/2006/relationships/slide" Target="slides/slide11.xml"/><Relationship Id="rId25" Type="http://schemas.openxmlformats.org/officeDocument/2006/relationships/slide" Target="slides/slide8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IT-HW-002-M  업무 장비 교체·수리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장비 교체·수리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IT-HW-002-M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IT-HW-002-M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 HW·업무 PC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HW-04, HW-05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FAQ-017, FAQ-018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 파손·수리(HW-04)와 장비 지급·교체·반납(HW-05) 문의를 접수·처리하는 내부 절차를 정한다. 사용자 안내는 IT-HW-002를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교체 주기·반납 절차·비품 신청 안내, 수리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엔드포인트지원팀(L2): 점검·데이터 백업·제조사 수리 접수, 대여 장비 지급, 장비 세팅·지급·회수·초기화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 L2 · 주변기기·자산 영역 (HW-04, HW-05)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자산 관리 화면, 대여 장비 관리 대장, 제조사 수리 접수 포털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침수·파손 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부품 고장 보증 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교체 주기 도래 교체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교체 주기 전 고사양 신청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입사자 PC 준비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주변기기 교체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장비 반납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수리 때문에 업무를 전혀 할 수 없으면 HW-04를 P2로 올리고 대여 장비를 먼저 지급한다.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입사자 PC는 입사일 기준으로 처리 순서를 정한다. 입사일이 임박하면 P3로 올린다.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노트북 침수·파손 수리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무엇을 쏟았나요?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전원을 껐나요?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백업이 필요한 데이터가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티켓으로 엔드포인트지원팀에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전원이 켜져 있으면 바로 끄도록 안내한다.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노트북 침수·파손 수리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장비를 회수해 점검하고 데이터를 백업한다.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제조사 AS로 입고하고 부품 대기 기간을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수리 기간 동안 대여 노트북을 지급한다.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수리 후 장비를 돌려주고 대여 장비를 회수한다.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"데이터를 백업하고 제조사 수리를 접수했습니다. 수리 기간 동안 대여 노트북을 써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노트북 침수·파손 수리 신청</a:t>
            </a:r>
            <a:endParaRPr lang="en-US" sz="2000" dirty="0"/>
          </a:p>
        </p:txBody>
      </p:sp>
      <p:pic>
        <p:nvPicPr>
          <p:cNvPr id="5" name="Picture 4" descr="그림 3.1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키보드·포트 등 부품 고장 수리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키·포트에서 문제가 생기나요?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외장 키보드·다른 포트로도 같은가요?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 그랬나요?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티켓으로 엔드포인트지원팀에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무상 보증 기간이면 제조사 보증 수리로 접수한다.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키보드·포트 등 부품 고장 수리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관리 화면에서 보증 기간을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 수리를 접수하고, 수리 기간이 길면 대여 노트북을 지급한다.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수리 후 정상 동작을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"무상 보증 수리를 접수했습니다. 수리 일정은 따로 안내드리겠습니다."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키보드·포트 등 부품 고장 수리 신청</a:t>
            </a:r>
            <a:endParaRPr lang="en-US" sz="2000" dirty="0"/>
          </a:p>
        </p:txBody>
      </p:sp>
      <p:pic>
        <p:nvPicPr>
          <p:cNvPr id="5" name="Picture 4" descr="그림 3.2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교체 주기(3년)가 지난 노트북 교체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장비 지급일은 언제인가요?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직군인가요? (OS 선택)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교체 주기와 교체 예정일 안내는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지급일로부터 3년이 지났으면 티켓으로 교체를 진행한다.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교체 주기(3년)가 지난 노트북 교체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관리 화면에서 지급일을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장비를 세팅하고 지급 일정을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장비 회수 일정을 잡는다.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"교체 장비 준비를 마쳤습니다. 데이터를 옮긴 뒤 기존 장비를 반납해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교체 주기(3년)가 지난 노트북 교체 신청</a:t>
            </a:r>
            <a:endParaRPr lang="en-US" sz="2000" dirty="0"/>
          </a:p>
        </p:txBody>
      </p:sp>
      <p:pic>
        <p:nvPicPr>
          <p:cNvPr id="5" name="Picture 4" descr="그림 3.3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교체 주기 전 고사양 노트북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업무에 어떤 사양이 필요한가요?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부서장 승인을 받았나요?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교체 기준과 부서장 승인 절차를 안내한다.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부서장 승인이 있으면 티켓으로 재고를 확인해 지급한다.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교체 주기 전 고사양 노트북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부서장 승인을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고사양 장비 재고를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장비를 세팅해 지급하고 기존 장비를 회수한다.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"부서장 승인에 따라 고사양 장비를 준비했습니다."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교체 주기 전 고사양 노트북 신청</a:t>
            </a:r>
            <a:endParaRPr lang="en-US" sz="2000" dirty="0"/>
          </a:p>
        </p:txBody>
      </p:sp>
      <p:pic>
        <p:nvPicPr>
          <p:cNvPr id="5" name="Picture 4" descr="그림 3.4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신규 입사자 PC 준비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입사자 이름과 입사일은 언제인가요?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직군인가요?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재고가 있으면 즉시 접수를 확정한다.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세팅이 필요하면 티켓으로 엔드포인트지원팀에 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신규 입사자 PC 준비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설치를 포함해 장비를 세팅한다.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입사일에 전달한다.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"신규 입사자 PC를 준비했습니다. 입사일에 전달드리겠습니다."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입사자 이름·입사일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인원 수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직군·희망 OS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신규 입사자 PC 준비 요청</a:t>
            </a:r>
            <a:endParaRPr lang="en-US" sz="2000" dirty="0"/>
          </a:p>
        </p:txBody>
      </p:sp>
      <p:pic>
        <p:nvPicPr>
          <p:cNvPr id="5" name="Picture 4" descr="그림 3.5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마우스·키보드 등 주변기기 교체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주변기기가 어떻게 고장 났나요?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비품 신청 절차를 안내하고 재고가 있으면 즉시 지급한다.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재고가 없으면 티켓으로 입고 후 지급한다.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마우스·키보드 등 주변기기 교체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주변기기를 지급한다.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31093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848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"요청하신 주변기기를 지급했습니다."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174093"/>
            <a:ext cx="3108960" cy="1031093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265533"/>
            <a:ext cx="2834640" cy="848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96626"/>
            <a:ext cx="3108960" cy="1321093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88066"/>
            <a:ext cx="2834640" cy="1138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주변기기 종류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여부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마우스·키보드 등 주변기기 교체 신청</a:t>
            </a:r>
            <a:endParaRPr lang="en-US" sz="2000" dirty="0"/>
          </a:p>
        </p:txBody>
      </p:sp>
      <p:pic>
        <p:nvPicPr>
          <p:cNvPr id="5" name="Picture 4" descr="그림 3.6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퇴사·교체 시 장비 반납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반납 사유는 무엇인가요? (퇴사 / 교체)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데이터를 공유 드라이브로 옮겼나요?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초기화는 IT에서 하므로 그대로 반납하면 된다고 안내하고 즉시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퇴사·교체 시 장비 반납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반납 일정을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장비를 회수해 자산 관리 화면에 반납 처리한다.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장비를 초기화한다.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"반납해 주신 장비는 IT에서 초기화합니다. 따로 초기화하지 않으셔도 됩니다."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퇴사·교체 시 장비 반납</a:t>
            </a:r>
            <a:endParaRPr lang="en-US" sz="2000" dirty="0"/>
          </a:p>
        </p:txBody>
      </p:sp>
      <p:pic>
        <p:nvPicPr>
          <p:cNvPr id="5" name="Picture 4" descr="그림 3.7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정전·낙뢰 등으로 같은 층 여러 장비가 동시에 고장 나면 대형 장애로 판단하고 대여 장비를 우선 배정한다.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1030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노트북 침수·파손 수리 신청</a:t>
            </a:r>
            <a:endParaRPr lang="en-US" sz="2000" dirty="0"/>
          </a:p>
        </p:txBody>
      </p:sp>
      <p:pic>
        <p:nvPicPr>
          <p:cNvPr id="5" name="Picture 4" descr="그림 3.1-2. 대여 장비 관리 대장 화면 예시. 대여 노트북 지급과 회수를 기록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대여 장비 관리 대장 화면 예시. 대여 노트북 지급과 회수를 기록하는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키보드·포트 등 부품 고장 수리 신청</a:t>
            </a:r>
            <a:endParaRPr lang="en-US" sz="2000" dirty="0"/>
          </a:p>
        </p:txBody>
      </p:sp>
      <p:pic>
        <p:nvPicPr>
          <p:cNvPr id="5" name="Picture 4" descr="그림 3.2-2. 자산 관리 화면 예시. 보증 기간을 확인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관리 화면 예시. 보증 기간을 확인하는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교체 주기(3년)가 지난 노트북 교체 신청</a:t>
            </a:r>
            <a:endParaRPr lang="en-US" sz="2000" dirty="0"/>
          </a:p>
        </p:txBody>
      </p:sp>
      <p:pic>
        <p:nvPicPr>
          <p:cNvPr id="5" name="Picture 4" descr="그림 3.3-2. 자산 관리 화면 예시. 지급일을 확인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관리 화면 예시. 지급일을 확인하는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교체 주기 전 고사양 노트북 신청</a:t>
            </a:r>
            <a:endParaRPr lang="en-US" sz="2000" dirty="0"/>
          </a:p>
        </p:txBody>
      </p:sp>
      <p:pic>
        <p:nvPicPr>
          <p:cNvPr id="5" name="Picture 4" descr="그림 3.4-2. 자산 관리 화면의 재고 현황 예시. 고사양 장비 재고를 확인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관리 화면의 재고 현황 예시. 고사양 장비 재고를 확인하는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신규 입사자 PC 준비 요청</a:t>
            </a:r>
            <a:endParaRPr lang="en-US" sz="2000" dirty="0"/>
          </a:p>
        </p:txBody>
      </p:sp>
      <p:pic>
        <p:nvPicPr>
          <p:cNvPr id="5" name="Picture 4" descr="그림 3.5-2. 자산 관리 화면의 재고 현황 예시. 신규 입사자용 장비 재고를 확인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관리 화면의 재고 현황 예시. 신규 입사자용 장비 재고를 확인하는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마우스·키보드 등 주변기기 교체 신청</a:t>
            </a:r>
            <a:endParaRPr lang="en-US" sz="2000" dirty="0"/>
          </a:p>
        </p:txBody>
      </p:sp>
      <p:pic>
        <p:nvPicPr>
          <p:cNvPr id="5" name="Picture 4" descr="그림 3.6-2. 자산 관리 화면의 재고 현황 예시. 주변기기 재고를 확인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관리 화면의 재고 현황 예시. 주변기기 재고를 확인하는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퇴사·교체 시 장비 반납</a:t>
            </a:r>
            <a:endParaRPr lang="en-US" sz="2000" dirty="0"/>
          </a:p>
        </p:txBody>
      </p:sp>
      <p:pic>
        <p:nvPicPr>
          <p:cNvPr id="5" name="Picture 4" descr="그림 3.7-2. 자산 관리 화면 예시. 회수한 장비를 반납 처리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관리 화면 예시. 회수한 장비를 반납 처리하는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IT-HW-002-M 업무 장비 교체·수리 처리 매뉴얼</dc:title>
  <dc:subject>PptxGenJS Presentation</dc:subject>
  <dc:creator>엔드포인트지원팀</dc:creator>
  <cp:lastModifiedBy>엔드포인트지원팀</cp:lastModifiedBy>
  <cp:revision>1</cp:revision>
  <dcterms:created xsi:type="dcterms:W3CDTF">2026-10-08T13:47:03Z</dcterms:created>
  <dcterms:modified xsi:type="dcterms:W3CDTF">2026-10-08T13:47:03Z</dcterms:modified>
</cp:coreProperties>
</file>