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6" r:id="rId11"/>
    <p:sldId id="277" r:id="rId10"/>
    <p:sldId id="278" r:id="rId9"/>
    <p:sldId id="279" r:id="rId8"/>
    <p:sldId id="280" r:id="rId7"/>
    <p:sldId id="281" r:id="rId6"/>
    <p:sldId id="282" r:id="rId5"/>
    <p:sldId id="283" r:id="rId4"/>
    <p:sldId id="284" r:id="rId3"/>
    <p:sldId id="285" r:id="rId2"/>
    <p:sldId id="286" r:id="rId27"/>
    <p:sldId id="287" r:id="rId28"/>
    <p:sldId id="288" r:id="rId29"/>
    <p:sldId id="289" r:id="rId30"/>
    <p:sldId id="290" r:id="rId31"/>
    <p:sldId id="291" r:id="rId32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d1c9fe69-f8fa-47c1-0b43-c16b46c1709f}">
          <p14:sldIdLst>
            <p14:sldId id="256"/>
            <p14:sldId id="257"/>
            <p14:sldId id="258"/>
            <p14:sldId id="259"/>
          </p14:sldIdLst>
        </p14:section>
        <p14:section name="3.1 증상" id="{43a5a403-6d74-43a9-58bd-7bc4a15afd61}">
          <p14:sldIdLst>
            <p14:sldId id="260"/>
            <p14:sldId id="261"/>
            <p14:sldId id="262"/>
          </p14:sldIdLst>
        </p14:section>
        <p14:section name="FAQ·문의처" id="{bbf332e7-66a9-14f5-fb28-3b7f1807f14c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5.xml"/><Relationship Id="rId8" Type="http://schemas.openxmlformats.org/officeDocument/2006/relationships/slide" Target="slides/slide14.xml"/><Relationship Id="rId9" Type="http://schemas.openxmlformats.org/officeDocument/2006/relationships/slide" Target="slides/slide13.xml"/><Relationship Id="rId10" Type="http://schemas.openxmlformats.org/officeDocument/2006/relationships/slide" Target="slides/slide12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IT-NET-001  VPN 접속 장애 대응 가이드  |  v1.0  |  사내 공개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VPN 접속 장애 대응 가이드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46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IT 가이드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IT-NET-001   |   v1.0   |   시행일 2026-03-01   |   사내 공개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IT-NET-001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NET VPN·네트워크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유형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장애 대응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 임직원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공개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담당자 매뉴얼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IT-NET-001-M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NET-02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661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키워드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VPN, VPN 클라이언트, 재택, 원격접속, 출장, 서버에 연결할 수 없습니다, 핫스팟, 우회 포트 모드, ipconfig /flushdns, 분할 터널링, 화상회의 느림, VPN 끊김, 공유기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ko-KR" sz="1300" dirty="0"/>
          </a:p>
          <a:p>
            <a:pPr marL="0" indent="0">
              <a:spcAft>
                <a:spcPts val="300"/>
              </a:spcAft>
              <a:buNone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재택·출장 등 외부에서 사내 VPN에 연결되지 않거나, 연결 후 사내 시스템·화상회의가 원활하지 않거나, VPN이 자주 끊길 때 직접 확인하고 조치하는 방법을 안내합니다.</a:t>
            </a:r>
            <a:endParaRPr lang="ko-KR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94360" y="292608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대상</a:t>
            </a:r>
            <a:endParaRPr lang="ko-KR" sz="1300" dirty="0"/>
          </a:p>
          <a:p>
            <a:pPr marL="0" indent="0">
              <a:spcAft>
                <a:spcPts val="300"/>
              </a:spcAft>
              <a:buNone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지급 PC로 사내 VPN을 쓰는 전 임직원이 대상입니다. 개인 기기는 사내 시스템에 접근할 수 없으므로 제외합니다. 여러 명이 동시에 VPN에 연결되지 않는 전사 장애는 IT-NET-003에서 다룹니다.</a:t>
            </a:r>
            <a:endParaRPr lang="ko-KR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환경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도구·시스템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VPN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Windows / macOS (개발 직군 선택)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 · 3. 증상별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확인할 사항 · 증상 목록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지급 PC로 접속하고 있는지 확인합니다. 개인 기기는 사내 시스템에 접근할 수 없습니다.</a:t>
            </a:r>
            <a:endParaRPr lang="ko-KR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VPN을 켜기 전에 일반 웹사이트가 열리는지 확인해 인터넷 연결 자체가 되는지 봅니다.</a:t>
            </a:r>
            <a:endParaRPr lang="ko-KR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VPN 클라이언트가 최신 버전인지 확인합니다. 구버전에서는 연결 오류가 날 수 있습니다.</a:t>
            </a:r>
            <a:endParaRPr lang="ko-KR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명이 동시에 VPN에 연결되지 않으면 사내 공지를 확인하고 IT-NET-003 네트워크 장애 신고·이관 가이드를 따릅니다.</a:t>
            </a:r>
            <a:endParaRPr lang="ko-KR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0515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 목록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417320"/>
          <a:ext cx="47548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874520"/>
                <a:gridCol w="868680"/>
                <a:gridCol w="86868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주체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VPN 연결 시 '서버에 연결할 수 없습니다' 오류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NET-02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VPN 연결 후 사내 시스템 접속 불가·화상회의 느림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NET-02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집에서 VPN이 자주 끊김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NET-02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VPN 연결 시 '서버에 연결할 수 없습니다' 오류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NET-02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재택 중 VPN 연결 버튼을 누르면 '서버에 연결할 수 없습니다' 오류가 나고 연결되지 않습니다.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출장지 호텔·카페 등 공용 Wi-Fi에서 VPN이 연결되지 않습니다.</a:t>
            </a:r>
            <a:endParaRPr lang="ko-KR" sz="1200" dirty="0"/>
          </a:p>
          <a:p>
            <a:pPr marL="0" indent="0">
              <a:spcBef>
                <a:spcPts val="400"/>
              </a:spcBef>
              <a:buNone/>
            </a:pPr>
            <a:r>
              <a:rPr lang="ko-KR" sz="1200" dirty="0" b="1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'서버에 연결할 수 없습니다'</a:t>
            </a:r>
            <a:endParaRPr lang="ko-KR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VPN 클라이언트가 구버전입니다.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Wi-Fi에서 VPN이 쓰는 통신 포트를 막아 둔 경우입니다.</a:t>
            </a:r>
            <a:endParaRPr lang="ko-KR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VPN 연결 시 '서버에 연결할 수 없습니다' 오류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ko-KR" sz="13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VPN 클라이언트를 최신 버전으로 업데이트하거나 다시 설치합니다.</a:t>
            </a:r>
            <a:endParaRPr lang="ko-KR" sz="11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PC를 재부팅한 뒤 VPN에 다시 연결합니다.</a:t>
            </a:r>
            <a:endParaRPr lang="ko-KR" sz="11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Wi-Fi라면 휴대폰 핫스팟에 연결해 다시 시도합니다.</a:t>
            </a:r>
            <a:endParaRPr lang="ko-KR" sz="11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핫스팟을 쓸 수 없으면 VPN 클라이언트 [설정] &gt; [연결 모드] &gt; [우회 포트 모드] (가상)를 선택한 뒤 다시 연결합니다.</a:t>
            </a:r>
            <a:endParaRPr lang="ko-KR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097280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ko-KR" sz="1300" dirty="0"/>
          </a:p>
          <a:p>
            <a:pPr marL="0" indent="0">
              <a:spcAft>
                <a:spcPts val="300"/>
              </a:spcAft>
              <a:buNone/>
            </a:pPr>
            <a:r>
              <a:rPr lang="ko-KR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VPN 클라이언트가 연결 상태로 바뀌고 그룹웨어 같은 사내 시스템이 열리면 해결된 것입니다.</a:t>
            </a:r>
            <a:endParaRPr lang="ko-KR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24028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33172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조치를 모두 해도 연결되지 않으면 IT 헬프데스크에 문의합니다.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명이 동시에 겪으면 IT-NET-003 네트워크 장애 신고·이관 가이드를 따릅니다.</a:t>
            </a:r>
            <a:endParaRPr lang="ko-KR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65760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74904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ko-KR" sz="1300" dirty="0"/>
          </a:p>
          <a:p>
            <a:pPr marL="0" indent="0">
              <a:buNone/>
            </a:pPr>
            <a:r>
              <a:rPr lang="ko-KR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접속 장소와 인터넷 종류(공유기·공용 Wi-Fi·핫스팟), 화면 메시지, 발생 시각, 이미 해 본 조치</a:t>
            </a:r>
            <a:endParaRPr lang="ko-KR" sz="950" dirty="0"/>
          </a:p>
          <a:p>
            <a:pPr marL="0" indent="0">
              <a:spcBef>
                <a:spcPts val="200"/>
              </a:spcBef>
              <a:buNone/>
            </a:pPr>
            <a:r>
              <a:rPr lang="ko-KR" sz="950" dirty="0" b="1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r>
              <a:rPr lang="ko-KR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FAQ-007</a:t>
            </a:r>
            <a:endParaRPr lang="ko-KR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VPN 연결 시 '서버에 연결할 수 없습니다' 오류</a:t>
            </a:r>
            <a:endParaRPr lang="en-US" sz="20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6" name="Picture 25" descr="G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8229600" cy="2846070"/>
          </a:xfrm>
          <a:prstGeom prst="rect">
            <a:avLst/>
          </a:prstGeom>
        </p:spPr>
      </p:pic>
      <p:sp>
        <p:nvSpPr>
          <p:cNvPr id="7" name="TextBox 26"/>
          <p:cNvSpPr txBox="1"/>
          <p:nvPr/>
        </p:nvSpPr>
        <p:spPr>
          <a:xfrm>
            <a:off x="457200" y="3921910"/>
            <a:ext cx="82296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A5560"/>
                </a:solidFill>
                <a:latin typeface="맑은 고딕"/>
                <a:ea typeface="맑은 고딕"/>
              </a:rPr>
              <a:t>그림 3.1. </a:t>
            </a:r>
            <a:r>
              <a:rPr sz="1000" b="0">
                <a:solidFill>
                  <a:srgbClr val="6B7680"/>
                </a:solidFill>
                <a:latin typeface="맑은 고딕"/>
                <a:ea typeface="맑은 고딕"/>
              </a:rPr>
              <a:t>VPN 클라이언트에서 '서버에 연결할 수 없습니다' 메시지를 확인하고, [정보]에서 최신 버전으로 업데이트하거나 [설정] &gt; [연결 모드]에서 우회 포트 모드를 선택하는 화면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VPN 연결 후 사내 시스템 접속 불가·화상회의 느림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NET-02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VPN은 연결되는데 그룹웨어나 ERP 같은 사내 시스템이 열리지 않습니다.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VPN을 연결한 뒤 인터넷이 너무 느려져 화상회의가 끊기거나 멈춥니다.</a:t>
            </a:r>
            <a:endParaRPr lang="ko-KR" sz="1200" dirty="0"/>
          </a:p>
          <a:p>
            <a:pPr marL="0" indent="0">
              <a:spcBef>
                <a:spcPts val="400"/>
              </a:spcBef>
              <a:buNone/>
            </a:pPr>
            <a:r>
              <a:rPr lang="ko-KR" sz="1200" dirty="0" b="1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ko-KR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PC에 저장된 이전 접속 주소 정보(DNS 캐시)가 VPN 연결과 충돌한 경우입니다.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화상회의를 포함한 모든 인터넷 트래픽이 VPN을 거치도록 설정되어 느려진 경우입니다.</a:t>
            </a:r>
            <a:endParaRPr lang="ko-KR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VPN 연결 후 사내 시스템 접속 불가·화상회의 느림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ko-KR" sz="13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시스템이 열리지 않으면 명령 프롬프트(Windows)에서 ipconfig /flushdns 를 실행합니다.</a:t>
            </a:r>
            <a:endParaRPr lang="ko-KR" sz="11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VPN 연결을 끊었다가 다시 연결한 뒤 사내 시스템에 접속합니다.</a:t>
            </a:r>
            <a:endParaRPr lang="ko-KR" sz="11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화상회의가 느리면 VPN 클라이언트 [설정] &gt; [분할 터널링] &gt; [화상회의 트래픽 분할] (가상)을 켭니다.</a:t>
            </a:r>
            <a:endParaRPr lang="ko-KR" sz="11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VPN을 다시 연결하고 화상회의에 다시 들어갑니다.</a:t>
            </a:r>
            <a:endParaRPr lang="ko-KR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097280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ko-KR" sz="1300" dirty="0"/>
          </a:p>
          <a:p>
            <a:pPr marL="0" indent="0">
              <a:spcAft>
                <a:spcPts val="300"/>
              </a:spcAft>
              <a:buNone/>
            </a:pPr>
            <a:r>
              <a:rPr lang="ko-KR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그룹웨어·ERP가 열리고, 화상회의 화면과 소리가 끊기지 않으면 해결된 것입니다.</a:t>
            </a:r>
            <a:endParaRPr lang="ko-KR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24028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33172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후에도 사내 시스템이 열리지 않거나 화상회의가 계속 느리면 IT 헬프데스크에 문의합니다.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명이 동시에 겪으면 IT-NET-003 네트워크 장애 신고·이관 가이드를 따릅니다.</a:t>
            </a:r>
            <a:endParaRPr lang="ko-KR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65760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74904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ko-KR" sz="1300" dirty="0"/>
          </a:p>
          <a:p>
            <a:pPr marL="0" indent="0">
              <a:buNone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접속 장소, 열리지 않는 시스템 이름, 발생 시각, 이미 해 본 조치</a:t>
            </a:r>
            <a:endParaRPr lang="ko-KR" sz="1000" dirty="0"/>
          </a:p>
          <a:p>
            <a:pPr marL="0" indent="0">
              <a:spcBef>
                <a:spcPts val="200"/>
              </a:spcBef>
              <a:buNone/>
            </a:pPr>
            <a:r>
              <a:rPr lang="ko-KR" sz="1000" dirty="0" b="1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FAQ-007</a:t>
            </a:r>
            <a:endParaRPr lang="ko-KR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VPN 연결 후 사내 시스템 접속 불가·화상회의 느림</a:t>
            </a:r>
            <a:endParaRPr lang="en-US" sz="20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6" name="Picture 25" descr="G1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8229600" cy="2846070"/>
          </a:xfrm>
          <a:prstGeom prst="rect">
            <a:avLst/>
          </a:prstGeom>
        </p:spPr>
      </p:pic>
      <p:sp>
        <p:nvSpPr>
          <p:cNvPr id="7" name="TextBox 26"/>
          <p:cNvSpPr txBox="1"/>
          <p:nvPr/>
        </p:nvSpPr>
        <p:spPr>
          <a:xfrm>
            <a:off x="457200" y="3921910"/>
            <a:ext cx="82296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A5560"/>
                </a:solidFill>
                <a:latin typeface="맑은 고딕"/>
                <a:ea typeface="맑은 고딕"/>
              </a:rPr>
              <a:t>그림 3.2. </a:t>
            </a:r>
            <a:r>
              <a:rPr sz="1000" b="0">
                <a:solidFill>
                  <a:srgbClr val="6B7680"/>
                </a:solidFill>
                <a:latin typeface="맑은 고딕"/>
                <a:ea typeface="맑은 고딕"/>
              </a:rPr>
              <a:t>명령 프롬프트에서 ipconfig /flushdns 를 실행하고, VPN 클라이언트 [설정] &gt; [분할 터널링]에서 화상회의 트래픽 분할을 켠 뒤 다시 연결하는 화면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집에서 VPN이 자주 끊김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NET-02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VPN을 연결하고 회의를 하면 연결이 자꾸 끊깁니다.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공유기를 재시작하고 인터넷도 확인했지만 VPN만 계속 끊깁니다.</a:t>
            </a:r>
            <a:endParaRPr lang="ko-KR" sz="1200" dirty="0"/>
          </a:p>
          <a:p>
            <a:pPr marL="0" indent="0">
              <a:spcBef>
                <a:spcPts val="400"/>
              </a:spcBef>
              <a:buNone/>
            </a:pPr>
            <a:r>
              <a:rPr lang="ko-KR" sz="1200" dirty="0" b="1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ko-KR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가정용 공유기와 VPN의 전송 단위(MTU) 설정이 맞지 않아 연결이 끊기는 경우입니다. 사용자가 직접 바꿀 수 없어 네트워크팀이 조정합니다.</a:t>
            </a:r>
            <a:endParaRPr lang="ko-KR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집에서 VPN이 자주 끊김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ko-KR" sz="13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가정용 공유기를 재시작하고, VPN 없이 인터넷이 안정적인지 확인합니다.</a:t>
            </a:r>
            <a:endParaRPr lang="ko-KR" sz="11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VPN만 자주 끊기면 IT 헬프데스크에 문의합니다. 네트워크팀이 VPN 클라이언트 설정을 조정합니다.</a:t>
            </a:r>
            <a:endParaRPr lang="ko-KR" sz="11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조정이 끝났다는 안내를 받으면 VPN에 다시 연결해 회의로 확인합니다.</a:t>
            </a:r>
            <a:endParaRPr lang="ko-KR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097280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ko-KR" sz="1300" dirty="0"/>
          </a:p>
          <a:p>
            <a:pPr marL="0" indent="0">
              <a:spcAft>
                <a:spcPts val="300"/>
              </a:spcAft>
              <a:buNone/>
            </a:pPr>
            <a:r>
              <a:rPr lang="ko-KR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VPN을 연결한 채 회의를 해도 연결이 끊기지 않으면 해결된 것입니다.</a:t>
            </a:r>
            <a:endParaRPr lang="ko-KR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24028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33172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 조정 후에도 계속 끊기면 끊긴 시각을 적어 다시 문의합니다.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명이 동시에 겪으면 IT-NET-003 네트워크 장애 신고·이관 가이드를 따릅니다.</a:t>
            </a:r>
            <a:endParaRPr lang="ko-KR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65760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74904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ko-KR" sz="1300" dirty="0"/>
          </a:p>
          <a:p>
            <a:pPr marL="0" indent="0">
              <a:buNone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공유기 재시작 여부, 끊기는 시각과 빈도, 사용 중이던 프로그램, 이미 해 본 조치</a:t>
            </a:r>
            <a:endParaRPr lang="ko-KR" sz="1000" dirty="0"/>
          </a:p>
          <a:p>
            <a:pPr marL="0" indent="0">
              <a:spcBef>
                <a:spcPts val="200"/>
              </a:spcBef>
              <a:buNone/>
            </a:pPr>
            <a:r>
              <a:rPr lang="ko-KR" sz="1000" dirty="0" b="1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FAQ-007</a:t>
            </a:r>
            <a:endParaRPr lang="ko-KR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집에서 VPN이 자주 끊김</a:t>
            </a:r>
            <a:endParaRPr lang="en-US" sz="20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6" name="Picture 25" descr="G1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8229600" cy="2846070"/>
          </a:xfrm>
          <a:prstGeom prst="rect">
            <a:avLst/>
          </a:prstGeom>
        </p:spPr>
      </p:pic>
      <p:sp>
        <p:nvSpPr>
          <p:cNvPr id="7" name="TextBox 26"/>
          <p:cNvSpPr txBox="1"/>
          <p:nvPr/>
        </p:nvSpPr>
        <p:spPr>
          <a:xfrm>
            <a:off x="457200" y="3921910"/>
            <a:ext cx="82296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A5560"/>
                </a:solidFill>
                <a:latin typeface="맑은 고딕"/>
                <a:ea typeface="맑은 고딕"/>
              </a:rPr>
              <a:t>그림 3.3. </a:t>
            </a:r>
            <a:r>
              <a:rPr sz="1000" b="0">
                <a:solidFill>
                  <a:srgbClr val="6B7680"/>
                </a:solidFill>
                <a:latin typeface="맑은 고딕"/>
                <a:ea typeface="맑은 고딕"/>
              </a:rPr>
              <a:t>VPN 클라이언트 [홈]에서 연결 상태를, [연결] 기록에서 끊긴 시각을 확인하는 화면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61288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200" dirty="0" b="1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</a:t>
            </a: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재택근무 중 VPN이 연결되지 않아요. (FAQ-007)</a:t>
            </a:r>
            <a:endParaRPr lang="ko-KR" sz="1200" dirty="0"/>
          </a:p>
          <a:p>
            <a:pPr marL="0" indent="0">
              <a:buNone/>
            </a:pPr>
            <a:r>
              <a:rPr lang="ko-KR" sz="1200" dirty="0" b="1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</a:t>
            </a: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VPN 클라이언트를 최신 버전으로 업데이트하고, PC를 재부팅하고, 공용 Wi-Fi라면 휴대폰 핫스팟으로 시도합니다. VPN 연결 후 사내 시스템만 안 되면 명령 프롬프트에서 ipconfig /flushdns 를 실행합니다. 여러 명이 동시에 안 되면 전사 장애일 수 있으니 공지를 확인합니다.</a:t>
            </a:r>
            <a:endParaRPr lang="ko-KR" sz="12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sp>
        <p:nvSpPr>
          <p:cNvPr id="8" name="Shape 2"/>
          <p:cNvSpPr/>
          <p:nvPr/>
        </p:nvSpPr>
        <p:spPr>
          <a:xfrm>
            <a:off x="4663440" y="105156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3"/>
          <p:cNvSpPr txBox="1"/>
          <p:nvPr/>
        </p:nvSpPr>
        <p:spPr>
          <a:xfrm>
            <a:off x="4800600" y="1161288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200" dirty="0" b="1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</a:t>
            </a: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사내에서 개인 기기를 와이파이에 연결해도 되나요? (FAQ-037)</a:t>
            </a:r>
            <a:endParaRPr lang="ko-KR" sz="1200" dirty="0"/>
          </a:p>
          <a:p>
            <a:pPr marL="0" indent="0">
              <a:buNone/>
            </a:pPr>
            <a:r>
              <a:rPr lang="ko-KR" sz="1200" dirty="0" b="1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</a:t>
            </a: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기기는 '게스트 Wi-Fi'만 사용할 수 있으며 사내 시스템에는 접근할 수 없습니다. 게스트 비밀번호는 매주 월요일 바뀝니다.</a:t>
            </a:r>
            <a:endParaRPr lang="ko-KR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 · 6. 문의처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주의사항 · 문의처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474720" cy="3566160"/>
          </a:xfrm>
          <a:prstGeom prst="roundRect">
            <a:avLst>
              <a:gd name="adj" fmla="val 2105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기기로 사내 시스템에 접속하지 않습니다. 개인 기기는 게스트 Wi-Fi만 이용할 수 있습니다.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배포한 VPN 클라이언트만 사용하고, 출처를 알 수 없는 VPN 프로그램을 설치하지 않습니다.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VPN 계정이나 비밀번호를 다른 사람과 공유하지 않습니다.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Wi-Fi에서는 VPN을 연결한 뒤에 사내 시스템에 접속합니다.</a:t>
            </a:r>
            <a:endParaRPr lang="ko-KR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114800" y="1051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문의처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417320"/>
          <a:ext cx="4572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헬프데스크 내선 1000 (평일 09:00~18:00)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메신저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#it-helpdesk 채널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it-helpdesk@hanwha-ict.example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문서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IT-NET-002 사내 네트워크 장애 대응 가이드</a:t>
            </a:r>
            <a:endParaRPr lang="ko-KR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IT-NET-003 네트워크 장애 신고·이관 가이드</a:t>
            </a:r>
            <a:endParaRPr lang="ko-KR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IT-SYS-005 메신저·화상회의·협업 도구 가이드</a:t>
            </a:r>
            <a:endParaRPr lang="ko-KR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IT-STD-001 IT 서비스 운영 기준</a:t>
            </a:r>
            <a:endParaRPr lang="ko-KR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VPN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외부에서 사내망에 안전하게 접속하기 위한 암호화 연결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핫스팟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휴대폰의 데이터 연결을 PC와 공유하는 기능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우회 포트 모드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공용 Wi-Fi에서 막힌 통신 포트 대신 다른 포트로 VPN에 연결하는 방식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DNS 캐시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PC가 접속했던 주소 정보를 임시로 저장해 둔 것. ipconfig /flushdns 로 지움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분할 터널링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시스템 트래픽만 VPN으로 보내고 화상회의 등은 바로 인터넷으로 보내는 방식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MTU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네트워크로 한 번에 보내는 데이터 크기. 공유기와 맞지 않으면 연결이 끊길 수 있음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23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IT-NET-001  VPN 접속 장애 대응 가이드</dc:title>
  <dc:subject>PptxGenJS Presentation</dc:subject>
  <dc:creator>네트워크팀</dc:creator>
  <cp:lastModifiedBy>PptxGenJS</cp:lastModifiedBy>
  <cp:revision>1</cp:revision>
  <dcterms:created xsi:type="dcterms:W3CDTF">2026-10-08T16:02:03Z</dcterms:created>
  <dcterms:modified xsi:type="dcterms:W3CDTF">2026-10-08T16:02:03Z</dcterms:modified>
</cp:coreProperties>
</file>