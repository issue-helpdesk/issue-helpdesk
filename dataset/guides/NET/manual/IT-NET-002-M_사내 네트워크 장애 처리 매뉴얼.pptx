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5" r:id="rId10"/>
    <p:sldId id="276" r:id="rId9"/>
    <p:sldId id="277" r:id="rId8"/>
    <p:sldId id="278" r:id="rId7"/>
    <p:sldId id="279" r:id="rId6"/>
    <p:sldId id="280" r:id="rId5"/>
    <p:sldId id="281" r:id="rId4"/>
    <p:sldId id="282" r:id="rId3"/>
    <p:sldId id="283" r:id="rId2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  <p:sldId id="297" r:id="rId39"/>
    <p:sldId id="298" r:id="rId40"/>
    <p:sldId id="299" r:id="rId41"/>
    <p:sldId id="300" r:id="rId42"/>
    <p:sldId id="301" r:id="rId43"/>
    <p:sldId id="302" r:id="rId44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2e72e204-ceb3-2f3e-4b85-99decc568caa}">
          <p14:sldIdLst>
            <p14:sldId id="256"/>
            <p14:sldId id="257"/>
            <p14:sldId id="258"/>
            <p14:sldId id="259"/>
            <p14:sldId id="260"/>
          </p14:sldIdLst>
        </p14:section>
        <p14:section name="3.1 처리 절차" id="{5a20b995-48f9-0b81-a66f-1df5e63d6d7f}">
          <p14:sldIdLst>
            <p14:sldId id="261"/>
            <p14:sldId id="262"/>
          </p14:sldIdLst>
        </p14:section>
        <p14:section name="대형 장애·기록" id="{5ed9c68d-a792-f7fd-e9a9-50676f546159}">
          <p14:sldIdLst>
            <p14:sldId id="263"/>
          </p14:sldIdLst>
        </p14:section>
        <p14:section name="부록" id="{a7b92703-cf53-a262-5474-15598c036e0b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9.xml"/><Relationship Id="rId3" Type="http://schemas.openxmlformats.org/officeDocument/2006/relationships/slide" Target="slides/slide18.xml"/><Relationship Id="rId4" Type="http://schemas.openxmlformats.org/officeDocument/2006/relationships/slide" Target="slides/slide17.xml"/><Relationship Id="rId5" Type="http://schemas.openxmlformats.org/officeDocument/2006/relationships/slide" Target="slides/slide16.xml"/><Relationship Id="rId6" Type="http://schemas.openxmlformats.org/officeDocument/2006/relationships/slide" Target="slides/slide15.xml"/><Relationship Id="rId7" Type="http://schemas.openxmlformats.org/officeDocument/2006/relationships/slide" Target="slides/slide14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1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IT-NET-002-M  사내 네트워크 장애 처리 매뉴얼  |  v1.0  |  IT 담당자 한정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네트워크 장애 처리 매뉴얼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매뉴얼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IT-NET-002-M   |   v1.0   |   시행일 2026-03-01   |   IT 담당자 한정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IT-NET-002-M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NET VPN·네트워크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사용자 가이드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IT-NET-002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한정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열람 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서비스데스크, 네트워크팀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NET-01, NET-04, NET-05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FAQ-006, FAQ-008, FAQ-037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 문서는 IT운영·보안 조직 내부 문서입니다. 사용자에게 문서 자체를 전달하지 않습니다.</a:t>
            </a:r>
            <a:endParaRPr lang="en-US" sz="11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ko-KR" sz="1300" dirty="0"/>
          </a:p>
          <a:p>
            <a:pPr marL="0" indent="0">
              <a:spcAft>
                <a:spcPts val="300"/>
              </a:spcAft>
              <a:buNone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IT-NET-002로 들어오는 사내 Wi-Fi·유선 LAN·인터넷 속도 저하 문의를 서비스데스크가 접수·분류하고, 네트워크팀이 장비·설정을 조치하는 기준과 절차를 정한다.</a:t>
            </a:r>
            <a:endParaRPr lang="ko-KR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범위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서비스데스크(L1): 증상·위치·포트 번호 확인, Wi-Fi 프로필 재설정 안내로 즉시 처리, 장비 조치가 필요한 건 티켓 생성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이관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네트워크팀(L2): 무선 AP 점검·재부팅, 무선망 인증서 재발급, 무선랜 드라이버 재설치, 랜 포트 활성화·VLAN 설정, IP 할당(DHCP) 점검, 대역폭·스위치 점검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담당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조민재 (무선·유선 LAN), 정서현 (무선·유선 LAN), 성민경 (인터넷·백본), 함성진 (인터넷·백본)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 모니터링 시스템 (가상), 무선 AP 관리 콘솔 (가상), 스위치 관리 콘솔 (가상), 인증서 포털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가이드의 블록별 기본값이다. 긴급도 기준은 IT 서비스 운영 기준(IT-STD-001)을 따른다.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14400"/>
                <a:gridCol w="2560320"/>
                <a:gridCol w="822960"/>
                <a:gridCol w="1188720"/>
                <a:gridCol w="11887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증상·요청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긴급도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방식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이관 대상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NET-01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Wi-Fi가 연결됐다 끊겼다 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NET-01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Wi-Fi 연결 시 '인증서를 확인할 수 없습니다' 오류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NET-01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Wi-Fi 연결은 되는데 인터넷이 안 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NET-01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Wi-Fi 목록에 사내 무선망이 보이지 않음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NET-05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자리 이동 후 랜선 연결 시 '네트워크 연결 없음'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NET-05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랜선 연결 시 '식별되지 않은 네트워크' 표시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NET-04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인터넷이 너무 느리거나 화상회의가 계속 끊김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 · 긴급도 조정 조건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처리: 서비스데스크(L1)가 안내만으로 끝낸 건. 티켓 없이 상담 기록만 남긴다.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티켓: 담당자 조치가 필요한 건. 담당팀에 배정하고 상태를 RDY → WIP → FIN 으로 관리한다.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긴급도 조정 조건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층·부서에서 네트워크를 전혀 쓸 수 없으면 NET-03(P1)으로 전환하고 IT-NET-003-M 절차를 따른다.</a:t>
            </a:r>
            <a:endParaRPr lang="ko-KR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미팅 등 당일 일정에 차질이 있거나 급하다고 하면 P3을 P2로 한 단계 올린다 (예: INQ-2026-00180, INQ-2026-00196).</a:t>
            </a:r>
            <a:endParaRPr lang="ko-KR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구역에서 여러 명이 Wi-Fi 인터넷 불가를 알리면 AP 장애(3.3)로 묶어 우선 배정한다.</a:t>
            </a:r>
            <a:endParaRPr lang="ko-KR" sz="115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사내 Wi-Fi가 연결됐다 끊겼다 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NET-01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연결됐다 끊기나요, 아예 연결이 안 되나요? 위치는 어디인가요?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장소의 다른 사람도 끊기나요, 내 노트북만 그런가요?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저장된 사내 무선망을 삭제하고 다시 연결해 봤나요?</a:t>
            </a:r>
            <a:endParaRPr lang="ko-KR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처리: 사내 Wi-Fi 프로필 삭제 후 재연결로 해결되면 끝낸다 (INQ-2026-00352).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티켓: 내 노트북만 반복해서 끊기면 네트워크팀이 무선 드라이버와 절전 설정을 점검한다 (INQ-2026-00377).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장소 여러 명이 겪으면 3.3(AP 장애)으로 분류한다.</a:t>
            </a:r>
            <a:endParaRPr lang="ko-KR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사내 Wi-Fi가 연결됐다 끊겼다 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ko-KR" sz="13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Wi-Fi 프로필 삭제 후 재연결을 안내한다.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 티켓을 만들어 네트워크팀에 배정한다.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네트워크팀이 원격 지원으로 무선 드라이버를 업데이트하고 전원 관리의 절전 설정을 해제한다.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장소에서 끊기지 않는지 사용자와 확인하고 FIN 처리한다.</a:t>
            </a:r>
            <a:endParaRPr lang="ko-KR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ko-KR" sz="1300" dirty="0"/>
          </a:p>
          <a:p>
            <a:pPr marL="0" indent="0">
              <a:spcAft>
                <a:spcPts val="300"/>
              </a:spcAft>
              <a:buNone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Wi-Fi가 끊기던 문제로 무선 드라이버를 업데이트하고 절전 설정을 해제했습니다. 다시 끊기면 위치와 시각을 알려 주세요.</a:t>
            </a:r>
            <a:endParaRPr lang="ko-KR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68880"/>
            <a:ext cx="310896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603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문의이력에 재발 방지 기록 없음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노트북 모델 문의가 반복되면 드라이버 일괄 업데이트 필요 여부를 검토한다.</a:t>
            </a:r>
            <a:endParaRPr lang="ko-KR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616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57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위치, 끊기는 빈도·시각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노트북 모델과 OS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프로필 재설정 결과</a:t>
            </a:r>
            <a:endParaRPr lang="ko-KR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사내 Wi-Fi가 연결됐다 끊겼다 함</a:t>
            </a:r>
            <a:endParaRPr lang="en-US" sz="20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pic>
        <p:nvPicPr>
          <p:cNvPr id="6" name="Picture 25" descr="M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8229600" cy="2486025"/>
          </a:xfrm>
          <a:prstGeom prst="rect">
            <a:avLst/>
          </a:prstGeom>
        </p:spPr>
      </p:pic>
      <p:sp>
        <p:nvSpPr>
          <p:cNvPr id="7" name="TextBox 26"/>
          <p:cNvSpPr txBox="1"/>
          <p:nvPr/>
        </p:nvSpPr>
        <p:spPr>
          <a:xfrm>
            <a:off x="457200" y="3561865"/>
            <a:ext cx="82296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A5560"/>
                </a:solidFill>
                <a:latin typeface="맑은 고딕"/>
                <a:ea typeface="맑은 고딕"/>
              </a:rPr>
              <a:t>그림 3.1. </a:t>
            </a:r>
            <a:r>
              <a:rPr sz="1000" b="0">
                <a:solidFill>
                  <a:srgbClr val="6B7680"/>
                </a:solidFill>
                <a:latin typeface="맑은 고딕"/>
                <a:ea typeface="맑은 고딕"/>
              </a:rPr>
              <a:t>원격 지원으로 무선 어댑터 드라이버를 업데이트하고 전원 관리의 절전 설정을 해제하는 화면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Wi-Fi 연결 시 '인증서를 확인할 수 없습니다' 오류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NET-01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메시지가 '인증서를 확인할 수 없습니다'인가요?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언제부터 그런가요? 유선 LAN은 되나요?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지급 PC인가요?</a:t>
            </a:r>
            <a:endParaRPr lang="ko-KR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 대상이 아니다. 인증서 재발급이 필요하므로 티켓으로 네트워크팀에 이관한다 (이력 4건 모두 티켓).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기기라면 게스트 Wi-Fi만 쓸 수 있음을 안내하고 끝낸다 (FAQ-037).</a:t>
            </a:r>
            <a:endParaRPr lang="ko-KR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Wi-Fi 연결 시 '인증서를 확인할 수 없습니다' 오류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ko-KR" sz="13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메시지를 확인하고 티켓을 만들어 네트워크팀에 배정한다.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네트워크팀이 인증서 포털에서 해당 단말의 무선망 인증서를 재발급한다.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사용자에게 새 인증서 설치와 사내 무선망 재연결 방법을 안내한다.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연결을 확인하고 FIN 처리한다 (INQ-2026-00133).</a:t>
            </a:r>
            <a:endParaRPr lang="ko-KR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ko-KR" sz="1300" dirty="0"/>
          </a:p>
          <a:p>
            <a:pPr marL="0" indent="0">
              <a:spcAft>
                <a:spcPts val="300"/>
              </a:spcAft>
              <a:buNone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무선망 인증서를 재발급했습니다. 안내드린 방법으로 새 인증서를 설치한 뒤 저장된 사내 무선망을 삭제하고 다시 연결해 주세요.</a:t>
            </a:r>
            <a:endParaRPr lang="ko-KR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68880"/>
            <a:ext cx="310896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603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문의이력 기록: AP 상태 모니터링 알림 등록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단말 무선 인증서 만료 문의가 반복되므로 만료 전 사전 안내 여부를 검토한다.</a:t>
            </a:r>
            <a:endParaRPr lang="ko-KR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616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57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메시지, 사번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정보(노트북 모델·OS)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시각과 유선 LAN 사용 가능 여부</a:t>
            </a:r>
            <a:endParaRPr lang="ko-KR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Wi-Fi 연결 시 '인증서를 확인할 수 없습니다' 오류</a:t>
            </a:r>
            <a:endParaRPr lang="en-US" sz="20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pic>
        <p:nvPicPr>
          <p:cNvPr id="6" name="Picture 25" descr="M2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8229600" cy="1861947"/>
          </a:xfrm>
          <a:prstGeom prst="rect">
            <a:avLst/>
          </a:prstGeom>
        </p:spPr>
      </p:pic>
      <p:sp>
        <p:nvSpPr>
          <p:cNvPr id="7" name="TextBox 26"/>
          <p:cNvSpPr txBox="1"/>
          <p:nvPr/>
        </p:nvSpPr>
        <p:spPr>
          <a:xfrm>
            <a:off x="457200" y="2937787"/>
            <a:ext cx="82296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A5560"/>
                </a:solidFill>
                <a:latin typeface="맑은 고딕"/>
                <a:ea typeface="맑은 고딕"/>
              </a:rPr>
              <a:t>그림 3.2. </a:t>
            </a:r>
            <a:r>
              <a:rPr sz="1000" b="0">
                <a:solidFill>
                  <a:srgbClr val="6B7680"/>
                </a:solidFill>
                <a:latin typeface="맑은 고딕"/>
                <a:ea typeface="맑은 고딕"/>
              </a:rPr>
              <a:t>인증서 포털의 단말 인증서 관리 화면에서 만료된 인증서를 재발급하는 화면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사내 Wi-Fi 연결은 되는데 인터넷이 안 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NET-01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건물·층·회의실 위치는 어디인가요?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장소의 다른 사람도 연결은 되는데 인터넷이 안 되나요?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급한 일정(고객 미팅 등)이 있나요?</a:t>
            </a:r>
            <a:endParaRPr lang="ko-KR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 대상이 아니다. 평가셋 기준 담당자 배정(네트워크팀 이관)이 정답이다.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명이 같은 장소에서 겪으면 하나의 티켓으로 묶어 우선 배정한다.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증상이 여러 층에서 동시에 접수되면 NET-03으로 전환한다.</a:t>
            </a:r>
            <a:endParaRPr lang="ko-KR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사내 Wi-Fi 연결은 되는데 인터넷이 안 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ko-KR" sz="13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위치와 영향 인원을 확인해 티켓을 만들고 네트워크팀에 배정한다.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네트워크팀이 무선 AP 관리 콘솔 (가상)에서 해당 구역 AP 상태를 확인한다.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구역 무선 AP를 재부팅해 정상화하고, 장비 상태 모니터링에 등록한다 (INQ-2026-00004 등 7건).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장소에서 인터넷이 되는지 사용자와 확인하고 FIN 처리한다.</a:t>
            </a:r>
            <a:endParaRPr lang="ko-KR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ko-KR" sz="1300" dirty="0"/>
          </a:p>
          <a:p>
            <a:pPr marL="0" indent="0">
              <a:spcAft>
                <a:spcPts val="300"/>
              </a:spcAft>
              <a:buNone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○층 회의실 무선 AP를 재부팅해 정상화했습니다. 같은 증상이 다시 생기면 위치를 알려 주세요.</a:t>
            </a:r>
            <a:endParaRPr lang="ko-KR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68880"/>
            <a:ext cx="310896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603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 상태 모니터링 알림 등록 (문의이력)</a:t>
            </a:r>
            <a:endParaRPr lang="ko-KR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616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57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건물·층·회의실 위치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영향 인원과 발생 시각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급한 일정 여부</a:t>
            </a:r>
            <a:endParaRPr lang="ko-KR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사내 Wi-Fi 연결은 되는데 인터넷이 안 됨</a:t>
            </a:r>
            <a:endParaRPr lang="en-US" sz="20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pic>
        <p:nvPicPr>
          <p:cNvPr id="6" name="Picture 25" descr="M2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8229600" cy="2129409"/>
          </a:xfrm>
          <a:prstGeom prst="rect">
            <a:avLst/>
          </a:prstGeom>
        </p:spPr>
      </p:pic>
      <p:sp>
        <p:nvSpPr>
          <p:cNvPr id="7" name="TextBox 26"/>
          <p:cNvSpPr txBox="1"/>
          <p:nvPr/>
        </p:nvSpPr>
        <p:spPr>
          <a:xfrm>
            <a:off x="457200" y="3205249"/>
            <a:ext cx="82296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A5560"/>
                </a:solidFill>
                <a:latin typeface="맑은 고딕"/>
                <a:ea typeface="맑은 고딕"/>
              </a:rPr>
              <a:t>그림 3.3. </a:t>
            </a:r>
            <a:r>
              <a:rPr sz="1000" b="0">
                <a:solidFill>
                  <a:srgbClr val="6B7680"/>
                </a:solidFill>
                <a:latin typeface="맑은 고딕"/>
                <a:ea typeface="맑은 고딕"/>
              </a:rPr>
              <a:t>무선 AP 관리 콘솔 (가상)에서 오류 구역 AP를 확인하고 재부팅하는 화면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Wi-Fi 목록에 사내 무선망이 보이지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NET-01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비행기 모드가 꺼져 있고 Wi-Fi가 켜져 있나요?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목록에 다른 무선망은 보이나요? 같은 자리 다른 사람에게는 보이나요?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재부팅해 봤나요?</a:t>
            </a:r>
            <a:endParaRPr lang="ko-KR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처리: 비행기 모드 등 설정 문제로 확인되면 안내로 끝낸다.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티켓: 설정에 문제가 없는데 사내 무선망이 안 보이면 무선랜 드라이버 재설치가 필요하다 (이력 6건 모두 티켓).</a:t>
            </a:r>
            <a:endParaRPr lang="ko-KR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Wi-Fi 목록에 사내 무선망이 보이지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ko-KR" sz="13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비행기 모드·Wi-Fi 켜짐 여부와 재부팅을 안내한다.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 티켓을 만들어 네트워크팀에 배정한다.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네트워크팀이 원격 지원으로 무선랜 드라이버를 다시 설치한다.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무선망이 보이고 연결되는지 확인하고 FIN 처리한다 (INQ-2026-00034).</a:t>
            </a:r>
            <a:endParaRPr lang="ko-KR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ko-KR" sz="1300" dirty="0"/>
          </a:p>
          <a:p>
            <a:pPr marL="0" indent="0">
              <a:spcAft>
                <a:spcPts val="300"/>
              </a:spcAft>
              <a:buNone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무선랜 드라이버를 다시 설치해 사내 무선망 연결을 확인했습니다. 다시 보이지 않으면 바로 알려 주세요.</a:t>
            </a:r>
            <a:endParaRPr lang="ko-KR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68880"/>
            <a:ext cx="310896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603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문의이력 기록: AP 상태 모니터링 알림 등록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드라이버를 다시 설치해도 반복되는 노트북은 엔드포인트지원팀 장비 점검으로 연결한다.</a:t>
            </a:r>
            <a:endParaRPr lang="ko-KR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616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57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노트북 모델과 OS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목록에 보이는 무선망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사용자가 해 본 조치</a:t>
            </a:r>
            <a:endParaRPr lang="ko-KR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Wi-Fi 목록에 사내 무선망이 보이지 않음</a:t>
            </a:r>
            <a:endParaRPr lang="en-US" sz="20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pic>
        <p:nvPicPr>
          <p:cNvPr id="6" name="Picture 25" descr="M2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8229600" cy="2486025"/>
          </a:xfrm>
          <a:prstGeom prst="rect">
            <a:avLst/>
          </a:prstGeom>
        </p:spPr>
      </p:pic>
      <p:sp>
        <p:nvSpPr>
          <p:cNvPr id="7" name="TextBox 26"/>
          <p:cNvSpPr txBox="1"/>
          <p:nvPr/>
        </p:nvSpPr>
        <p:spPr>
          <a:xfrm>
            <a:off x="457200" y="3561865"/>
            <a:ext cx="82296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A5560"/>
                </a:solidFill>
                <a:latin typeface="맑은 고딕"/>
                <a:ea typeface="맑은 고딕"/>
              </a:rPr>
              <a:t>그림 3.4. </a:t>
            </a:r>
            <a:r>
              <a:rPr sz="1000" b="0">
                <a:solidFill>
                  <a:srgbClr val="6B7680"/>
                </a:solidFill>
                <a:latin typeface="맑은 고딕"/>
                <a:ea typeface="맑은 고딕"/>
              </a:rPr>
              <a:t>원격 지원으로 장치 관리자에서 무선 어댑터 드라이버를 다시 설치하는 화면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자리 이동 후 랜선 연결 시 '네트워크 연결 없음'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NET-05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벽면 포트 번호(예: 5F-A-12)는 무엇인가요?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자리를 옮긴 날짜는 언제인가요? 케이블을 확인했나요?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메시지는 '네트워크 연결 없음'인가요?</a:t>
            </a:r>
            <a:endParaRPr lang="ko-KR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 대상이 아니다. 평가셋 기준 포트 번호를 받아 네트워크팀에 이관한다.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포트 번호를 모르면 먼저 확인을 요청한 뒤 티켓을 만든다.</a:t>
            </a:r>
            <a:endParaRPr lang="ko-KR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자리 이동 후 랜선 연결 시 '네트워크 연결 없음'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ko-KR" sz="13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포트 번호와 위치를 받아 티켓을 만들고 네트워크팀에 배정한다.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네트워크팀이 스위치 관리 콘솔 (가상)에서 해당 포트를 활성화하고 VLAN을 설정한다.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사용자에게 랜선을 다시 꽂아 연결을 확인하도록 안내한다.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연결을 확인하고 FIN 처리한다 (INQ-2026-00122).</a:t>
            </a:r>
            <a:endParaRPr lang="ko-KR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ko-KR" sz="1300" dirty="0"/>
          </a:p>
          <a:p>
            <a:pPr marL="0" indent="0">
              <a:spcAft>
                <a:spcPts val="300"/>
              </a:spcAft>
              <a:buNone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요청하신 벽면 포트를 활성화했습니다. 랜선을 다시 꽂아 연결을 확인해 주세요.</a:t>
            </a:r>
            <a:endParaRPr lang="ko-KR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68880"/>
            <a:ext cx="310896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603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문의이력에 재발 방지 기록 없음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 이동 요청이 있을 때 포트 활성화를 함께 처리하는지 검토한다.</a:t>
            </a:r>
            <a:endParaRPr lang="ko-KR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616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57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벽면 포트 번호와 위치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 이동 날짜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메시지와 케이블 확인 여부</a:t>
            </a:r>
            <a:endParaRPr lang="ko-KR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자리 이동 후 랜선 연결 시 '네트워크 연결 없음'</a:t>
            </a:r>
            <a:endParaRPr lang="en-US" sz="20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pic>
        <p:nvPicPr>
          <p:cNvPr id="6" name="Picture 25" descr="M2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8229600" cy="1786509"/>
          </a:xfrm>
          <a:prstGeom prst="rect">
            <a:avLst/>
          </a:prstGeom>
        </p:spPr>
      </p:pic>
      <p:sp>
        <p:nvSpPr>
          <p:cNvPr id="7" name="TextBox 26"/>
          <p:cNvSpPr txBox="1"/>
          <p:nvPr/>
        </p:nvSpPr>
        <p:spPr>
          <a:xfrm>
            <a:off x="457200" y="2862349"/>
            <a:ext cx="82296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A5560"/>
                </a:solidFill>
                <a:latin typeface="맑은 고딕"/>
                <a:ea typeface="맑은 고딕"/>
              </a:rPr>
              <a:t>그림 3.5. </a:t>
            </a:r>
            <a:r>
              <a:rPr sz="1000" b="0">
                <a:solidFill>
                  <a:srgbClr val="6B7680"/>
                </a:solidFill>
                <a:latin typeface="맑은 고딕"/>
                <a:ea typeface="맑은 고딕"/>
              </a:rPr>
              <a:t>스위치 관리 콘솔 (가상)에서 포트 번호로 조회해 포트를 활성화하고 VLAN을 지정하는 화면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랜선 연결 시 '식별되지 않은 네트워크' 표시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NET-05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메시지가 '식별되지 않은 네트워크'인가요?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벽면 포트 번호와 위치는 어디인가요?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층 다른 사람도 같은 증상인가요? 재부팅해 봤나요?</a:t>
            </a:r>
            <a:endParaRPr lang="ko-KR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처리: 랜선 재연결이나 재부팅으로 IP를 받으면 끝낸다.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티켓: 재부팅 후에도 같으면 IP 할당(DHCP) 점검이 필요하다 (이력 2건 모두 티켓).</a:t>
            </a:r>
            <a:endParaRPr lang="ko-KR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랜선 연결 시 '식별되지 않은 네트워크' 표시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ko-KR" sz="13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랜선 재연결과 재부팅을 안내한다.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 티켓을 만들어 네트워크팀에 배정한다.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네트워크팀이 DHCP 서비스 상태를 확인해 재시작하고 사용자 IP를 갱신한다.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인터넷 연결을 확인하고 FIN 처리한다 (INQ-2026-00012, INQ-2026-00238).</a:t>
            </a:r>
            <a:endParaRPr lang="ko-KR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ko-KR" sz="1300" dirty="0"/>
          </a:p>
          <a:p>
            <a:pPr marL="0" indent="0">
              <a:spcAft>
                <a:spcPts val="300"/>
              </a:spcAft>
              <a:buNone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IP 자동 할당 문제를 조치하고 IP를 갱신했습니다. 지금 인터넷 연결을 확인해 주세요.</a:t>
            </a:r>
            <a:endParaRPr lang="ko-KR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68880"/>
            <a:ext cx="310896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603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문의이력에 재발 방지 기록 없음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구역에서 반복되면 DHCP 주소 범위와 서비스 상태를 점검한다.</a:t>
            </a:r>
            <a:endParaRPr lang="ko-KR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616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57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벽면 포트 번호와 위치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증상 범위</a:t>
            </a:r>
            <a:endParaRPr lang="ko-KR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랜선 연결 시 '식별되지 않은 네트워크' 표시</a:t>
            </a:r>
            <a:endParaRPr lang="en-US" sz="20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pic>
        <p:nvPicPr>
          <p:cNvPr id="6" name="Picture 25" descr="M2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8229600" cy="1738503"/>
          </a:xfrm>
          <a:prstGeom prst="rect">
            <a:avLst/>
          </a:prstGeom>
        </p:spPr>
      </p:pic>
      <p:sp>
        <p:nvSpPr>
          <p:cNvPr id="7" name="TextBox 26"/>
          <p:cNvSpPr txBox="1"/>
          <p:nvPr/>
        </p:nvSpPr>
        <p:spPr>
          <a:xfrm>
            <a:off x="457200" y="2814343"/>
            <a:ext cx="82296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A5560"/>
                </a:solidFill>
                <a:latin typeface="맑은 고딕"/>
                <a:ea typeface="맑은 고딕"/>
              </a:rPr>
              <a:t>그림 3.6. </a:t>
            </a:r>
            <a:r>
              <a:rPr sz="1000" b="0">
                <a:solidFill>
                  <a:srgbClr val="6B7680"/>
                </a:solidFill>
                <a:latin typeface="맑은 고딕"/>
                <a:ea typeface="맑은 고딕"/>
              </a:rPr>
              <a:t>네트워크 모니터링 시스템 (가상)에서 DHCP 서비스 상태와 주소 범위 사용률을 확인하는 화면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인터넷이 너무 느리거나 화상회의가 계속 끊김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NET-04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건물·층은 어디이며, 같은 층·팀 전체가 느린가요?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언제부터 느린가요? 특정 시간대에 반복되나요?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느린 서비스는 무엇인가요(웹, 화상회의, 사내 시스템)?</a:t>
            </a:r>
            <a:endParaRPr lang="ko-KR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 대상이 아니다. 평가셋 기준 부서 단위 속도 저하는 P2로 네트워크팀에 이관한다.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혼자만 느리면 PC 문제일 수 있으므로 HW-01 기준으로 다시 분류한다.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층·부서에서 네트워크를 전혀 쓸 수 없으면 NET-03으로 전환한다.</a:t>
            </a:r>
            <a:endParaRPr lang="ko-KR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인터넷이 너무 느리거나 화상회의가 계속 끊김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ko-KR" sz="13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건물·층과 영향 범위를 확인해 P2 티켓을 만들고 네트워크팀에 배정한다.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네트워크팀이 네트워크 모니터링 시스템 (가상)에서 해당 층 스위치 업링크 사용량과 포트 상태를 확인한다.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대용량 업데이트 배포가 원인이면 배포를 업무 외 시간으로 옮기고 QoS 정책을 적용한다 (INQ-2026-00010 등 7건).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업링크 포트 오류면 포트 교체·트래픽 분산, 대역폭 포화면 업링크를 증설한다 (INQ-2026-00177, INQ-2026-00380).</a:t>
            </a:r>
            <a:endParaRPr lang="ko-KR" sz="115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층 속도가 정상인지 사용자와 확인하고 FIN 처리한다.</a:t>
            </a:r>
            <a:endParaRPr lang="ko-KR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ko-KR" sz="1300" dirty="0"/>
          </a:p>
          <a:p>
            <a:pPr marL="0" indent="0">
              <a:spcAft>
                <a:spcPts val="300"/>
              </a:spcAft>
              <a:buNone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○층 네트워크 속도 저하를 조치했습니다. 대용량 배포 시간을 업무 외 시간으로 옮기고 트래픽 우선순위를 적용했습니다. 다시 느려지면 시간대를 알려 주세요.</a:t>
            </a:r>
            <a:endParaRPr lang="ko-KR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68880"/>
            <a:ext cx="310896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603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대용량 배포 작업 업무시간 외 수행 원칙 수립 (문의이력)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스위치 대역폭 사용률 알림 등록 (문의이력)</a:t>
            </a:r>
            <a:endParaRPr lang="ko-KR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616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57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건물·층, 영향 팀·인원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 시각과 반복 시간대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느린 서비스</a:t>
            </a:r>
            <a:endParaRPr lang="ko-KR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인터넷이 너무 느리거나 화상회의가 계속 끊김</a:t>
            </a:r>
            <a:endParaRPr lang="en-US" sz="20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pic>
        <p:nvPicPr>
          <p:cNvPr id="6" name="Picture 25" descr="M2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8229600" cy="1961388"/>
          </a:xfrm>
          <a:prstGeom prst="rect">
            <a:avLst/>
          </a:prstGeom>
        </p:spPr>
      </p:pic>
      <p:sp>
        <p:nvSpPr>
          <p:cNvPr id="7" name="TextBox 26"/>
          <p:cNvSpPr txBox="1"/>
          <p:nvPr/>
        </p:nvSpPr>
        <p:spPr>
          <a:xfrm>
            <a:off x="457200" y="3037228"/>
            <a:ext cx="82296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A5560"/>
                </a:solidFill>
                <a:latin typeface="맑은 고딕"/>
                <a:ea typeface="맑은 고딕"/>
              </a:rPr>
              <a:t>그림 3.7. </a:t>
            </a:r>
            <a:r>
              <a:rPr sz="1000" b="0">
                <a:solidFill>
                  <a:srgbClr val="6B7680"/>
                </a:solidFill>
                <a:latin typeface="맑은 고딕"/>
                <a:ea typeface="맑은 고딕"/>
              </a:rPr>
              <a:t>네트워크 모니터링 시스템 (가상)에서 층별 업링크 사용률을 확인해 포화 층을 찾는 화면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 · 5. 처리 기록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장애 대응 · 처리 기록 기준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</a:t>
            </a:r>
            <a:endParaRPr lang="ko-KR" sz="13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층·부서에서 사내망·인터넷을 전혀 쓸 수 없으면 NET-03 전사 장애로 판단하고 IT-NET-003-M 절차로 넘긴다. 같은 층의 Wi-Fi 장애나 속도 저하는 NET-01·NET-04 티켓으로 처리한다.</a:t>
            </a:r>
            <a:endParaRPr lang="ko-KR" sz="11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티켓(MI-YYYY-NN)을 만들고, 같은 증상의 개별 문의는 대표 티켓에 연결한다.</a:t>
            </a:r>
            <a:endParaRPr lang="ko-KR" sz="11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 방법과 갱신 주기는 IT-NET-003-M 4장을 따른다.</a:t>
            </a:r>
            <a:endParaRPr lang="ko-KR" sz="11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개별 문의 일괄 완료 처리와 원인 보고는 IT-NET-003-M 4장을 따른다.</a:t>
            </a:r>
            <a:endParaRPr lang="ko-KR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처리 기록 기준 (FIN 시 티켓에 기록)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확인된 원인 한 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조치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실제로 한 조치 (즉시 처리면 [즉시 처리])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재발 방지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문의를 줄이기 위한 조치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안내에 쓴 FAQ 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가이드 반영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가이드 반영 필요 여부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연락처 · 개정 이력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연락처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헬프데스크 내선 1000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1040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1030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IT-NET-002-M  사내 네트워크 장애 처리 매뉴얼</dc:title>
  <dc:subject>PptxGenJS Presentation</dc:subject>
  <dc:creator>네트워크팀</dc:creator>
  <cp:lastModifiedBy>PptxGenJS</cp:lastModifiedBy>
  <cp:revision>1</cp:revision>
  <dcterms:created xsi:type="dcterms:W3CDTF">2026-10-08T13:47:03Z</dcterms:created>
  <dcterms:modified xsi:type="dcterms:W3CDTF">2026-10-08T13:47:03Z</dcterms:modified>
</cp:coreProperties>
</file>