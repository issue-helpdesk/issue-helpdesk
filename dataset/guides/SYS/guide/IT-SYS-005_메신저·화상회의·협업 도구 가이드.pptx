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6" r:id="rId11"/>
    <p:sldId id="277" r:id="rId10"/>
    <p:sldId id="278" r:id="rId9"/>
    <p:sldId id="279" r:id="rId8"/>
    <p:sldId id="280" r:id="rId7"/>
    <p:sldId id="281" r:id="rId6"/>
    <p:sldId id="282" r:id="rId5"/>
    <p:sldId id="283" r:id="rId4"/>
    <p:sldId id="284" r:id="rId3"/>
    <p:sldId id="285" r:id="rId2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7" r:id="rId38"/>
    <p:sldId id="298" r:id="rId39"/>
    <p:sldId id="299" r:id="rId40"/>
    <p:sldId id="300" r:id="rId41"/>
    <p:sldId id="301" r:id="rId42"/>
    <p:sldId id="302" r:id="rId43"/>
    <p:sldId id="303" r:id="rId44"/>
    <p:sldId id="304" r:id="rId45"/>
    <p:sldId id="305" r:id="rId46"/>
    <p:sldId id="306" r:id="rId47"/>
    <p:sldId id="307" r:id="rId48"/>
    <p:sldId id="308" r:id="rId49"/>
    <p:sldId id="309" r:id="rId50"/>
    <p:sldId id="310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2" r:id="rId63"/>
    <p:sldId id="323" r:id="rId64"/>
    <p:sldId id="324" r:id="rId65"/>
    <p:sldId id="325" r:id="rId66"/>
    <p:sldId id="326" r:id="rId67"/>
    <p:sldId id="327" r:id="rId68"/>
    <p:sldId id="328" r:id="rId69"/>
    <p:sldId id="329" r:id="rId70"/>
    <p:sldId id="330" r:id="rId71"/>
    <p:sldId id="331" r:id="rId72"/>
    <p:sldId id="332" r:id="rId73"/>
    <p:sldId id="333" r:id="rId74"/>
    <p:sldId id="334" r:id="rId75"/>
    <p:sldId id="335" r:id="rId76"/>
    <p:sldId id="336" r:id="rId77"/>
    <p:sldId id="337" r:id="rId78"/>
    <p:sldId id="338" r:id="rId79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·개요" id="{d1c9fe69-f8fa-47c1-0b43-c16b46c1709f}">
          <p14:sldIdLst>
            <p14:sldId id="256"/>
            <p14:sldId id="257"/>
            <p14:sldId id="258"/>
            <p14:sldId id="259"/>
          </p14:sldIdLst>
        </p14:section>
        <p14:section name="3.1 증상" id="{43a5a403-6d74-43a9-58bd-7bc4a15afd61}">
          <p14:sldIdLst>
            <p14:sldId id="260"/>
            <p14:sldId id="261"/>
            <p14:sldId id="262"/>
          </p14:sldIdLst>
        </p14:section>
        <p14:section name="FAQ·문의처" id="{bbf332e7-66a9-14f5-fb28-3b7f1807f14c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5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 메신저·화상회의·협업 도구 가이드  |  v1.0  |  사내 공개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메신저·화상회의·협업 도구 가이드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46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IT 가이드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0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IT-SYS-005   |   v1.0   |   시행일 2026-03-01   |   사내 공개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정보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08960"/>
                <a:gridCol w="100584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번호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 사내 시스템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장애 대응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 임직원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보안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사내 공개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시행일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승인자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 팀장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담당자 매뉴얼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IT-SYS-005-M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포함 시나리오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SYS-10, SYS-11, SYS-12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키워드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마이크가 안 돼요, 목소리가 안 들린대요, 화상회의 카메라 인식 불가, 사용 중인 장치, 사내 메신저 알림이 안 와요, 방해 금지 모드, 회의 중 소리 지연, 블루투스 헤드셋, 화상회의 자꾸 끊김, 화면 멈춤, OS 업데이트 후 화상회의 앱 종료, 그룹 메일, 팀 공용 메일 주소 생성 요청, 그룹 메일에 멤버 추가 요청, 외부 발신자 수신 허용, 외부 서비스 가입 인증 메일, 공유 캘린더 권한 요청, 메신저 채널, 외부 게스트 초대 요청, 메신저 비공개 채널 초대 불가, 게스트 계정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개요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메신저·화상회의에서 마이크·카메라·알림·연결 문제가 생겼을 때 직접 조치하는 방법과, 그룹 메일·공유 캘린더·메신저 채널 관리를 요청하는 방법을 안내한다.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" y="2834640"/>
            <a:ext cx="4023360" cy="1783080"/>
          </a:xfrm>
          <a:prstGeom prst="roundRect">
            <a:avLst>
              <a:gd name="adj" fmla="val 4103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94360" y="2926080"/>
            <a:ext cx="3749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대상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메신저, 화상회의 앱, 그룹웨어의 그룹 메일·공유 캘린더를 쓰는 전 임직원에 해당한다. 메일 수신·반송 문제는 IT-SYS-004를 본다.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1051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환경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메신저/화상회의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그룹웨어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관련 도구·시스템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Windows, macOS (개발 직군 선택)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전에 회의 앱의 장치 테스트로 마이크·카메라·스피커를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다른 앱이 카메라·마이크를 쓰고 있지 않은지 확인한다.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여러 명의 회의가 끊기면 IT-NET-002 3.5, 재택 중 VPN 연결 상태에서 느리면 IT-NET-001 3.2를 본다.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협력사를 메신저 채널에 초대하려면 승인이 필요하다 (3.10).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3931920" y="1051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 목록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47548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874520"/>
                <a:gridCol w="868680"/>
                <a:gridCol w="86868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화상회의에서 내 목소리가 상대방에게 들리지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카메라가 '사용 중인 장치'라며 켜지지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메시지 알림이 전혀 뜨지 않음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회의 중 내 목소리가 늦게 전달됨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화상회의 화면이 자꾸 멈추고 끊김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 직접 조치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OS 업데이트 후 화상회의 앱이 계속 꺼짐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공용 메일(그룹 메일) 생성·멤버 추가 신청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먼저 확인할 사항 · 3. 증상별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확인할 사항 · 증상 목록 (계속)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12176"/>
                <a:gridCol w="3244361"/>
                <a:gridCol w="1503484"/>
                <a:gridCol w="1503484"/>
                <a:gridCol w="12660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번호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문의 유형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 주체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메일로 외부 인증 메일이 오지 않을 때 외부 수신 허용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 공유 캘린더 편집 권한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 채널에 외부 협력사 게스트 초대 신청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신청·승인 후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3.11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게스트에게 비공개 채널이 보이지 않을 때 채널 허용 요청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SYS-12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담당자 처리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시작하기 전에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보는 법: 그룹웨어 첫 화면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3-0.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첫 화면. 이 문서에서 자주 쓰는 위치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화면에서 빨간 네모는 누르거나 볼 곳이고, 번호는 오른쪽 설명 번호와 같습니다.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위치 안내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공지사항: 시스템 장애가 생기면 '장애' 표시가 붙은 공지가 맨 위에 올라옵니다.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IT 헬프데스크: 전화 내선 1000, 메신저 #it-helpdesk 채널. 막히면 여기로 문의합니다.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업무 시스템 바로가기: ERP, 인사시스템, PMS, BI 분석, 메신저로 들어갑니다.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IT 요청: 그룹 메일, 권한, 파일 복구 같은 신청서를 내는 곳입니다.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-0. 그룹웨어 첫 화면. 이 문서에서 자주 쓰는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화상회의에서 내 목소리가 상대방에게 들리지 않는다고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마이크를 켰는데도 소리가 가지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설정에서 회의 앱의 마이크 접근 권한이 차단됨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[마이크]에서 회의 앱 권한을 허용합니다.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앱의 오디오 설정에서 사용하는 마이크 장치를 선택합니다.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37199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543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 테스트에서 소리가 잡히고 상대방이 내 목소리를 들으면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80199"/>
            <a:ext cx="3108960" cy="1301146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71639"/>
            <a:ext cx="2834640" cy="1118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권한을 허용해도 안 되면 헬프데스크에 문의한다.</a:t>
            </a:r>
            <a:endParaRPr lang="en-US" sz="10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후 소리가 전혀 나지 않으면 IT-HW-001 3.13을 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72785"/>
            <a:ext cx="3108960" cy="114493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64225"/>
            <a:ext cx="2834640" cy="96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이름, 마이크 장치 종류,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 화면. 회의 앱의 허용 스위치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[마이크]에서 회의 앱 권한을 허용합니다.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Windows 키를 누르고 '설정'을 연 뒤 왼쪽 [개인정보 및 보안]을 누르고, 오른쪽에서 [마이크]를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 스위치를 눌러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1. OS [설정] &gt; [개인정보] &gt; [마이크] 화면. 회의 앱의 허용 스위치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설정 &gt; 오디오에서 마이크 장치 선택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앱의 오디오 설정에서 사용하는 마이크 장치를 선택합니다.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[설정] &gt; 왼쪽 [오디오]를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'마이크'에서 지금 쓰는 장치(예: 헤드셋 마이크)를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[마이크 테스트]를 누르고 말해 봅니다. 초록 막대가 움직이면 소리가 잡히는 것입니다.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-2. 화상회의 앱 설정 &gt; 오디오에서 마이크 장치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화상회의에서 내 목소리가 상대방에게 들리지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내 목소리를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[나가기]로 회의에서 나간 뒤 회의 앱 창을 닫습니다. 다시 실행해 회의에 들어갑니다.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-3. 회의 앱을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카메라가 '사용 중인 장치'라고 나오면서 켜지지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"사용 중인 장치"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다른 앱이 카메라를 쓰고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카메라를 쓰는 다른 앱을 종료합니다.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카메라를 다시 켭니다.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되면 PC를 재부팅합니다.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 화면이 나오면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재부팅 후에도 같으면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이름, 화면 메시지, 함께 실행 중인 앱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(1/5)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카메라가 '사용 중인 장치'라며 켜지지 않는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내 화면에 '사용 중인 장치'라고 나오고 카메라가 켜지지 않습니다.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[비디오 시작]을 눌러도 같습니다.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1. 화상회의 카메라가 '사용 중인 장치'라며 켜지지 않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(2/5)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카메라를 쓰는 메신저 통화 종료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표시줄에서 메신저·카메라 앱이 켜져 있는지도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통화 등 카메라를 쓰는 다른 앱을 종료합니다.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영상 통화처럼 카메라를 쓰는 다른 창을 찾아 [통화 종료]를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2. 카메라를 쓰는 메신저 통화 종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(3/5)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 다시 켜기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 카메라를 다시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화면 아래 [비디오 시작]을 누릅니다. 내 화면에 카메라 영상이 나오면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3. 회의 앱에서 카메라 다시 켜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(4/5)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다시 시작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시작하기 전에 열려 있는 문서를 저장합니다.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안 되면 PC를 재부팅합니다.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그래도 안 되면 시작 버튼을 누르고 오른쪽 아래 전원 아이콘을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[다시 시작]을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2-4. PC 다시 시작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3.2 화면 따라하기 (5/5)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화상회의 카메라가 '사용 중인 장치'라며 켜지지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3.2-5.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4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[개인정보] &gt; [카메라]에서 회의 앱 권한을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[개인정보 및 보안] &gt; [카메라]를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'카메라 액세스'가 켬인지 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앱 목록에서 '화상회의'를 켬으로 바꿉니다.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2-5. OS [설정] &gt; [개인정보] &gt; [카메라]에서 회의 앱 권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메시지 알림이 전혀 뜨지 않는다.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OS의 방해 금지(집중) 모드가 켜져 있음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영역에서 방해 금지(집중) 모드를 끕니다.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[알림]에서 메신저 알림이 켜져 있는지 확인합니다.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설정도 확인합니다.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메시지 알림이 뜨면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설정을 바꿔도 알림이 오지 않으면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메신저 버전, 이미 해 본 조치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영역의 방해 금지(집중) 모드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표시줄 알림 영역에서 방해 금지(집중) 모드를 끕니다.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작업 표시줄 오른쪽 아래 알림(종·달) 아이콘을 누릅니다. 달 모양이면 방해 금지가 켜진 상태입니다.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'방해 금지' 스위치를 눌러 끕니다.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1. 작업 표시줄 알림 영역의 방해 금지(집중) 모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알림 설정 화면. 방해 금지 모드 스위치와 메신저 알림 허용 위치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[설정] &gt; [알림]에서 메신저 알림이 켜져 있는지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[알림]을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목록에서 '사내 메신저'가 켬인지 보고, 꺼져 있으면 켭니다.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3-2. OS 알림 설정 화면. 방해 금지 모드 스위치와 메신저 알림 허용 위치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3.3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메신저 메시지 알림이 전혀 뜨지 않음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3.3-3.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메시지 알림이 뜨면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앱의 알림 설정도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아래 내 이름 &gt; [환경 설정] &gt; [알림]에서 '데스크톱 알림'을 켭니다.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'모든 새 메시지'를 고릅니다.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3-3. 메신저 앱의 알림 설정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회의할 때 내 목소리가 늦게 전달된다고 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드라이버 업데이트와 재시작은 해 봤다.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블루투스 헤드셋 연결 방식(코덱) 설정 문제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입력·출력 장치를 확인해 바꿉니다.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헤드셋으로 연결합니다.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시작합니다.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지연 없이 들으면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유선으로 바꿔도 지연되면 헬프데스크에 문의한다.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헤드셋 모델, 연결 방식 (블루투스 / 유선), 회의 앱 이름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출력·입력 장치 바꾸기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소리 설정에서 기본 입력·출력 장치를 확인해 바꿉니다.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[시스템] &gt; [소리]에서 '출력' 장치를 고릅니다. 블루투스 대신 유선 헤드셋이 있으면 그것을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'입력' 장치도 같은 헤드셋 마이크로 고릅니다.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4-1. OS 소리 설정에서 기본 출력·입력 장치 바꾸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3.4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회의 중 내 목소리가 늦게 전달됨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3.4-2.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앱에서도 유선 헤드셋 선택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914462"/>
            <a:ext cx="3108960" cy="703258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4005902"/>
            <a:ext cx="2834640" cy="5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상대방이 지연 없이 들으면 해결된 것입니다.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77146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58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헤드셋으로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유선 헤드셋을 꽂은 뒤 회의 앱 [설정] &gt; [오디오]에서 스피커를 유선 헤드셋으로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마이크도 유선 헤드셋 마이크로 고릅니다. 그다음 회의 앱을 다시 시작합니다.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4-2. 회의 앱에서도 유선 헤드셋 선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직접 조치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화상회의를 하는데 화면이 자꾸 멈추고 끊긴다.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공간의 다른 사람은 괜찮다.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많은 무선망 구간에서 접속함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랜으로 연결합니다.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회의에 다시 접속합니다.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재택 중 VPN을 쓰고 있으면 IT-NET-001 3.2를 봅니다.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09085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26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화면이 끊기지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52085"/>
            <a:ext cx="3108960" cy="1102477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43525"/>
            <a:ext cx="2834640" cy="919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층 여러 명의 회의가 끊기면 IT-NET-002 3.5를 따른다.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246003"/>
            <a:ext cx="3108960" cy="137171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337443"/>
            <a:ext cx="2834640" cy="1188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접속 장소, 연결 방식 (유선 / 무선 / VPN)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화면이 멈추고 끊기는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'네트워크 연결이 불안정합니다'가 뜨고 화면이 멈춥니다.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작업 표시줄의 와이파이 아이콘으로 무선에 연결된 것을 확인합니다.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1. 화상회의 화면이 멈추고 끊기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유선 랜 연결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가능하면 유선 랜으로 연결합니다.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책상의 랜 케이블을 노트북이나 도킹에 꽂습니다. 네트워크 아이콘을 눌러 '이더넷 · 연결됨'을 확인합니다.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유선이 연결되면 와이파이는 꺼도 됩니다.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5-2. 유선 랜 연결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3.5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화상회의 화면이 자꾸 멈추고 끊김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3.5-3.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다시 참가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화면이 끊기지 않으면 해결된 것입니다. 재택 중 VPN 상태에서만 끊기면 IT-NET-001 3.2를 봅니다.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회의에 다시 접속합니다.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[회의 다시 참가]를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5-3. 회의 다시 참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증상과 원인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04288" y="987552"/>
            <a:ext cx="3840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304288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54496" y="987552"/>
            <a:ext cx="2432304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6254496" y="987552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이후 고객사와 화상회의를 하는 중에 앱이 계속 꺼진다.</a:t>
            </a:r>
            <a:endParaRPr lang="en-US" sz="1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메시지: </a:t>
            </a:r>
            <a:pPr indent="0" marL="0"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663440" y="1417320"/>
            <a:ext cx="4023360" cy="3200400"/>
          </a:xfrm>
          <a:prstGeom prst="roundRect">
            <a:avLst>
              <a:gd name="adj" fmla="val 228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원인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앱이 구버전이라 업데이트된 OS와 맞지 않음</a:t>
            </a:r>
            <a:endParaRPr lang="en-US" sz="12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조치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조치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앱을 다시 실행해 회의에 들어갑니다.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6728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84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회의 중 앱이 꺼지지 않으면 해결된 것이다.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10286"/>
            <a:ext cx="3108960" cy="1173060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01726"/>
            <a:ext cx="2834640" cy="99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해결되지 않으면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설치한 뒤에도 꺼지면 OS 업데이트 날짜와 함께 다시 알린다.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374787"/>
            <a:ext cx="3108960" cy="1242932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466227"/>
            <a:ext cx="2834640" cy="106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사번, 회의 앱 이름과 버전, OS 업데이트 날짜</a:t>
            </a:r>
            <a:endParaRPr lang="en-US" sz="1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FAQ-013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(1/4)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후 화상회의 앱이 꺼지는 증상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중 앱이 꺼지고 '예기치 않게 종료되었습니다' 창이 뜹니다. [다시 시작]으로 회의에 다시 들어갑니다.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1. OS 업데이트 후 화상회의 앱이 꺼지는 증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(2/4)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 앱 버전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회의 앱 [설정] &gt; [정보]를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앱 버전을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2. 화상회의 앱 버전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(3/4)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업데이트 날짜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[설정] &gt; [업데이트] &gt; [업데이트 기록]을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가장 최근 업데이트 날짜를 적어 둡니다.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6-3. OS 업데이트 날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3.6 화면 따라하기 (4/4)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OS 업데이트 후 화상회의 앱이 계속 꺼짐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3.6-4.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#it-helpdesk 채널에 화상회의 앱 오류 문의 남기기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원격으로 회의 앱을 최신 버전으로 다시 설치합니다. 고객사 회의 등 오늘 일정이 있으면 함께 적습니다.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헬프데스크에 문의합니다. 담당자가 회의 앱을 최신 버전으로 다시 설치합니다.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메신저 왼쪽 채널 목록에서 #it-helpdesk를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입력창에 아래 항목을 한 줄씩 적습니다. 그대로 복사해 내용만 바꿔 써도 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[전송]을 누릅니다. 담당자가 이 채널이나 개인 대화로 답합니다.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6-4. 메신저 #it-helpdesk 채널에 화상회의 앱 오류 문의 남기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900367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7174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여러 명이 함께 받을 공용 메일 주소가 필요하다.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메일에 멤버를 추가해야 한다.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409127"/>
            <a:ext cx="4023360" cy="1208592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500567"/>
            <a:ext cx="3749040" cy="102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또는 팀 담당자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60097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41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메일 주소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멤버 목록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가입용인지 여부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3109735"/>
            <a:ext cx="4023360" cy="150798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201175"/>
            <a:ext cx="3749040" cy="132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주소, 관리자, 멤버를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가입용이면 '외부 발신자 수신 허용'을 함께 요청합니다.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27079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744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070079"/>
            <a:ext cx="3108960" cy="1331900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161519"/>
            <a:ext cx="2834640" cy="114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만들어지고 멤버가 등록된다. 결과는 그룹웨어 IT 요청 화면에서 확인한다.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93420"/>
            <a:ext cx="3108960" cy="1124299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84860"/>
            <a:ext cx="2834640" cy="941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있는 주소면 다른 주소로 다시 신청한다.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IT 요청 메뉴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신청을 엽니다.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그룹웨어 위쪽 [IT 요청]을 누릅니다.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왼쪽 '신청하기' 아래 [그룹 메일 신청]을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1. 그룹웨어 IT 요청 메뉴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 양식. 주소, 관리자, 멤버 입력란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주소, 관리자, 멤버를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신청 구분을 고릅니다. 새로 만들면 '신규 생성', 사람만 넣으면 '멤버 추가'입니다.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원하는 메일 주소를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관리자와 멤버를 적습니다. 멤버는 쉼표로 구분합니다.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외부 서비스 가입용이면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7-2. 그룹 메일 신청 양식. 주소, 관리자, 멤버 입력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3.7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팀 공용 메일(그룹 메일) 생성·멤버 추가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3.7-3.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결과 확인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만들어집니다. 이미 있는 주소면 다른 주소로 다시 신청합니다.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확인할 곳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 확인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만들어지고 멤버가 등록된다. 결과는 그룹웨어 IT 요청 화면에서 확인한다.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[IT 요청 내역]에서 상태가 '처리 완료'인지 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7-3. IT 요청 내역에서 결과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733303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550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그룹 메일로 외부 서비스에 가입하려는데 인증 메일이 오지 않는다.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242063"/>
            <a:ext cx="4023360" cy="1375656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333503"/>
            <a:ext cx="3749040" cy="119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가입하려는 외부 서비스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주소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서비스 이름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신청에서 '외부 발신자 수신 허용'을 요청합니다.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급한 일정이 있으면 IT 헬프데스크(내선 1000)에 함께 알립니다.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안내를 받으면 외부 서비스에서 인증 메일을 다시 받습니다.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7684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4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30684"/>
            <a:ext cx="3108960" cy="1197797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2124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그룹 메일이 외부 수신 허용으로 바뀐다.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9922"/>
            <a:ext cx="3108960" cy="1197797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11362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관리자가 아닌 사람이 요청하면 관리자 확인을 요청받는다.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신청에서 '외부 발신자 수신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등 급한 일정이 있으면 IT 헬프데스크(내선 1000)에 함께 알립니다.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그룹 메일 신청에서 '외부 발신자 수신 허용'을 요청합니다.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[IT 요청] &gt; [그룹 메일 신청]에서 신청 구분을 '설정 변경'으로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'외부 발신자 수신 허용'을 체크합니다.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1. 그룹 메일 신청에서 '외부 발신자 수신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3.8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그룹 메일로 외부 인증 메일이 오지 않을 때 외부 수신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3.8-2.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완료 확인 후 인증 메일 다시 받기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749108"/>
            <a:ext cx="3108960" cy="868612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840548"/>
            <a:ext cx="2834640" cy="685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3영업일 안에 외부 수신 허용으로 바뀝니다.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06108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23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허용 안내를 받으면 외부 서비스에서 인증 메일을 다시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'처리 완료'가 되면 외부 서비스에서 인증 메일을 다시 보내 달라고 요청합니다.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8-2. 처리 완료 확인 후 인증 메일 다시 받기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SYS-11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3영업일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캘린더를 편집하려는데 읽기 권한만 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546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팀원 (캘린더 소유자의 승인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46440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281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권한 (편집)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973165"/>
            <a:ext cx="4023360" cy="164455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064605"/>
            <a:ext cx="3749040" cy="1461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FAQ-014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공유 캘린더 권한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필요한 권한을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승인하면 권한이 부여됩니다.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74251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9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 승인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서비스데스크가 편집 권한 부여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17251"/>
            <a:ext cx="3108960" cy="1104514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08691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 승인 후 3영업일 안에 편집 권한이 생긴다.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13205"/>
            <a:ext cx="3108960" cy="1104514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04645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승인하지 않으면 처리되지 않는다.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(1/3)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공유 캘린더가 읽기 전용인 상태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볼 곳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 옆에 '읽기 전용'이 보입니다.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[일정 추가]가 회색으로 눌리지 않습니다.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1. 팀 공유 캘린더가 읽기 전용인 상태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(2/3)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공유 캘린더 권한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이름과 필요한 권한을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캘린더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캘린더 소유자를 적습니다. 소유자에게 승인 요청이 갑니다.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필요한 권한에서 '편집'을 고릅니다.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9-2. 공유 캘린더 권한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3.9 화면 따라하기 (3/3)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팀 공유 캘린더 편집 권한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3.9-3.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승인 상태 확인</a:t>
            </a:r>
            <a:endParaRPr lang="en-US" sz="950" dirty="0"/>
          </a:p>
        </p:txBody>
      </p:sp>
      <p:sp>
        <p:nvSpPr>
          <p:cNvPr id="6" name="Shape 9"/>
          <p:cNvSpPr/>
          <p:nvPr/>
        </p:nvSpPr>
        <p:spPr>
          <a:xfrm>
            <a:off x="5577840" y="3764856"/>
            <a:ext cx="3108960" cy="852864"/>
          </a:xfrm>
          <a:prstGeom prst="roundRect">
            <a:avLst>
              <a:gd name="adj" fmla="val 5517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7" name="Text 10"/>
          <p:cNvSpPr txBox="1"/>
          <p:nvPr/>
        </p:nvSpPr>
        <p:spPr>
          <a:xfrm>
            <a:off x="5715000" y="3856296"/>
            <a:ext cx="2834640" cy="669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소유자가 승인하지 않으면 처리되지 않습니다. 필요하면 소유자에게 직접 말씀드립니다.</a:t>
            </a:r>
            <a:endParaRPr lang="en-US" sz="100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621856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438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캘린더 소유자가 승인하면 권한이 부여됩니다.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'소유자 승인 대기'면 캘린더 소유자의 승인을 기다립니다. 승인 후 3영업일 안에 편집 권한이 생깁니다.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9-3. IT 요청 내역에서 승인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신청·승인 후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협력사 인원을 메신저 채널에 초대하고 싶다.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15468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관리자 (소속 팀장 승인 필요)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600975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418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이름과 이메일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기간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사유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3109735"/>
            <a:ext cx="4023360" cy="1507984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3201175"/>
            <a:ext cx="3749040" cy="132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FAQ-029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신청을 엽니다.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이메일, 기간, 사유를 적어 제출합니다.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결재 후 서비스데스크가 게스트를 초대합니다.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1174251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99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소속 팀장 승인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서비스데스크가 게스트 초대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317251"/>
            <a:ext cx="3108960" cy="1104514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408691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승인 후 1영업일 안에 게스트에게 초대 메일이 간다.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513205"/>
            <a:ext cx="3108960" cy="1104514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604645"/>
            <a:ext cx="2834640" cy="921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 사유나 기간이 빠지면 보완 요청을 받는다.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화면 따라하기 (1/2)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 양식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2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이름과 게스트 이메일, 기간, 사유를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초대할 메신저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게스트 이름과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초대 기간을 정합니다. 필요한 기간만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초대 사유를 적습니다. 빠지면 보완 요청을 받습니다.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[제출]을 누릅니다.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1. 게스트 초대 신청 양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3.10 화면 따라하기 (2/2)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메신저 채널에 외부 협력사 게스트 초대 신청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3.10-2.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내역에서 팀장 결재 상태 확인</a:t>
            </a:r>
            <a:endParaRPr lang="en-US" sz="950" dirty="0"/>
          </a:p>
        </p:txBody>
      </p:sp>
      <p:sp>
        <p:nvSpPr>
          <p:cNvPr id="6" name="Shape 11"/>
          <p:cNvSpPr/>
          <p:nvPr/>
        </p:nvSpPr>
        <p:spPr>
          <a:xfrm>
            <a:off x="5577840" y="1051560"/>
            <a:ext cx="3108960" cy="3566160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7" name="Text 12"/>
          <p:cNvSpPr txBox="1"/>
          <p:nvPr/>
        </p:nvSpPr>
        <p:spPr>
          <a:xfrm>
            <a:off x="5715000" y="114300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3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팀장 결재 후 서비스데스크가 게스트를 초대합니다.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상태가 '팀장 결재 중'이면 팀장 승인을 기다립니다. 승인 후 1영업일 안에 게스트에게 초대 메일이 갑니다.</a:t>
            </a:r>
            <a:endParaRPr lang="en-US" sz="10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9" name="Picture 25" descr="그림 3.10-2. IT 요청 내역에서 팀장 결재 상태 확인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신청 전 준비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987552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457200" y="9875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유형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SYS-12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029968" y="987552"/>
            <a:ext cx="329184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2029968" y="9875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주체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담당자 처리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431536" y="987552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431536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부서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서비스데스크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095744" y="987552"/>
            <a:ext cx="1591056" cy="292608"/>
          </a:xfrm>
          <a:prstGeom prst="roundRect">
            <a:avLst>
              <a:gd name="adj" fmla="val 50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7095744" y="987552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  </a:t>
            </a:r>
            <a:pPr algn="ctr" indent="0" marL="0">
              <a:buNone/>
            </a:pPr>
            <a:r>
              <a:rPr lang="en-US" sz="9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57200" y="1417320"/>
            <a:ext cx="4023360" cy="1875228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594360" y="1508760"/>
            <a:ext cx="3749040" cy="1692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신청합니다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계정(신규 입사자, 협력사 등)을 비공개 채널에 초대했는데 상대방에게 채널이 보이지 않는다.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383988"/>
            <a:ext cx="4023360" cy="1233731"/>
          </a:xfrm>
          <a:prstGeom prst="roundRect">
            <a:avLst>
              <a:gd name="adj" fmla="val 4706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594360" y="3475428"/>
            <a:ext cx="3749040" cy="1050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대상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관리자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417320"/>
            <a:ext cx="4023360" cy="1300636"/>
          </a:xfrm>
          <a:prstGeom prst="roundRect">
            <a:avLst>
              <a:gd name="adj" fmla="val 4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4800600" y="1508760"/>
            <a:ext cx="3749040" cy="1117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준비할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2809396"/>
            <a:ext cx="4023360" cy="1808323"/>
          </a:xfrm>
          <a:prstGeom prst="roundRect">
            <a:avLst>
              <a:gd name="adj" fmla="val 571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4800600" y="2900836"/>
            <a:ext cx="3749040" cy="1625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시 알려 주실 정보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번호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이름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이메일</a:t>
            </a:r>
            <a:endParaRPr lang="en-US" sz="105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5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FAQ: </a:t>
            </a:r>
            <a:pPr indent="0" marL="0"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FAQ-029</a:t>
            </a:r>
            <a:endParaRPr lang="en-US" sz="1050" dirty="0"/>
          </a:p>
        </p:txBody>
      </p:sp>
      <p:sp>
        <p:nvSpPr>
          <p:cNvPr id="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신청 방법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937760" cy="3566160"/>
          </a:xfrm>
          <a:prstGeom prst="roundRect">
            <a:avLst>
              <a:gd name="adj" fmla="val 340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46634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신청 방법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신청에 '채널 허용'이라고 적고 채널 이름과 게스트 이메일을 적어 제출합니다.</a:t>
            </a:r>
            <a:endParaRPr lang="en-US" sz="1100" dirty="0"/>
          </a:p>
        </p:txBody>
      </p:sp>
      <p:sp>
        <p:nvSpPr>
          <p:cNvPr id="7" name="Shape 7"/>
          <p:cNvSpPr/>
          <p:nvPr/>
        </p:nvSpPr>
        <p:spPr>
          <a:xfrm>
            <a:off x="5577840" y="1051560"/>
            <a:ext cx="3108960" cy="987684"/>
          </a:xfrm>
          <a:prstGeom prst="roundRect">
            <a:avLst>
              <a:gd name="adj" fmla="val 500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8"/>
          <p:cNvSpPr txBox="1"/>
          <p:nvPr/>
        </p:nvSpPr>
        <p:spPr>
          <a:xfrm>
            <a:off x="5715000" y="1143000"/>
            <a:ext cx="2834640" cy="804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절차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승인 없음 (접수 후 서비스데스크 처리)</a:t>
            </a:r>
            <a:endParaRPr lang="en-US" sz="1050" dirty="0"/>
          </a:p>
        </p:txBody>
      </p:sp>
      <p:sp>
        <p:nvSpPr>
          <p:cNvPr id="9" name="Shape 9"/>
          <p:cNvSpPr/>
          <p:nvPr/>
        </p:nvSpPr>
        <p:spPr>
          <a:xfrm>
            <a:off x="5577840" y="2130684"/>
            <a:ext cx="3108960" cy="1197797"/>
          </a:xfrm>
          <a:prstGeom prst="roundRect">
            <a:avLst>
              <a:gd name="adj" fmla="val 8000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10" name="Text 10"/>
          <p:cNvSpPr txBox="1"/>
          <p:nvPr/>
        </p:nvSpPr>
        <p:spPr>
          <a:xfrm>
            <a:off x="5715000" y="2222124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기간과 결과 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채널별 게스트 허용이 설정되어 채널이 보인다.</a:t>
            </a:r>
            <a:endParaRPr lang="en-US" sz="1000" dirty="0"/>
          </a:p>
        </p:txBody>
      </p:sp>
      <p:sp>
        <p:nvSpPr>
          <p:cNvPr id="11" name="Shape 11"/>
          <p:cNvSpPr/>
          <p:nvPr/>
        </p:nvSpPr>
        <p:spPr>
          <a:xfrm>
            <a:off x="5577840" y="3419922"/>
            <a:ext cx="3108960" cy="1197797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12" name="Text 12"/>
          <p:cNvSpPr txBox="1"/>
          <p:nvPr/>
        </p:nvSpPr>
        <p:spPr>
          <a:xfrm>
            <a:off x="5715000" y="3511362"/>
            <a:ext cx="2834640" cy="1014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반려되는 경우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초대 승인을 받지 않은 게스트면 3.10에 따라 먼저 초대를 신청한다.</a:t>
            </a:r>
            <a:endParaRPr lang="en-US" sz="10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증상별 조치 방법 · 3.11 화면 따라하기 (1/1)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게스트에게 비공개 채널이 보이지 않을 때 채널 허용 요청</a:t>
            </a:r>
            <a:endParaRPr lang="en-US" sz="2000" dirty="0"/>
          </a:p>
        </p:txBody>
      </p:sp>
      <p:sp>
        <p:nvSpPr>
          <p:cNvPr id="5" name="Text 6"/>
          <p:cNvSpPr txBox="1"/>
          <p:nvPr/>
        </p:nvSpPr>
        <p:spPr>
          <a:xfrm>
            <a:off x="457200" y="41833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4A556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3.11-1. </a:t>
            </a:r>
            <a:pPr indent="0" marL="0">
              <a:buNone/>
            </a:pPr>
            <a:r>
              <a:rPr lang="en-US" sz="950" dirty="0">
                <a:solidFill>
                  <a:srgbClr val="8A94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초대 신청에 '채널 허용' 요청</a:t>
            </a:r>
            <a:endParaRPr lang="en-US" sz="950" dirty="0"/>
          </a:p>
        </p:txBody>
      </p:sp>
      <p:sp>
        <p:nvSpPr>
          <p:cNvPr id="6" name="Shape 7"/>
          <p:cNvSpPr/>
          <p:nvPr/>
        </p:nvSpPr>
        <p:spPr>
          <a:xfrm>
            <a:off x="5577840" y="3583754"/>
            <a:ext cx="3108960" cy="1033966"/>
          </a:xfrm>
          <a:prstGeom prst="roundRect">
            <a:avLst>
              <a:gd name="adj" fmla="val 6667"/>
            </a:avLst>
          </a:prstGeom>
          <a:solidFill>
            <a:srgbClr val="E3F2EA"/>
          </a:solidFill>
          <a:ln w="12700">
            <a:solidFill>
              <a:srgbClr val="E3F2EA"/>
            </a:solidFill>
            <a:prstDash val="solid"/>
          </a:ln>
        </p:spPr>
        <p:txBody>
          <a:bodyPr/>
          <a:p/>
        </p:txBody>
      </p:sp>
      <p:sp>
        <p:nvSpPr>
          <p:cNvPr id="7" name="Text 8"/>
          <p:cNvSpPr txBox="1"/>
          <p:nvPr/>
        </p:nvSpPr>
        <p:spPr>
          <a:xfrm>
            <a:off x="5715000" y="3675194"/>
            <a:ext cx="2834640" cy="851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E8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후 1영업일 안에 게스트에게 채널이 보입니다. 아직 초대 승인을 받지 않은 게스트면 3.10부터 합니다.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5577840" y="1051560"/>
            <a:ext cx="3108960" cy="2440754"/>
          </a:xfrm>
          <a:prstGeom prst="roundRect">
            <a:avLst>
              <a:gd name="adj" fmla="val 7619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9" name="Text 12"/>
          <p:cNvSpPr txBox="1"/>
          <p:nvPr/>
        </p:nvSpPr>
        <p:spPr>
          <a:xfrm>
            <a:off x="5715000" y="1143000"/>
            <a:ext cx="2834640" cy="2257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화면에서 할 일</a:t>
            </a:r>
            <a:endParaRPr lang="en-US" sz="13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000" b="1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1  </a:t>
            </a:r>
            <a:pPr indent="0" marL="0"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&gt; IT 요청 &gt; 게스트 초대 신청에 '채널 허용'이라고 적고 채널 이름과 게스트 이메일을 적어 제출합니다.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요청 구분에서 '채널 허용'을 고릅니다. (양식에 구분이 없으면 요청 내용에 '채널 허용'이라고 적습니다.)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채널 이름을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게스트 이메일을 적습니다.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[제출]을 누릅니다.</a:t>
            </a:r>
            <a:endParaRPr lang="en-US" sz="10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11" name="Picture 25" descr="그림 3.11-1. 게스트 초대 신청에 '채널 허용' 요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4937760" cy="308610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화상회의에서 마이크·카메라가 안 돼요. (FAQ-013)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OS 설정 &gt; 개인정보 &gt; 마이크/카메라에서 회의 앱 권한을 허용하세요. 다른 앱(메신저 통화 등)이 카메라를 쓰고 있으면 종료한 뒤 다시 시도하세요.</a:t>
            </a:r>
            <a:endParaRPr lang="en-US" sz="1200" dirty="0"/>
          </a:p>
        </p:txBody>
      </p:sp>
      <p:sp>
        <p:nvSpPr>
          <p:cNvPr id="7" name="Shape 2"/>
          <p:cNvSpPr/>
          <p:nvPr/>
        </p:nvSpPr>
        <p:spPr>
          <a:xfrm>
            <a:off x="466344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 txBox="1"/>
          <p:nvPr/>
        </p:nvSpPr>
        <p:spPr>
          <a:xfrm>
            <a:off x="480060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공용 메일(그룹 메일)을 만들고 싶어요. (FAQ-014)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요청 &gt; 그룹 메일 신청에서 주소, 관리자, 멤버를 적어 제출하세요. 외부 서비스 가입용이라면 '외부 발신자 수신 허용'을 함께 요청하세요.</a:t>
            </a:r>
            <a:endParaRPr lang="en-US" sz="12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자주 묻는 질문 (계속)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3200400"/>
          </a:xfrm>
          <a:prstGeom prst="roundRect">
            <a:avLst>
              <a:gd name="adj" fmla="val 4324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61288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메신저 채널에 게스트를 초대했는데 안 보인대요. (FAQ-029)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게스트 계정은 관리자가 채널별로 허용해야 합니다. 채널 이름과 게스트 이메일을 적어 요청하세요.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 · 6. 문의처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주의사항 · 문의처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96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주의사항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화면을 공유할 때는 개인정보나 기밀 자료가 열린 창을 먼저 닫는다.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게스트는 필요한 채널에만, 필요한 기간 동안만 초대한다.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메일 관리자가 퇴사·이동하면 관리자를 바꿔 달라고 요청한다.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문의처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41732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담당 부서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접수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전화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헬프데스크 내선 1000 (평일 09:00~18:00)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메신저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#it-helpdesk 채널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3A5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it-helpdesk@hanwha-ict.example (가상)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2" name=""/>
        <p:cNvGrpSpPr/>
        <p:nvPr/>
      </p:nvGrpSpPr>
      <p:grpSpPr/>
      <p:sp>
        <p:nvSpPr>
          <p:cNvPr id="3" name="Text 0"/>
          <p:cNvSpPr txBox="1"/>
          <p:nvPr/>
        </p:nvSpPr>
        <p:spPr>
          <a:xfrm>
            <a:off x="457200" y="164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6F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1051560"/>
            <a:ext cx="4023360" cy="1920240"/>
          </a:xfrm>
          <a:prstGeom prst="roundRect">
            <a:avLst>
              <a:gd name="adj" fmla="val 3810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94360" y="114300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3A5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문서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IT-HW-001 업무 PC 기본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IT-NET-001 VPN 접속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IT-NET-002 사내 네트워크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IT-SYS-004 메일 이용 장애 대응 가이드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E2A3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IT-STD-001 IT 서비스 운영 기준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방해 금지(집중) 모드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알림을 잠시 꺼 두는 OS 기능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 메일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여러 사람이 함께 받는 팀 공용 메일 주소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게스트 계정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외부 인원이 메신저를 쓰도록 만든 제한된 계정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개정일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작성자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내용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v1.0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2026-03-01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서비스데스크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 작성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49E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 Guide">
  <a:themeElements>
    <a:clrScheme name="IT Guide">
      <a:dk1>
        <a:srgbClr val="1E2A36"/>
      </a:dk1>
      <a:lt1>
        <a:srgbClr val="FFFFFF"/>
      </a:lt1>
      <a:dk2>
        <a:srgbClr val="1F3A5F"/>
      </a:dk2>
      <a:lt2>
        <a:srgbClr val="EEF3F7"/>
      </a:lt2>
      <a:accent1>
        <a:srgbClr val="1F3A5F"/>
      </a:accent1>
      <a:accent2>
        <a:srgbClr val="1B6F7A"/>
      </a:accent2>
      <a:accent3>
        <a:srgbClr val="D9661F"/>
      </a:accent3>
      <a:accent4>
        <a:srgbClr val="1E8E5A"/>
      </a:accent4>
      <a:accent5>
        <a:srgbClr val="C98A00"/>
      </a:accent5>
      <a:accent6>
        <a:srgbClr val="C0392B"/>
      </a:accent6>
      <a:hlink>
        <a:srgbClr val="1B6F7A"/>
      </a:hlink>
      <a:folHlink>
        <a:srgbClr val="8A949E"/>
      </a:folHlink>
    </a:clrScheme>
    <a:fontScheme name="IT Guid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01_사용자 가이드 A_장애 대응 템플릿</dc:title>
  <dc:subject>PptxGenJS Presentation</dc:subject>
  <dc:creator>PptxGenJS</dc:creator>
  <cp:lastModifiedBy>PptxGenJS</cp:lastModifiedBy>
  <cp:revision>1</cp:revision>
  <dcterms:created xsi:type="dcterms:W3CDTF">2026-10-08T16:02:03Z</dcterms:created>
  <dcterms:modified xsi:type="dcterms:W3CDTF">2026-10-08T16:02:03Z</dcterms:modified>
</cp:coreProperties>
</file>