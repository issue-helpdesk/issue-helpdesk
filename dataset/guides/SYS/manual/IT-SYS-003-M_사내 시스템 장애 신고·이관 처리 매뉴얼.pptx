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10"/>
    <p:sldId id="276" r:id="rId9"/>
    <p:sldId id="277" r:id="rId8"/>
    <p:sldId id="278" r:id="rId7"/>
    <p:sldId id="279" r:id="rId6"/>
    <p:sldId id="280" r:id="rId5"/>
    <p:sldId id="281" r:id="rId4"/>
    <p:sldId id="282" r:id="rId3"/>
    <p:sldId id="283" r:id="rId2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·개요" id="{2e72e204-ceb3-2f3e-4b85-99decc568caa}">
          <p14:sldIdLst>
            <p14:sldId id="256"/>
            <p14:sldId id="257"/>
            <p14:sldId id="258"/>
            <p14:sldId id="259"/>
            <p14:sldId id="260"/>
          </p14:sldIdLst>
        </p14:section>
        <p14:section name="3.1 처리 절차" id="{5a20b995-48f9-0b81-a66f-1df5e63d6d7f}">
          <p14:sldIdLst>
            <p14:sldId id="261"/>
            <p14:sldId id="262"/>
          </p14:sldIdLst>
        </p14:section>
        <p14:section name="대형 장애·기록" id="{5ed9c68d-a792-f7fd-e9a9-50676f546159}">
          <p14:sldIdLst>
            <p14:sldId id="263"/>
          </p14:sldIdLst>
        </p14:section>
        <p14:section name="부록" id="{a7b92703-cf53-a262-5474-15598c036e0b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9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11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IT-SYS-003-M  사내 시스템 장애 신고·이관 처리 매뉴얼  |  v1.0  |  IT 담당자 한정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5087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사내 시스템 장애 신고·이관 처리 매뉴얼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7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담당자 매뉴얼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0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IT-SYS-003-M   |   v1.0   |   시행일 2026-03-01   |   IT 담당자 한정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정보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108960"/>
                <a:gridCol w="10058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문서 번호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IT-SYS-003-M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 사내 시스템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 사용자 가이드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IT-SYS-003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보안 등급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IT 담당자 한정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열람 대상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서비스데스크, 업무시스템팀, 시스템인프라팀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관리 부서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시행일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승인자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포함 시나리오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SYS-03, SYS-05, SYS-09, SYS-16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FAQ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FAQ-033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 문서는 IT운영·보안 조직 내부 문서입니다. 사용자에게 문서 자체를 전달하지 않습니다.</a:t>
            </a:r>
            <a:endParaRPr lang="en-US" sz="1100" dirty="0"/>
          </a:p>
        </p:txBody>
      </p: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개요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전사 장애(SYS-03), 팀 단위 업무 협업 플랫폼 장애(SYS-05), 메일 서버 장애(SYS-09), 파일서버 전사 장애(SYS-16)를 판단하고 대표 티켓으로 묶어 복구·공지·종료하는 내부 절차를 정한다. 사용자 안내는 IT-SYS-003을 기준으로 한다.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범위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처리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서비스데스크(L1): 다수 접수 판단, 대표 티켓 생성, 같은 증상 문의 연결, 장애 공지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이관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업무시스템팀(L2): ERP·업무 협업 플랫폼 장애 원인 확인과 복구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2차 이관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시스템인프라팀(L2): 메일 서버·파일서버 스토리지 장애 원인 확인과 복구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배정 기준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 L2 · SSO·메일 서버 영역 (SYS-09)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배정 기준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 L2 · 파일서버·복구 영역 (SYS-16)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배정 기준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 L2 · ERP 영역 (SYS-03)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배정 기준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 L2 · 업무 협업 플랫폼 영역 (SYS-05)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3A5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시스템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 모니터링 화면, 장애 공지 게시판, ERP DB 관리 화면, 스토리지 관리 콘솔 (가상 명칭)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가이드의 블록별 기본값이다. 긴급도 기준은 IT 서비스 운영 기준(IT-STD-001)을 따른다.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914400"/>
                <a:gridCol w="2560320"/>
                <a:gridCol w="822960"/>
                <a:gridCol w="1188720"/>
                <a:gridCol w="118872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번호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문의 유형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증상·요청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 긴급도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1차 처리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 방식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이관 대상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ERP 전사 접속·저장 불가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SYS-05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 단위 업무 협업 플랫폼 장애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P2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3.3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SYS-09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메일 서버 전사 장애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3.4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SYS-16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파일서버 전사 장애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티켓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접수·분류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방식 · 긴급도 조정 조건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방식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처리: 서비스데스크(L1)가 안내만으로 끝낸 건. 티켓 없이 상담 기록만 남긴다.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티켓: 담당자 조치가 필요한 건. 담당팀에 배정하고 상태를 RDY → WIP → FIN 으로 관리한다.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480060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긴급도 조정 조건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시스템을 쓸 수 없다는 문의가 서로 다른 부서에서 3건 이상 접수되면 P1로 판단한다.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SYS-05는 팀 단위 P2로 처리하고, 여러 부서로 번지면 P1로 올린다.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월말 마감일의 ERP 장애는 접수 즉시 P1로 처리한다.</a:t>
            </a:r>
            <a:endParaRPr lang="en-US" sz="1150" dirty="0"/>
          </a:p>
        </p:txBody>
      </p:sp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ERP가 로딩만 되고 열리지 않아 여러 부서 업무가 멈춤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SYS-03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부서가 안 되나요?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로딩만 되나요, 저장 시 타임아웃이 나나요?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마감 작업이 걸려 있나요?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부서에서 접수되면 P1로 보고 업무시스템팀에 바로 연결한다.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혼자만 안 되면 SYS-02로 분류해 IT-SYS-001-M으로 처리한다.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ERP가 로딩만 되고 열리지 않아 여러 부서 업무가 멈춤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티켓을 만들고 같은 증상 문의를 연결한다.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 DB 잠금 세션과 실행 중인 배치 작업을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대량 배치를 중단하고 잠금 세션을 정리한다. 배치는 야간으로 옮긴다.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 공지를 갱신한다.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019469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836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"ERP 장애가 복구되었습니다. 저장하지 못한 작업은 다시 입력해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162469"/>
            <a:ext cx="3108960" cy="831225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253909"/>
            <a:ext cx="2834640" cy="648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월말 배치 작업 야간 스케줄 고정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085135"/>
            <a:ext cx="3108960" cy="1532584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176575"/>
            <a:ext cx="2834640" cy="1349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최초 접수 시각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건수와 부서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증상 (로딩 / 타임아웃)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중이던 배치 작업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(1/6)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ERP가 로딩만 되고 열리지 않아 여러 부서 업무가 멈춤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ERP가 로딩만 되다가 시간 초과가 나는 증상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ERP가 계속 로딩되다가 '요청 시간이 초과되었습니다'가 뜹니다. 저장도 되지 않습니다.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-1. ERP가 로딩만 되다가 시간 초과가 나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(2/6)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ERP가 로딩만 되고 열리지 않아 여러 부서 업무가 멈춤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부서도 같은지 확인하기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부서도 같은 증상인지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팀 채널에 ERP가 되는지 물어봅니다.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다른 사람, 다른 부서도 같다고 하면 전사 장애일 수 있습니다.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1-2. 다른 부서도 같은지 확인하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(3/6)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ERP가 로딩만 되고 열리지 않아 여러 부서 업무가 멈춤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게시판 &gt; 공지사항의 장애 공지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공지가 있으면 따로 신고하지 않아도 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공지사항과 #it-helpdesk 채널을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그룹웨어 위쪽 [게시판]을 누르면 왼쪽에 [공지사항]이 열립니다.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빨간 '장애' 표시가 붙은 글이 있는지 봅니다. 눌러서 복구 예정 시각을 확인합니다.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3. 그룹웨어 게시판 &gt; 공지사항의 장애 공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(4/6)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ERP가 로딩만 되고 열리지 않아 여러 부서 업무가 멈춤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채널의 고정 공지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공지가 있으면 따로 신고하지 않고 복구 안내를 기다립니다.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공지사항과 #it-helpdesk 채널을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맨 위 '고정된 공지'에 장애 안내가 있는지 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4. 메신저 #it-helpdesk 채널의 고정 공지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(5/6)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ERP가 로딩만 되고 열리지 않아 여러 부서 업무가 멈춤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3.1-5.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첫 화면의 IT 헬프데스크 안내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평일 09:00~18:00에 받습니다. 그 밖의 시간에는 메신저 #it-helpdesk 채널에 남깁니다.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공지가 없으면 IT 헬프데스크(내선 1000)에 전화해 부서와 증상을 알립니다.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그룹웨어 첫 화면 오른쪽 'IT 헬프데스크'에 전화번호가 있습니다. 사무실 전화로 내선 1000을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이렇게 말하면 됩니다: "영업기획팀 김하늘입니다. ERP가 10시부터 로딩만 되고 저장이 안 됩니다. 우리 팀과 재무팀이 모두 같습니다. 오늘 마감 작업이 있습니다."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5. 그룹웨어 첫 화면의 IT 헬프데스크 안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3.1 사용자 화면 (안내용) (6/6)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ERP가 로딩만 되고 열리지 않아 여러 부서 업무가 멈춤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3.1-6.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저장하지 못한 작업을 메모해 두기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중에는 저장 버튼을 여러 번 누르지 않습니다. 복구 후 중복 전표가 생길 수 있습니다.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저장하지 못한 작업은 따로 적어 두고, 복구 공지 후 다시 입력합니다.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저장하지 못한 내용을 메모장 등에 적어 둡니다. 복구 공지가 나오면 그 내용으로 다시 입력합니다.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1-6. 저장하지 못한 작업을 메모해 두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팀 전체가 업무 협업 플랫폼(PMS·BI·마케팅 툴)에 접속할 수 없음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SYS-05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업무시스템팀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시스템(PMS / BI / 마케팅 툴)인가요?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전체가 접속하지 못하나요?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언제부터인가요?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전체가 쓸 수 없으면 P2 티켓으로 업무시스템팀에 바로 연결한다.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부서로 번지면 P1로 올리고 대표 티켓으로 묶는다.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느리지만 쓸 수 있으면 IT-SYS-002-M으로 분류한다.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팀 전체가 업무 협업 플랫폼(PMS·BI·마케팅 툴)에 접속할 수 없음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 서버의 디스크·세션·연동 인증서 상태를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원인에 따라 로그 정리·디스크 증설, WAS 인스턴스 증설·세션 설정 조정, SSO 연동 인증서 갱신을 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서비스를 재기동하고 접속을 확인한다.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895684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712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"업무 협업 플랫폼 장애를 복구했습니다. 다시 로그인해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038684"/>
            <a:ext cx="3108960" cy="1141097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130124"/>
            <a:ext cx="2834640" cy="958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디스크 사용률 80% 알림 설정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PMS 사용량 임계치 모니터링 알림 등록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연동 인증서 만료 30일 전 알림 등록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271222"/>
            <a:ext cx="3108960" cy="1346497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362662"/>
            <a:ext cx="2834640" cy="1163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이름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영향 팀·인원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발생 시각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상태 확인 결과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(1/5)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팀 전체가 업무 협업 플랫폼(PMS·BI·마케팅 툴)에 접속할 수 없음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전체가 PMS에 접속할 수 없는 증상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 분석이나 마케팅 툴도 같은 방법으로 확인합니다.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PMS를 열면 '서비스에 연결할 수 없습니다'가 뜹니다. 새로고침이나 다시 로그인해도 같습니다.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1. 팀 전체가 PMS에 접속할 수 없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(2/5)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팀 전체가 업무 협업 플랫폼(PMS·BI·마케팅 툴)에 접속할 수 없음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팀 다른 사람도 접속이 안 되는지 확인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팀 다른 사람도 접속이 안 되는지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팀 채널에 PMS가 열리는지 물어봅니다.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팀원 모두 안 된다면 팀 단위 장애입니다.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2-2. 같은 팀 다른 사람도 접속이 안 되는지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(3/5)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팀 전체가 업무 협업 플랫폼(PMS·BI·마케팅 툴)에 접속할 수 없음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게시판 &gt; 공지사항 확인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공지가 없으면 아직 알려지지 않은 장애일 수 있습니다. 다음 단계로 바로 알립니다.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공지사항과 #it-helpdesk 채널을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[게시판] &gt; [공지사항]을 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'장애' 표시가 붙은 PMS 관련 글이 없는지 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3. 그룹웨어 게시판 &gt; 공지사항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(4/5)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팀 전체가 업무 협업 플랫폼(PMS·BI·마케팅 툴)에 접속할 수 없음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메신저 #it-helpdesk 채널에 팀 단위 장애 알리기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문의할 때 알려 줄 정보를 처음부터 적으면 다시 묻는 시간이 줄어듭니다.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공지가 없으면 IT 헬프데스크(내선 1000)에 팀·시스템 이름·시작 시각을 알립니다.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메신저 왼쪽 채널 목록에서 #it-helpdesk를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입력창에 아래 항목을 한 줄씩 적습니다. 그대로 복사해 내용만 바꿔 써도 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[전송]을 누릅니다. 담당자가 이 채널이나 개인 대화로 답합니다.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급하면 IT 헬프데스크 내선 1000으로 전화해도 됩니다.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4. 메신저 #it-helpdesk 채널에 팀 단위 장애 알리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3.2 사용자 화면 (안내용) (5/5)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3.2 팀 전체가 업무 협업 플랫폼(PMS·BI·마케팅 툴)에 접속할 수 없음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3.2-5.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안내 후 다시 로그인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플랫폼이 열리면 해결된 것입니다. 느리기만 하면 IT-SYS-002를 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안내를 받으면 다시 로그인합니다.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복구 안내를 받으면 사번을 입력합니다.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비밀번호를 입력합니다.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[로그인]을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2-5. 복구 안내 후 다시 로그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전 부서에서 메일을 보내지도 받지도 못함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SYS-09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시스템인프라팀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보내기·받기 모두 안 되나요?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부서도 같은가요?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언제부터인가요?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부서에서 접수되면 P1로 보고 시스템인프라팀에 바로 연결한다.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혼자만 안 되면 SYS-06·SW-06으로 분류한다.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전 부서에서 메일을 보내지도 받지도 못함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티켓을 만들고 같은 증상 문의를 연결한다.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서버 스토리지 경로 상태를 확인한다.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이중화 경로로 전환하고 대기 중인 메일을 다시 처리한다.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보고서를 작성한다.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019469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836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"메일 서버 장애가 복구되었습니다. 보내지 못한 메일은 다시 보내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162469"/>
            <a:ext cx="3108960" cy="831225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253909"/>
            <a:ext cx="2834640" cy="648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스토리지 경로 이중화 점검 주기 단축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085135"/>
            <a:ext cx="3108960" cy="1532584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176575"/>
            <a:ext cx="2834640" cy="1349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최초 접수 시각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건수와 부서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송신·수신 영향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스토리지 상태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사용자 화면 (안내용) (1/5)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전 부서에서 메일을 보내지도 받지도 못함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메일을 보내지도 받지도 못하는 증상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메일을 보내거나 새로 고치면 '메일 서버에 연결할 수 없습니다'가 뜹니다. 09:40 이후로 새 메일이 없습니다.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3-1. 메일을 보내지도 받지도 못하는 증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사용자 화면 (안내용) (2/5)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전 부서에서 메일을 보내지도 받지도 못함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사람도 같은지 확인</a:t>
            </a:r>
            <a:endParaRPr lang="en-US" sz="950" dirty="0"/>
          </a:p>
        </p:txBody>
      </p:sp>
      <p:sp>
        <p:nvSpPr>
          <p:cNvPr id="6" name="Shape 9"/>
          <p:cNvSpPr/>
          <p:nvPr/>
        </p:nvSpPr>
        <p:spPr>
          <a:xfrm>
            <a:off x="5577840" y="3764856"/>
            <a:ext cx="3108960" cy="852864"/>
          </a:xfrm>
          <a:prstGeom prst="roundRect">
            <a:avLst>
              <a:gd name="adj" fmla="val 551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7" name="Text 10"/>
          <p:cNvSpPr txBox="1"/>
          <p:nvPr/>
        </p:nvSpPr>
        <p:spPr>
          <a:xfrm>
            <a:off x="5715000" y="3856296"/>
            <a:ext cx="2834640" cy="669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프로그램을 다시 설치하거나 프로필을 지우지 않습니다. 개인 PC 문제가 아닙니다.</a:t>
            </a:r>
            <a:endParaRPr lang="en-US" sz="100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21856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38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1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사람도 같은 증상인지 확인합니다.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팀 채널에 메일이 되는지 물어봅니다.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다른 사람, 다른 팀도 같다면 메일 서버 장애입니다.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2. 다른 사람도 같은지 확인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사용자 화면 (안내용) (3/5)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전 부서에서 메일을 보내지도 받지도 못함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첫 화면의 IT 헬프데스크 안내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평일 09:00~18:00에 받습니다. 그 밖의 시간에는 메신저 #it-helpdesk 채널에 남깁니다.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헬프데스크(내선 1000)에 전화합니다. 급한 연락은 메신저나 전화로 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그룹웨어 첫 화면 오른쪽 'IT 헬프데스크'에 전화번호가 있습니다. 사무실 전화로 내선 1000을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이렇게 말하면 됩니다: "영업기획팀 김하늘입니다. 9시 40분쯤부터 메일을 보내지도 받지도 못합니다. 우리 팀과 옆 팀이 모두 같습니다."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3. 그룹웨어 첫 화면의 IT 헬프데스크 안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사용자 화면 (안내용) (4/5)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전 부서에서 메일을 보내지도 받지도 못함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급한 연락은 메신저나 전화로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헬프데스크(내선 1000)에 전화합니다. 급한 연락은 메신저나 전화로 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급한 내용은 메신저 개인 대화로 보냅니다.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파일은 클립 아이콘으로 붙일 수 있습니다. 사외 연락은 전화로 합니다.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3-4. 급한 연락은 메신저나 전화로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3.3 사용자 화면 (안내용) (5/5)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3.3 전 부서에서 메일을 보내지도 받지도 못함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3.3-5.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 보내지 못한 메일 다시 보내기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749108"/>
            <a:ext cx="3108960" cy="868612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840548"/>
            <a:ext cx="2834640" cy="685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메일을 보내고 받을 수 있으면 해결된 것입니다.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606108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공지 후 보내지 못한 메일을 다시 보냅니다.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복구 공지가 나오면 [보낸편지함]에서 '전송 실패' 메일을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[다시 보내기]를 누릅니다.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3-5. 복구 후 보내지 못한 메일 다시 보내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접수·판단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공유 드라이브가 전부 열리지 않고 다른 팀도 같음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987552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457200" y="98755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유형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SYS-16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395728" y="98755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2395728" y="98755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긴급도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242816" y="987552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4242816" y="987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1차 처리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서비스데스크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455664" y="987552"/>
            <a:ext cx="2231136" cy="292608"/>
          </a:xfrm>
          <a:prstGeom prst="roundRect">
            <a:avLst>
              <a:gd name="adj" fmla="val 50000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55664" y="9875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대상  </a:t>
            </a:r>
            <a:pPr algn="ctr" indent="0" marL="0">
              <a:buNone/>
            </a:pPr>
            <a:r>
              <a:rPr lang="en-US" sz="9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시스템인프라팀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5720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59436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시 확인 질문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메시지가 '네트워크 경로를 찾을 수 없습니다'인가요?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팀도 같은가요?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41732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800600" y="15087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 기준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팀에서 접수되면 P1로 보고 시스템인프라팀에 바로 연결한다.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팀만 안 되면 SYS-13으로 분류해 IT-SYS-006-M으로 처리한다.</a:t>
            </a:r>
            <a:endParaRPr lang="en-US" sz="1200" dirty="0"/>
          </a:p>
        </p:txBody>
      </p:sp>
      <p:sp>
        <p:nvSpPr>
          <p:cNvPr id="1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처리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공유 드라이브가 전부 열리지 않고 다른 팀도 같음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937760" cy="3566160"/>
          </a:xfrm>
          <a:prstGeom prst="roundRect">
            <a:avLst>
              <a:gd name="adj" fmla="val 205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절차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티켓을 만들고 같은 증상 문의를 연결한다.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스토리지 컨트롤러 상태를 확인하고 예비 컨트롤러로 전환한다.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무결성을 점검한 뒤 서비스를 재개한다.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 보고를 작성한다.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577840" y="1051560"/>
            <a:ext cx="3108960" cy="1019469"/>
          </a:xfrm>
          <a:prstGeom prst="roundRect">
            <a:avLst>
              <a:gd name="adj" fmla="val 551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5715000" y="1143000"/>
            <a:ext cx="2834640" cy="836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후 안내 문구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"파일서버 장애가 복구되었습니다. PC에 임시로 저장한 파일은 공유 드라이브로 옮겨 주세요."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2162469"/>
            <a:ext cx="3108960" cy="831225"/>
          </a:xfrm>
          <a:prstGeom prst="roundRect">
            <a:avLst>
              <a:gd name="adj" fmla="val 7273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5715000" y="2253909"/>
            <a:ext cx="2834640" cy="648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 방지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스토리지 이중화 전환 훈련 반기 1회 실시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3085135"/>
            <a:ext cx="3108960" cy="1532584"/>
          </a:xfrm>
          <a:prstGeom prst="roundRect">
            <a:avLst>
              <a:gd name="adj" fmla="val 6957"/>
            </a:avLst>
          </a:prstGeom>
          <a:solidFill>
            <a:srgbClr val="FCEBDD"/>
          </a:solidFill>
          <a:ln w="12700">
            <a:solidFill>
              <a:srgbClr val="FCEBDD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5715000" y="3176575"/>
            <a:ext cx="2834640" cy="1349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D966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이관 시 전달 정보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최초 접수 시각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접수 건수와 팀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메시지</a:t>
            </a:r>
            <a:endParaRPr lang="en-US" sz="10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스토리지 컨트롤러 상태</a:t>
            </a:r>
            <a:endParaRPr lang="en-US" sz="1000" dirty="0"/>
          </a:p>
        </p:txBody>
      </p:sp>
      <p:sp>
        <p:nvSpPr>
          <p:cNvPr id="1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사용자 화면 (안내용) (1/4)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공유 드라이브가 전부 열리지 않고 다른 팀도 같음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3.4-1.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드라이브에 저장할 때 '네트워크 경로를 찾을 수 없습니다'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볼 곳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공유 드라이브가 열리지 않고, 저장하면 '네트워크 경로를 찾을 수 없습니다'가 뜹니다. 다른 팀도 같다고 합니다.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4-1. 공유 드라이브에 저장할 때 '네트워크 경로를 찾을 수 없습니다'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사용자 화면 (안내용) (2/4)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공유 드라이브가 전부 열리지 않고 다른 팀도 같음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3.4-2.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열려 있던 파일을 PC에 임시로 저장</a:t>
            </a:r>
            <a:endParaRPr lang="en-US" sz="950" dirty="0"/>
          </a:p>
        </p:txBody>
      </p:sp>
      <p:sp>
        <p:nvSpPr>
          <p:cNvPr id="6" name="Shape 11"/>
          <p:cNvSpPr/>
          <p:nvPr/>
        </p:nvSpPr>
        <p:spPr>
          <a:xfrm>
            <a:off x="5577840" y="1051560"/>
            <a:ext cx="3108960" cy="356616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7" name="Text 12"/>
          <p:cNvSpPr txBox="1"/>
          <p:nvPr/>
        </p:nvSpPr>
        <p:spPr>
          <a:xfrm>
            <a:off x="5715000" y="1143000"/>
            <a:ext cx="2834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2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열려 있던 파일은 PC에 임시로 저장해 둡니다.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파일 &gt; 다른 이름으로 저장에서 왼쪽 [바탕 화면]을 고릅니다.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파일 이름 끝에 (임시)를 붙여 구분합니다.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[저장]을 누릅니다.</a:t>
            </a:r>
            <a:endParaRPr lang="en-US" sz="1000" dirty="0"/>
          </a:p>
        </p:txBody>
      </p:sp>
      <p:sp>
        <p:nvSpPr>
          <p:cNvPr id="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9" name="Picture 25" descr="그림 3.4-2. 열려 있던 파일을 PC에 임시로 저장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사용자 화면 (안내용) (3/4)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공유 드라이브가 전부 열리지 않고 다른 팀도 같음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3.4-3.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첫 화면의 IT 헬프데스크 안내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평일 09:00~18:00에 받습니다. 그 밖의 시간에는 메신저 #it-helpdesk 채널에 남깁니다.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3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IT 헬프데스크(내선 1000)에 전화합니다.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그룹웨어 첫 화면 오른쪽 'IT 헬프데스크'에 전화번호가 있습니다. 사무실 전화로 내선 1000을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이렇게 말하면 됩니다: "영업기획팀 김하늘입니다. 공유 드라이브가 전부 안 열리고 네트워크 경로를 찾을 수 없다고 나옵니다. 다른 팀도 같습니다."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4-3. 그룹웨어 첫 화면의 IT 헬프데스크 안내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증상별 처리 절차 · 3.4 사용자 화면 (안내용) (4/4)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 공유 드라이브가 전부 열리지 않고 다른 팀도 같음</a:t>
            </a:r>
            <a:endParaRPr lang="en-US" sz="2000" dirty="0"/>
          </a:p>
        </p:txBody>
      </p:sp>
      <p:sp>
        <p:nvSpPr>
          <p:cNvPr id="5" name="Text 6"/>
          <p:cNvSpPr txBox="1"/>
          <p:nvPr/>
        </p:nvSpPr>
        <p:spPr>
          <a:xfrm>
            <a:off x="457200" y="41833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3.4-4. </a:t>
            </a:r>
            <a:pPr indent="0" marL="0">
              <a:buNone/>
            </a:pPr>
            <a:r>
              <a:rPr lang="en-US" sz="950" dirty="0">
                <a:solidFill>
                  <a:srgbClr val="8A949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 임시 파일을 공유 드라이브로 옮기기</a:t>
            </a:r>
            <a:endParaRPr lang="en-US" sz="950" dirty="0"/>
          </a:p>
        </p:txBody>
      </p:sp>
      <p:sp>
        <p:nvSpPr>
          <p:cNvPr id="6" name="Shape 7"/>
          <p:cNvSpPr/>
          <p:nvPr/>
        </p:nvSpPr>
        <p:spPr>
          <a:xfrm>
            <a:off x="5577840" y="3583754"/>
            <a:ext cx="3108960" cy="1033966"/>
          </a:xfrm>
          <a:prstGeom prst="roundRect">
            <a:avLst>
              <a:gd name="adj" fmla="val 6667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  <p:txBody>
          <a:bodyPr/>
          <a:p/>
        </p:txBody>
      </p:sp>
      <p:sp>
        <p:nvSpPr>
          <p:cNvPr id="7" name="Text 8"/>
          <p:cNvSpPr txBox="1"/>
          <p:nvPr/>
        </p:nvSpPr>
        <p:spPr>
          <a:xfrm>
            <a:off x="5715000" y="3675194"/>
            <a:ext cx="2834640" cy="851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8E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 드라이브에 저장되면 해결된 것입니다. 우리 팀 폴더만 안 열리면 IT-SYS-006을 봅니다.</a:t>
            </a:r>
            <a:endParaRPr lang="en-US" sz="1050" dirty="0"/>
          </a:p>
        </p:txBody>
      </p:sp>
      <p:sp>
        <p:nvSpPr>
          <p:cNvPr id="8" name="Shape 11"/>
          <p:cNvSpPr/>
          <p:nvPr/>
        </p:nvSpPr>
        <p:spPr>
          <a:xfrm>
            <a:off x="5577840" y="1051560"/>
            <a:ext cx="3108960" cy="2440754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  <p:txBody>
          <a:bodyPr/>
          <a:p/>
        </p:txBody>
      </p:sp>
      <p:sp>
        <p:nvSpPr>
          <p:cNvPr id="9" name="Text 12"/>
          <p:cNvSpPr txBox="1"/>
          <p:nvPr/>
        </p:nvSpPr>
        <p:spPr>
          <a:xfrm>
            <a:off x="5715000" y="1143000"/>
            <a:ext cx="2834640" cy="2257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할 일</a:t>
            </a:r>
            <a:endParaRPr lang="en-US" sz="1300" dirty="0"/>
          </a:p>
          <a:p>
            <a:pPr indent="0" marL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4  </a:t>
            </a:r>
            <a:pPr indent="0" marL="0"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 임시로 저장한 파일을 공유 드라이브로 옮기고 PC의 사본은 지웁니다.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복구 공지가 나오면 바탕 화면의 임시 파일을 마우스 오른쪽 버튼으로 누릅니다.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[잘라내기]를 누른 뒤 공유 드라이브 팀 폴더에서 붙여넣기합니다. PC에 사본이 남지 않습니다.</a:t>
            </a:r>
            <a:endParaRPr lang="en-US" sz="1000" dirty="0"/>
          </a:p>
        </p:txBody>
      </p:sp>
      <p:sp>
        <p:nvSpPr>
          <p:cNvPr id="1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  <p:pic>
        <p:nvPicPr>
          <p:cNvPr id="11" name="Picture 25" descr="그림 3.4-4. 복구 후 임시 파일을 공유 드라이브로 옮기기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4937760" cy="3086100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대형 장애 대응 · 5. 처리 기록 기준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대형 장애 대응 · 처리 기록 기준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F9E0DD"/>
          </a:solidFill>
          <a:ln w="12700">
            <a:solidFill>
              <a:srgbClr val="F9E0DD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594360" y="114300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03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대형 장애 대응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부서에서 같은 시스템 장애가 동시에 접수되면 대형 장애로 판단한다. 사례: MI-2026-01 월말 대량 배치와 조회가 겹친 ERP DB 잠금 (문의 9건 연결), MI-2026-04 메일 서버 스토리지 장애 (문의 7건 연결), MI-2026-06 파일서버 스토리지 컨트롤러 장애 (문의 5건 연결).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대표 티켓(MI-YYYY-NN)을 만들고, 같은 증상의 개별 문의는 대표 티켓에 연결한다.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그룹웨어 공지사항과 #it-helpdesk 채널에 장애 공지를 올리고 30분마다 갱신한다. 메일 장애 중에는 메일로 공지하지 않는다.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E2A3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후 개별 문의를 대표 티켓 기준으로 일괄 완료(FIN) 처리하고, IT운영·보안 조직장에게 원인과 재발 방지(월말 배치 야간 고정, 스토리지 경로 이중화 점검 주기 단축, 스토리지 이중화 전환 훈련 반기 1회)를 보고한다.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처리 기록 기준 (FIN 시 티켓에 기록)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017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기록 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확인된 원인 한 줄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조치 내용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실제로 한 조치 (즉시 처리면 [즉시 처리])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재발 방지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문의를 줄이기 위한 조치 (없으면 '없음')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관련 FAQ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안내에 쓴 FAQ 번호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가이드 반영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 가이드 반영 필요 여부</a:t>
                      </a:r>
                      <a:endParaRPr lang="en-US" sz="9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" name=""/>
        <p:cNvGrpSpPr/>
        <p:nvPr/>
      </p:nvGrpSpPr>
      <p:grpSpPr/>
      <p:sp>
        <p:nvSpPr>
          <p:cNvPr id="3" name="Text 0"/>
          <p:cNvSpPr txBox="1"/>
          <p:nvPr/>
        </p:nvSpPr>
        <p:spPr>
          <a:xfrm>
            <a:off x="457200" y="164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F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부록</a:t>
            </a:r>
            <a:endParaRPr lang="en-US" sz="10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3A5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내부 연락처 · 개정 이력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4023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담당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연락처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서비스데스크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1000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1060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시스템인프라팀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1050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정보보안팀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내선 1119 (가상)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463040"/>
                <a:gridCol w="18288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버전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개정일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작성자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 내용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v1.0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2026-03-01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업무시스템팀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A3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최초 작성</a:t>
                      </a:r>
                      <a:endParaRPr lang="en-US" sz="1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9E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T Guide">
  <a:themeElements>
    <a:clrScheme name="IT Guide">
      <a:dk1>
        <a:srgbClr val="1E2A36"/>
      </a:dk1>
      <a:lt1>
        <a:srgbClr val="FFFFFF"/>
      </a:lt1>
      <a:dk2>
        <a:srgbClr val="1F3A5F"/>
      </a:dk2>
      <a:lt2>
        <a:srgbClr val="EEF3F7"/>
      </a:lt2>
      <a:accent1>
        <a:srgbClr val="1F3A5F"/>
      </a:accent1>
      <a:accent2>
        <a:srgbClr val="1B6F7A"/>
      </a:accent2>
      <a:accent3>
        <a:srgbClr val="D9661F"/>
      </a:accent3>
      <a:accent4>
        <a:srgbClr val="1E8E5A"/>
      </a:accent4>
      <a:accent5>
        <a:srgbClr val="C98A00"/>
      </a:accent5>
      <a:accent6>
        <a:srgbClr val="C0392B"/>
      </a:accent6>
      <a:hlink>
        <a:srgbClr val="1B6F7A"/>
      </a:hlink>
      <a:folHlink>
        <a:srgbClr val="8A949E"/>
      </a:folHlink>
    </a:clrScheme>
    <a:fontScheme name="IT Guid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04_담당자 매뉴얼 템플릿</dc:title>
  <dc:subject>PptxGenJS Presentation</dc:subject>
  <dc:creator>PptxGenJS</dc:creator>
  <cp:lastModifiedBy>PptxGenJS</cp:lastModifiedBy>
  <cp:revision>1</cp:revision>
  <dcterms:created xsi:type="dcterms:W3CDTF">2026-10-08T13:47:03Z</dcterms:created>
  <dcterms:modified xsi:type="dcterms:W3CDTF">2026-10-08T13:47:03Z</dcterms:modified>
</cp:coreProperties>
</file>