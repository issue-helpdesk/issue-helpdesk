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5" r:id="rId10"/>
    <p:sldId id="276" r:id="rId9"/>
    <p:sldId id="277" r:id="rId8"/>
    <p:sldId id="278" r:id="rId7"/>
    <p:sldId id="279" r:id="rId6"/>
    <p:sldId id="280" r:id="rId5"/>
    <p:sldId id="281" r:id="rId4"/>
    <p:sldId id="282" r:id="rId3"/>
    <p:sldId id="283" r:id="rId2"/>
    <p:sldId id="284" r:id="rId26"/>
    <p:sldId id="285" r:id="rId27"/>
    <p:sldId id="286" r:id="rId28"/>
    <p:sldId id="287" r:id="rId29"/>
    <p:sldId id="288" r:id="rId30"/>
    <p:sldId id="289" r:id="rId31"/>
    <p:sldId id="290" r:id="rId32"/>
    <p:sldId id="291" r:id="rId33"/>
    <p:sldId id="292" r:id="rId34"/>
    <p:sldId id="293" r:id="rId35"/>
    <p:sldId id="294" r:id="rId36"/>
    <p:sldId id="295" r:id="rId37"/>
    <p:sldId id="296" r:id="rId38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·개요" id="{2e72e204-ceb3-2f3e-4b85-99decc568caa}">
          <p14:sldIdLst>
            <p14:sldId id="256"/>
            <p14:sldId id="257"/>
            <p14:sldId id="258"/>
            <p14:sldId id="259"/>
            <p14:sldId id="260"/>
          </p14:sldIdLst>
        </p14:section>
        <p14:section name="3.1 처리 절차" id="{5a20b995-48f9-0b81-a66f-1df5e63d6d7f}">
          <p14:sldIdLst>
            <p14:sldId id="261"/>
            <p14:sldId id="262"/>
          </p14:sldIdLst>
        </p14:section>
        <p14:section name="대형 장애·기록" id="{5ed9c68d-a792-f7fd-e9a9-50676f546159}">
          <p14:sldIdLst>
            <p14:sldId id="263"/>
          </p14:sldIdLst>
        </p14:section>
        <p14:section name="부록" id="{a7b92703-cf53-a262-5474-15598c036e0b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9.xml"/><Relationship Id="rId3" Type="http://schemas.openxmlformats.org/officeDocument/2006/relationships/slide" Target="slides/slide18.xml"/><Relationship Id="rId4" Type="http://schemas.openxmlformats.org/officeDocument/2006/relationships/slide" Target="slides/slide17.xml"/><Relationship Id="rId5" Type="http://schemas.openxmlformats.org/officeDocument/2006/relationships/slide" Target="slides/slide16.xml"/><Relationship Id="rId6" Type="http://schemas.openxmlformats.org/officeDocument/2006/relationships/slide" Target="slides/slide15.xml"/><Relationship Id="rId7" Type="http://schemas.openxmlformats.org/officeDocument/2006/relationships/slide" Target="slides/slide14.xml"/><Relationship Id="rId8" Type="http://schemas.openxmlformats.org/officeDocument/2006/relationships/slide" Target="slides/slide13.xml"/><Relationship Id="rId9" Type="http://schemas.openxmlformats.org/officeDocument/2006/relationships/slide" Target="slides/slide12.xml"/><Relationship Id="rId10" Type="http://schemas.openxmlformats.org/officeDocument/2006/relationships/slide" Target="slides/slide11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IT-SYS-008-M  개발 서버·DB 장애 처리 매뉴얼  |  v1.0  |  IT 담당자 한정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서버·DB 장애 처리 매뉴얼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097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A7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담당자 매뉴얼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6974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E0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IT-SYS-008-M   |   v1.0   |   시행일 2026-03-01   |   IT 담당자 한정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정보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정보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108960"/>
                <a:gridCol w="1005840"/>
                <a:gridCol w="3108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문서 번호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IT-SYS-008-M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v1.0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 사내 시스템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대상 사용자 가이드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IT-SYS-008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보안 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담당자 한정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열람 대상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서비스데스크, 시스템인프라팀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 부서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시행일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2026-03-01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승인자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포함 시나리오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SYS-15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FAQ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3566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3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이 문서는 IT운영·보안 조직 내부 문서입니다. 사용자에게 문서 자체를 전달하지 않습니다.</a:t>
            </a:r>
            <a:endParaRPr lang="en-US" sz="1100" dirty="0"/>
          </a:p>
        </p:txBody>
      </p:sp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개요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개요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목적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서버·DB 장애(SYS-15) 문의를 접수·처리하는 내부 절차를 정한다. 사용자 안내는 IT-SYS-008을 기준으로 한다.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663440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범위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417320"/>
          <a:ext cx="40233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926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처리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서비스데스크(L1): 서버 이름·영향 범위 확인 후 시스템인프라팀 배정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2차 이관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시스템인프라팀(L2): 서버 디스크·로그 정리와 로그 순환 설정, 빌드 연동 토큰 재발급, DB 동기화 커넥터 조정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배정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 L2 · 개발 서버·DB 영역 (SYS-15)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시스템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서버 모니터링 화면, 빌드 서버 관리 화면, DB 관리 화면 (가상 명칭)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접수·분류 기준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접수·분류 기준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가이드의 블록별 기본값이다. 긴급도 기준은 IT 서비스 운영 기준(IT-STD-001)을 따른다.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914400"/>
                <a:gridCol w="2560320"/>
                <a:gridCol w="822960"/>
                <a:gridCol w="1188720"/>
                <a:gridCol w="1188720"/>
                <a:gridCol w="1097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번호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문의 유형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증상·요청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 긴급도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처리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처리 방식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이관 대상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SYS-15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개발 서버 SSH 불가·배포 막힘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SYS-15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Git·빌드 서버 연동 실패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SYS-15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개발 DB·검색엔진 동기화 실패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접수·분류 기준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방식 · 긴급도 조정 조건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방식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즉시 처리: 서비스데스크(L1)가 안내만으로 끝낸 건. 티켓 없이 상담 기록만 남긴다.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티켓: 담당자 조치가 필요한 건. 담당팀에 배정하고 상태를 RDY → WIP → FIN 으로 관리한다.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66344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480060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긴급도 조정 조건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배포 일정이 막힌 팀 단위 장애는 기본 P2로 처리한다.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개발팀이 동시에 서버를 쓰지 못하면 P1로 올리고 대표 티켓으로 묶는다.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서버에서 무단 접근 흔적이 보이면 SEC-05로 정보보안팀에 바로 연결한다.</a:t>
            </a:r>
            <a:endParaRPr lang="en-US" sz="1150" dirty="0"/>
          </a:p>
        </p:txBody>
      </p:sp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개발 서버에 SSH 접속이 안 되고 배포가 막힘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SYS-15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P2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시스템인프라팀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서버인가요?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전체가 접속하지 못하나요?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사내망·VPN에서 접속했나요?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전체가 안 되면 P2 티켓으로 시스템인프라팀에 배정한다.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혼자만 안 되면 계정·권한(ACS-01) 문제로 분류한다.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개발 서버에 SSH 접속이 안 되고 배포가 막힘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 디스크 사용률을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오래된 로그를 정리하고 로그 순환을 설정한다.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서비스를 재시작하고 SSH·배포를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"서버 디스크를 정리하고 서비스를 다시 시작했습니다. 접속과 배포를 확인해 주세요."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 디스크 사용률 80% 알림 설정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(시스템인프라팀에서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사용자 화면 (안내용) (1/4)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개발 서버에 SSH 접속이 안 되고 배포가 막힘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서버 SSH 접속과 배포가 실패하는 증상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볼 곳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SSH 접속이 'Connection timed out'으로 끊깁니다.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배포 로그에 'No space left on device'(디스크 부족) 같은 오류가 보일 수 있습니다.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1-1. 개발 서버 SSH 접속과 배포가 실패하는 증상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사용자 화면 (안내용) (2/4)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개발 서버에 SSH 접속이 안 되고 배포가 막힘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작업 표시줄의 VPN 아이콘과 VPN 연결 창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밖(재택·출장)에서는 VPN이 '연결됨'이어야 사내 시스템이 열립니다.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사내망 또는 VPN 연결을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작업 표시줄 오른쪽 아래의 방패 모양 VPN 아이콘을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연결 상태를 봅니다. '연결됨'이면 VPN은 정상입니다.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'연결 안 됨'이면 [연결]을 누르고 통합 계정으로 로그인합니다.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1-2. 작업 표시줄의 VPN 아이콘과 VPN 연결 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사용자 화면 (안내용) (3/4)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개발 서버에 SSH 접속이 안 되고 배포가 막힘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메신저 #it-helpdesk 채널에 개발 서버 장애 신고하기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문의할 때 알려 줄 정보를 처음부터 적으면 다시 묻는 시간이 줄어듭니다.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 이름과 시작 시각을 적어 헬프데스크에 신고합니다. 담당자가 오래된 로그를 정리하고 서비스를 다시 시작합니다.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메신저 왼쪽 채널 목록에서 #it-helpdesk를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입력창에 아래 항목을 한 줄씩 적습니다. 그대로 복사해 내용만 바꿔 써도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[전송]을 누릅니다. 담당자가 이 채널이나 개인 대화로 답합니다.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1-3. 메신저 #it-helpdesk 채널에 개발 서버 장애 신고하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사용자 화면 (안내용) (4/4)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개발 서버에 SSH 접속이 안 되고 배포가 막힘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3.1-4.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후 디스크와 로그 용량 확인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583754"/>
            <a:ext cx="3108960" cy="1033966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675194"/>
            <a:ext cx="2834640" cy="851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SSH 접속과 배포가 다시 되면 해결된 것입니다. 나만 접속이 안 되면 IT-ACS-002를 봅니다.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440754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257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4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후 애플리케이션 로그가 과도하게 쌓이지 않는지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df -h 로 디스크 사용률(Use%)이 정상 범위인지 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du -sh 로 애플리케이션 로그 폴더가 너무 커지지 않았는지 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1-4. 복구 후 디스크와 로그 용량 확인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업데이트 이후 Git 저장소와 빌드 서버 연동이 실패함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SYS-15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P2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시스템인프라팀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저장소·빌드 작업인가요?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업데이트 이후부터인가요?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빌드 로그가 있나요?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인증 오류면 티켓으로 토큰을 다시 발급한다.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업데이트 이후 Git 저장소와 빌드 서버 연동이 실패함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빌드 로그에서 인증 오류를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연동 토큰을 다시 발급하고 연동 설정을 갱신한다.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빌드를 다시 실행해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"빌드 연동 토큰을 다시 발급했습니다. 빌드를 다시 실행해 주세요."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토큰 만료 사전 알림 등록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(시스템인프라팀에서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사용자 화면 (안내용) (1/3)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업데이트 이후 Git 저장소와 빌드 서버 연동이 실패함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빌드 로그의 인증 오류 메시지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빌드 로그에서 인증 오류 메시지를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빌드 로그에서 '401 Unauthorized', 'token expired' 같은 인증 오류를 찾습니다.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실패한 저장소·빌드 작업 이름과 번호를 적어 둡니다.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2-1. 빌드 로그의 인증 오류 메시지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사용자 화면 (안내용) (2/3)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업데이트 이후 Git 저장소와 빌드 서버 연동이 실패함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빌드 로그 내려받기</a:t>
            </a:r>
            <a:endParaRPr lang="en-US" sz="950" dirty="0"/>
          </a:p>
        </p:txBody>
      </p:sp>
      <p:sp>
        <p:nvSpPr>
          <p:cNvPr id="6" name="Shape 9"/>
          <p:cNvSpPr/>
          <p:nvPr/>
        </p:nvSpPr>
        <p:spPr>
          <a:xfrm>
            <a:off x="5577840" y="3764856"/>
            <a:ext cx="3108960" cy="8528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7" name="Text 10"/>
          <p:cNvSpPr txBox="1"/>
          <p:nvPr/>
        </p:nvSpPr>
        <p:spPr>
          <a:xfrm>
            <a:off x="5715000" y="3856296"/>
            <a:ext cx="2834640" cy="66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토큰을 빌드 설정에 임의로 넣지 않습니다.</a:t>
            </a:r>
            <a:endParaRPr lang="en-US" sz="100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2185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3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빌드 로그를 첨부해 헬프데스크에 신고합니다. 담당자가 토큰을 다시 발급하고 연동 설정을 갱신합니다.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[로그 내려받기]로 로그 파일을 저장합니다.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2-2. 빌드 로그 내려받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사용자 화면 (안내용) (3/3)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업데이트 이후 Git 저장소와 빌드 서버 연동이 실패함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빌드 로그를 붙여 메신저 #it-helpdesk 채널에 신고하기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문의할 때 알려 줄 정보를 처음부터 적으면 다시 묻는 시간이 줄어듭니다.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빌드 로그를 첨부해 헬프데스크에 신고합니다. 담당자가 토큰을 다시 발급하고 연동 설정을 갱신합니다.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메신저 왼쪽 채널 목록에서 #it-helpdesk를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입력창에 아래 항목을 한 줄씩 적습니다. 그대로 복사해 내용만 바꿔 써도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클립 아이콘을 눌러 캡처나 파일을 붙입니다. 캡처는 Ctrl+V로 바로 붙여 넣어도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[전송]을 누릅니다. 담당자가 이 채널이나 개인 대화로 답합니다.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2-3. 빌드 로그를 붙여 메신저 #it-helpdesk 채널에 신고하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업데이트 이후 개발 DB와 검색엔진 동기화가 실패함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SYS-15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P2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시스템인프라팀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DB·인덱스인가요?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업데이트 일시는 언제인가요?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업데이트 후 동기화 실패면 티켓으로 커넥터 호환성을 점검한다.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업데이트 이후 개발 DB와 검색엔진 동기화가 실패함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커넥터와 DB·검색엔진 버전을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커넥터 버전을 맞춘다.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전체를 다시 동기화하고 결과를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"동기화 커넥터 버전을 맞추고 전체를 다시 동기화했습니다."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업데이트 전 호환성 검증 단계 추가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(시스템인프라팀에서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사용자 화면 (안내용) (1/2)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업데이트 이후 개발 DB와 검색엔진 동기화가 실패함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동기화 오류 로그 확인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동기화 오류 로그와 실패가 시작된 시점을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처음 실패한 시각을 찾습니다. 바로 위에 업데이트 기록이 있으면 함께 적습니다.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오류 내용(예: 커넥터 버전 호환 오류)을 확인합니다.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3-1. 동기화 오류 로그 확인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사용자 화면 (안내용) (2/2)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업데이트 이후 개발 DB와 검색엔진 동기화가 실패함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오류 로그를 붙여 메신저 #it-helpdesk 채널에 신고하기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문의할 때 알려 줄 정보를 처음부터 적으면 다시 묻는 시간이 줄어듭니다.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로그를 첨부해 헬프데스크에 신고합니다. 담당자가 커넥터 버전을 맞추고 전체를 다시 동기화합니다.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메신저 왼쪽 채널 목록에서 #it-helpdesk를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입력창에 아래 항목을 한 줄씩 적습니다. 그대로 복사해 내용만 바꿔 써도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클립 아이콘을 눌러 캡처나 파일을 붙입니다. 캡처는 Ctrl+V로 바로 붙여 넣어도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[전송]을 누릅니다. 담당자가 이 채널이나 개인 대화로 답합니다.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3-2. 오류 로그를 붙여 메신저 #it-helpdesk 채널에 신고하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대형 장애 대응 · 5. 처리 기록 기준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대형 장애 대응 · 처리 기록 기준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F9E0DD"/>
          </a:solidFill>
          <a:ln w="12700">
            <a:solidFill>
              <a:srgbClr val="F9E0DD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B03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대형 장애 대응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개발팀이 동시에 개발 서버·DB를 쓰지 못하면 대형 장애로 판단한다.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티켓(MI-YYYY-NN)을 만들고, 같은 증상의 개별 문의는 대표 티켓에 연결한다.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공지사항에 장애 공지를 올리고 30분마다 갱신한다.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후 개별 문의를 대표 티켓 기준으로 일괄 완료(FIN) 처리하고, IT운영·보안 조직장에게 원인을 보고한다.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4663440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처리 기록 기준 (FIN 시 티켓에 기록)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41732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017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기록 내용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확인된 원인 한 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조치 내용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실제로 한 조치 (즉시 처리면 [즉시 처리])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재발 방지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문의를 줄이기 위한 조치 (없으면 '없음')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FAQ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안내에 쓴 FAQ 번호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가이드 반영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 가이드 반영 필요 여부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내부 연락처 · 개정 이력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4023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560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연락처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내선 1000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내선 1050 (가상)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정보보안팀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내선 1119 (가상)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4320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1828800"/>
                <a:gridCol w="4023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개정일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변경 내용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v1.0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2026-03-01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최초 작성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 Guide">
  <a:themeElements>
    <a:clrScheme name="IT Guide">
      <a:dk1>
        <a:srgbClr val="1E2A36"/>
      </a:dk1>
      <a:lt1>
        <a:srgbClr val="FFFFFF"/>
      </a:lt1>
      <a:dk2>
        <a:srgbClr val="1F3A5F"/>
      </a:dk2>
      <a:lt2>
        <a:srgbClr val="EEF3F7"/>
      </a:lt2>
      <a:accent1>
        <a:srgbClr val="1F3A5F"/>
      </a:accent1>
      <a:accent2>
        <a:srgbClr val="1B6F7A"/>
      </a:accent2>
      <a:accent3>
        <a:srgbClr val="D9661F"/>
      </a:accent3>
      <a:accent4>
        <a:srgbClr val="1E8E5A"/>
      </a:accent4>
      <a:accent5>
        <a:srgbClr val="C98A00"/>
      </a:accent5>
      <a:accent6>
        <a:srgbClr val="C0392B"/>
      </a:accent6>
      <a:hlink>
        <a:srgbClr val="1B6F7A"/>
      </a:hlink>
      <a:folHlink>
        <a:srgbClr val="8A949E"/>
      </a:folHlink>
    </a:clrScheme>
    <a:fontScheme name="IT Guid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04_담당자 매뉴얼 템플릿</dc:title>
  <dc:subject>PptxGenJS Presentation</dc:subject>
  <dc:creator>PptxGenJS</dc:creator>
  <cp:lastModifiedBy>PptxGenJS</cp:lastModifiedBy>
  <cp:revision>1</cp:revision>
  <dcterms:created xsi:type="dcterms:W3CDTF">2026-10-08T13:47:03Z</dcterms:created>
  <dcterms:modified xsi:type="dcterms:W3CDTF">2026-10-08T13:47:03Z</dcterms:modified>
</cp:coreProperties>
</file>