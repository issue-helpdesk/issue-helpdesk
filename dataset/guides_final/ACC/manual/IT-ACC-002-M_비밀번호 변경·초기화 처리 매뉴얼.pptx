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584200" y="1651000"/>
            <a:ext cx="1168400" cy="508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84200" y="2108200"/>
            <a:ext cx="11023600" cy="2705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129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한화시스템 ICT IT 담당자 매뉴얼 · 계정·로그인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4200" y="2489200"/>
            <a:ext cx="11023600" cy="609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8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비밀번호 변경·초기화 처리 매뉴얼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4200" y="3149600"/>
            <a:ext cx="11023600" cy="2524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988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IT-ACC-002-M  |  서비스데스크  |  2026.10.16  |  Ver 2.0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84200" y="3581400"/>
            <a:ext cx="2449984" cy="304800"/>
          </a:xfrm>
          <a:prstGeom prst="roundRect">
            <a:avLst>
              <a:gd name="adj" fmla="val 16666"/>
            </a:avLst>
          </a:prstGeom>
          <a:solidFill>
            <a:srgbClr val="B843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749300" y="3644900"/>
            <a:ext cx="2449984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사내 제한 · IT 운영 담당자·관리자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4200" y="5689600"/>
            <a:ext cx="110236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IT운영·보안 조직 내부 문서입니다. 사용자에게 문서 자체를 전달하지 않고, 안내는 짝이 되는 임직원용 가이드를 기준으로 합니다.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IT-ACC-002-M · 사내 제한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 / 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문서 정보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IT-ACC-002-M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84200" y="1168400"/>
          <a:ext cx="11023600" cy="17526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732280"/>
                <a:gridCol w="3779520"/>
                <a:gridCol w="1732280"/>
                <a:gridCol w="3779520"/>
              </a:tblGrid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문서 번호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IT-ACC-002-M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버전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v2.0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분류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ACC 계정·로그인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시행일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2026-10-16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문서 유형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처리 매뉴얼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열람 등급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사내 제한 (IT 운영 담당자·관리자)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관리 부서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서비스데스크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승인자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서비스데스크 팀장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열람 대상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서비스데스크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대상 사용자 가이드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IT-ACC-002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포함 시나리오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ACC-01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관련 FAQ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FAQ-001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IT-ACC-002-M · 사내 제한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2 / 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Contents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965200" y="1244600"/>
            <a:ext cx="9499600" cy="2524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988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1. 개요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659892" y="1431290"/>
            <a:ext cx="8423908" cy="0"/>
          </a:xfrm>
          <a:prstGeom prst="line">
            <a:avLst/>
          </a:prstGeom>
          <a:ln w="7620">
            <a:solidFill>
              <a:srgbClr val="C9CDD3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10185400" y="1244600"/>
            <a:ext cx="762000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704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4p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5200" y="1676400"/>
            <a:ext cx="9499600" cy="2524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988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2. 접수·분류 기준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480134" y="1863090"/>
            <a:ext cx="7603666" cy="0"/>
          </a:xfrm>
          <a:prstGeom prst="line">
            <a:avLst/>
          </a:prstGeom>
          <a:ln w="7620">
            <a:solidFill>
              <a:srgbClr val="C9CDD3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10185400" y="1676400"/>
            <a:ext cx="762000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704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6p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5200" y="2108200"/>
            <a:ext cx="9499600" cy="2524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988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3. 증상별 처리 절차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673908" y="2294890"/>
            <a:ext cx="7409892" cy="0"/>
          </a:xfrm>
          <a:prstGeom prst="line">
            <a:avLst/>
          </a:prstGeom>
          <a:ln w="7620">
            <a:solidFill>
              <a:srgbClr val="C9CDD3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10185400" y="2108200"/>
            <a:ext cx="762000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704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10p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5200" y="2540000"/>
            <a:ext cx="9499600" cy="2524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988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4. 대형 장애 대응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496108" y="2726690"/>
            <a:ext cx="7587692" cy="0"/>
          </a:xfrm>
          <a:prstGeom prst="line">
            <a:avLst/>
          </a:prstGeom>
          <a:ln w="7620">
            <a:solidFill>
              <a:srgbClr val="C9CDD3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185400" y="2540000"/>
            <a:ext cx="762000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704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20p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5200" y="2971800"/>
            <a:ext cx="9499600" cy="2524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988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5. 처리 기록 기준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496108" y="3158490"/>
            <a:ext cx="7587692" cy="0"/>
          </a:xfrm>
          <a:prstGeom prst="line">
            <a:avLst/>
          </a:prstGeom>
          <a:ln w="7620">
            <a:solidFill>
              <a:srgbClr val="C9CDD3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10185400" y="2971800"/>
            <a:ext cx="762000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704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22p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5200" y="3403600"/>
            <a:ext cx="9499600" cy="2524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988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6. 연락처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1837692" y="3590290"/>
            <a:ext cx="8246108" cy="0"/>
          </a:xfrm>
          <a:prstGeom prst="line">
            <a:avLst/>
          </a:prstGeom>
          <a:ln w="7620">
            <a:solidFill>
              <a:srgbClr val="C9CDD3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10185400" y="3403600"/>
            <a:ext cx="762000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704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24p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5200" y="3835400"/>
            <a:ext cx="9499600" cy="2254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75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개정 이력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1783011" y="4002088"/>
            <a:ext cx="8300789" cy="0"/>
          </a:xfrm>
          <a:prstGeom prst="line">
            <a:avLst/>
          </a:prstGeom>
          <a:ln w="7620">
            <a:solidFill>
              <a:srgbClr val="C9CDD3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10185400" y="3835400"/>
            <a:ext cx="762000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704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26p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IT-ACC-002-M · 사내 제한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3 / 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D29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2489200"/>
            <a:ext cx="11023600" cy="8102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6380"/>
              </a:lnSpc>
              <a:spcBef>
                <a:spcPts val="0"/>
              </a:spcBef>
              <a:spcAft>
                <a:spcPts val="0"/>
              </a:spcAft>
            </a:pPr>
            <a:r>
              <a:rPr sz="580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4200" y="3505200"/>
            <a:ext cx="11023600" cy="5181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079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개요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© HANWHA SYSTEMS ICT · IT-ACC-002-M · 사내 제한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4 / 26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개요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01. 개요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84200" y="1168400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목적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84200" y="1492885"/>
            <a:ext cx="11023600" cy="41478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IT-ACC-002로 들어오는 비밀번호 문의(규칙 때문에 변경 실패, 변경, 만료, 분실, 셀프 초기화 불가)를 셀프 안내로 끝내는 것을 원칙으로 하고, 셀프가 안 되는 경우에만</a:t>
            </a:r>
          </a:p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본인 확인을 거쳐 임시 비밀번호를 발급한다.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4200" y="1996567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담당 범위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84200" y="2321052"/>
          <a:ext cx="11023600" cy="11684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624667"/>
                <a:gridCol w="8398933"/>
              </a:tblGrid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1차 처리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서비스데스크(L1): 규칙·셀프 포털 안내(즉시 처리), 본인 확인 후 임시 비밀번호 발급, 초기화 반복 실패 점검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2차 이관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시스템인프라팀: 디렉터리 동기화 지연 / 정보보안팀: 무단 변경·피싱 입력 (IT-SEC-001-M 3.4, IT-SEC-003-M 3.4)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배정 기준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계정·로그인 1차 담당 (이도윤, 공서현, 윤재현). 재배정은 서비스데스크 팀장(이건우)이 승인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관련 시스템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계정 관리 콘솔, 셀프 비밀번호 재설정 포털, 인사 시스템, 상담 기록 시스템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IT-ACC-002-M · 사내 제한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5 / 26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D29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2489200"/>
            <a:ext cx="11023600" cy="8102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6380"/>
              </a:lnSpc>
              <a:spcBef>
                <a:spcPts val="0"/>
              </a:spcBef>
              <a:spcAft>
                <a:spcPts val="0"/>
              </a:spcAft>
            </a:pPr>
            <a:r>
              <a:rPr sz="580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4200" y="3505200"/>
            <a:ext cx="11023600" cy="5181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079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접수·분류 기준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© HANWHA SYSTEMS ICT · IT-ACC-002-M · 사내 제한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6 / 26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접수·분류 기준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02. 접수·분류 기준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84200" y="1168400"/>
            <a:ext cx="11023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사용자 가이드의 항목별 기본값입니다. 긴급도 기준은 IT-STD-001 IT 서비스 운영 기준을 따릅니다.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84200" y="1464691"/>
          <a:ext cx="11023601" cy="19177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621048"/>
                <a:gridCol w="1009203"/>
                <a:gridCol w="3571025"/>
                <a:gridCol w="931572"/>
                <a:gridCol w="1319727"/>
                <a:gridCol w="2018406"/>
                <a:gridCol w="1552620"/>
              </a:tblGrid>
              <a:tr h="292100"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번호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문의 유형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증상·요청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기본 긴급도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1차 처리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처리 방식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이관 대상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3.1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ACC-01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비밀번호 규칙 때문에 변경이 안 될 때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P3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서비스데스크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즉시 처리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—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3.2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ACC-01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비밀번호 바꾸기 · 기기 갱신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P3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서비스데스크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즉시 처리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—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3.3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ACC-01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'비밀번호가 만료되었습니다' (AUTH-104)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P3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서비스데스크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즉시 처리 후 필요 시 티켓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—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4572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3.4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ACC-01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비밀번호를 잊었을 때 (셀프 초기화)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P3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서비스데스크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즉시 처리 (반복 실패는 티켓)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시스템인프라팀 (동기화</a:t>
                      </a:r>
                    </a:p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지연)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3.5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ACC-01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셀프 초기화를 할 수 없을 때 (본인 인증 불가)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P3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서비스데스크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티켓 (본인 확인 후 처리)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—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84200" y="3483991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처리 방식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5000" y="3808476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8200" y="3808476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즉시 처리: 규칙 안내·셀프 포털 안내로 사용자가 직접 바꾼 건. 티켓 없이 상담 기록만 남긴다 (문의이력 즉시 처리 6건).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5000" y="4047617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8200" y="4047617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티켓: 임시 비밀번호 발급, 초기화 반복 실패 점검처럼 담당자 작업이 필요한 건. RDY → WIP → FIN → CLS 으로 관리한다.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5000" y="4286758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8200" y="4286758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사용자가 셀프로 할 수 있는 작업은 대신 하지 않는다. 본인 확인 우회를 막기 위해서다.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4200" y="4576699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긴급도 조정 조건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5000" y="4901184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8200" y="4901184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ACC-01은 기본 P3다.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5000" y="5140325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8200" y="5140325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"오늘 오후 고객 미팅", "마감" 같은 당일 업무 차질이 있으면 P2로 올린다 (INQ-2026-00061, INQ-2026-00078, INQ-2026-00244).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5000" y="5379466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8200" y="5379466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사용자가 바꾸지 않았는데 비밀번호가 바뀌었다는 문의는 비밀번호 처리 대상이 아니다. 즉시 정보보안팀에 넘긴다.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5000" y="5618607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8200" y="5618607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사용자가 급하다고 해도 본인 확인 절차는 줄이지 않는다.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IT-ACC-002-M · 사내 제한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7 / 26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접수·분류 기준 (계속)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02. 접수·분류 기준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84200" y="1168400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본인 확인 수준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84200" y="1492885"/>
          <a:ext cx="11023601" cy="14986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827894"/>
                <a:gridCol w="5671073"/>
                <a:gridCol w="4524634"/>
              </a:tblGrid>
              <a:tr h="292100"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수준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확인 방법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쓰는 때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4572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L1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사번 + 등록 휴대폰 인증번호 (사용자가 받은 번호를 상담원 화면이 아니라 콘솔에 직접</a:t>
                      </a:r>
                    </a:p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입력하게 함)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인사 시스템에 등록된 휴대폰을 쓸 수 있을 때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4572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L2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사내 메신저 화상 또는 대면: 사원증 + 얼굴 + 인사 시스템 사진 대조, 인사 정보(부서·입사 연월)</a:t>
                      </a:r>
                    </a:p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질문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등록 휴대폰을 쓸 수 없을 때, MFA 초기화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L3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L2 + 소속 팀장 승인 (팀장이 본인 계정으로 티켓에 승인)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사용 중지 계정 활성화, 180일 이상 장기 휴면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84200" y="3093085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사회공학 요청 대응 (실제 업무처럼 들려도 처리하지 않는다)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84200" y="3417570"/>
          <a:ext cx="11023600" cy="14605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747250"/>
                <a:gridCol w="4638175"/>
                <a:gridCol w="4638175"/>
              </a:tblGrid>
              <a:tr h="292100"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유형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예시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대응 문구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서두르게 함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"임원 보고 5분 전이에요, 확인 절차는 건너뛰어 주세요"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"본인 확인 없이는 처리할 수 없습니다. 화상 확인은 2~3분이면 끝납니다."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권위 사칭·대리 요청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"팀장님 지시로 연락했어요, 팀장님 비밀번호 초기화해 주세요"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"계정 당사자께서 직접 요청해 주셔야 합니다."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정보 캐내기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"제 계정에 등록된 휴대폰 번호가 뭐였죠?"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"등록 정보는 인사 시스템에서 직접 확인해 주세요."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다른 경로 유도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"개인 메일로 임시 비밀번호 보내 주세요"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"임시 비밀번호는 등록된 휴대폰 문자로만 보냅니다."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IT-ACC-002-M · 사내 제한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8 / 26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접수·분류 기준 (계속)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02. 접수·분류 기준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84200" y="1168400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처리 흐름</a:t>
            </a:r>
          </a:p>
        </p:txBody>
      </p:sp>
      <p:sp>
        <p:nvSpPr>
          <p:cNvPr id="7" name="Rectangle 6"/>
          <p:cNvSpPr/>
          <p:nvPr/>
        </p:nvSpPr>
        <p:spPr>
          <a:xfrm>
            <a:off x="1686560" y="1492885"/>
            <a:ext cx="8818880" cy="2292909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" name="Picture 7" descr="m002_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86560" y="1492885"/>
            <a:ext cx="8818880" cy="229290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84200" y="3836594"/>
            <a:ext cx="110236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그림 2-1. 비밀번호 문의 처리 흐름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IT-ACC-002-M · 사내 제한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9 / 26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D29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2489200"/>
            <a:ext cx="11023600" cy="8102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6380"/>
              </a:lnSpc>
              <a:spcBef>
                <a:spcPts val="0"/>
              </a:spcBef>
              <a:spcAft>
                <a:spcPts val="0"/>
              </a:spcAft>
            </a:pPr>
            <a:r>
              <a:rPr sz="580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4200" y="3505200"/>
            <a:ext cx="11023600" cy="5181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079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증상별 처리 절차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© HANWHA SYSTEMS ICT · IT-ACC-002-M · 사내 제한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10 / 26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3.1 비밀번호 규칙 때문에 변경이 안 될 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처리 절차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84200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60400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문의 유형</a:t>
            </a:r>
          </a:p>
        </p:txBody>
      </p:sp>
      <p:sp>
        <p:nvSpPr>
          <p:cNvPr id="8" name="Rectangle 7"/>
          <p:cNvSpPr/>
          <p:nvPr/>
        </p:nvSpPr>
        <p:spPr>
          <a:xfrm>
            <a:off x="1289248" y="1168400"/>
            <a:ext cx="603721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365448" y="1219200"/>
            <a:ext cx="451321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ACC-01</a:t>
            </a:r>
          </a:p>
        </p:txBody>
      </p:sp>
      <p:sp>
        <p:nvSpPr>
          <p:cNvPr id="10" name="Rectangle 9"/>
          <p:cNvSpPr/>
          <p:nvPr/>
        </p:nvSpPr>
        <p:spPr>
          <a:xfrm>
            <a:off x="1892970" y="1168400"/>
            <a:ext cx="832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1969170" y="1219200"/>
            <a:ext cx="679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기본 긴급도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25018" y="1168400"/>
            <a:ext cx="304081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2801218" y="1219200"/>
            <a:ext cx="151681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P3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029099" y="1168400"/>
            <a:ext cx="651656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3105299" y="1219200"/>
            <a:ext cx="499256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1차 처리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80755" y="1168400"/>
            <a:ext cx="91440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3756955" y="1219200"/>
            <a:ext cx="762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서비스데스크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95155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4671355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처리 방식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300204" y="1168400"/>
            <a:ext cx="705048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5376404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즉시 처리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005252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6081452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이관 대상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710300" y="1168400"/>
            <a:ext cx="282687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6786500" y="1219200"/>
            <a:ext cx="130287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—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84200" y="1587500"/>
            <a:ext cx="5435600" cy="1605661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Rectangle 26"/>
          <p:cNvSpPr/>
          <p:nvPr/>
        </p:nvSpPr>
        <p:spPr>
          <a:xfrm>
            <a:off x="584200" y="1587500"/>
            <a:ext cx="5435600" cy="381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711200" y="1714500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접수 시 확인 질문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1200" y="19980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8200" y="1998091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화면에 어떤 메시지가 나오나요? (빨간 규칙 항목)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11200" y="2234565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8200" y="2234565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오늘 이미 바꿨나요?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11200" y="2471039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8200" y="2471039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어떤 종류의 문자를 넣었나요? (값은 묻지 않는다)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172200" y="1587500"/>
            <a:ext cx="5435600" cy="1605661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Rectangle 35"/>
          <p:cNvSpPr/>
          <p:nvPr/>
        </p:nvSpPr>
        <p:spPr>
          <a:xfrm>
            <a:off x="6172200" y="1587500"/>
            <a:ext cx="5435600" cy="381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6299200" y="1714500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판단 기준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99200" y="19980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26200" y="1998091"/>
            <a:ext cx="5054600" cy="59512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즉시 처리: 규칙(12자 이상, 4종류 모두, 최근 5개 재사용 불가)을 안내하고</a:t>
            </a:r>
          </a:p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사용자가 직접 바꾸게 한다 (INQ-2026-00006, INQ-2026-00136,</a:t>
            </a:r>
          </a:p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INQ-2026-00144).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299200" y="2631313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26200" y="2631313"/>
            <a:ext cx="5054600" cy="39674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티켓: 규칙을 모두 채웠는데 계속 거부되면 감사 로그의 거부 사유를 확인한다</a:t>
            </a:r>
          </a:p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(4번 절차).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84200" y="3294761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처리 절차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35000" y="3619246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①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38200" y="3619246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빨간 규칙 항목을 확인하게 한다.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35000" y="3858387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②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38200" y="3858387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규칙을 안내한다. 사용자가 생각한 비밀번호를 말하게 하지 않는다.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35000" y="4097528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③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38200" y="4097528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최근 5개 재사용·24시간 안 재변경 여부를 확인하게 한다.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35000" y="4336669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④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38200" y="4336669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계속 거부되면 계정 관리 콘솔의 감사 로그에서 거부 사유를 보고, 사유를 일반화해서 안내한다 ("최근 사용한 비밀번호" 등).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35000" y="4575810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⑤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38200" y="4575810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변경 성공을 확인하고 기기 갱신을 안내한 뒤 상담 기록을 남긴다.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84200" y="4865751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처리 후 안내 문구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84200" y="5190236"/>
            <a:ext cx="11023600" cy="617982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5" name="Rectangle 54"/>
          <p:cNvSpPr/>
          <p:nvPr/>
        </p:nvSpPr>
        <p:spPr>
          <a:xfrm>
            <a:off x="584200" y="5190236"/>
            <a:ext cx="50800" cy="617982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6" name="TextBox 55"/>
          <p:cNvSpPr txBox="1"/>
          <p:nvPr/>
        </p:nvSpPr>
        <p:spPr>
          <a:xfrm>
            <a:off x="787400" y="5291836"/>
            <a:ext cx="10693400" cy="41478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비밀번호는 12자 이상이고 대문자·소문자·숫자·특수문자를 모두 넣어야 하며, 최근 쓴 5개는 다시 쓸 수 없습니다. 규칙 항목이 모두 초록색이 되면 [변경]을 눌러</a:t>
            </a:r>
          </a:p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주세요.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IT-ACC-002-M · 사내 제한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11 / 26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3.1 비밀번호 규칙 때문에 변경이 안 될 때 (계속)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처리 절차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84200" y="1168400"/>
            <a:ext cx="5435600" cy="1247013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584200" y="1168400"/>
            <a:ext cx="5435600" cy="381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711200" y="1295400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재발 방지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1200" y="15789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8200" y="1578991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만료 14일 전 사전 알림 메일 발송 (문의이력)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72200" y="1168400"/>
            <a:ext cx="5435600" cy="1247013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6172200" y="1168400"/>
            <a:ext cx="5435600" cy="381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299200" y="1295400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이관 시 전달 정보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99200" y="15789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26200" y="1578991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화면 메시지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99200" y="1815465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26200" y="1815465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감사 로그 거부 사유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99200" y="2051939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26200" y="2051939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사번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IT-ACC-002-M · 사내 제한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12 / 26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3.2 비밀번호 바꾸기 · 기기 갱신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처리 절차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84200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60400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문의 유형</a:t>
            </a:r>
          </a:p>
        </p:txBody>
      </p:sp>
      <p:sp>
        <p:nvSpPr>
          <p:cNvPr id="8" name="Rectangle 7"/>
          <p:cNvSpPr/>
          <p:nvPr/>
        </p:nvSpPr>
        <p:spPr>
          <a:xfrm>
            <a:off x="1289248" y="1168400"/>
            <a:ext cx="603721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365448" y="1219200"/>
            <a:ext cx="451321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ACC-01</a:t>
            </a:r>
          </a:p>
        </p:txBody>
      </p:sp>
      <p:sp>
        <p:nvSpPr>
          <p:cNvPr id="10" name="Rectangle 9"/>
          <p:cNvSpPr/>
          <p:nvPr/>
        </p:nvSpPr>
        <p:spPr>
          <a:xfrm>
            <a:off x="1892970" y="1168400"/>
            <a:ext cx="832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1969170" y="1219200"/>
            <a:ext cx="679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기본 긴급도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25018" y="1168400"/>
            <a:ext cx="304081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2801218" y="1219200"/>
            <a:ext cx="151681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P3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029099" y="1168400"/>
            <a:ext cx="651656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3105299" y="1219200"/>
            <a:ext cx="499256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1차 처리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80755" y="1168400"/>
            <a:ext cx="91440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3756955" y="1219200"/>
            <a:ext cx="762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서비스데스크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95155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4671355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처리 방식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300204" y="1168400"/>
            <a:ext cx="705048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5376404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즉시 처리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005252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6081452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이관 대상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710300" y="1168400"/>
            <a:ext cx="282687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6786500" y="1219200"/>
            <a:ext cx="130287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—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84200" y="1587500"/>
            <a:ext cx="5435600" cy="1010539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Rectangle 26"/>
          <p:cNvSpPr/>
          <p:nvPr/>
        </p:nvSpPr>
        <p:spPr>
          <a:xfrm>
            <a:off x="584200" y="1587500"/>
            <a:ext cx="5435600" cy="381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711200" y="1714500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접수 시 확인 질문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1200" y="19980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8200" y="1998091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현재 비밀번호를 아나요?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11200" y="2234565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8200" y="2234565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바꾼 뒤 휴대폰 메일 앱·공유 드라이브를 갱신했나요?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172200" y="1587500"/>
            <a:ext cx="5435600" cy="1010539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ectangle 33"/>
          <p:cNvSpPr/>
          <p:nvPr/>
        </p:nvSpPr>
        <p:spPr>
          <a:xfrm>
            <a:off x="6172200" y="1587500"/>
            <a:ext cx="5435600" cy="381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6299200" y="1714500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판단 기준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99200" y="19980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26200" y="1998091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즉시 처리: 셀프 포털 변경을 안내하고, 저장된 기기 갱신 목록을 함께 안내한다.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99200" y="2234565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26200" y="2234565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전환: 바꾼 뒤 잠김이 반복되면 IT-ACC-001-M 3.2.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84200" y="2699639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처리 절차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35000" y="3024124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①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38200" y="3024124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셀프 포털 [비밀번호 변경]을 안내한다.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35000" y="3263265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②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38200" y="3263265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변경 완료 뒤 휴대폰 메일 앱·자격 증명 관리자·VPN·메신저 갱신을 안내한다.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35000" y="3502406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③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38200" y="3502406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상담 기록을 남긴다.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84200" y="3792347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처리 후 안내 문구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84200" y="4116832"/>
            <a:ext cx="11023600" cy="410591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Rectangle 48"/>
          <p:cNvSpPr/>
          <p:nvPr/>
        </p:nvSpPr>
        <p:spPr>
          <a:xfrm>
            <a:off x="584200" y="4116832"/>
            <a:ext cx="50800" cy="410591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TextBox 49"/>
          <p:cNvSpPr txBox="1"/>
          <p:nvPr/>
        </p:nvSpPr>
        <p:spPr>
          <a:xfrm>
            <a:off x="787400" y="4218432"/>
            <a:ext cx="106934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비밀번호를 바꾸셨다면 휴대폰 메일 앱과 공유 드라이브(자격 증명 관리자)에 저장된 비밀번호도 새 비밀번호로 바꿔 주세요. 그대로 두면 계정이 잠깁니다.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84200" y="4629023"/>
            <a:ext cx="5435600" cy="1010539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2" name="Rectangle 51"/>
          <p:cNvSpPr/>
          <p:nvPr/>
        </p:nvSpPr>
        <p:spPr>
          <a:xfrm>
            <a:off x="584200" y="4629023"/>
            <a:ext cx="5435600" cy="381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3" name="TextBox 52"/>
          <p:cNvSpPr txBox="1"/>
          <p:nvPr/>
        </p:nvSpPr>
        <p:spPr>
          <a:xfrm>
            <a:off x="711200" y="4756023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재발 방지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11200" y="5039614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38200" y="5039614"/>
            <a:ext cx="5054600" cy="39674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비밀번호 변경 시 모바일 앱·저장 자격 증명 갱신 안내를 변경 완료 화면에 추가</a:t>
            </a:r>
          </a:p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(MAN-01 ACC-02)</a:t>
            </a:r>
          </a:p>
        </p:txBody>
      </p:sp>
      <p:sp>
        <p:nvSpPr>
          <p:cNvPr id="56" name="Rectangle 55"/>
          <p:cNvSpPr/>
          <p:nvPr/>
        </p:nvSpPr>
        <p:spPr>
          <a:xfrm>
            <a:off x="6172200" y="4629023"/>
            <a:ext cx="5435600" cy="1010539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7" name="Rectangle 56"/>
          <p:cNvSpPr/>
          <p:nvPr/>
        </p:nvSpPr>
        <p:spPr>
          <a:xfrm>
            <a:off x="6172200" y="4629023"/>
            <a:ext cx="5435600" cy="381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8" name="TextBox 57"/>
          <p:cNvSpPr txBox="1"/>
          <p:nvPr/>
        </p:nvSpPr>
        <p:spPr>
          <a:xfrm>
            <a:off x="6299200" y="4756023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이관 시 전달 정보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299200" y="5039614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426200" y="5039614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갱신하지 않은 기기 목록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299200" y="5276088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426200" y="5276088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사번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IT-ACC-002-M · 사내 제한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13 / 26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3.3 '비밀번호가 만료되었습니다' (AUTH-104)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처리 절차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84200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60400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문의 유형</a:t>
            </a:r>
          </a:p>
        </p:txBody>
      </p:sp>
      <p:sp>
        <p:nvSpPr>
          <p:cNvPr id="8" name="Rectangle 7"/>
          <p:cNvSpPr/>
          <p:nvPr/>
        </p:nvSpPr>
        <p:spPr>
          <a:xfrm>
            <a:off x="1289248" y="1168400"/>
            <a:ext cx="603721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365448" y="1219200"/>
            <a:ext cx="451321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ACC-01</a:t>
            </a:r>
          </a:p>
        </p:txBody>
      </p:sp>
      <p:sp>
        <p:nvSpPr>
          <p:cNvPr id="10" name="Rectangle 9"/>
          <p:cNvSpPr/>
          <p:nvPr/>
        </p:nvSpPr>
        <p:spPr>
          <a:xfrm>
            <a:off x="1892970" y="1168400"/>
            <a:ext cx="832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1969170" y="1219200"/>
            <a:ext cx="679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기본 긴급도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25018" y="1168400"/>
            <a:ext cx="304081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2801218" y="1219200"/>
            <a:ext cx="151681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P3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029099" y="1168400"/>
            <a:ext cx="651656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3105299" y="1219200"/>
            <a:ext cx="499256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1차 처리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80755" y="1168400"/>
            <a:ext cx="91440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3756955" y="1219200"/>
            <a:ext cx="762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서비스데스크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95155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4671355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처리 방식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300204" y="1168400"/>
            <a:ext cx="1645642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5376404" y="1219200"/>
            <a:ext cx="1493242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즉시 처리 후 필요 시 티켓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945846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7022046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이관 대상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650894" y="1168400"/>
            <a:ext cx="282687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7727094" y="1219200"/>
            <a:ext cx="130287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—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84200" y="1587500"/>
            <a:ext cx="5435600" cy="1247013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Rectangle 26"/>
          <p:cNvSpPr/>
          <p:nvPr/>
        </p:nvSpPr>
        <p:spPr>
          <a:xfrm>
            <a:off x="584200" y="1587500"/>
            <a:ext cx="5435600" cy="381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711200" y="1714500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접수 시 확인 질문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1200" y="19980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8200" y="1998091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어느 시스템 로그인에서 나왔나요? (PC·메일·그룹웨어)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11200" y="2234565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8200" y="2234565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변경 화면에서 어떤 오류가 나오나요?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11200" y="2471039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8200" y="2471039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만료된 비밀번호를 기억하나요?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172200" y="1587500"/>
            <a:ext cx="5435600" cy="1247013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Rectangle 35"/>
          <p:cNvSpPr/>
          <p:nvPr/>
        </p:nvSpPr>
        <p:spPr>
          <a:xfrm>
            <a:off x="6172200" y="1587500"/>
            <a:ext cx="5435600" cy="381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6299200" y="1714500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판단 기준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99200" y="19980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26200" y="1998091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즉시 처리: 셀프 포털에서 직접 바꾸도록 안내한다 (INQ-2026-00093).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299200" y="2234565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26200" y="2234565"/>
            <a:ext cx="5054600" cy="39674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티켓: 셀프 포털에서도 계속 실패하면 담당자가 확인한다 (INQ-2026-00061,</a:t>
            </a:r>
          </a:p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INQ-2026-00349).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84200" y="2936113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처리 절차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35000" y="3260598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①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38200" y="3260598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셀프 비밀번호 재설정 포털에서 바꾸도록 안내한다. PC 로그인 화면의 변경이 실패하면 포털에서 바꾸게 한다.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35000" y="3499739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②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38200" y="3499739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규칙(3.1)을 함께 안내한다.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35000" y="3738880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③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38200" y="3738880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기억나지 않으면 3.4 셀프 초기화로 안내한다.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35000" y="3978021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④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38200" y="3978021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새 비밀번호 로그인을 확인하고 기록한다.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84200" y="4267962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처리 후 안내 문구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84200" y="4592447"/>
            <a:ext cx="11023600" cy="410591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3" name="Rectangle 52"/>
          <p:cNvSpPr/>
          <p:nvPr/>
        </p:nvSpPr>
        <p:spPr>
          <a:xfrm>
            <a:off x="584200" y="4592447"/>
            <a:ext cx="50800" cy="410591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TextBox 53"/>
          <p:cNvSpPr txBox="1"/>
          <p:nvPr/>
        </p:nvSpPr>
        <p:spPr>
          <a:xfrm>
            <a:off x="787400" y="4694047"/>
            <a:ext cx="106934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비밀번호 사용 기간(90일)이 지나 만료되었습니다. 셀프 비밀번호 재설정 포털에서 새 비밀번호로 바꾼 뒤 다시 로그인해 주세요.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IT-ACC-002-M · 사내 제한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14 / 26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3.3 '비밀번호가 만료되었습니다' (AUTH-104) (계속)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처리 절차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84200" y="1168400"/>
            <a:ext cx="5435600" cy="1247013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584200" y="1168400"/>
            <a:ext cx="5435600" cy="381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711200" y="1295400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재발 방지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1200" y="15789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8200" y="1578991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만료 14일 전 사전 알림 메일 발송 (문의이력)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72200" y="1168400"/>
            <a:ext cx="5435600" cy="1247013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6172200" y="1168400"/>
            <a:ext cx="5435600" cy="381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299200" y="1295400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이관 시 전달 정보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99200" y="15789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26200" y="1578991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시스템과 오류 메시지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99200" y="1815465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26200" y="1815465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셀프 포털 시도 결과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99200" y="2051939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26200" y="2051939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사번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IT-ACC-002-M · 사내 제한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15 / 26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3.4 비밀번호를 잊었을 때 (셀프 초기화)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처리 절차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84200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60400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문의 유형</a:t>
            </a:r>
          </a:p>
        </p:txBody>
      </p:sp>
      <p:sp>
        <p:nvSpPr>
          <p:cNvPr id="8" name="Rectangle 7"/>
          <p:cNvSpPr/>
          <p:nvPr/>
        </p:nvSpPr>
        <p:spPr>
          <a:xfrm>
            <a:off x="1289248" y="1168400"/>
            <a:ext cx="603721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365448" y="1219200"/>
            <a:ext cx="451321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ACC-01</a:t>
            </a:r>
          </a:p>
        </p:txBody>
      </p:sp>
      <p:sp>
        <p:nvSpPr>
          <p:cNvPr id="10" name="Rectangle 9"/>
          <p:cNvSpPr/>
          <p:nvPr/>
        </p:nvSpPr>
        <p:spPr>
          <a:xfrm>
            <a:off x="1892970" y="1168400"/>
            <a:ext cx="832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1969170" y="1219200"/>
            <a:ext cx="679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기본 긴급도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25018" y="1168400"/>
            <a:ext cx="304081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2801218" y="1219200"/>
            <a:ext cx="151681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P3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029099" y="1168400"/>
            <a:ext cx="651656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3105299" y="1219200"/>
            <a:ext cx="499256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1차 처리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80755" y="1168400"/>
            <a:ext cx="91440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3756955" y="1219200"/>
            <a:ext cx="762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서비스데스크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95155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4671355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처리 방식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300204" y="1168400"/>
            <a:ext cx="1818903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5376404" y="1219200"/>
            <a:ext cx="1666503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즉시 처리 (반복 실패는 티켓)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119107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7195307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이관 대상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824155" y="1168400"/>
            <a:ext cx="1856606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7900355" y="1219200"/>
            <a:ext cx="1704206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시스템인프라팀 (동기화 지연)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84200" y="1587500"/>
            <a:ext cx="5435600" cy="1445387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Rectangle 26"/>
          <p:cNvSpPr/>
          <p:nvPr/>
        </p:nvSpPr>
        <p:spPr>
          <a:xfrm>
            <a:off x="584200" y="1587500"/>
            <a:ext cx="5435600" cy="381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711200" y="1714500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접수 시 확인 질문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1200" y="19980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8200" y="1998091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등록 휴대폰으로 인증번호를 받을 수 있나요?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11200" y="2234565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8200" y="2234565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초기화를 몇 번 했나요? 어느 단계에서 막히나요?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11200" y="2471039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8200" y="2471039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계정 상태가 잠김·정지인가요?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172200" y="1587500"/>
            <a:ext cx="5435600" cy="1445387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Rectangle 35"/>
          <p:cNvSpPr/>
          <p:nvPr/>
        </p:nvSpPr>
        <p:spPr>
          <a:xfrm>
            <a:off x="6172200" y="1587500"/>
            <a:ext cx="5435600" cy="381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6299200" y="1714500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판단 기준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99200" y="19980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26200" y="1998091"/>
            <a:ext cx="5054600" cy="39674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즉시 처리: 등록 휴대폰을 쓸 수 있으면 셀프 초기화를 안내한다. 담당자가 대신</a:t>
            </a:r>
          </a:p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초기화하지 않는다.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299200" y="2432939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26200" y="2432939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티켓: 초기화 2회 후에도 로그인 실패면 아래 점검을 한다.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299200" y="2669413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26200" y="2669413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전환: 휴대폰을 쓸 수 없으면 3.5.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84200" y="3134487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처리 절차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35000" y="3458972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①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38200" y="3458972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셀프 초기화를 안내한다.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35000" y="3698113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②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38200" y="3698113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2회 후에도 실패하면 계정 관리 콘솔의 "비밀번호 변경일"이 갱신됐는지 본다. 10분 이상 지연이면 시스템인프라팀에 동기화 확인을 요청한다.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35000" y="3937254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③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38200" y="3937254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SSO가 아닌 시스템의 별도 계정으로 로그인하고 있는지 확인한다.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35000" y="4176395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④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38200" y="4176395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계정 상태가 잠김·정지로 바뀌었으면 IT-ACC-001-M 3.2·3.5를 따른다.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35000" y="4415536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⑤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38200" y="4415536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로그인 성공을 확인하고 기록한다.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84200" y="4705477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처리 후 안내 문구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84200" y="5029962"/>
            <a:ext cx="11023600" cy="410591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7" name="Rectangle 56"/>
          <p:cNvSpPr/>
          <p:nvPr/>
        </p:nvSpPr>
        <p:spPr>
          <a:xfrm>
            <a:off x="584200" y="5029962"/>
            <a:ext cx="50800" cy="410591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8" name="TextBox 57"/>
          <p:cNvSpPr txBox="1"/>
          <p:nvPr/>
        </p:nvSpPr>
        <p:spPr>
          <a:xfrm>
            <a:off x="787400" y="5131562"/>
            <a:ext cx="106934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셀프 비밀번호 재설정 포털의 [비밀번호 초기화]에서 사번과 휴대폰 인증으로 새 비밀번호를 정할 수 있습니다. 계정이 잠겨 있었다면 함께 풀립니다.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IT-ACC-002-M · 사내 제한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16 / 26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3.4 비밀번호를 잊었을 때 (셀프 초기화) (계속)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처리 절차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84200" y="1168400"/>
            <a:ext cx="5435600" cy="1247013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584200" y="1168400"/>
            <a:ext cx="5435600" cy="381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711200" y="1295400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재발 방지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1200" y="15789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8200" y="1578991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문의이력에 별도 기록 없음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72200" y="1168400"/>
            <a:ext cx="5435600" cy="1247013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6172200" y="1168400"/>
            <a:ext cx="5435600" cy="381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299200" y="1295400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이관 시 전달 정보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99200" y="15789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26200" y="1578991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초기화 횟수와 막힌 단계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99200" y="1815465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26200" y="1815465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비밀번호 변경일 갱신 여부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99200" y="2051939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26200" y="2051939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사번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IT-ACC-002-M · 사내 제한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17 / 26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3.5 셀프 초기화를 할 수 없을 때 (본인 인증 불가)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처리 절차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84200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60400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문의 유형</a:t>
            </a:r>
          </a:p>
        </p:txBody>
      </p:sp>
      <p:sp>
        <p:nvSpPr>
          <p:cNvPr id="8" name="Rectangle 7"/>
          <p:cNvSpPr/>
          <p:nvPr/>
        </p:nvSpPr>
        <p:spPr>
          <a:xfrm>
            <a:off x="1289248" y="1168400"/>
            <a:ext cx="603721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365448" y="1219200"/>
            <a:ext cx="451321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ACC-01</a:t>
            </a:r>
          </a:p>
        </p:txBody>
      </p:sp>
      <p:sp>
        <p:nvSpPr>
          <p:cNvPr id="10" name="Rectangle 9"/>
          <p:cNvSpPr/>
          <p:nvPr/>
        </p:nvSpPr>
        <p:spPr>
          <a:xfrm>
            <a:off x="1892970" y="1168400"/>
            <a:ext cx="832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1969170" y="1219200"/>
            <a:ext cx="679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기본 긴급도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25018" y="1168400"/>
            <a:ext cx="304081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2801218" y="1219200"/>
            <a:ext cx="151681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P3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029099" y="1168400"/>
            <a:ext cx="651656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3105299" y="1219200"/>
            <a:ext cx="499256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1차 처리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80755" y="1168400"/>
            <a:ext cx="91440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3756955" y="1219200"/>
            <a:ext cx="762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서비스데스크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95155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4671355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처리 방식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300204" y="1168400"/>
            <a:ext cx="1564903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5376404" y="1219200"/>
            <a:ext cx="1412503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티켓 (본인 확인 후 처리)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865107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6941307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이관 대상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570155" y="1168400"/>
            <a:ext cx="282687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7646355" y="1219200"/>
            <a:ext cx="130287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—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84200" y="1587500"/>
            <a:ext cx="5435600" cy="1445387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Rectangle 26"/>
          <p:cNvSpPr/>
          <p:nvPr/>
        </p:nvSpPr>
        <p:spPr>
          <a:xfrm>
            <a:off x="584200" y="1587500"/>
            <a:ext cx="5435600" cy="381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711200" y="1714500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접수 시 확인 질문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1200" y="19980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8200" y="1998091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왜 인증할 수 없나요? (번호 변경·분실)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11200" y="2234565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8200" y="2234565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인사 시스템의 휴대폰 번호를 바꿨나요?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11200" y="2471039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8200" y="2471039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화상 또는 대면 확인이 가능한가요?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172200" y="1587500"/>
            <a:ext cx="5435600" cy="1445387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Rectangle 35"/>
          <p:cNvSpPr/>
          <p:nvPr/>
        </p:nvSpPr>
        <p:spPr>
          <a:xfrm>
            <a:off x="6172200" y="1587500"/>
            <a:ext cx="5435600" cy="381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6299200" y="1714500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판단 기준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99200" y="19980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26200" y="1998091"/>
            <a:ext cx="5054600" cy="39674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티켓: 본인 확인(사번 + 휴대폰 인증이 안 되면 L2 화상·대면) 후 임시 비밀번호를</a:t>
            </a:r>
          </a:p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발급한다 (INQ-2026-00042, INQ-2026-00119, INQ-2026-00270).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299200" y="2432939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26200" y="2432939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휴대폰 분실이면 분실 신고가 먼저다 (IT-SEC-003-M 3.6).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299200" y="2669413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26200" y="2669413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대리 요청은 처리하지 않는다.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84200" y="3134487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처리 절차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84200" y="3458972"/>
            <a:ext cx="228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①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38200" y="3458972"/>
            <a:ext cx="4816856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본인 확인 L2를 한다 (셀프 인증이 안 되는 상황이므로 L1로는 부족하다).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84200" y="3698113"/>
            <a:ext cx="228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②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38200" y="3698113"/>
            <a:ext cx="4816856" cy="41478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인사 시스템의 휴대폰 번호가 최신인지 먼저 확인하고, 아니면 변경</a:t>
            </a:r>
          </a:p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신청을 안내한다.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84200" y="4144645"/>
            <a:ext cx="228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③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38200" y="4144645"/>
            <a:ext cx="4816856" cy="41478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계정 관리 콘솔에서 [임시 비밀번호 발급]을 누른다. 시스템이 자동</a:t>
            </a:r>
          </a:p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생성한다 (14자, 24시간, 1회).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84200" y="4591177"/>
            <a:ext cx="228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④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38200" y="4591177"/>
            <a:ext cx="4816856" cy="41478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등록 휴대폰 문자로만 보낸다. 번호가 아직 반영되지 않았으면 대면</a:t>
            </a:r>
          </a:p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창구에서 화면으로 보여 준다.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84200" y="5037709"/>
            <a:ext cx="228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⑤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38200" y="5037709"/>
            <a:ext cx="4816856" cy="41478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첫 로그인에서 변경이 강제되는지 확인하고, 발급 사실만 기록한다 (값은</a:t>
            </a:r>
          </a:p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기록하지 않는다).</a:t>
            </a:r>
          </a:p>
        </p:txBody>
      </p:sp>
      <p:sp>
        <p:nvSpPr>
          <p:cNvPr id="55" name="Rectangle 54"/>
          <p:cNvSpPr/>
          <p:nvPr/>
        </p:nvSpPr>
        <p:spPr>
          <a:xfrm>
            <a:off x="6601377" y="3458972"/>
            <a:ext cx="4288701" cy="2634488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6" name="Picture 55" descr="m_iam_us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01377" y="3458972"/>
            <a:ext cx="4288701" cy="2634488"/>
          </a:xfrm>
          <a:prstGeom prst="rect">
            <a:avLst/>
          </a:prstGeom>
        </p:spPr>
      </p:pic>
      <p:sp>
        <p:nvSpPr>
          <p:cNvPr id="57" name="TextBox 56"/>
          <p:cNvSpPr txBox="1"/>
          <p:nvPr/>
        </p:nvSpPr>
        <p:spPr>
          <a:xfrm>
            <a:off x="5883656" y="6144260"/>
            <a:ext cx="5724144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그림 3.5-1. 계정 관리 콘솔: ② 작업 버튼 중 [임시 비밀번호 발급]은 본인 확인 뒤에만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IT-ACC-002-M · 사내 제한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18 / 26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3.5 셀프 초기화를 할 수 없을 때 (본인 인증 불가) (계속)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처리 절차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84200" y="1168400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처리 후 안내 문구</a:t>
            </a:r>
          </a:p>
        </p:txBody>
      </p:sp>
      <p:sp>
        <p:nvSpPr>
          <p:cNvPr id="7" name="Rectangle 6"/>
          <p:cNvSpPr/>
          <p:nvPr/>
        </p:nvSpPr>
        <p:spPr>
          <a:xfrm>
            <a:off x="584200" y="1492885"/>
            <a:ext cx="11023600" cy="410591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84200" y="1492885"/>
            <a:ext cx="50800" cy="410591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787400" y="1594485"/>
            <a:ext cx="106934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본인 확인 후 임시 비밀번호를 등록 휴대폰 문자로 보냈습니다. 24시간 안에 로그인해 새 비밀번호로 바꿔 주세요.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84200" y="2005076"/>
            <a:ext cx="5435600" cy="1247013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584200" y="2005076"/>
            <a:ext cx="5435600" cy="381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711200" y="2132076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재발 방지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1200" y="2415667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8200" y="2415667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문의이력에 별도 기록 없음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1200" y="265214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8200" y="2652141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휴대폰 번호를 바꾸면 인사 시스템도 함께 바꾸도록 안내문에 넣는다.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72200" y="2005076"/>
            <a:ext cx="5435600" cy="1247013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6172200" y="2005076"/>
            <a:ext cx="5435600" cy="381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6299200" y="2132076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이관 시 전달 정보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99200" y="2415667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26200" y="2415667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인증 불가 사유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99200" y="265214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26200" y="2652141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본인 확인 수준·확인자·시각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99200" y="2888615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26200" y="2888615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사번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84200" y="3353689"/>
            <a:ext cx="11023600" cy="401574"/>
          </a:xfrm>
          <a:prstGeom prst="rect">
            <a:avLst/>
          </a:prstGeom>
          <a:solidFill>
            <a:srgbClr val="FDF0E7"/>
          </a:solidFill>
          <a:ln w="10160">
            <a:solidFill>
              <a:srgbClr val="F2C4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711200" y="3455289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★ 임시 비밀번호를 소리 내어 읽거나 메일·메신저·채팅에 붙여 넣지 않는다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IT-ACC-002-M · 사내 제한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19 / 26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D29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2489200"/>
            <a:ext cx="11023600" cy="8102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6380"/>
              </a:lnSpc>
              <a:spcBef>
                <a:spcPts val="0"/>
              </a:spcBef>
              <a:spcAft>
                <a:spcPts val="0"/>
              </a:spcAft>
            </a:pPr>
            <a:r>
              <a:rPr sz="580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4200" y="3505200"/>
            <a:ext cx="11023600" cy="5181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079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대형 장애 대응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© HANWHA SYSTEMS ICT · IT-ACC-002-M · 사내 제한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20 / 26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대형 장애 대응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04. 대형 장애 대응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35000" y="1168400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8200" y="1168400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비밀번호 문의는 대형 장애 대상이 아니다.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5000" y="1407541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8200" y="1407541"/>
            <a:ext cx="10769600" cy="41478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셀프 포털 자체가 열리지 않거나, 여러 사용자의 변경이 한꺼번에 반영되지 않으면 디렉터리·SSO 문제로 보고 시스템인프라팀에 대표 티켓으로 넘긴다</a:t>
            </a:r>
          </a:p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(IT-ACC-001-M 4장과 같은 절차).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5000" y="1854073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8200" y="1854073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장애 중에는 개별 임시 비밀번호 발급으로 대응하지 않는다. 공지로 복구 예정 시각을 알린다.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84200" y="2144014"/>
            <a:ext cx="11023600" cy="401574"/>
          </a:xfrm>
          <a:prstGeom prst="rect">
            <a:avLst/>
          </a:prstGeom>
          <a:solidFill>
            <a:srgbClr val="FDF0E7"/>
          </a:solidFill>
          <a:ln w="10160">
            <a:solidFill>
              <a:srgbClr val="F2C4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711200" y="2245614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★ 여러 사람의 비밀번호를 한꺼번에 초기화하지 않는다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IT-ACC-002-M · 사내 제한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21 / 26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D29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2489200"/>
            <a:ext cx="11023600" cy="8102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6380"/>
              </a:lnSpc>
              <a:spcBef>
                <a:spcPts val="0"/>
              </a:spcBef>
              <a:spcAft>
                <a:spcPts val="0"/>
              </a:spcAft>
            </a:pPr>
            <a:r>
              <a:rPr sz="580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4200" y="3505200"/>
            <a:ext cx="11023600" cy="5181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079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처리 기록 기준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© HANWHA SYSTEMS ICT · IT-ACC-002-M · 사내 제한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22 / 26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처리 기록 기준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05. 처리 기록 기준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84200" y="1168400"/>
            <a:ext cx="11023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티켓을 종료할 때 아래 항목을 남깁니다.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84200" y="1464691"/>
          <a:ext cx="11023600" cy="20447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396435"/>
                <a:gridCol w="8627165"/>
              </a:tblGrid>
              <a:tr h="292100"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항목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적는 내용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원인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확인된 원인 한 줄 (예: 자격 증명 관리자에 저장된 예전 비밀번호)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조치 내용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실제로 한 조치. 즉시 처리면 앞에 [즉시 처리]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본인 확인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확인 수준과 방법 (예: L1 사번 + 휴대폰 인증). 비밀번호·인증번호 값은 적지 않는다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재발 방지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같은 문의를 줄이기 위한 조치 (없으면 빈칸)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관련 FAQ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안내에 쓴 FAQ 번호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가이드 반영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사용자 가이드에 추가·수정이 필요한지 (필요 / 불필요)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IT-ACC-002-M · 사내 제한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23 / 26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D29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2489200"/>
            <a:ext cx="11023600" cy="8102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6380"/>
              </a:lnSpc>
              <a:spcBef>
                <a:spcPts val="0"/>
              </a:spcBef>
              <a:spcAft>
                <a:spcPts val="0"/>
              </a:spcAft>
            </a:pPr>
            <a:r>
              <a:rPr sz="580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06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4200" y="3505200"/>
            <a:ext cx="11023600" cy="5181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079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연락처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© HANWHA SYSTEMS ICT · IT-ACC-002-M · 사내 제한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24 / 26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연락처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06. 연락처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84200" y="1168400"/>
          <a:ext cx="11023600" cy="17526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755900"/>
                <a:gridCol w="2755900"/>
                <a:gridCol w="5511800"/>
              </a:tblGrid>
              <a:tr h="292100"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담당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연락처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이럴 때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서비스데스크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 헬프데스크 내선 1000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1차 접수, 잠금 해제·임시 비밀번호·MFA 초기화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서비스데스크 팀장 (이건우)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내선 1000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재배정 승인, 본인 확인 불가 건 판단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시스템인프라팀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내선 1050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SSO 서버·인증서·디렉터리 동기화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정보보안팀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내선 1119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계정 도용·사칭 의심 (IT-SEC-003-M)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인사팀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그룹웨어 조직도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재직·휴직 상태, 등록 휴대폰 번호 확인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IT-ACC-002-M · 사내 제한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25 / 26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개정 이력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84200" y="1168400"/>
          <a:ext cx="11023600" cy="16256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002145"/>
                <a:gridCol w="1403004"/>
                <a:gridCol w="1603433"/>
                <a:gridCol w="7015018"/>
              </a:tblGrid>
              <a:tr h="292100"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버전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개정일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작성자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변경 내용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v1.0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2026-10-12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서비스데스크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계정·로그인 통합본 최초 작성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v1.1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2026-10-12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서비스데스크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사용자용·관리자용 분리, 본인 확인·콘솔 절차 추가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4572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v1.2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2026-10-16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서비스데스크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IT-ACC-001~003 가이드와 -M 매뉴얼로 나눔. 저장소 기준 값(회사명, 비밀번호 12자·4종, 잠금 10분, 연락처·담당</a:t>
                      </a:r>
                    </a:p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조직)으로 정리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v2.0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2026-10-16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서비스데스크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7개 분류 통합 정리본. 문서 양식·열람 등급·용어·연락처를 통일하고 분류 사이의 중복 내용을 한 문서로 정리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IT-ACC-002-M · 사내 제한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26 / 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IT-ACC-002-M 비밀번호 변경·초기화 처리 매뉴얼</dc:title>
  <dc:subject>사내 제한 · IT 운영 담당자·관리자</dc:subject>
  <dc:creator>서비스데스크</dc:creator>
  <cp:keywords/>
  <dc:description>generated using python-pptx</dc:description>
  <cp:lastModifiedBy>서비스데스크</cp:lastModifiedBy>
  <cp:revision>1</cp:revision>
  <dcterms:created xsi:type="dcterms:W3CDTF">2013-01-27T09:14:16Z</dcterms:created>
  <dcterms:modified xsi:type="dcterms:W3CDTF">2013-01-27T09:15:58Z</dcterms:modified>
  <cp:category>사내 제한</cp:category>
</cp:coreProperties>
</file>