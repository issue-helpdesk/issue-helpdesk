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584200" y="1651000"/>
            <a:ext cx="1168400" cy="508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84200" y="2108200"/>
            <a:ext cx="11023600" cy="27051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129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한화시스템 ICT IT 담당자 매뉴얼 · 계정·로그인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2489200"/>
            <a:ext cx="11023600" cy="609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8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MFA 인증 오류 처리 매뉴얼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4200" y="3149600"/>
            <a:ext cx="11023600" cy="2524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IT-ACC-003-M  |  서비스데스크  |  2026.10.16  |  Ver 2.0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4200" y="3581400"/>
            <a:ext cx="2449984" cy="304800"/>
          </a:xfrm>
          <a:prstGeom prst="roundRect">
            <a:avLst>
              <a:gd name="adj" fmla="val 16666"/>
            </a:avLst>
          </a:prstGeom>
          <a:solidFill>
            <a:srgbClr val="B843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49300" y="3644900"/>
            <a:ext cx="2449984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사내 제한 · IT 운영 담당자·관리자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4200" y="5689600"/>
            <a:ext cx="110236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IT운영·보안 조직 내부 문서입니다. 사용자에게 문서 자체를 전달하지 않고, 안내는 짝이 되는 임직원용 가이드를 기준으로 합니다.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IT-ACC-003-M · 사내 제한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 / 27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문서 정보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IT-ACC-003-M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84200" y="1168400"/>
          <a:ext cx="11023600" cy="17526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732280"/>
                <a:gridCol w="3779520"/>
                <a:gridCol w="1732280"/>
                <a:gridCol w="3779520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문서 번호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IT-ACC-003-M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버전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v2.0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분류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ACC 계정·로그인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시행일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2026-10-16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문서 유형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처리 매뉴얼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열람 등급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사내 제한 (IT 운영 담당자·관리자)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관리 부서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서비스데스크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승인자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서비스데스크 팀장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열람 대상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서비스데스크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대상 사용자 가이드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IT-ACC-003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포함 시나리오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ACC-03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관련 FAQ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FAQ-003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IT-ACC-003-M · 사내 제한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 / 27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Contents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965200" y="1244600"/>
            <a:ext cx="9499600" cy="2524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1. 개요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659892" y="1431290"/>
            <a:ext cx="8423908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185400" y="12446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4p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5200" y="1676400"/>
            <a:ext cx="9499600" cy="2524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2. 접수·분류 기준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480134" y="1863090"/>
            <a:ext cx="7603666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0185400" y="16764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6p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5200" y="2108200"/>
            <a:ext cx="9499600" cy="2524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3. 증상별 처리 절차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673908" y="2294890"/>
            <a:ext cx="7409892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0185400" y="21082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10p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5200" y="2540000"/>
            <a:ext cx="9499600" cy="2524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4. 대형 장애 대응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496108" y="2726690"/>
            <a:ext cx="7587692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10185400" y="25400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21p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5200" y="2971800"/>
            <a:ext cx="9499600" cy="2524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5. 처리 기록 기준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496108" y="3158490"/>
            <a:ext cx="7587692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10185400" y="29718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23p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5200" y="3403600"/>
            <a:ext cx="9499600" cy="2524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6. 연락처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1837692" y="3590290"/>
            <a:ext cx="8246108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10185400" y="34036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25p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5200" y="3835400"/>
            <a:ext cx="9499600" cy="2254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75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개정 이력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1783011" y="4002088"/>
            <a:ext cx="8300789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10185400" y="38354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27p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IT-ACC-003-M · 사내 제한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3 / 27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D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2489200"/>
            <a:ext cx="11023600" cy="8102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6380"/>
              </a:lnSpc>
              <a:spcBef>
                <a:spcPts val="0"/>
              </a:spcBef>
              <a:spcAft>
                <a:spcPts val="0"/>
              </a:spcAft>
            </a:pPr>
            <a:r>
              <a:rPr sz="580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" y="3505200"/>
            <a:ext cx="11023600" cy="518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079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개요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© HANWHA SYSTEMS ICT · IT-ACC-003-M · 사내 제한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4 / 27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개요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01. 개요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11684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목적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4200" y="1492885"/>
            <a:ext cx="11023600" cy="41478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IT-ACC-003으로 들어오는 MFA 문의(등록, 알림 미수신, OTP 불일치, 인증 앱 반복, 휴대폰 교체)를 셀프 안내로 끝낼지, 본인 확인 후 MFA를 초기화할지 판단한다.</a:t>
            </a:r>
          </a:p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요청하지 않은 알림·분실은 정보보안팀 절차로 넘긴다.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4200" y="1996567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담당 범위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84200" y="2321052"/>
          <a:ext cx="11023600" cy="11684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2624667"/>
                <a:gridCol w="8398933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1차 처리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서비스데스크(L1): 알림 권한·시간 설정·셀프 기기 변경 안내, 본인 확인 L2 후 MFA 초기화·재등록 링크 발송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2차 이관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정보보안팀: 요청하지 않은 알림·실수 승인(IT-SEC-003-M 3.2), 휴대폰 분실(IT-SEC-003-M 3.6) / 시스템인프라팀: 여러 명 동시 인증 실패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배정 기준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계정·로그인 1차 담당 (이도윤, 공서현, 윤재현). 우회 코드는 서비스데스크 팀장(이건우) 승인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관련 시스템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계정 관리 콘솔 [MFA 기기 관리], 인사 시스템, 상담 기록 시스템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IT-ACC-003-M · 사내 제한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5 / 27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D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2489200"/>
            <a:ext cx="11023600" cy="8102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6380"/>
              </a:lnSpc>
              <a:spcBef>
                <a:spcPts val="0"/>
              </a:spcBef>
              <a:spcAft>
                <a:spcPts val="0"/>
              </a:spcAft>
            </a:pPr>
            <a:r>
              <a:rPr sz="580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" y="3505200"/>
            <a:ext cx="11023600" cy="518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079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접수·분류 기준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© HANWHA SYSTEMS ICT · IT-ACC-003-M · 사내 제한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6 / 27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접수·분류 기준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02. 접수·분류 기준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1168400"/>
            <a:ext cx="11023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사용자 가이드의 항목별 기본값입니다. 긴급도 기준은 IT-STD-001 IT 서비스 운영 기준을 따릅니다.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84200" y="1464691"/>
          <a:ext cx="11023601" cy="20828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621048"/>
                <a:gridCol w="1009203"/>
                <a:gridCol w="3571025"/>
                <a:gridCol w="931572"/>
                <a:gridCol w="1319727"/>
                <a:gridCol w="2018406"/>
                <a:gridCol w="1552620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번호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문의 유형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증상·요청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기본 긴급도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1차 처리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처리 방식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이관 대상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3.1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ACC-03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인증 앱 처음 등록하기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P3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서비스데스크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즉시 처리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—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4572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3.2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ACC-03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승인 알림이 오지 않을 때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P3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서비스데스크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즉시 처리 후 필요 시 티켓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시스템인프라팀 (여러 명</a:t>
                      </a:r>
                    </a:p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동시)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3.3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ACC-03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OTP 번호가 맞지 않을 때 ('인증 실패' · 10분 제한)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P3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서비스데스크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즉시 처리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—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3.4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ACC-03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인증 앱 로그인이 계속 반복될 때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P3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서비스데스크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티켓 (본인 확인 후 초기화)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—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4572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3.5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ACC-03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휴대폰을 바꿀 때 (인증 기기 변경)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P3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서비스데스크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즉시 처리 (예전 휴대폰 없음은</a:t>
                      </a:r>
                    </a:p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티켓)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정보보안팀 (분실 시)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84200" y="3649091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처리 방식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5000" y="3973576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200" y="3973576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즉시 처리: 알림 권한·시간 자동 설정·셀프 기기 변경 안내로 끝난 건. 상담 기록만 남긴다.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000" y="4212717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8200" y="4212717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티켓: MFA 초기화가 필요한 건(인증 앱 반복, 예전 휴대폰과 번호가 모두 없음). 본인 확인 L2 후 처리하고 RDY → WIP → FIN → CLS 으로 관리한다.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000" y="4451858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8200" y="4451858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즉시 이관: 요청하지 않은 승인 요청·실수 승인·분실은 정보보안팀으로 넘긴다.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4200" y="4741799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긴급도 조정 조건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000" y="5066284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8200" y="5066284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ACC-03은 기본 P3다 (문의이력 8건 모두 P3).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000" y="5305425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8200" y="5305425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인증 수단이 하나도 없어 업무를 전혀 못 하면 P2로 올린다.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000" y="5544566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8200" y="5544566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여러 명이 동시에 알림·문자를 못 받으면 대형 장애 후보로 4장을 따른다.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5000" y="5783707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8200" y="5783707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요청하지 않은 알림·실수 승인은 정보보안팀 기준(최소 P2)을 따른다.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IT-ACC-003-M · 사내 제한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7 / 27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접수·분류 기준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02. 접수·분류 기준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11684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작업별 필요 본인 확인 수준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84200" y="1492885"/>
          <a:ext cx="11023600" cy="23368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4616149"/>
                <a:gridCol w="6407451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작업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필요 수준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잠금 해제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L1 (셀프 해제·10분 자동 해제를 먼저 안내)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임시 비밀번호 발급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L1, 등록 휴대폰을 쓸 수 없으면 L2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MFA 기기 초기화·재등록 링크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L2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일회용 우회 코드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L2 + 서비스데스크 팀장 승인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180일 이상 휴면 해제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L2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사용 중지 계정 활성화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L3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세션 강제 종료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불필요 (보안 조치)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IT-ACC-003-M · 사내 제한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8 / 27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접수·분류 기준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02. 접수·분류 기준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11684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처리 흐름</a:t>
            </a:r>
          </a:p>
        </p:txBody>
      </p:sp>
      <p:sp>
        <p:nvSpPr>
          <p:cNvPr id="7" name="Rectangle 6"/>
          <p:cNvSpPr/>
          <p:nvPr/>
        </p:nvSpPr>
        <p:spPr>
          <a:xfrm>
            <a:off x="1686560" y="1492885"/>
            <a:ext cx="8818880" cy="2292909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" name="Picture 7" descr="m003_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6560" y="1492885"/>
            <a:ext cx="8818880" cy="229290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84200" y="3836594"/>
            <a:ext cx="110236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그림 2-1. MFA 문의 처리 흐름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IT-ACC-003-M · 사내 제한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9 / 27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D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2489200"/>
            <a:ext cx="11023600" cy="8102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6380"/>
              </a:lnSpc>
              <a:spcBef>
                <a:spcPts val="0"/>
              </a:spcBef>
              <a:spcAft>
                <a:spcPts val="0"/>
              </a:spcAft>
            </a:pPr>
            <a:r>
              <a:rPr sz="580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" y="3505200"/>
            <a:ext cx="11023600" cy="518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079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증상별 처리 절차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© HANWHA SYSTEMS ICT · IT-ACC-003-M · 사내 제한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10 / 27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3.1 인증 앱 처음 등록하기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처리 절차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6040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유형</a:t>
            </a:r>
          </a:p>
        </p:txBody>
      </p:sp>
      <p:sp>
        <p:nvSpPr>
          <p:cNvPr id="8" name="Rectangle 7"/>
          <p:cNvSpPr/>
          <p:nvPr/>
        </p:nvSpPr>
        <p:spPr>
          <a:xfrm>
            <a:off x="1289248" y="1168400"/>
            <a:ext cx="603721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365448" y="1219200"/>
            <a:ext cx="451321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ACC-03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92970" y="1168400"/>
            <a:ext cx="832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969170" y="1219200"/>
            <a:ext cx="679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기본 긴급도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25018" y="1168400"/>
            <a:ext cx="304081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2801218" y="1219200"/>
            <a:ext cx="151681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P3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29099" y="1168400"/>
            <a:ext cx="651656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3105299" y="1219200"/>
            <a:ext cx="499256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1차 처리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80755" y="1168400"/>
            <a:ext cx="914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3756955" y="1219200"/>
            <a:ext cx="762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서비스데스크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95155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4671355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처리 방식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300204" y="1168400"/>
            <a:ext cx="705048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5376404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즉시 처리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005252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6081452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이관 대상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710300" y="1168400"/>
            <a:ext cx="282687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6786500" y="1219200"/>
            <a:ext cx="130287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—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84200" y="1587500"/>
            <a:ext cx="5435600" cy="1247013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584200" y="1587500"/>
            <a:ext cx="5435600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711200" y="17145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접수 시 확인 질문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1200" y="19980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8200" y="1998091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어느 단계에서 막혔나요? (설치·로그인·QR·번호 입력)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1200" y="223456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8200" y="2234565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휴대폰 기종·운영체제는?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1200" y="2471039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8200" y="2471039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문자 인증번호를 받을 수 있나요?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172200" y="1587500"/>
            <a:ext cx="5435600" cy="1247013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Rectangle 35"/>
          <p:cNvSpPr/>
          <p:nvPr/>
        </p:nvSpPr>
        <p:spPr>
          <a:xfrm>
            <a:off x="6172200" y="1587500"/>
            <a:ext cx="5435600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6299200" y="17145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판단 기준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99200" y="19980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26200" y="1998091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즉시 처리: 셀프 등록 절차를 안내하고 끝낸다.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99200" y="223456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26200" y="2234565"/>
            <a:ext cx="5054600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티켓: 등록 휴대폰 번호가 없거나 틀려 처음 로그인부터 막히면 인사 시스템 번호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확인 후 재등록 링크를 보낸다.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84200" y="2936113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처리 절차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35000" y="3260598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①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38200" y="3260598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막힌 단계를 확인한다.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35000" y="3499739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②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38200" y="3499739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공식 스토어 설치·알림 허용·카메라 권한을 안내한다.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35000" y="3738880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③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38200" y="3738880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QR 등록 절차를 안내하고 등록 완료를 확인한다.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35000" y="3978021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④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38200" y="3978021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상담 기록을 남긴다.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84200" y="4267962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처리 후 안내 문구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84200" y="4592447"/>
            <a:ext cx="11023600" cy="410591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3" name="Rectangle 52"/>
          <p:cNvSpPr/>
          <p:nvPr/>
        </p:nvSpPr>
        <p:spPr>
          <a:xfrm>
            <a:off x="584200" y="4592447"/>
            <a:ext cx="50800" cy="410591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4" name="TextBox 53"/>
          <p:cNvSpPr txBox="1"/>
          <p:nvPr/>
        </p:nvSpPr>
        <p:spPr>
          <a:xfrm>
            <a:off x="787400" y="4694047"/>
            <a:ext cx="106934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셀프 비밀번호 재설정 포털의 [인증 기기 등록]에서 QR을 스캔하고 앱에 나온 6자리 번호를 입력하면 등록이 끝납니다.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IT-ACC-003-M · 사내 제한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11 / 27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3.1 인증 앱 처음 등록하기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처리 절차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5435600" cy="1247013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584200" y="1168400"/>
            <a:ext cx="5435600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11200" y="12954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재발 방지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1200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200" y="1578991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문의이력에 별도 기록 없음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72200" y="1168400"/>
            <a:ext cx="5435600" cy="1247013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6172200" y="1168400"/>
            <a:ext cx="5435600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299200" y="12954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이관 시 전달 정보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99200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26200" y="1578991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막힌 단계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99200" y="181546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26200" y="1815465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휴대폰 기종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99200" y="2051939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26200" y="2051939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사번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IT-ACC-003-M · 사내 제한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12 / 27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3.2 승인 알림이 오지 않을 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처리 절차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6040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유형</a:t>
            </a:r>
          </a:p>
        </p:txBody>
      </p:sp>
      <p:sp>
        <p:nvSpPr>
          <p:cNvPr id="8" name="Rectangle 7"/>
          <p:cNvSpPr/>
          <p:nvPr/>
        </p:nvSpPr>
        <p:spPr>
          <a:xfrm>
            <a:off x="1289248" y="1168400"/>
            <a:ext cx="603721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365448" y="1219200"/>
            <a:ext cx="451321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ACC-03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92970" y="1168400"/>
            <a:ext cx="832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969170" y="1219200"/>
            <a:ext cx="679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기본 긴급도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25018" y="1168400"/>
            <a:ext cx="304081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2801218" y="1219200"/>
            <a:ext cx="151681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P3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29099" y="1168400"/>
            <a:ext cx="651656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3105299" y="1219200"/>
            <a:ext cx="499256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1차 처리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80755" y="1168400"/>
            <a:ext cx="914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3756955" y="1219200"/>
            <a:ext cx="762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서비스데스크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95155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4671355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처리 방식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300204" y="1168400"/>
            <a:ext cx="1645642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5376404" y="1219200"/>
            <a:ext cx="1493242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즉시 처리 후 필요 시 티켓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945846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7022046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이관 대상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650894" y="1168400"/>
            <a:ext cx="1901254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7727094" y="1219200"/>
            <a:ext cx="1748854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시스템인프라팀 (여러 명 동시)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84200" y="1587500"/>
            <a:ext cx="5435600" cy="1247013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584200" y="1587500"/>
            <a:ext cx="5435600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711200" y="17145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접수 시 확인 질문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1200" y="19980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8200" y="1998091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인증 앱을 직접 열면 요청이 와 있나요?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1200" y="223456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8200" y="2234565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알림 권한·배터리 설정을 확인했나요?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1200" y="2471039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8200" y="2471039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주변 동료도 알림을 못 받나요?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172200" y="1587500"/>
            <a:ext cx="5435600" cy="1247013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Rectangle 35"/>
          <p:cNvSpPr/>
          <p:nvPr/>
        </p:nvSpPr>
        <p:spPr>
          <a:xfrm>
            <a:off x="6172200" y="1587500"/>
            <a:ext cx="5435600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6299200" y="17145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판단 기준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99200" y="19980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26200" y="1998091"/>
            <a:ext cx="5054600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즉시 처리: 알림 권한 허용으로 해결되면 끝낸다 (INQ-2026-00124,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INQ-2026-00229).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99200" y="2432939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26200" y="2432939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전환: 여러 명이 동시에 못 받으면 서비스 장애로 보고 4장을 따른다.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84200" y="2936113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처리 절차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35000" y="3260598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①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38200" y="3260598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앱 직접 열기, 알림 권한 허용, 배터리 "제한 없음"을 안내한다.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35000" y="3499739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②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38200" y="3499739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급하면 OTP 로그인을 안내한다.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35000" y="3738880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③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38200" y="3738880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정상 수신을 확인하고 기록한다.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84200" y="4028821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처리 후 안내 문구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84200" y="4353306"/>
            <a:ext cx="11023600" cy="410591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1" name="Rectangle 50"/>
          <p:cNvSpPr/>
          <p:nvPr/>
        </p:nvSpPr>
        <p:spPr>
          <a:xfrm>
            <a:off x="584200" y="4353306"/>
            <a:ext cx="50800" cy="410591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2" name="TextBox 51"/>
          <p:cNvSpPr txBox="1"/>
          <p:nvPr/>
        </p:nvSpPr>
        <p:spPr>
          <a:xfrm>
            <a:off x="787400" y="4454906"/>
            <a:ext cx="106934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휴대폰 설정에서 인증 앱 알림 권한이 꺼져 있어 알림이 오지 않았습니다. 알림을 허용한 뒤 정상 수신을 확인했습니다.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84200" y="4865497"/>
            <a:ext cx="5435600" cy="1247013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4" name="Rectangle 53"/>
          <p:cNvSpPr/>
          <p:nvPr/>
        </p:nvSpPr>
        <p:spPr>
          <a:xfrm>
            <a:off x="584200" y="4865497"/>
            <a:ext cx="5435600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5" name="TextBox 54"/>
          <p:cNvSpPr txBox="1"/>
          <p:nvPr/>
        </p:nvSpPr>
        <p:spPr>
          <a:xfrm>
            <a:off x="711200" y="4992497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재발 방지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11200" y="5276088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38200" y="5276088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휴대폰 교체 전 MFA 이전 절차를 FAQ에 게시 (문의이력)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172200" y="4865497"/>
            <a:ext cx="5435600" cy="1247013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9" name="Rectangle 58"/>
          <p:cNvSpPr/>
          <p:nvPr/>
        </p:nvSpPr>
        <p:spPr>
          <a:xfrm>
            <a:off x="6172200" y="4865497"/>
            <a:ext cx="5435600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0" name="TextBox 59"/>
          <p:cNvSpPr txBox="1"/>
          <p:nvPr/>
        </p:nvSpPr>
        <p:spPr>
          <a:xfrm>
            <a:off x="6299200" y="4992497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이관 시 전달 정보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299200" y="5276088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426200" y="5276088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휴대폰 기종·운영체제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299200" y="5512562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426200" y="5512562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주변 동시 발생 여부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299200" y="5749036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426200" y="5749036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사번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IT-ACC-003-M · 사내 제한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13 / 27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3.3 OTP 번호가 맞지 않을 때 ('인증 실패' · 10분 제한)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처리 절차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6040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유형</a:t>
            </a:r>
          </a:p>
        </p:txBody>
      </p:sp>
      <p:sp>
        <p:nvSpPr>
          <p:cNvPr id="8" name="Rectangle 7"/>
          <p:cNvSpPr/>
          <p:nvPr/>
        </p:nvSpPr>
        <p:spPr>
          <a:xfrm>
            <a:off x="1289248" y="1168400"/>
            <a:ext cx="603721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365448" y="1219200"/>
            <a:ext cx="451321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ACC-03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92970" y="1168400"/>
            <a:ext cx="832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969170" y="1219200"/>
            <a:ext cx="679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기본 긴급도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25018" y="1168400"/>
            <a:ext cx="304081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2801218" y="1219200"/>
            <a:ext cx="151681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P3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29099" y="1168400"/>
            <a:ext cx="651656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3105299" y="1219200"/>
            <a:ext cx="499256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1차 처리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80755" y="1168400"/>
            <a:ext cx="914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3756955" y="1219200"/>
            <a:ext cx="762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서비스데스크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95155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4671355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처리 방식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300204" y="1168400"/>
            <a:ext cx="705048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5376404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즉시 처리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005252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6081452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이관 대상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710300" y="1168400"/>
            <a:ext cx="282687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6786500" y="1219200"/>
            <a:ext cx="130287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—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84200" y="1587500"/>
            <a:ext cx="5435600" cy="1407287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584200" y="1587500"/>
            <a:ext cx="5435600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711200" y="17145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접수 시 확인 질문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1200" y="19980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8200" y="1998091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휴대폰 시간이 자동 설정인가요?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1200" y="223456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8200" y="2234565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번호가 바뀌기 직전에 입력하지 않았나요?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1200" y="2471039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8200" y="2471039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인증 앱에 계정이 여러 개인가요?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172200" y="1587500"/>
            <a:ext cx="5435600" cy="1407287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Rectangle 35"/>
          <p:cNvSpPr/>
          <p:nvPr/>
        </p:nvSpPr>
        <p:spPr>
          <a:xfrm>
            <a:off x="6172200" y="1587500"/>
            <a:ext cx="5435600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6299200" y="17145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판단 기준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99200" y="19980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26200" y="1998091"/>
            <a:ext cx="5054600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즉시 처리: 시간 자동 설정으로 해결되면 끝낸다 (INQ-2026-00166,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INQ-2026-00243, INQ-2026-00304).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99200" y="2432939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26200" y="2432939"/>
            <a:ext cx="5054600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여러 명의 OTP가 동시에 틀리면 인증 서버 시간 문제로 보고 시스템인프라팀에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넘긴다.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84200" y="3096387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처리 절차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35000" y="3420872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①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38200" y="3420872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날짜·시간 자동 설정을 안내한다.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35000" y="3660013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②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38200" y="3660013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계정 항목(HanwhaSystems · 사번)을 확인하게 한다.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35000" y="3899154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③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38200" y="3899154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10분 제한이면 기다리도록 안내한다.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35000" y="4138295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④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38200" y="4138295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정상 인증을 확인하고 기록한다.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84200" y="4428236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처리 후 안내 문구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84200" y="4752721"/>
            <a:ext cx="11023600" cy="410591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3" name="Rectangle 52"/>
          <p:cNvSpPr/>
          <p:nvPr/>
        </p:nvSpPr>
        <p:spPr>
          <a:xfrm>
            <a:off x="584200" y="4752721"/>
            <a:ext cx="50800" cy="410591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4" name="TextBox 53"/>
          <p:cNvSpPr txBox="1"/>
          <p:nvPr/>
        </p:nvSpPr>
        <p:spPr>
          <a:xfrm>
            <a:off x="787400" y="4854321"/>
            <a:ext cx="106934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휴대폰 시간이 수동으로 설정되어 있어 인증번호가 맞지 않았습니다. 날짜·시간을 자동 설정으로 바꾼 뒤 정상 인증을 확인했습니다.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IT-ACC-003-M · 사내 제한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14 / 27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3.3 OTP 번호가 맞지 않을 때 ('인증 실패' · 10분 제한)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처리 절차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5435600" cy="1247013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584200" y="1168400"/>
            <a:ext cx="5435600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11200" y="12954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재발 방지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1200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200" y="1578991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문의이력에 별도 기록 없음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72200" y="1168400"/>
            <a:ext cx="5435600" cy="1247013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6172200" y="1168400"/>
            <a:ext cx="5435600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299200" y="12954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이관 시 전달 정보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99200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26200" y="1578991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시간 설정 상태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99200" y="181546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26200" y="1815465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화면 메시지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99200" y="2051939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26200" y="2051939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사번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IT-ACC-003-M · 사내 제한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15 / 27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3.4 인증 앱 로그인이 계속 반복될 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처리 절차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6040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유형</a:t>
            </a:r>
          </a:p>
        </p:txBody>
      </p:sp>
      <p:sp>
        <p:nvSpPr>
          <p:cNvPr id="8" name="Rectangle 7"/>
          <p:cNvSpPr/>
          <p:nvPr/>
        </p:nvSpPr>
        <p:spPr>
          <a:xfrm>
            <a:off x="1289248" y="1168400"/>
            <a:ext cx="603721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365448" y="1219200"/>
            <a:ext cx="451321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ACC-03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92970" y="1168400"/>
            <a:ext cx="832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969170" y="1219200"/>
            <a:ext cx="679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기본 긴급도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25018" y="1168400"/>
            <a:ext cx="304081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2801218" y="1219200"/>
            <a:ext cx="151681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P3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29099" y="1168400"/>
            <a:ext cx="651656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3105299" y="1219200"/>
            <a:ext cx="499256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1차 처리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80755" y="1168400"/>
            <a:ext cx="914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3756955" y="1219200"/>
            <a:ext cx="762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서비스데스크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95155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4671355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처리 방식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300204" y="1168400"/>
            <a:ext cx="1691903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5376404" y="1219200"/>
            <a:ext cx="1539503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티켓 (본인 확인 후 초기화)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992107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7068307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이관 대상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697155" y="1168400"/>
            <a:ext cx="282687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7773355" y="1219200"/>
            <a:ext cx="130287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—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84200" y="1587500"/>
            <a:ext cx="5435600" cy="1247013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584200" y="1587500"/>
            <a:ext cx="5435600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711200" y="17145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접수 시 확인 질문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1200" y="19980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8200" y="1998091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문자 인증번호로는 로그인되나요?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1200" y="223456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8200" y="2234565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반복되는 화면은? (캡처)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1200" y="2471039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8200" y="2471039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화상 확인이 가능한가요?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172200" y="1587500"/>
            <a:ext cx="5435600" cy="1247013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Rectangle 35"/>
          <p:cNvSpPr/>
          <p:nvPr/>
        </p:nvSpPr>
        <p:spPr>
          <a:xfrm>
            <a:off x="6172200" y="1587500"/>
            <a:ext cx="5435600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6299200" y="17145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판단 기준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99200" y="19980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26200" y="1998091"/>
            <a:ext cx="5054600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티켓: 인증 앱 세션 만료로 인한 MFA 순환이면 본인 확인 L2 후 MFA 요소를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초기화하고 재등록한다 (INQ-2026-00114, INQ-2026-00268, INQ-2026-00321).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84200" y="2936113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처리 절차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84200" y="3260598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①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38200" y="3260598"/>
            <a:ext cx="4816856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본인 확인 L2(화상·대면)를 한다.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84200" y="3499739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②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38200" y="3499739"/>
            <a:ext cx="4816856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계정 관리 콘솔 › [MFA 기기 관리]에서 기존 기기를 등록 해제한다.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84200" y="3738880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③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38200" y="3738880"/>
            <a:ext cx="4816856" cy="41478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[재등록 링크 발송]으로 사내 메일에 등록 링크를 보낸다. 메일을 볼 수</a:t>
            </a:r>
          </a:p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없으면 우회 코드(8자리, 12시간, 1회, 팀장 승인)를 발급한다.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84200" y="4185412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④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38200" y="4185412"/>
            <a:ext cx="4816856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사용자가 새로 등록하면 우회 코드를 바로 폐기한다.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84200" y="4424553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⑤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38200" y="4424553"/>
            <a:ext cx="4816856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승인 알림 수신을 확인하고 FIN 처리한다.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439910" y="3260598"/>
            <a:ext cx="4611636" cy="2832862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52" name="Picture 51" descr="m_iam_mf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9910" y="3260598"/>
            <a:ext cx="4611636" cy="2832862"/>
          </a:xfrm>
          <a:prstGeom prst="rect">
            <a:avLst/>
          </a:prstGeom>
        </p:spPr>
      </p:pic>
      <p:sp>
        <p:nvSpPr>
          <p:cNvPr id="53" name="TextBox 52"/>
          <p:cNvSpPr txBox="1"/>
          <p:nvPr/>
        </p:nvSpPr>
        <p:spPr>
          <a:xfrm>
            <a:off x="5883656" y="6144260"/>
            <a:ext cx="5724144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그림 3.4-1. 계정 관리 콘솔 MFA 기기 관리: ① 기기 상태 ② 등록 해제·재등록 링크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IT-ACC-003-M · 사내 제한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16 / 27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3.4 인증 앱 로그인이 계속 반복될 때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처리 절차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11684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처리 후 안내 문구</a:t>
            </a:r>
          </a:p>
        </p:txBody>
      </p:sp>
      <p:sp>
        <p:nvSpPr>
          <p:cNvPr id="7" name="Rectangle 6"/>
          <p:cNvSpPr/>
          <p:nvPr/>
        </p:nvSpPr>
        <p:spPr>
          <a:xfrm>
            <a:off x="584200" y="1492885"/>
            <a:ext cx="11023600" cy="410591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84200" y="1492885"/>
            <a:ext cx="50800" cy="410591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787400" y="1594485"/>
            <a:ext cx="106934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인증 앱 세션이 만료되어 같은 앱으로 다시 인증하라는 상태가 반복되었습니다. 인증 기기를 초기화했으니 받은 링크로 인증 앱을 다시 등록해 주세요.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84200" y="2005076"/>
            <a:ext cx="5435600" cy="1247013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84200" y="2005076"/>
            <a:ext cx="5435600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711200" y="2132076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재발 방지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1200" y="2415667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8200" y="2415667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문의이력에 별도 기록 없음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72200" y="2005076"/>
            <a:ext cx="5435600" cy="1247013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6172200" y="2005076"/>
            <a:ext cx="5435600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299200" y="2132076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이관 시 전달 정보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99200" y="2415667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26200" y="2415667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반복 화면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99200" y="265214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26200" y="2652141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본인 확인 수준·확인자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99200" y="288861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26200" y="2888615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사번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84200" y="3353689"/>
            <a:ext cx="11023600" cy="401574"/>
          </a:xfrm>
          <a:prstGeom prst="rect">
            <a:avLst/>
          </a:prstGeom>
          <a:solidFill>
            <a:srgbClr val="FDF0E7"/>
          </a:solidFill>
          <a:ln w="10160">
            <a:solidFill>
              <a:srgbClr val="F2C4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711200" y="3455289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★ 우회 코드는 대면 또는 새로 확인된 휴대폰 문자로만 전달한다. 화상 통화 중 말로 불러 주지 않는다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IT-ACC-003-M · 사내 제한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17 / 27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3.5 휴대폰을 바꿀 때 (인증 기기 변경)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처리 절차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6040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유형</a:t>
            </a:r>
          </a:p>
        </p:txBody>
      </p:sp>
      <p:sp>
        <p:nvSpPr>
          <p:cNvPr id="8" name="Rectangle 7"/>
          <p:cNvSpPr/>
          <p:nvPr/>
        </p:nvSpPr>
        <p:spPr>
          <a:xfrm>
            <a:off x="1289248" y="1168400"/>
            <a:ext cx="603721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365448" y="1219200"/>
            <a:ext cx="451321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ACC-03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92970" y="1168400"/>
            <a:ext cx="832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969170" y="1219200"/>
            <a:ext cx="679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기본 긴급도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25018" y="1168400"/>
            <a:ext cx="304081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2801218" y="1219200"/>
            <a:ext cx="151681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P3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29099" y="1168400"/>
            <a:ext cx="651656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3105299" y="1219200"/>
            <a:ext cx="499256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1차 처리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80755" y="1168400"/>
            <a:ext cx="914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3756955" y="1219200"/>
            <a:ext cx="762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서비스데스크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95155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4671355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처리 방식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300204" y="1168400"/>
            <a:ext cx="2244551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5376404" y="1219200"/>
            <a:ext cx="2092151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즉시 처리 (예전 휴대폰 없음은 티켓)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544755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7620955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이관 대상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249803" y="1168400"/>
            <a:ext cx="1348606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8326003" y="1219200"/>
            <a:ext cx="1196206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정보보안팀 (분실 시)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84200" y="1587500"/>
            <a:ext cx="5435600" cy="1643761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584200" y="1587500"/>
            <a:ext cx="5435600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711200" y="17145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접수 시 확인 질문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1200" y="19980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8200" y="1998091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예전 휴대폰이 있나요?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1200" y="223456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8200" y="2234565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등록 번호가 바뀌었나요?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1200" y="2471039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8200" y="2471039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예전 휴대폰을 잃어버렸나요?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172200" y="1587500"/>
            <a:ext cx="5435600" cy="1643761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Rectangle 35"/>
          <p:cNvSpPr/>
          <p:nvPr/>
        </p:nvSpPr>
        <p:spPr>
          <a:xfrm>
            <a:off x="6172200" y="1587500"/>
            <a:ext cx="5435600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6299200" y="17145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판단 기준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99200" y="19980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26200" y="1998091"/>
            <a:ext cx="5054600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즉시 처리: 예전 휴대폰이 있거나 번호가 같으면 셀프 [인증 기기 변경]을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안내한다 (FAQ-003).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99200" y="2432939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26200" y="2432939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티켓: 예전 휴대폰도 없고 번호도 바뀌었으면 본인 확인 L2 후 초기화한다.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99200" y="2669413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26200" y="2669413"/>
            <a:ext cx="5054600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즉시 이관: 잃어버렸으면 정보보안팀 분실 신고가 먼저다. 신고 번호 없이는 새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기기 등록을 진행하지 않는다.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84200" y="3332861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처리 절차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IT-ACC-003-M · 사내 제한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18 / 27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3.5 휴대폰을 바꿀 때 (인증 기기 변경)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처리 절차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1168400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8200" y="1168400"/>
            <a:ext cx="4816856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예전 휴대폰·번호·분실 여부를 확인한다.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4200" y="1407541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8200" y="1407541"/>
            <a:ext cx="4816856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셀프 변경이 가능하면 [인증 기기 변경]을 안내한다.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4200" y="1646682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8200" y="1646682"/>
            <a:ext cx="4816856" cy="41478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셀프가 안 되면 본인 확인 L2 후 기존 기기를 해제하고 재등록 링크를</a:t>
            </a:r>
          </a:p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보낸다.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4200" y="2093214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④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8200" y="2093214"/>
            <a:ext cx="4816856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분실이면 정보보안팀 신고 번호를 받은 뒤 진행한다 (IT-SEC-003-M 3.6).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4200" y="2332355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8200" y="2332355"/>
            <a:ext cx="4816856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새 기기 인증을 확인하고 기록한다.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883656" y="1168400"/>
            <a:ext cx="5724144" cy="3516260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" name="Picture 16" descr="m_iam_mf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3656" y="1168400"/>
            <a:ext cx="5724144" cy="351626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883656" y="4735460"/>
            <a:ext cx="5724144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그림 3.5-1. 계정 관리 콘솔: 예전 기기 등록 해제 후 ② 재등록 링크 발송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4200" y="50428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처리 후 안내 문구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84200" y="5367285"/>
            <a:ext cx="11023600" cy="410591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ectangle 20"/>
          <p:cNvSpPr/>
          <p:nvPr/>
        </p:nvSpPr>
        <p:spPr>
          <a:xfrm>
            <a:off x="584200" y="5367285"/>
            <a:ext cx="50800" cy="410591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787400" y="5468885"/>
            <a:ext cx="106934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예전 인증 기기를 해제하고 등록 링크를 보냈습니다. 새 휴대폰에 인증 앱을 설치해 등록을 마쳐 주세요. 예전 휴대폰은 등록이 끝난 뒤에 초기화해 주세요.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IT-ACC-003-M · 사내 제한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19 / 27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3.5 휴대폰을 바꿀 때 (인증 기기 변경)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처리 절차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5435600" cy="1483487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584200" y="1168400"/>
            <a:ext cx="5435600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11200" y="12954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재발 방지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1200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200" y="1578991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휴대폰 교체 전 MFA 이전 절차를 FAQ에 게시 (문의이력)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72200" y="1168400"/>
            <a:ext cx="5435600" cy="1483487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6172200" y="1168400"/>
            <a:ext cx="5435600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299200" y="12954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이관 시 전달 정보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99200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26200" y="1578991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예전 휴대폰·번호 상태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99200" y="181546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26200" y="1815465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분실 신고 번호 (분실 시)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99200" y="2051939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26200" y="2051939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본인 확인 수준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99200" y="2288413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26200" y="2288413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사번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IT-ACC-003-M · 사내 제한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20 / 27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D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2489200"/>
            <a:ext cx="11023600" cy="8102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6380"/>
              </a:lnSpc>
              <a:spcBef>
                <a:spcPts val="0"/>
              </a:spcBef>
              <a:spcAft>
                <a:spcPts val="0"/>
              </a:spcAft>
            </a:pPr>
            <a:r>
              <a:rPr sz="580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" y="3505200"/>
            <a:ext cx="11023600" cy="518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079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대형 장애 대응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© HANWHA SYSTEMS ICT · IT-ACC-003-M · 사내 제한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21 / 27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대형 장애 대응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04. 대형 장애 대응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35000" y="1168400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8200" y="1168400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여러 사용자가 동시에 승인 알림·문자를 받지 못하거나 OTP가 함께 틀리면 개별 건이 아니라 인증 서비스 장애로 판단한다.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5000" y="1407541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8200" y="1407541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대표 티켓(MI-YYYY-NN)을 만들고 시스템인프라팀에 넘긴다 (MAN-00 7장). 푸시 실패면 OTP, 문자 실패면 앱 승인·OTP를 대체 수단으로 공지한다.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000" y="1646682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8200" y="1646682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장애 중에도 우회 코드를 한꺼번에 발급하지 않는다. 대체 수단이 모두 막힌 경우에만 정보보안팀과 협의한다.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000" y="1885823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8200" y="1885823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복구 후 연결된 티켓을 한꺼번에 종료하고 원인·조치·재발 방지를 기록한다.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84200" y="2175764"/>
            <a:ext cx="11023600" cy="638048"/>
          </a:xfrm>
          <a:prstGeom prst="rect">
            <a:avLst/>
          </a:prstGeom>
          <a:solidFill>
            <a:srgbClr val="FDF0E7"/>
          </a:solidFill>
          <a:ln w="10160">
            <a:solidFill>
              <a:srgbClr val="F2C4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711200" y="2277364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★ 본인 확인 없이 MFA를 초기화하지 않는다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1200" y="2513838"/>
            <a:ext cx="10769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공격자가 사용자를 사칭해 초기화를 요청할 수 있다.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IT-ACC-003-M · 사내 제한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22 / 27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D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2489200"/>
            <a:ext cx="11023600" cy="8102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6380"/>
              </a:lnSpc>
              <a:spcBef>
                <a:spcPts val="0"/>
              </a:spcBef>
              <a:spcAft>
                <a:spcPts val="0"/>
              </a:spcAft>
            </a:pPr>
            <a:r>
              <a:rPr sz="580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" y="3505200"/>
            <a:ext cx="11023600" cy="518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079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처리 기록 기준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© HANWHA SYSTEMS ICT · IT-ACC-003-M · 사내 제한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23 / 27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처리 기록 기준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05. 처리 기록 기준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1168400"/>
            <a:ext cx="11023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티켓을 종료할 때 아래 항목을 남깁니다.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84200" y="1464691"/>
          <a:ext cx="11023600" cy="20447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2396435"/>
                <a:gridCol w="8627165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적는 내용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원인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확인된 원인 한 줄 (예: 자격 증명 관리자에 저장된 예전 비밀번호)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조치 내용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실제로 한 조치. 즉시 처리면 앞에 [즉시 처리]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본인 확인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수준과 방법 (예: L1 사번 + 휴대폰 인증). 비밀번호·인증번호 값은 적지 않는다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재발 방지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같은 문의를 줄이기 위한 조치 (없으면 빈칸)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관련 FAQ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안내에 쓴 FAQ 번호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가이드 반영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사용자 가이드에 추가·수정이 필요한지 (필요 / 불필요)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IT-ACC-003-M · 사내 제한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24 / 27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D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2489200"/>
            <a:ext cx="11023600" cy="8102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6380"/>
              </a:lnSpc>
              <a:spcBef>
                <a:spcPts val="0"/>
              </a:spcBef>
              <a:spcAft>
                <a:spcPts val="0"/>
              </a:spcAft>
            </a:pPr>
            <a:r>
              <a:rPr sz="580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" y="3505200"/>
            <a:ext cx="11023600" cy="518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079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연락처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© HANWHA SYSTEMS ICT · IT-ACC-003-M · 사내 제한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25 / 27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연락처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06. 연락처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84200" y="1168400"/>
          <a:ext cx="11023600" cy="17526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2755900"/>
                <a:gridCol w="2755900"/>
                <a:gridCol w="5511800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담당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연락처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이럴 때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서비스데스크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 헬프데스크 내선 1000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1차 접수, 잠금 해제·임시 비밀번호·MFA 초기화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서비스데스크 팀장 (이건우)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내선 1000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재배정 승인, 본인 확인 불가 건 판단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시스템인프라팀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내선 1050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SSO 서버·인증서·디렉터리 동기화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정보보안팀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내선 1119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계정 도용·사칭 의심 (IT-SEC-003-M)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인사팀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그룹웨어 조직도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재직·휴직 상태, 등록 휴대폰 번호 확인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IT-ACC-003-M · 사내 제한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26 / 27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개정 이력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84200" y="1168400"/>
          <a:ext cx="11023600" cy="16256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002145"/>
                <a:gridCol w="1403004"/>
                <a:gridCol w="1603433"/>
                <a:gridCol w="7015018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버전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개정일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작성자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변경 내용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v1.0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2026-10-12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서비스데스크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계정·로그인 통합본 최초 작성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v1.1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2026-10-12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서비스데스크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사용자용·관리자용 분리, 본인 확인·콘솔 절차 추가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4572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v1.2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2026-10-16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서비스데스크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IT-ACC-001~003 가이드와 -M 매뉴얼로 나눔. 저장소 기준 값(회사명, 비밀번호 12자·4종, 잠금 10분, 연락처·담당</a:t>
                      </a:r>
                    </a:p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조직)으로 정리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v2.0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2026-10-16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서비스데스크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7개 분류 통합 정리본. 문서 양식·열람 등급·용어·연락처를 통일하고 분류 사이의 중복 내용을 한 문서로 정리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IT-ACC-003-M · 사내 제한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27 / 27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IT-ACC-003-M MFA 인증 오류 처리 매뉴얼</dc:title>
  <dc:subject>사내 제한 · IT 운영 담당자·관리자</dc:subject>
  <dc:creator>서비스데스크</dc:creator>
  <cp:keywords/>
  <dc:description>generated using python-pptx</dc:description>
  <cp:lastModifiedBy>서비스데스크</cp:lastModifiedBy>
  <cp:revision>1</cp:revision>
  <dcterms:created xsi:type="dcterms:W3CDTF">2013-01-27T09:14:16Z</dcterms:created>
  <dcterms:modified xsi:type="dcterms:W3CDTF">2013-01-27T09:15:58Z</dcterms:modified>
  <cp:category>사내 제한</cp:category>
</cp:coreProperties>
</file>