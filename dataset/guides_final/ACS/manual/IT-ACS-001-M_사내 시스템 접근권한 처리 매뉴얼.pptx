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84200" y="1651000"/>
            <a:ext cx="1168400" cy="508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584200" y="2108200"/>
            <a:ext cx="11023600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29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가상 ICT 기업 IT 담당자 매뉴얼 · 접근권한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2489200"/>
            <a:ext cx="11023600" cy="60960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8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사내 시스템 접근권한 처리 매뉴얼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84200" y="3149600"/>
            <a:ext cx="11023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IT-ACS-001-M  |  업무시스템팀  |  2026.10.16  |  Ver 2.0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4200" y="3581400"/>
            <a:ext cx="2449984" cy="304800"/>
          </a:xfrm>
          <a:prstGeom prst="roundRect">
            <a:avLst>
              <a:gd name="adj" fmla="val 16666"/>
            </a:avLst>
          </a:prstGeom>
          <a:solidFill>
            <a:srgbClr val="B843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49300" y="3644900"/>
            <a:ext cx="2449984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사내 제한 · IT 운영 담당자·관리자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4200" y="5689600"/>
            <a:ext cx="110236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IT운영·보안 조직 내부 문서입니다. 사용자에게 문서 자체를 전달하지 않고, 안내는 짝이 되는 임직원용 가이드를 기준으로 합니다.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 / 22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문서 정보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IT-ACS-001-M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732280"/>
                <a:gridCol w="3779520"/>
                <a:gridCol w="1732280"/>
                <a:gridCol w="37795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번호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IT-ACS-001-M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분류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 접근권한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시행일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문서 유형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매뉴얼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등급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사내 제한 (IT 운영 담당자·관리자)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관리 부서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승인자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열람 대상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서비스데스크, 업무시스템팀, 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대상 사용자 가이드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IT-ACS-001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포함 시나리오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F3A5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FAQ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FAQ-004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 / 22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Contents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965200" y="1244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1. 개요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59892" y="1431290"/>
            <a:ext cx="84239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10185400" y="1244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4p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5200" y="16764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2. 접수·분류 기준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480134" y="1863090"/>
            <a:ext cx="7603666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10185400" y="1676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6p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5200" y="21082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3. 증상별 처리 절차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673908" y="2294890"/>
            <a:ext cx="74098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10185400" y="21082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8p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5200" y="25400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4. 대형 장애 대응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496108" y="27266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10185400" y="25400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16p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5200" y="29718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5. 처리 기록 기준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496108" y="3158490"/>
            <a:ext cx="7587692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10185400" y="29718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18p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65200" y="3403600"/>
            <a:ext cx="9499600" cy="2524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88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6. 연락처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1837692" y="3590290"/>
            <a:ext cx="8246108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10185400" y="34036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20p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5200" y="3835400"/>
            <a:ext cx="9499600" cy="22542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75"/>
              </a:lnSpc>
              <a:spcBef>
                <a:spcPts val="0"/>
              </a:spcBef>
              <a:spcAft>
                <a:spcPts val="0"/>
              </a:spcAft>
            </a:pPr>
            <a:r>
              <a:rPr sz="12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1783011" y="4002088"/>
            <a:ext cx="8300789" cy="0"/>
          </a:xfrm>
          <a:prstGeom prst="line">
            <a:avLst/>
          </a:prstGeom>
          <a:ln w="7620">
            <a:solidFill>
              <a:srgbClr val="C9CDD3"/>
            </a:solidFill>
            <a:prstDash val="sysDot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185400" y="3835400"/>
            <a:ext cx="762000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704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3 / 22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4 / 22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01. 개요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목적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4200" y="1492885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IT-ACS-001로 들어오는 시스템·공유폴더 권한 요청(신규·추가, 일괄 신청, 승인 후 접근 불가, 축소·회수)을 승인 확인 → 반영 → 검증 순서로 같은 기준으로 처리한다.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4200" y="1789176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담당 범위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84200" y="2113661"/>
          <a:ext cx="11023600" cy="11684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624667"/>
                <a:gridCol w="8398933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서비스데스크(L1): 신청 경로·승인 상태 안내, 계정 상태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2차 이관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업무시스템팀(L2): 권한 반영·회수·검증 / 시스템인프라팀: 파일서버·공유 드라이브 측 설정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배정 기준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ACS-01: 전자결재·권한 담당 (서준호, 신유나). 재배정은 업무시스템팀장이 승인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관련 시스템</a:t>
                      </a:r>
                    </a:p>
                  </a:txBody>
                  <a:tcPr marL="76200" marR="76200" marT="63500" marB="63500" anchor="t">
                    <a:solidFill>
                      <a:srgbClr val="ECEFF2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권한관리 시스템, 그룹웨어 IT 요청·전자결재, 인사 시스템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5 / 22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6 / 22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접수·분류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02. 접수·분류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임직원용 가이드의 항목별 기본값입니다. 긴급도 기준은 IT-STD-001 IT 서비스 운영 기준을 따릅니다.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1" cy="1790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621048"/>
                <a:gridCol w="1009203"/>
                <a:gridCol w="3571025"/>
                <a:gridCol w="931572"/>
                <a:gridCol w="1319727"/>
                <a:gridCol w="2018406"/>
                <a:gridCol w="155262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번호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문의 유형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증상·요청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기본 긴급도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처리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처리 방식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이관 대상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신규·추가 권한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없음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신규 입사자 일괄 신청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 (공유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드라이브 계정)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3.3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승인 후 접근 불가·기존 기능 막힘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4572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3.4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ACS-01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정책에 따른 축소·회수, 임시·고권한 요청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P4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티켓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 (보안 의심</a:t>
                      </a:r>
                    </a:p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35699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" y="368147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368147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즉시 처리: 안내만으로 끝낸 건. 티켓 없이 상담 기록만 남긴다.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" y="392061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8200" y="3920617"/>
            <a:ext cx="10769600" cy="4147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티켓: 담당자 조치가 필요한 건. 담당 팀에 배정하고 상태를 RDY → WIP → FIN → CLS 로 관리한다. FIN은 담당자 처리 완료, CLS는 문의자가 해결을 확인한 최종</a:t>
            </a:r>
          </a:p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종료다.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4200" y="4417949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긴급도 조정 조건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5000" y="4742434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200" y="4742434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ACS-01은 기본 P4다. 마감 등 당일 업무가 막히면 P3로 올린다 (INQ-2026-00153).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000" y="4981575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200" y="4981575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"급하다", 다수 신청, 승인 필요만으로는 올리지 않는다.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5000" y="522071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8200" y="522071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무단 접근·자료 노출 의심은 최소 P2로 보고 정보보안팀에 넘긴다 (MAN-00 공통 규칙 6).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7 / 22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증상별 처리 절차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8 / 22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신규·추가 권한 반영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대상자·시스템·메뉴(폴더)·필요한 작업·기간은?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끝났나요? (신청번호)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처음 필요한 권한인가요, 쓰던 기능이 막힌 건가요?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기록에서 승인자 적격성과 대상자·자원·기능·기간을 대조한다. 맞지 않으면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반영을 보류하고 보완을 요청한다.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기존 접근 장애면 3.3으로 전환한다. 동료 계정의 권한 전체를 복제하지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6694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6694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 시스템은 업무시스템팀, File Server·공유폴더 중 서버 측 설정은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범위를 확인한다.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전자결재 승인을 확인한다 (INQ-2026-00269, 00310).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 계정과 현재 역할·그룹·직접 부여 권한을 조회한다.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승인된 역할·그룹·기능만 반영한다.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 내역과 실제 유효 권한을 대조해 과도한 권한이 없는지 확인한다.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6139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6139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사용자에게 승인된 기능의 정상 동작 확인을 요청하고 FIN 처리한다.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9 / 22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3.1 신규·추가 권한 반영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작업 기록 양식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92885"/>
          <a:ext cx="11023600" cy="14605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82677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기록 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적을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3054985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9" name="Rectangle 8"/>
          <p:cNvSpPr/>
          <p:nvPr/>
        </p:nvSpPr>
        <p:spPr>
          <a:xfrm>
            <a:off x="584200" y="3379470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84200" y="3379470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787400" y="3481070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신청하신 권한을 반영했습니다. 본인 계정으로 신청한 메뉴를 사용해 보시고, 신청하지 않은 자료가 보이면 알려 주세요.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4200" y="3891661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84200" y="3891661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711200" y="401866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1200" y="430225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8200" y="430225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인사발령 시 권한 자동 갱신 요청 (문의이력)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891661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6172200" y="3891661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299200" y="4018661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99200" y="4302252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26200" y="4302252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신청번호와 승인 기록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99200" y="4538726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6200" y="4538726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대상자·자원·기능·기간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10 / 22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3.2 신규 입사자 일괄 신청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2282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2129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시스템인프라팀 (공유 드라이브 계정)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대상자별 사번·입사일·계정 보유 여부는?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사람마다 필요한 자원·역할은?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팀장 승인이 있나요?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대상자별로 승인과 처리 결과를 구분한다. 계정 생성과 접근권한 부여 결과를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나누어 기록한다.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계정이 없으면 계정 생성부터 확인한다.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4200" y="2936113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35000" y="326059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200" y="326059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입사자 명단과 인사 정보를 대조한다 (INQ-2026-00092, 00112, 00342).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49973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49973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계정을 만들고 필요한 권한을 부여한다.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73888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73888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비밀번호는 본인의 등록 휴대폰 문자로만 보낸다 (IT-ACC-002-M). 명단·메일·메신저로 보내지 않는다.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97802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97802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대상자별 처리 결과를 기록하고 FIN 처리한다.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84200" y="4267962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4200" y="4592447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3" name="Rectangle 52"/>
          <p:cNvSpPr/>
          <p:nvPr/>
        </p:nvSpPr>
        <p:spPr>
          <a:xfrm>
            <a:off x="584200" y="4592447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787400" y="4694047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신규 입사자 계정과 권한을 만들었습니다. 각자 등록 휴대폰으로 받은 임시 비밀번호로 처음 로그인한 뒤 새 비밀번호로 바꿔 주세요.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4200" y="5104638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Rectangle 55"/>
          <p:cNvSpPr/>
          <p:nvPr/>
        </p:nvSpPr>
        <p:spPr>
          <a:xfrm>
            <a:off x="584200" y="5104638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7" name="TextBox 56"/>
          <p:cNvSpPr txBox="1"/>
          <p:nvPr/>
        </p:nvSpPr>
        <p:spPr>
          <a:xfrm>
            <a:off x="711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11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38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172200" y="5104638"/>
            <a:ext cx="5435600" cy="1010539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6172200" y="5104638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6299200" y="5231638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299200" y="551522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26200" y="551522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대상자 목록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299200" y="575170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426200" y="575170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자원별 처리 결과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11 / 22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접근 불가·기존 기능 막힘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서비스데스크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승인만 받았나요, 반영 완료 안내도 받았나요?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 문구와 처음 실패한 시각, 마지막 정상 시각은?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최근 직무·기간 변경이 있었나요?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11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200" y="2707513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다른 사람도 같은가요?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72200" y="1587500"/>
            <a:ext cx="5435600" cy="16818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TextBox 38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원인을 확인하기 전에 권한을 넓히거나 전체를 다시 설정하지 않는다.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명이 동시에 안 되면 시스템 장애로 보고 연계한다.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299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26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승인하지 않은 자료 노출·도용 의심은 정보보안팀에 바로 넘긴다.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299200" y="2707513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26200" y="2707513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직무 변경 후 권한 미갱신이면 팀장 승인 확인 후 역할별로 바꾼다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(INQ-2026-00366).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84200" y="33709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36954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36954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신청·계정·환경을 대조한다 (다른 환경에 접속했다면 정확한 경로를 안내한다).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39345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39345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그룹·역할·직접 권한·상속·만료를 확인하고 기존 승인 범위 안에서 고친다.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5000" y="41737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38200" y="41737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인증·세션·VPN 조건을 확인한다. 이미 한 사용자 조치를 반복시키지 않는다.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35000" y="44128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38200" y="44128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서비스 상태와 최근 변경을 확인하고 필요하면 시스템·네트워크 담당과 연계한다.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5000" y="465201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⑤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8200" y="465201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사용자 확인 후 FIN 처리한다.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84200" y="494195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84200" y="5266436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1" name="Rectangle 60"/>
          <p:cNvSpPr/>
          <p:nvPr/>
        </p:nvSpPr>
        <p:spPr>
          <a:xfrm>
            <a:off x="584200" y="5266436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2" name="TextBox 61"/>
          <p:cNvSpPr txBox="1"/>
          <p:nvPr/>
        </p:nvSpPr>
        <p:spPr>
          <a:xfrm>
            <a:off x="787400" y="5368036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 그룹을 다시 지정해 정상으로 접근할 수 있습니다. 같은 증상이 다시 나오면 기존 신청번호로 알려 주세요.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12 / 22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3.3 승인 후 접근 불가·기존 기능 막힘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신청번호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오류·시각·영향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확인 결과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13 / 22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정책에 따른 축소·회수, 임시·고권한 요청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60400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문의 유형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9248" y="1168400"/>
            <a:ext cx="594482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365448" y="1219200"/>
            <a:ext cx="442082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ACS-01</a:t>
            </a:r>
          </a:p>
        </p:txBody>
      </p:sp>
      <p:sp>
        <p:nvSpPr>
          <p:cNvPr id="10" name="Rectangle 9"/>
          <p:cNvSpPr/>
          <p:nvPr/>
        </p:nvSpPr>
        <p:spPr>
          <a:xfrm>
            <a:off x="1883730" y="1168400"/>
            <a:ext cx="832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959930" y="1219200"/>
            <a:ext cx="679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기본 긴급도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715778" y="1168400"/>
            <a:ext cx="304081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91978" y="1219200"/>
            <a:ext cx="151681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P4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019859" y="1168400"/>
            <a:ext cx="651656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096059" y="1219200"/>
            <a:ext cx="499256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1차 처리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71515" y="1168400"/>
            <a:ext cx="914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3747715" y="1219200"/>
            <a:ext cx="762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업무시스템팀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85915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2115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처리 방식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0964" y="1168400"/>
            <a:ext cx="406400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5367164" y="1219200"/>
            <a:ext cx="25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97364" y="1168400"/>
            <a:ext cx="705048" cy="292100"/>
          </a:xfrm>
          <a:prstGeom prst="rect">
            <a:avLst/>
          </a:prstGeom>
          <a:solidFill>
            <a:srgbClr val="ECEFF2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5773564" y="1219200"/>
            <a:ext cx="552648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대상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402412" y="1168400"/>
            <a:ext cx="1647254" cy="292100"/>
          </a:xfrm>
          <a:prstGeom prst="rect">
            <a:avLst/>
          </a:prstGeom>
          <a:solidFill>
            <a:srgbClr val="FFFEFA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478612" y="1219200"/>
            <a:ext cx="1494854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정보보안팀 (보안 의심 시)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84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584200" y="15875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711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접수 시 확인 질문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1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8200" y="19980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정책 근거(공지·승인 문서번호)와 적용 범위·일시는?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1200" y="22345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200" y="22345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권한이면 시작·종료 시점과 회수 담당은?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1200" y="24710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200" y="24710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고권한·타 부서·민감자료 요청인가요?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72200" y="1587500"/>
            <a:ext cx="5435600" cy="164376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Rectangle 35"/>
          <p:cNvSpPr/>
          <p:nvPr/>
        </p:nvSpPr>
        <p:spPr>
          <a:xfrm>
            <a:off x="6172200" y="15875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6299200" y="17145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판단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299200" y="19980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26200" y="1998091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고권한·타 부서·민감자료는 자원 소유자의 추가 승인을 확인한다. 승인 경로가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없으면 부여하지 않는다.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299200" y="2432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26200" y="2432939"/>
            <a:ext cx="5054600" cy="39674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임시 권한은 자동 만료를 쓸 수 있는지 확인하고, 없으면 회수 작업을 따로</a:t>
            </a:r>
          </a:p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등록한다.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99200" y="2867787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26200" y="2867787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회수한 권한의 복원은 승인 없이 하지 않는다.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4200" y="3332861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절차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5000" y="3657346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①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8200" y="3657346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근거·범위·일시를 대조한다.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35000" y="3896487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8200" y="3896487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필요한 업무의 영향과 대체 방안을 확인한다.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5000" y="4135628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③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8200" y="4135628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축소·회수 또는 부여를 반영하고 결과를 기록한다.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5000" y="4374769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④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8200" y="4374769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일부 실패는 성공·실패 항목을 나누어 후속 조치를 남긴다.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4200" y="4664710"/>
            <a:ext cx="11023600" cy="22288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5"/>
              </a:lnSpc>
              <a:spcBef>
                <a:spcPts val="0"/>
              </a:spcBef>
              <a:spcAft>
                <a:spcPts val="0"/>
              </a:spcAft>
            </a:pPr>
            <a:r>
              <a:rPr sz="1350" b="1">
                <a:solidFill>
                  <a:srgbClr val="B8430E"/>
                </a:solidFill>
                <a:latin typeface="Malgun Gothic"/>
                <a:ea typeface="Malgun Gothic"/>
                <a:cs typeface="Malgun Gothic"/>
              </a:rPr>
              <a:t>처리 후 안내 문구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84200" y="4989195"/>
            <a:ext cx="11023600" cy="410591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5" name="Rectangle 54"/>
          <p:cNvSpPr/>
          <p:nvPr/>
        </p:nvSpPr>
        <p:spPr>
          <a:xfrm>
            <a:off x="584200" y="4989195"/>
            <a:ext cx="50800" cy="410591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787400" y="5090795"/>
            <a:ext cx="106934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보안 정책에 따라 권한을 조정했습니다. 업무에 필요한 기능이 정상인지 확인해 주세요.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14 / 22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3.4 정책에 따른 축소·회수, 임시·고권한 요청 (계속)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03. 증상별 처리 절차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584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584200" y="1168400"/>
            <a:ext cx="5435600" cy="381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1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재발 방지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1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8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없음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72200" y="1168400"/>
            <a:ext cx="5435600" cy="1247013"/>
          </a:xfrm>
          <a:prstGeom prst="rect">
            <a:avLst/>
          </a:prstGeom>
          <a:solidFill>
            <a:srgbClr val="FFFFFF"/>
          </a:solidFill>
          <a:ln w="10160">
            <a:solidFill>
              <a:srgbClr val="DBD9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172200" y="1168400"/>
            <a:ext cx="5435600" cy="38100"/>
          </a:xfrm>
          <a:prstGeom prst="rect">
            <a:avLst/>
          </a:prstGeom>
          <a:solidFill>
            <a:srgbClr val="E859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299200" y="1295400"/>
            <a:ext cx="5181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이관 시 전달 정보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99200" y="1578991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26200" y="1578991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근거 문서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99200" y="1815465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26200" y="1815465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대상·범위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99200" y="2051939"/>
            <a:ext cx="1270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26200" y="2051939"/>
            <a:ext cx="5054600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62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실패 항목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15 / 22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16 / 22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대형 장애 대응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04. 대형 장애 대응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635000" y="1168400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8200" y="1168400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인사 발령 자동 반영이 여러 사람에게 한꺼번에 되지 않으면 개별 처리를 멈추고 대표 티켓 1건으로 묶어 업무시스템팀장에게 알린다.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5000" y="1407541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8200" y="1407541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권한관리 시스템·디렉터리 동기화 장애면 시스템인프라팀과 연계하고, 복구 후 반영 결과를 대상자별로 확인한다.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000" y="1646682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8200" y="1646682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여러 사람이 동시에 같은 시스템에 접근하지 못하면 권한이 아니라 시스템 장애로 보고 IT-SYS-003-M을 따른다.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000" y="1885823"/>
            <a:ext cx="2032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8200" y="1885823"/>
            <a:ext cx="10769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복구 후 연결된 티켓을 한꺼번에 종료하고(해결 방법: "MI-YYYY-NN 대형 장애 복구로 일괄 해결") 장애 보고서를 남긴다.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17 / 22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18 / 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처리 기록 기준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05. 처리 기록 기준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84200" y="1168400"/>
            <a:ext cx="11023600" cy="20739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32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티켓을 종료(FIN)할 때 아래 항목을 남깁니다.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84200" y="1464691"/>
          <a:ext cx="11023600" cy="17526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96435"/>
                <a:gridCol w="8627165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항목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적는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요청·승인 연결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기존 신청번호, 승인 기록 참조, 요청자·대상자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대상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시스템·메뉴·폴더, 현재 권한, 요청 권한, 적용 기간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결과와 증빙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전후 설정, 수행 시각·처리자, 승인 대조 결과, 검증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남은 작업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미완료 항목·사유·담당자·다음 안내 일정, 사용자 확인 결과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가이드 반영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임직원용 가이드에 추가·수정이 필요한지 (필요 / 불필요)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19 / 22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D29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2489200"/>
            <a:ext cx="11023600" cy="8102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6380"/>
              </a:lnSpc>
              <a:spcBef>
                <a:spcPts val="0"/>
              </a:spcBef>
              <a:spcAft>
                <a:spcPts val="0"/>
              </a:spcAft>
            </a:pPr>
            <a:r>
              <a:rPr sz="5800" b="1">
                <a:solidFill>
                  <a:srgbClr val="E8590C"/>
                </a:solidFill>
                <a:latin typeface="Malgun Gothic"/>
                <a:ea typeface="Malgun Gothic"/>
                <a:cs typeface="Malgun Gothic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84200" y="3505200"/>
            <a:ext cx="11023600" cy="51816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79"/>
              </a:lnSpc>
              <a:spcBef>
                <a:spcPts val="0"/>
              </a:spcBef>
              <a:spcAft>
                <a:spcPts val="0"/>
              </a:spcAft>
            </a:pPr>
            <a:r>
              <a:rPr sz="3400" b="1">
                <a:solidFill>
                  <a:srgbClr val="FFFFFF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AEB6C2"/>
                </a:solidFill>
                <a:latin typeface="Malgun Gothic"/>
                <a:ea typeface="Malgun Gothic"/>
                <a:cs typeface="Malgun Gothic"/>
              </a:rPr>
              <a:t>20 / 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연락처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813800" y="635000"/>
            <a:ext cx="2794000" cy="1803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42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1F3A5F"/>
                </a:solidFill>
                <a:latin typeface="Malgun Gothic"/>
                <a:ea typeface="Malgun Gothic"/>
                <a:cs typeface="Malgun Gothic"/>
              </a:rPr>
              <a:t>06. 연락처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84200" y="1168400"/>
          <a:ext cx="11023600" cy="20447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755900"/>
                <a:gridCol w="2755900"/>
                <a:gridCol w="5511800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연락처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이럴 때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 시스템·공유폴더 권한 반영·회수 (서준호, 신유나)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업무시스템팀장 (정상훈)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1060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재배정 승인, 승인 경로가 불분명한 요청 판단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시스템인프라팀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1050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서버·DB·파일서버 권한, 서버 장애 (IT-SYS-008-M)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서비스데스크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IT 헬프데스크 내선 1000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1차 접수, 계정 상태 확인 (IT-ACC-001-M)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정보보안팀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내선 1119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무단 접근·자료 노출·퇴사 후 접속 의심 (IT-SEC-003-M)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인사팀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그룹웨어 조직도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발령·퇴사 일시, 휴직·복직 확인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21 / 22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AFA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84200" y="562610"/>
            <a:ext cx="8483600" cy="3492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5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2433"/>
                </a:solidFill>
                <a:latin typeface="Malgun Gothic"/>
                <a:ea typeface="Malgun Gothic"/>
                <a:cs typeface="Malgun Gothic"/>
              </a:rPr>
              <a:t>개정 이력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584200" y="939800"/>
            <a:ext cx="11023600" cy="0"/>
          </a:xfrm>
          <a:prstGeom prst="line">
            <a:avLst/>
          </a:prstGeom>
          <a:ln w="20320">
            <a:solidFill>
              <a:srgbClr val="1F3A5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84200" y="1168400"/>
          <a:ext cx="11023600" cy="87630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1002145"/>
                <a:gridCol w="1403004"/>
                <a:gridCol w="1603433"/>
                <a:gridCol w="7015018"/>
              </a:tblGrid>
              <a:tr h="292100"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버전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개정일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작성자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ctr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1">
                          <a:solidFill>
                            <a:srgbClr val="FFFFFF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변경 내용</a:t>
                      </a:r>
                    </a:p>
                  </a:txBody>
                  <a:tcPr marL="76200" marR="76200" marT="63500" marB="63500" anchor="t">
                    <a:solidFill>
                      <a:srgbClr val="1F3A5F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v0.1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2026-10-12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담당자용 분리 (IT-ACS-001-OPS)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  <a:tr h="292100"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v2.0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2026-10-16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업무시스템팀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  <a:tc>
                  <a:txBody>
                    <a:bodyPr wrap="none" lIns="0" rIns="0" tIns="0" bIns="0" anchor="t"/>
                    <a:lstStyle/>
                    <a:p>
                      <a:pPr algn="l">
                        <a:lnSpc>
                          <a:spcPts val="13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00" b="0">
                          <a:solidFill>
                            <a:srgbClr val="1D2433"/>
                          </a:solidFill>
                          <a:latin typeface="Malgun Gothic"/>
                          <a:ea typeface="Malgun Gothic"/>
                          <a:cs typeface="Malgun Gothic"/>
                        </a:rPr>
                        <a:t>7개 분류 통합 정리본. 문서 양식·열람 등급·용어·연락처를 통일하고 분류 사이의 중복 내용을 한 문서로 정리</a:t>
                      </a:r>
                    </a:p>
                  </a:txBody>
                  <a:tcPr marL="76200" marR="76200" marT="63500" marB="63500" anchor="t">
                    <a:solidFill>
                      <a:srgbClr val="FFFEFA"/>
                    </a:solidFill>
                    <a:lnL w="7620">
                      <a:solidFill>
                        <a:srgbClr val="DBD9D3"/>
                      </a:solidFill>
                    </a:lnL>
                    <a:lnR w="7620">
                      <a:solidFill>
                        <a:srgbClr val="DBD9D3"/>
                      </a:solidFill>
                    </a:lnR>
                    <a:lnT w="7620">
                      <a:solidFill>
                        <a:srgbClr val="DBD9D3"/>
                      </a:solidFill>
                    </a:lnT>
                    <a:lnB w="7620">
                      <a:solidFill>
                        <a:srgbClr val="DBD9D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84200" y="6502400"/>
            <a:ext cx="635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© 가상 ICT 기업 · IT-ACS-001-M · 사내 제한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7800" y="6502400"/>
            <a:ext cx="1270000" cy="15328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r">
              <a:lnSpc>
                <a:spcPts val="1207"/>
              </a:lnSpc>
              <a:spcBef>
                <a:spcPts val="0"/>
              </a:spcBef>
              <a:spcAft>
                <a:spcPts val="0"/>
              </a:spcAft>
            </a:pPr>
            <a:r>
              <a:rPr sz="850" b="0">
                <a:solidFill>
                  <a:srgbClr val="5A6270"/>
                </a:solidFill>
                <a:latin typeface="Malgun Gothic"/>
                <a:ea typeface="Malgun Gothic"/>
                <a:cs typeface="Malgun Gothic"/>
              </a:rPr>
              <a:t>22 / 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IT-ACS-001-M 사내 시스템 접근권한 처리 매뉴얼</dc:title>
  <dc:subject>사내 제한 · IT 운영 담당자·관리자</dc:subject>
  <dc:creator>업무시스템팀</dc:creator>
  <cp:keywords/>
  <dc:description>generated using python-pptx</dc:description>
  <cp:lastModifiedBy>업무시스템팀</cp:lastModifiedBy>
  <cp:revision>1</cp:revision>
  <dcterms:created xsi:type="dcterms:W3CDTF">2013-01-27T09:14:16Z</dcterms:created>
  <dcterms:modified xsi:type="dcterms:W3CDTF">2013-01-27T09:15:58Z</dcterms:modified>
  <cp:category>사내 제한</cp:category>
</cp:coreProperties>
</file>