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84200" y="1651000"/>
            <a:ext cx="1168400" cy="508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84200" y="2108200"/>
            <a:ext cx="11023600" cy="270510"/>
          </a:xfrm>
          <a:prstGeom prst="rect">
            <a:avLst/>
          </a:prstGeom>
          <a:noFill/>
        </p:spPr>
        <p:txBody>
          <a:bodyPr wrap="none" lIns="0" rIns="0" tIns="0" bIns="0" anchor="t">
            <a:spAutoFit/>
          </a:bodyPr>
          <a:lstStyle/>
          <a:p>
            <a:pPr algn="l">
              <a:lnSpc>
                <a:spcPts val="2129"/>
              </a:lnSpc>
              <a:spcBef>
                <a:spcPts val="0"/>
              </a:spcBef>
              <a:spcAft>
                <a:spcPts val="0"/>
              </a:spcAft>
            </a:pPr>
            <a:r>
              <a:rPr sz="1500" b="0">
                <a:solidFill>
                  <a:srgbClr val="5A6270"/>
                </a:solidFill>
                <a:latin typeface="Malgun Gothic"/>
                <a:ea typeface="Malgun Gothic"/>
                <a:cs typeface="Malgun Gothic"/>
              </a:rPr>
              <a:t>한화시스템 ICT 임직원 IT 안내 · HW·업무 PC</a:t>
            </a:r>
          </a:p>
        </p:txBody>
      </p:sp>
      <p:sp>
        <p:nvSpPr>
          <p:cNvPr id="5" name="TextBox 4"/>
          <p:cNvSpPr txBox="1"/>
          <p:nvPr/>
        </p:nvSpPr>
        <p:spPr>
          <a:xfrm>
            <a:off x="584200" y="2489200"/>
            <a:ext cx="11023600" cy="609600"/>
          </a:xfrm>
          <a:prstGeom prst="rect">
            <a:avLst/>
          </a:prstGeom>
          <a:noFill/>
        </p:spPr>
        <p:txBody>
          <a:bodyPr wrap="none" lIns="0" rIns="0" tIns="0" bIns="0" anchor="t">
            <a:spAutoFit/>
          </a:bodyPr>
          <a:lstStyle/>
          <a:p>
            <a:pPr algn="l">
              <a:lnSpc>
                <a:spcPts val="4800"/>
              </a:lnSpc>
              <a:spcBef>
                <a:spcPts val="0"/>
              </a:spcBef>
              <a:spcAft>
                <a:spcPts val="0"/>
              </a:spcAft>
            </a:pPr>
            <a:r>
              <a:rPr sz="4000" b="1">
                <a:solidFill>
                  <a:srgbClr val="1D2433"/>
                </a:solidFill>
                <a:latin typeface="Malgun Gothic"/>
                <a:ea typeface="Malgun Gothic"/>
                <a:cs typeface="Malgun Gothic"/>
              </a:rPr>
              <a:t>업무 장비 교체·수리 신청 가이드</a:t>
            </a:r>
          </a:p>
        </p:txBody>
      </p:sp>
      <p:sp>
        <p:nvSpPr>
          <p:cNvPr id="6" name="TextBox 5"/>
          <p:cNvSpPr txBox="1"/>
          <p:nvPr/>
        </p:nvSpPr>
        <p:spPr>
          <a:xfrm>
            <a:off x="584200" y="3149600"/>
            <a:ext cx="11023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IT-HW-002  |  엔드포인트지원팀  |  2026.10.16  |  Ver 2.0</a:t>
            </a:r>
          </a:p>
        </p:txBody>
      </p:sp>
      <p:sp>
        <p:nvSpPr>
          <p:cNvPr id="7" name="Rounded Rectangle 6"/>
          <p:cNvSpPr/>
          <p:nvPr/>
        </p:nvSpPr>
        <p:spPr>
          <a:xfrm>
            <a:off x="584200" y="3581400"/>
            <a:ext cx="1680815" cy="304800"/>
          </a:xfrm>
          <a:prstGeom prst="roundRect">
            <a:avLst>
              <a:gd name="adj" fmla="val 1666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300" y="3644900"/>
            <a:ext cx="1680815"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FFFFFF"/>
                </a:solidFill>
                <a:latin typeface="Malgun Gothic"/>
                <a:ea typeface="Malgun Gothic"/>
                <a:cs typeface="Malgun Gothic"/>
              </a:rPr>
              <a:t>사내 일반 · 전 임직원</a:t>
            </a:r>
          </a:p>
        </p:txBody>
      </p:sp>
      <p:sp>
        <p:nvSpPr>
          <p:cNvPr id="9" name="TextBox 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10" name="TextBox 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 / 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문서 정보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IT-HW-002</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752600"/>
        </p:xfrm>
        <a:graphic>
          <a:graphicData uri="http://schemas.openxmlformats.org/drawingml/2006/table">
            <a:tbl>
              <a:tblPr firstRow="0" bandRow="0">
                <a:tableStyleId>{5940675A-B579-460E-94D1-54222C63F5DA}</a:tableStyleId>
              </a:tblPr>
              <a:tblGrid>
                <a:gridCol w="1732280"/>
                <a:gridCol w="3779520"/>
                <a:gridCol w="1732280"/>
                <a:gridCol w="3779520"/>
              </a:tblGrid>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번호</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IT-HW-002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버전</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분류</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 HW·업무 PC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시행일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유형</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신청·절차 안내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열람 등급</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일반 (전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관리 부서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승인자</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대상</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 임직원 (회사 지급 장비 사용자)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담당자 매뉴얼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IT-HW-002-M</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포함 시나리오</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HW-04, HW-05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관련 FAQ</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graphicFrame>
        <p:nvGraphicFramePr>
          <p:cNvPr id="7" name="Table 6"/>
          <p:cNvGraphicFramePr>
            <a:graphicFrameLocks noGrp="1"/>
          </p:cNvGraphicFramePr>
          <p:nvPr/>
        </p:nvGraphicFramePr>
        <p:xfrm>
          <a:off x="584200" y="3022600"/>
          <a:ext cx="11023600" cy="457200"/>
        </p:xfrm>
        <a:graphic>
          <a:graphicData uri="http://schemas.openxmlformats.org/drawingml/2006/table">
            <a:tbl>
              <a:tblPr firstRow="0" bandRow="0">
                <a:tableStyleId>{5940675A-B579-460E-94D1-54222C63F5DA}</a:tableStyleId>
              </a:tblPr>
              <a:tblGrid>
                <a:gridCol w="1732280"/>
                <a:gridCol w="9291320"/>
              </a:tblGrid>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키워드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노트북에 물을 쏟았어요, 커피, 음료, 침수, 파손, 액정, 수리, 키보드 일부 키가 안 눌려요, USB 포트 인식 불량, 정전, 무상 보증, 대여 노트북, 교체, 교체 주기 3년,</a:t>
                      </a:r>
                    </a:p>
                    <a:p>
                      <a:pPr algn="l">
                        <a:lnSpc>
                          <a:spcPts val="1300"/>
                        </a:lnSpc>
                        <a:spcBef>
                          <a:spcPts val="0"/>
                        </a:spcBef>
                        <a:spcAft>
                          <a:spcPts val="0"/>
                        </a:spcAft>
                      </a:pPr>
                      <a:r>
                        <a:rPr sz="1000" b="0">
                          <a:solidFill>
                            <a:srgbClr val="1D2433"/>
                          </a:solidFill>
                          <a:latin typeface="Malgun Gothic"/>
                          <a:ea typeface="Malgun Gothic"/>
                          <a:cs typeface="Malgun Gothic"/>
                        </a:rPr>
                        <a:t>노트북 교체 가능한가요, 고사양 노트북, 반납, PC 반납 절차, 초기화, 신규 입사자 PC 준비, 마우스 고장, 키보드 신청, 비품</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 / 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Contents</a:t>
            </a:r>
          </a:p>
        </p:txBody>
      </p:sp>
      <p:cxnSp>
        <p:nvCxnSpPr>
          <p:cNvPr id="4" name="Connector 3"/>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65200" y="1244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1. 개요</a:t>
            </a:r>
          </a:p>
        </p:txBody>
      </p:sp>
      <p:cxnSp>
        <p:nvCxnSpPr>
          <p:cNvPr id="6" name="Connector 5"/>
          <p:cNvCxnSpPr/>
          <p:nvPr/>
        </p:nvCxnSpPr>
        <p:spPr>
          <a:xfrm>
            <a:off x="1659892" y="1431290"/>
            <a:ext cx="84239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185400" y="1244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4p</a:t>
            </a:r>
          </a:p>
        </p:txBody>
      </p:sp>
      <p:sp>
        <p:nvSpPr>
          <p:cNvPr id="8" name="TextBox 7"/>
          <p:cNvSpPr txBox="1"/>
          <p:nvPr/>
        </p:nvSpPr>
        <p:spPr>
          <a:xfrm>
            <a:off x="965200" y="16764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2. 신청 전 확인 사항</a:t>
            </a:r>
          </a:p>
        </p:txBody>
      </p:sp>
      <p:cxnSp>
        <p:nvCxnSpPr>
          <p:cNvPr id="9" name="Connector 8"/>
          <p:cNvCxnSpPr/>
          <p:nvPr/>
        </p:nvCxnSpPr>
        <p:spPr>
          <a:xfrm>
            <a:off x="2736416" y="1863090"/>
            <a:ext cx="734738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5400" y="1676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6p</a:t>
            </a:r>
          </a:p>
        </p:txBody>
      </p:sp>
      <p:sp>
        <p:nvSpPr>
          <p:cNvPr id="11" name="TextBox 10"/>
          <p:cNvSpPr txBox="1"/>
          <p:nvPr/>
        </p:nvSpPr>
        <p:spPr>
          <a:xfrm>
            <a:off x="965200" y="21082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3. 신청 항목별 안내</a:t>
            </a:r>
          </a:p>
        </p:txBody>
      </p:sp>
      <p:cxnSp>
        <p:nvCxnSpPr>
          <p:cNvPr id="12" name="Connector 11"/>
          <p:cNvCxnSpPr/>
          <p:nvPr/>
        </p:nvCxnSpPr>
        <p:spPr>
          <a:xfrm>
            <a:off x="2673908" y="2294890"/>
            <a:ext cx="74098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85400" y="2108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8p</a:t>
            </a:r>
          </a:p>
        </p:txBody>
      </p:sp>
      <p:sp>
        <p:nvSpPr>
          <p:cNvPr id="14" name="TextBox 13"/>
          <p:cNvSpPr txBox="1"/>
          <p:nvPr/>
        </p:nvSpPr>
        <p:spPr>
          <a:xfrm>
            <a:off x="965200" y="25400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4. 자주 묻는 질문</a:t>
            </a:r>
          </a:p>
        </p:txBody>
      </p:sp>
      <p:cxnSp>
        <p:nvCxnSpPr>
          <p:cNvPr id="15" name="Connector 14"/>
          <p:cNvCxnSpPr/>
          <p:nvPr/>
        </p:nvCxnSpPr>
        <p:spPr>
          <a:xfrm>
            <a:off x="2496108" y="2726690"/>
            <a:ext cx="75876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85400" y="25400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26p</a:t>
            </a:r>
          </a:p>
        </p:txBody>
      </p:sp>
      <p:sp>
        <p:nvSpPr>
          <p:cNvPr id="17" name="TextBox 16"/>
          <p:cNvSpPr txBox="1"/>
          <p:nvPr/>
        </p:nvSpPr>
        <p:spPr>
          <a:xfrm>
            <a:off x="965200" y="29718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5. 주의사항</a:t>
            </a:r>
          </a:p>
        </p:txBody>
      </p:sp>
      <p:cxnSp>
        <p:nvCxnSpPr>
          <p:cNvPr id="18" name="Connector 17"/>
          <p:cNvCxnSpPr/>
          <p:nvPr/>
        </p:nvCxnSpPr>
        <p:spPr>
          <a:xfrm>
            <a:off x="2015492" y="3158490"/>
            <a:ext cx="80683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185400" y="29718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28p</a:t>
            </a:r>
          </a:p>
        </p:txBody>
      </p:sp>
      <p:sp>
        <p:nvSpPr>
          <p:cNvPr id="20" name="TextBox 19"/>
          <p:cNvSpPr txBox="1"/>
          <p:nvPr/>
        </p:nvSpPr>
        <p:spPr>
          <a:xfrm>
            <a:off x="965200" y="3403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6. 문의처</a:t>
            </a:r>
          </a:p>
        </p:txBody>
      </p:sp>
      <p:cxnSp>
        <p:nvCxnSpPr>
          <p:cNvPr id="21" name="Connector 20"/>
          <p:cNvCxnSpPr/>
          <p:nvPr/>
        </p:nvCxnSpPr>
        <p:spPr>
          <a:xfrm>
            <a:off x="1837692" y="3590290"/>
            <a:ext cx="82461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185400" y="3403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30p</a:t>
            </a:r>
          </a:p>
        </p:txBody>
      </p:sp>
      <p:sp>
        <p:nvSpPr>
          <p:cNvPr id="23" name="TextBox 22"/>
          <p:cNvSpPr txBox="1"/>
          <p:nvPr/>
        </p:nvSpPr>
        <p:spPr>
          <a:xfrm>
            <a:off x="965200" y="38354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부록 · 관련 문서 · 용어</a:t>
            </a:r>
          </a:p>
        </p:txBody>
      </p:sp>
      <p:cxnSp>
        <p:nvCxnSpPr>
          <p:cNvPr id="24" name="Connector 23"/>
          <p:cNvCxnSpPr/>
          <p:nvPr/>
        </p:nvCxnSpPr>
        <p:spPr>
          <a:xfrm>
            <a:off x="2710706" y="4002088"/>
            <a:ext cx="737309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85400" y="3835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32p</a:t>
            </a:r>
          </a:p>
        </p:txBody>
      </p:sp>
      <p:sp>
        <p:nvSpPr>
          <p:cNvPr id="26" name="TextBox 25"/>
          <p:cNvSpPr txBox="1"/>
          <p:nvPr/>
        </p:nvSpPr>
        <p:spPr>
          <a:xfrm>
            <a:off x="965200" y="42672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개정 이력</a:t>
            </a:r>
          </a:p>
        </p:txBody>
      </p:sp>
      <p:cxnSp>
        <p:nvCxnSpPr>
          <p:cNvPr id="27" name="Connector 26"/>
          <p:cNvCxnSpPr/>
          <p:nvPr/>
        </p:nvCxnSpPr>
        <p:spPr>
          <a:xfrm>
            <a:off x="1783011" y="4433888"/>
            <a:ext cx="8300789"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85400" y="4267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34p</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 / 34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01</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개요</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IT-HW-002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4 / 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개요</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01. 개요</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목적</a:t>
            </a:r>
          </a:p>
        </p:txBody>
      </p:sp>
      <p:sp>
        <p:nvSpPr>
          <p:cNvPr id="7" name="TextBox 6"/>
          <p:cNvSpPr txBox="1"/>
          <p:nvPr/>
        </p:nvSpPr>
        <p:spPr>
          <a:xfrm>
            <a:off x="584200" y="1492885"/>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 장비의 파손·고장 수리, 교체, 신규 지급, 주변기기 교체, 반납을 신청하는 방법을 안내한다.</a:t>
            </a:r>
          </a:p>
        </p:txBody>
      </p:sp>
      <p:sp>
        <p:nvSpPr>
          <p:cNvPr id="8" name="TextBox 7"/>
          <p:cNvSpPr txBox="1"/>
          <p:nvPr/>
        </p:nvSpPr>
        <p:spPr>
          <a:xfrm>
            <a:off x="584200" y="178917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적용 대상</a:t>
            </a:r>
          </a:p>
        </p:txBody>
      </p:sp>
      <p:sp>
        <p:nvSpPr>
          <p:cNvPr id="9" name="TextBox 8"/>
          <p:cNvSpPr txBox="1"/>
          <p:nvPr/>
        </p:nvSpPr>
        <p:spPr>
          <a:xfrm>
            <a:off x="584200" y="2113661"/>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회사가 지급한 노트북·데스크톱과 마우스·키보드 등 주변기기에 해당한다. 개인 장비는 대상이 아니다. PC가 느리거나 부팅되지 않는 증상은 IT-HW-001을 먼저 본다.</a:t>
            </a:r>
          </a:p>
        </p:txBody>
      </p:sp>
      <p:sp>
        <p:nvSpPr>
          <p:cNvPr id="10" name="TextBox 9"/>
          <p:cNvSpPr txBox="1"/>
          <p:nvPr/>
        </p:nvSpPr>
        <p:spPr>
          <a:xfrm>
            <a:off x="584200" y="240995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관련 시스템</a:t>
            </a:r>
          </a:p>
        </p:txBody>
      </p:sp>
      <p:graphicFrame>
        <p:nvGraphicFramePr>
          <p:cNvPr id="11" name="Table 10"/>
          <p:cNvGraphicFramePr>
            <a:graphicFrameLocks noGrp="1"/>
          </p:cNvGraphicFramePr>
          <p:nvPr/>
        </p:nvGraphicFramePr>
        <p:xfrm>
          <a:off x="584200" y="2734437"/>
          <a:ext cx="11023600" cy="584200"/>
        </p:xfrm>
        <a:graphic>
          <a:graphicData uri="http://schemas.openxmlformats.org/drawingml/2006/table">
            <a:tbl>
              <a:tblPr firstRow="0" bandRow="0">
                <a:tableStyleId>{5940675A-B579-460E-94D1-54222C63F5DA}</a:tableStyleId>
              </a:tblPr>
              <a:tblGrid>
                <a:gridCol w="2624667"/>
                <a:gridCol w="8398933"/>
              </a:tblGrid>
              <a:tr h="2921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신청 경로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그룹웨어 &gt; IT 요청 &gt; 장비 신청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관련 시스템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자산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2" name="TextBox 1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13" name="TextBox 1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5 / 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02</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신청 전 확인 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IT-HW-002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6 / 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신청 전 확인 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신청 전 확인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5000" y="1168400"/>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7" name="TextBox 6"/>
          <p:cNvSpPr txBox="1"/>
          <p:nvPr/>
        </p:nvSpPr>
        <p:spPr>
          <a:xfrm>
            <a:off x="838200" y="11684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음료를 쏟았거나 떨어뜨렸으면 바로 전원을 끄고 충전기를 뺀다. 다시 켜 보지 않는다.</a:t>
            </a:r>
          </a:p>
        </p:txBody>
      </p:sp>
      <p:sp>
        <p:nvSpPr>
          <p:cNvPr id="8" name="TextBox 7"/>
          <p:cNvSpPr txBox="1"/>
          <p:nvPr/>
        </p:nvSpPr>
        <p:spPr>
          <a:xfrm>
            <a:off x="635000" y="140754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9" name="TextBox 8"/>
          <p:cNvSpPr txBox="1"/>
          <p:nvPr/>
        </p:nvSpPr>
        <p:spPr>
          <a:xfrm>
            <a:off x="838200" y="140754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업무용 PC 교체 주기는 지급일로부터 3년이다.</a:t>
            </a:r>
          </a:p>
        </p:txBody>
      </p:sp>
      <p:sp>
        <p:nvSpPr>
          <p:cNvPr id="10" name="TextBox 9"/>
          <p:cNvSpPr txBox="1"/>
          <p:nvPr/>
        </p:nvSpPr>
        <p:spPr>
          <a:xfrm>
            <a:off x="635000" y="164668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1" name="TextBox 10"/>
          <p:cNvSpPr txBox="1"/>
          <p:nvPr/>
        </p:nvSpPr>
        <p:spPr>
          <a:xfrm>
            <a:off x="838200" y="164668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개발 직군은 macOS/Windows 중 선택할 수 있고, 그 외 직군은 Windows가 기본이다.</a:t>
            </a:r>
          </a:p>
        </p:txBody>
      </p:sp>
      <p:sp>
        <p:nvSpPr>
          <p:cNvPr id="12" name="TextBox 11"/>
          <p:cNvSpPr txBox="1"/>
          <p:nvPr/>
        </p:nvSpPr>
        <p:spPr>
          <a:xfrm>
            <a:off x="635000" y="188582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188582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PC가 느리거나 부팅이 안 되는 증상은 IT-HW-001을 먼저 본다.</a:t>
            </a:r>
          </a:p>
        </p:txBody>
      </p:sp>
      <p:sp>
        <p:nvSpPr>
          <p:cNvPr id="14" name="TextBox 13"/>
          <p:cNvSpPr txBox="1"/>
          <p:nvPr/>
        </p:nvSpPr>
        <p:spPr>
          <a:xfrm>
            <a:off x="635000" y="212496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5" name="TextBox 14"/>
          <p:cNvSpPr txBox="1"/>
          <p:nvPr/>
        </p:nvSpPr>
        <p:spPr>
          <a:xfrm>
            <a:off x="838200" y="212496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정전 등으로 같은 층의 여러 장비가 한꺼번에 고장 나면 각자 신청하지 말고 IT 헬프데스크 내선 1000으로 바로 전화한다.</a:t>
            </a:r>
          </a:p>
        </p:txBody>
      </p:sp>
      <p:sp>
        <p:nvSpPr>
          <p:cNvPr id="16" name="TextBox 15"/>
          <p:cNvSpPr txBox="1"/>
          <p:nvPr/>
        </p:nvSpPr>
        <p:spPr>
          <a:xfrm>
            <a:off x="635000" y="236410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7" name="TextBox 16"/>
          <p:cNvSpPr txBox="1"/>
          <p:nvPr/>
        </p:nvSpPr>
        <p:spPr>
          <a:xfrm>
            <a:off x="838200" y="236410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장비를 잃어버렸으면 IT-SEC-003 3.7에 따라 바로 신고한다.</a:t>
            </a:r>
          </a:p>
        </p:txBody>
      </p:sp>
      <p:sp>
        <p:nvSpPr>
          <p:cNvPr id="18" name="TextBox 1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19" name="TextBox 1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7 / 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03</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신청 항목별 안내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IT-HW-002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8 / 34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신청 항목별 안내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1" cy="2336800"/>
        </p:xfrm>
        <a:graphic>
          <a:graphicData uri="http://schemas.openxmlformats.org/drawingml/2006/table">
            <a:tbl>
              <a:tblPr firstRow="0" bandRow="0">
                <a:tableStyleId>{5940675A-B579-460E-94D1-54222C63F5DA}</a:tableStyleId>
              </a:tblPr>
              <a:tblGrid>
                <a:gridCol w="922643"/>
                <a:gridCol w="4455897"/>
                <a:gridCol w="1326660"/>
                <a:gridCol w="2150190"/>
                <a:gridCol w="2168211"/>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제목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문의 유형</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처리 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담당 부서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노트북 침수·파손 수리 신청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1F3A5F"/>
                          </a:solidFill>
                          <a:latin typeface="Malgun Gothic"/>
                          <a:ea typeface="Malgun Gothic"/>
                          <a:cs typeface="Malgun Gothic"/>
                        </a:rPr>
                        <a:t>IT 담당자 처리</a:t>
                      </a:r>
                    </a:p>
                  </a:txBody>
                  <a:tcPr marL="76200" marR="76200" marT="63500" marB="63500" anchor="t">
                    <a:solidFill>
                      <a:srgbClr val="E3EAF3"/>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키보드·포트 등 부품 고장 수리 신청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1F3A5F"/>
                          </a:solidFill>
                          <a:latin typeface="Malgun Gothic"/>
                          <a:ea typeface="Malgun Gothic"/>
                          <a:cs typeface="Malgun Gothic"/>
                        </a:rPr>
                        <a:t>IT 담당자 처리</a:t>
                      </a:r>
                    </a:p>
                  </a:txBody>
                  <a:tcPr marL="76200" marR="76200" marT="63500" marB="63500" anchor="t">
                    <a:solidFill>
                      <a:srgbClr val="E3EAF3"/>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교체 주기(3년)가 지난 노트북 교체 신청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HW-05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1F3A5F"/>
                          </a:solidFill>
                          <a:latin typeface="Malgun Gothic"/>
                          <a:ea typeface="Malgun Gothic"/>
                          <a:cs typeface="Malgun Gothic"/>
                        </a:rPr>
                        <a:t>IT 담당자 처리</a:t>
                      </a:r>
                    </a:p>
                  </a:txBody>
                  <a:tcPr marL="76200" marR="76200" marT="63500" marB="63500" anchor="t">
                    <a:solidFill>
                      <a:srgbClr val="E3EAF3"/>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교체 주기 전 고사양 노트북 신청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HW-05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신규 입사자 PC 준비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HW-05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1F3A5F"/>
                          </a:solidFill>
                          <a:latin typeface="Malgun Gothic"/>
                          <a:ea typeface="Malgun Gothic"/>
                          <a:cs typeface="Malgun Gothic"/>
                        </a:rPr>
                        <a:t>IT 담당자 처리</a:t>
                      </a:r>
                    </a:p>
                  </a:txBody>
                  <a:tcPr marL="76200" marR="76200" marT="63500" marB="63500" anchor="t">
                    <a:solidFill>
                      <a:srgbClr val="E3EAF3"/>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마우스·키보드 등 주변기기 교체 신청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HW-05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1F3A5F"/>
                          </a:solidFill>
                          <a:latin typeface="Malgun Gothic"/>
                          <a:ea typeface="Malgun Gothic"/>
                          <a:cs typeface="Malgun Gothic"/>
                        </a:rPr>
                        <a:t>IT 담당자 처리</a:t>
                      </a:r>
                    </a:p>
                  </a:txBody>
                  <a:tcPr marL="76200" marR="76200" marT="63500" marB="63500" anchor="t">
                    <a:solidFill>
                      <a:srgbClr val="E3EAF3"/>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3.7</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퇴사·교체 시 장비 반납</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HW-05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1F3A5F"/>
                          </a:solidFill>
                          <a:latin typeface="Malgun Gothic"/>
                          <a:ea typeface="Malgun Gothic"/>
                          <a:cs typeface="Malgun Gothic"/>
                        </a:rPr>
                        <a:t>IT 담당자 처리</a:t>
                      </a:r>
                    </a:p>
                  </a:txBody>
                  <a:tcPr marL="76200" marR="76200" marT="63500" marB="63500" anchor="t">
                    <a:solidFill>
                      <a:srgbClr val="E3EAF3"/>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9 / 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노트북 침수·파손 수리 신청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811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571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HW-04</a:t>
            </a:r>
          </a:p>
        </p:txBody>
      </p:sp>
      <p:sp>
        <p:nvSpPr>
          <p:cNvPr id="10" name="Rectangle 9"/>
          <p:cNvSpPr/>
          <p:nvPr/>
        </p:nvSpPr>
        <p:spPr>
          <a:xfrm>
            <a:off x="1867359"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43559"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72407" y="1168400"/>
            <a:ext cx="990054" cy="292100"/>
          </a:xfrm>
          <a:prstGeom prst="rect">
            <a:avLst/>
          </a:prstGeom>
          <a:solidFill>
            <a:srgbClr val="E3EAF3"/>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8607" y="1219200"/>
            <a:ext cx="837654"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IT 담당자 처리</a:t>
            </a:r>
          </a:p>
        </p:txBody>
      </p:sp>
      <p:sp>
        <p:nvSpPr>
          <p:cNvPr id="14" name="Rectangle 13"/>
          <p:cNvSpPr/>
          <p:nvPr/>
        </p:nvSpPr>
        <p:spPr>
          <a:xfrm>
            <a:off x="3562462"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8662"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7510"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3710"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43591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1211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기간</a:t>
            </a:r>
          </a:p>
        </p:txBody>
      </p:sp>
      <p:sp>
        <p:nvSpPr>
          <p:cNvPr id="20" name="Rectangle 19"/>
          <p:cNvSpPr/>
          <p:nvPr/>
        </p:nvSpPr>
        <p:spPr>
          <a:xfrm>
            <a:off x="6140958" y="1168400"/>
            <a:ext cx="1077305"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158" y="1219200"/>
            <a:ext cx="92490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접수 후 1영업일</a:t>
            </a:r>
          </a:p>
        </p:txBody>
      </p:sp>
      <p:sp>
        <p:nvSpPr>
          <p:cNvPr id="22" name="Rectangle 21"/>
          <p:cNvSpPr/>
          <p:nvPr/>
        </p:nvSpPr>
        <p:spPr>
          <a:xfrm>
            <a:off x="7218263"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94463"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4" name="Rectangle 23"/>
          <p:cNvSpPr/>
          <p:nvPr/>
        </p:nvSpPr>
        <p:spPr>
          <a:xfrm>
            <a:off x="792387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0007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FAQ-017</a:t>
            </a:r>
          </a:p>
        </p:txBody>
      </p:sp>
      <p:sp>
        <p:nvSpPr>
          <p:cNvPr id="26" name="TextBox 25"/>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이럴 때 신청합니다</a:t>
            </a:r>
          </a:p>
        </p:txBody>
      </p:sp>
      <p:sp>
        <p:nvSpPr>
          <p:cNvPr id="27" name="TextBox 26"/>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8" name="TextBox 27"/>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노트북 키보드에 커피 등 음료를 쏟았다.</a:t>
            </a:r>
          </a:p>
        </p:txBody>
      </p:sp>
      <p:sp>
        <p:nvSpPr>
          <p:cNvPr id="29" name="TextBox 28"/>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0" name="TextBox 29"/>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노트북을 떨어뜨려 화면이나 본체가 파손됐다.</a:t>
            </a:r>
          </a:p>
        </p:txBody>
      </p:sp>
      <p:sp>
        <p:nvSpPr>
          <p:cNvPr id="31" name="TextBox 30"/>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대상</a:t>
            </a:r>
          </a:p>
        </p:txBody>
      </p:sp>
      <p:sp>
        <p:nvSpPr>
          <p:cNvPr id="32" name="TextBox 31"/>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3" name="TextBox 32"/>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장비를 쓰는 본인</a:t>
            </a:r>
          </a:p>
        </p:txBody>
      </p:sp>
      <p:sp>
        <p:nvSpPr>
          <p:cNvPr id="34" name="TextBox 33"/>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준비할 정보</a:t>
            </a:r>
          </a:p>
        </p:txBody>
      </p:sp>
      <p:sp>
        <p:nvSpPr>
          <p:cNvPr id="35" name="TextBox 34"/>
          <p:cNvSpPr txBox="1"/>
          <p:nvPr/>
        </p:nvSpPr>
        <p:spPr>
          <a:xfrm>
            <a:off x="635000" y="33799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6" name="TextBox 35"/>
          <p:cNvSpPr txBox="1"/>
          <p:nvPr/>
        </p:nvSpPr>
        <p:spPr>
          <a:xfrm>
            <a:off x="838200" y="33799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37" name="TextBox 36"/>
          <p:cNvSpPr txBox="1"/>
          <p:nvPr/>
        </p:nvSpPr>
        <p:spPr>
          <a:xfrm>
            <a:off x="635000" y="36191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8" name="TextBox 37"/>
          <p:cNvSpPr txBox="1"/>
          <p:nvPr/>
        </p:nvSpPr>
        <p:spPr>
          <a:xfrm>
            <a:off x="838200" y="36191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노트북 모델명</a:t>
            </a:r>
          </a:p>
        </p:txBody>
      </p:sp>
      <p:sp>
        <p:nvSpPr>
          <p:cNvPr id="39" name="TextBox 38"/>
          <p:cNvSpPr txBox="1"/>
          <p:nvPr/>
        </p:nvSpPr>
        <p:spPr>
          <a:xfrm>
            <a:off x="635000" y="3858260"/>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40" name="TextBox 39"/>
          <p:cNvSpPr txBox="1"/>
          <p:nvPr/>
        </p:nvSpPr>
        <p:spPr>
          <a:xfrm>
            <a:off x="838200" y="385826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사고 경위와 시각</a:t>
            </a:r>
          </a:p>
        </p:txBody>
      </p:sp>
      <p:sp>
        <p:nvSpPr>
          <p:cNvPr id="41" name="TextBox 40"/>
          <p:cNvSpPr txBox="1"/>
          <p:nvPr/>
        </p:nvSpPr>
        <p:spPr>
          <a:xfrm>
            <a:off x="635000" y="409740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42" name="TextBox 41"/>
          <p:cNvSpPr txBox="1"/>
          <p:nvPr/>
        </p:nvSpPr>
        <p:spPr>
          <a:xfrm>
            <a:off x="838200" y="409740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파손 부위 사진</a:t>
            </a:r>
          </a:p>
        </p:txBody>
      </p:sp>
      <p:sp>
        <p:nvSpPr>
          <p:cNvPr id="43" name="TextBox 42"/>
          <p:cNvSpPr txBox="1"/>
          <p:nvPr/>
        </p:nvSpPr>
        <p:spPr>
          <a:xfrm>
            <a:off x="635000" y="433654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44" name="TextBox 43"/>
          <p:cNvSpPr txBox="1"/>
          <p:nvPr/>
        </p:nvSpPr>
        <p:spPr>
          <a:xfrm>
            <a:off x="838200" y="433654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백업이 필요한 데이터</a:t>
            </a:r>
          </a:p>
        </p:txBody>
      </p:sp>
      <p:sp>
        <p:nvSpPr>
          <p:cNvPr id="45" name="TextBox 44"/>
          <p:cNvSpPr txBox="1"/>
          <p:nvPr/>
        </p:nvSpPr>
        <p:spPr>
          <a:xfrm>
            <a:off x="584200" y="462648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방법</a:t>
            </a:r>
          </a:p>
        </p:txBody>
      </p:sp>
      <p:sp>
        <p:nvSpPr>
          <p:cNvPr id="46" name="TextBox 45"/>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47" name="TextBox 46"/>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10 / 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노트북 침수·파손 수리 신청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7" name="TextBox 6"/>
          <p:cNvSpPr txBox="1"/>
          <p:nvPr/>
        </p:nvSpPr>
        <p:spPr>
          <a:xfrm>
            <a:off x="838200" y="1168400"/>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즉시 전원을 끄고 충전기를 분리합니다. 다시 켜 보지 않습니다.</a:t>
            </a:r>
          </a:p>
        </p:txBody>
      </p:sp>
      <p:sp>
        <p:nvSpPr>
          <p:cNvPr id="8" name="TextBox 7"/>
          <p:cNvSpPr txBox="1"/>
          <p:nvPr/>
        </p:nvSpPr>
        <p:spPr>
          <a:xfrm>
            <a:off x="584200" y="140754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9" name="TextBox 8"/>
          <p:cNvSpPr txBox="1"/>
          <p:nvPr/>
        </p:nvSpPr>
        <p:spPr>
          <a:xfrm>
            <a:off x="838200" y="1407541"/>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그룹웨어 &gt; IT 요청 &gt; 장비 신청에서 '수리'를 선택하고 경위와 사진을</a:t>
            </a:r>
          </a:p>
          <a:p>
            <a:pPr algn="l">
              <a:lnSpc>
                <a:spcPts val="1632"/>
              </a:lnSpc>
              <a:spcBef>
                <a:spcPts val="0"/>
              </a:spcBef>
              <a:spcAft>
                <a:spcPts val="0"/>
              </a:spcAft>
            </a:pPr>
            <a:r>
              <a:rPr sz="1150" b="0">
                <a:solidFill>
                  <a:srgbClr val="1D2433"/>
                </a:solidFill>
                <a:latin typeface="Malgun Gothic"/>
                <a:ea typeface="Malgun Gothic"/>
                <a:cs typeface="Malgun Gothic"/>
              </a:rPr>
              <a:t>적어 제출합니다. 급하면 IT 헬프데스크(내선 1000)로 전화합니다.</a:t>
            </a:r>
          </a:p>
        </p:txBody>
      </p:sp>
      <p:sp>
        <p:nvSpPr>
          <p:cNvPr id="10" name="TextBox 9"/>
          <p:cNvSpPr txBox="1"/>
          <p:nvPr/>
        </p:nvSpPr>
        <p:spPr>
          <a:xfrm>
            <a:off x="584200" y="185407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11" name="TextBox 10"/>
          <p:cNvSpPr txBox="1"/>
          <p:nvPr/>
        </p:nvSpPr>
        <p:spPr>
          <a:xfrm>
            <a:off x="838200" y="1854073"/>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안내받은 시간에 엔드포인트지원팀에 장비를 맡깁니다.</a:t>
            </a:r>
          </a:p>
        </p:txBody>
      </p:sp>
      <p:sp>
        <p:nvSpPr>
          <p:cNvPr id="12" name="TextBox 11"/>
          <p:cNvSpPr txBox="1"/>
          <p:nvPr/>
        </p:nvSpPr>
        <p:spPr>
          <a:xfrm>
            <a:off x="584200" y="2093214"/>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13" name="TextBox 12"/>
          <p:cNvSpPr txBox="1"/>
          <p:nvPr/>
        </p:nvSpPr>
        <p:spPr>
          <a:xfrm>
            <a:off x="838200" y="2093214"/>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수리 기간에는 대여 노트북을 받아 씁니다.</a:t>
            </a:r>
          </a:p>
        </p:txBody>
      </p:sp>
      <p:sp>
        <p:nvSpPr>
          <p:cNvPr id="14" name="Rectangle 13"/>
          <p:cNvSpPr/>
          <p:nvPr/>
        </p:nvSpPr>
        <p:spPr>
          <a:xfrm>
            <a:off x="5883656" y="1168400"/>
            <a:ext cx="5724144" cy="248046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T-HW-002_01.png"/>
          <p:cNvPicPr>
            <a:picLocks noChangeAspect="1"/>
          </p:cNvPicPr>
          <p:nvPr/>
        </p:nvPicPr>
        <p:blipFill>
          <a:blip r:embed="rId2"/>
          <a:stretch>
            <a:fillRect/>
          </a:stretch>
        </p:blipFill>
        <p:spPr>
          <a:xfrm>
            <a:off x="5883656" y="1168400"/>
            <a:ext cx="5724144" cy="2480462"/>
          </a:xfrm>
          <a:prstGeom prst="rect">
            <a:avLst/>
          </a:prstGeom>
        </p:spPr>
      </p:pic>
      <p:sp>
        <p:nvSpPr>
          <p:cNvPr id="16" name="TextBox 15"/>
          <p:cNvSpPr txBox="1"/>
          <p:nvPr/>
        </p:nvSpPr>
        <p:spPr>
          <a:xfrm>
            <a:off x="5883656" y="3699662"/>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3.1-1. 장비 신청 양식. '수리' 선택과 사고 경위·사진을 적는 위치를 표시한다.</a:t>
            </a:r>
          </a:p>
        </p:txBody>
      </p:sp>
      <p:sp>
        <p:nvSpPr>
          <p:cNvPr id="17" name="TextBox 16"/>
          <p:cNvSpPr txBox="1"/>
          <p:nvPr/>
        </p:nvSpPr>
        <p:spPr>
          <a:xfrm>
            <a:off x="584200" y="400700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승인 절차</a:t>
            </a:r>
          </a:p>
        </p:txBody>
      </p:sp>
      <p:sp>
        <p:nvSpPr>
          <p:cNvPr id="18" name="TextBox 17"/>
          <p:cNvSpPr txBox="1"/>
          <p:nvPr/>
        </p:nvSpPr>
        <p:spPr>
          <a:xfrm>
            <a:off x="635000" y="433148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19" name="TextBox 18"/>
          <p:cNvSpPr txBox="1"/>
          <p:nvPr/>
        </p:nvSpPr>
        <p:spPr>
          <a:xfrm>
            <a:off x="838200" y="43314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승인 없음 (접수 후 엔드포인트지원팀 처리)</a:t>
            </a:r>
          </a:p>
        </p:txBody>
      </p:sp>
      <p:sp>
        <p:nvSpPr>
          <p:cNvPr id="20" name="TextBox 19"/>
          <p:cNvSpPr txBox="1"/>
          <p:nvPr/>
        </p:nvSpPr>
        <p:spPr>
          <a:xfrm>
            <a:off x="584200" y="462142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기간과 결과 확인</a:t>
            </a:r>
          </a:p>
        </p:txBody>
      </p:sp>
      <p:sp>
        <p:nvSpPr>
          <p:cNvPr id="21" name="TextBox 20"/>
          <p:cNvSpPr txBox="1"/>
          <p:nvPr/>
        </p:nvSpPr>
        <p:spPr>
          <a:xfrm>
            <a:off x="584200" y="4945913"/>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접수 후 1영업일 안에 점검과 데이터 백업을 하고 수리를 진행한다. 제조사 수리(부품 대기 포함)는 더 걸리며, 그동안 대여 노트북을 쓴다.</a:t>
            </a:r>
          </a:p>
        </p:txBody>
      </p:sp>
      <p:sp>
        <p:nvSpPr>
          <p:cNvPr id="22" name="TextBox 2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23" name="TextBox 2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11 / 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노트북 침수·파손 수리 신청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반려되는 경우</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개인 장비는 수리 대상이 아니다.</a:t>
            </a:r>
          </a:p>
        </p:txBody>
      </p:sp>
      <p:sp>
        <p:nvSpPr>
          <p:cNvPr id="9" name="TextBox 8"/>
          <p:cNvSpPr txBox="1"/>
          <p:nvPr/>
        </p:nvSpPr>
        <p:spPr>
          <a:xfrm>
            <a:off x="584200" y="17828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 시 알려 주실 정보</a:t>
            </a:r>
          </a:p>
        </p:txBody>
      </p:sp>
      <p:sp>
        <p:nvSpPr>
          <p:cNvPr id="10" name="TextBox 9"/>
          <p:cNvSpPr txBox="1"/>
          <p:nvPr/>
        </p:nvSpPr>
        <p:spPr>
          <a:xfrm>
            <a:off x="635000" y="21073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1" name="TextBox 10"/>
          <p:cNvSpPr txBox="1"/>
          <p:nvPr/>
        </p:nvSpPr>
        <p:spPr>
          <a:xfrm>
            <a:off x="838200" y="21073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신청 번호</a:t>
            </a:r>
          </a:p>
        </p:txBody>
      </p:sp>
      <p:sp>
        <p:nvSpPr>
          <p:cNvPr id="12" name="TextBox 11"/>
          <p:cNvSpPr txBox="1"/>
          <p:nvPr/>
        </p:nvSpPr>
        <p:spPr>
          <a:xfrm>
            <a:off x="635000" y="23464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23464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14" name="TextBox 13"/>
          <p:cNvSpPr txBox="1"/>
          <p:nvPr/>
        </p:nvSpPr>
        <p:spPr>
          <a:xfrm>
            <a:off x="635000" y="25855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5" name="TextBox 14"/>
          <p:cNvSpPr txBox="1"/>
          <p:nvPr/>
        </p:nvSpPr>
        <p:spPr>
          <a:xfrm>
            <a:off x="838200" y="25855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노트북 모델명</a:t>
            </a:r>
          </a:p>
        </p:txBody>
      </p:sp>
      <p:sp>
        <p:nvSpPr>
          <p:cNvPr id="16" name="TextBox 15"/>
          <p:cNvSpPr txBox="1"/>
          <p:nvPr/>
        </p:nvSpPr>
        <p:spPr>
          <a:xfrm>
            <a:off x="635000" y="282473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7" name="TextBox 16"/>
          <p:cNvSpPr txBox="1"/>
          <p:nvPr/>
        </p:nvSpPr>
        <p:spPr>
          <a:xfrm>
            <a:off x="838200" y="282473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사고 일시</a:t>
            </a:r>
          </a:p>
        </p:txBody>
      </p:sp>
      <p:sp>
        <p:nvSpPr>
          <p:cNvPr id="18" name="TextBox 1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19" name="TextBox 1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12 / 34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키보드·포트 등 부품 고장 수리 신청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811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571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HW-04</a:t>
            </a:r>
          </a:p>
        </p:txBody>
      </p:sp>
      <p:sp>
        <p:nvSpPr>
          <p:cNvPr id="10" name="Rectangle 9"/>
          <p:cNvSpPr/>
          <p:nvPr/>
        </p:nvSpPr>
        <p:spPr>
          <a:xfrm>
            <a:off x="1867359"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43559"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72407" y="1168400"/>
            <a:ext cx="990054" cy="292100"/>
          </a:xfrm>
          <a:prstGeom prst="rect">
            <a:avLst/>
          </a:prstGeom>
          <a:solidFill>
            <a:srgbClr val="E3EAF3"/>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8607" y="1219200"/>
            <a:ext cx="837654"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IT 담당자 처리</a:t>
            </a:r>
          </a:p>
        </p:txBody>
      </p:sp>
      <p:sp>
        <p:nvSpPr>
          <p:cNvPr id="14" name="Rectangle 13"/>
          <p:cNvSpPr/>
          <p:nvPr/>
        </p:nvSpPr>
        <p:spPr>
          <a:xfrm>
            <a:off x="3562462"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8662"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7510"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3710"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43591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1211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기간</a:t>
            </a:r>
          </a:p>
        </p:txBody>
      </p:sp>
      <p:sp>
        <p:nvSpPr>
          <p:cNvPr id="20" name="Rectangle 19"/>
          <p:cNvSpPr/>
          <p:nvPr/>
        </p:nvSpPr>
        <p:spPr>
          <a:xfrm>
            <a:off x="6140958" y="1168400"/>
            <a:ext cx="1077305"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158" y="1219200"/>
            <a:ext cx="92490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접수 후 1영업일</a:t>
            </a:r>
          </a:p>
        </p:txBody>
      </p:sp>
      <p:sp>
        <p:nvSpPr>
          <p:cNvPr id="22" name="Rectangle 21"/>
          <p:cNvSpPr/>
          <p:nvPr/>
        </p:nvSpPr>
        <p:spPr>
          <a:xfrm>
            <a:off x="7218263"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94463"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4" name="Rectangle 23"/>
          <p:cNvSpPr/>
          <p:nvPr/>
        </p:nvSpPr>
        <p:spPr>
          <a:xfrm>
            <a:off x="792387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0007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FAQ-017</a:t>
            </a:r>
          </a:p>
        </p:txBody>
      </p:sp>
      <p:sp>
        <p:nvSpPr>
          <p:cNvPr id="26" name="TextBox 25"/>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이럴 때 신청합니다</a:t>
            </a:r>
          </a:p>
        </p:txBody>
      </p:sp>
      <p:sp>
        <p:nvSpPr>
          <p:cNvPr id="27" name="TextBox 26"/>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8" name="TextBox 27"/>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노트북 키보드 몇 개 키가 눌리지 않는다.</a:t>
            </a:r>
          </a:p>
        </p:txBody>
      </p:sp>
      <p:sp>
        <p:nvSpPr>
          <p:cNvPr id="29" name="TextBox 28"/>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0" name="TextBox 29"/>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사무실 정전 이후 노트북 USB 포트에 꽂은 장비가 자꾸 끊긴다.</a:t>
            </a:r>
          </a:p>
        </p:txBody>
      </p:sp>
      <p:sp>
        <p:nvSpPr>
          <p:cNvPr id="31" name="TextBox 30"/>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대상</a:t>
            </a:r>
          </a:p>
        </p:txBody>
      </p:sp>
      <p:sp>
        <p:nvSpPr>
          <p:cNvPr id="32" name="TextBox 31"/>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3" name="TextBox 32"/>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장비를 쓰는 본인</a:t>
            </a:r>
          </a:p>
        </p:txBody>
      </p:sp>
      <p:sp>
        <p:nvSpPr>
          <p:cNvPr id="34" name="TextBox 33"/>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준비할 정보</a:t>
            </a:r>
          </a:p>
        </p:txBody>
      </p:sp>
      <p:sp>
        <p:nvSpPr>
          <p:cNvPr id="35" name="TextBox 34"/>
          <p:cNvSpPr txBox="1"/>
          <p:nvPr/>
        </p:nvSpPr>
        <p:spPr>
          <a:xfrm>
            <a:off x="635000" y="33799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6" name="TextBox 35"/>
          <p:cNvSpPr txBox="1"/>
          <p:nvPr/>
        </p:nvSpPr>
        <p:spPr>
          <a:xfrm>
            <a:off x="838200" y="33799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37" name="TextBox 36"/>
          <p:cNvSpPr txBox="1"/>
          <p:nvPr/>
        </p:nvSpPr>
        <p:spPr>
          <a:xfrm>
            <a:off x="635000" y="36191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8" name="TextBox 37"/>
          <p:cNvSpPr txBox="1"/>
          <p:nvPr/>
        </p:nvSpPr>
        <p:spPr>
          <a:xfrm>
            <a:off x="838200" y="36191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노트북 모델명</a:t>
            </a:r>
          </a:p>
        </p:txBody>
      </p:sp>
      <p:sp>
        <p:nvSpPr>
          <p:cNvPr id="39" name="TextBox 38"/>
          <p:cNvSpPr txBox="1"/>
          <p:nvPr/>
        </p:nvSpPr>
        <p:spPr>
          <a:xfrm>
            <a:off x="635000" y="3858260"/>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40" name="TextBox 39"/>
          <p:cNvSpPr txBox="1"/>
          <p:nvPr/>
        </p:nvSpPr>
        <p:spPr>
          <a:xfrm>
            <a:off x="838200" y="385826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증상 (어느 키·어느 포트)</a:t>
            </a:r>
          </a:p>
        </p:txBody>
      </p:sp>
      <p:sp>
        <p:nvSpPr>
          <p:cNvPr id="41" name="TextBox 40"/>
          <p:cNvSpPr txBox="1"/>
          <p:nvPr/>
        </p:nvSpPr>
        <p:spPr>
          <a:xfrm>
            <a:off x="635000" y="409740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42" name="TextBox 41"/>
          <p:cNvSpPr txBox="1"/>
          <p:nvPr/>
        </p:nvSpPr>
        <p:spPr>
          <a:xfrm>
            <a:off x="838200" y="409740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증상이 시작된 시점</a:t>
            </a:r>
          </a:p>
        </p:txBody>
      </p:sp>
      <p:sp>
        <p:nvSpPr>
          <p:cNvPr id="43" name="TextBox 42"/>
          <p:cNvSpPr txBox="1"/>
          <p:nvPr/>
        </p:nvSpPr>
        <p:spPr>
          <a:xfrm>
            <a:off x="584200" y="438734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방법</a:t>
            </a:r>
          </a:p>
        </p:txBody>
      </p:sp>
      <p:sp>
        <p:nvSpPr>
          <p:cNvPr id="44" name="TextBox 4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45" name="TextBox 4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13 /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키보드·포트 등 부품 고장 수리 신청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7" name="TextBox 6"/>
          <p:cNvSpPr txBox="1"/>
          <p:nvPr/>
        </p:nvSpPr>
        <p:spPr>
          <a:xfrm>
            <a:off x="838200" y="1168400"/>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외장 키보드나 다른 포트로 같은 증상인지 확인합니다.</a:t>
            </a:r>
          </a:p>
        </p:txBody>
      </p:sp>
      <p:sp>
        <p:nvSpPr>
          <p:cNvPr id="8" name="TextBox 7"/>
          <p:cNvSpPr txBox="1"/>
          <p:nvPr/>
        </p:nvSpPr>
        <p:spPr>
          <a:xfrm>
            <a:off x="584200" y="1407541"/>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9" name="TextBox 8"/>
          <p:cNvSpPr txBox="1"/>
          <p:nvPr/>
        </p:nvSpPr>
        <p:spPr>
          <a:xfrm>
            <a:off x="838200" y="1407541"/>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그룹웨어 &gt; IT 요청 &gt; 장비 신청에서 '수리'를 선택하고 증상을 적어</a:t>
            </a:r>
          </a:p>
          <a:p>
            <a:pPr algn="l">
              <a:lnSpc>
                <a:spcPts val="1632"/>
              </a:lnSpc>
              <a:spcBef>
                <a:spcPts val="0"/>
              </a:spcBef>
              <a:spcAft>
                <a:spcPts val="0"/>
              </a:spcAft>
            </a:pPr>
            <a:r>
              <a:rPr sz="1150" b="0">
                <a:solidFill>
                  <a:srgbClr val="1D2433"/>
                </a:solidFill>
                <a:latin typeface="Malgun Gothic"/>
                <a:ea typeface="Malgun Gothic"/>
                <a:cs typeface="Malgun Gothic"/>
              </a:rPr>
              <a:t>제출합니다.</a:t>
            </a:r>
          </a:p>
        </p:txBody>
      </p:sp>
      <p:sp>
        <p:nvSpPr>
          <p:cNvPr id="10" name="TextBox 9"/>
          <p:cNvSpPr txBox="1"/>
          <p:nvPr/>
        </p:nvSpPr>
        <p:spPr>
          <a:xfrm>
            <a:off x="584200" y="185407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11" name="TextBox 10"/>
          <p:cNvSpPr txBox="1"/>
          <p:nvPr/>
        </p:nvSpPr>
        <p:spPr>
          <a:xfrm>
            <a:off x="838200" y="1854073"/>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안내받은 시간에 장비를 맡깁니다.</a:t>
            </a:r>
          </a:p>
        </p:txBody>
      </p:sp>
      <p:sp>
        <p:nvSpPr>
          <p:cNvPr id="12" name="Rectangle 11"/>
          <p:cNvSpPr/>
          <p:nvPr/>
        </p:nvSpPr>
        <p:spPr>
          <a:xfrm>
            <a:off x="5883656" y="1168400"/>
            <a:ext cx="5724144" cy="248046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T-HW-002_02.png"/>
          <p:cNvPicPr>
            <a:picLocks noChangeAspect="1"/>
          </p:cNvPicPr>
          <p:nvPr/>
        </p:nvPicPr>
        <p:blipFill>
          <a:blip r:embed="rId2"/>
          <a:stretch>
            <a:fillRect/>
          </a:stretch>
        </p:blipFill>
        <p:spPr>
          <a:xfrm>
            <a:off x="5883656" y="1168400"/>
            <a:ext cx="5724144" cy="2480462"/>
          </a:xfrm>
          <a:prstGeom prst="rect">
            <a:avLst/>
          </a:prstGeom>
        </p:spPr>
      </p:pic>
      <p:sp>
        <p:nvSpPr>
          <p:cNvPr id="14" name="TextBox 13"/>
          <p:cNvSpPr txBox="1"/>
          <p:nvPr/>
        </p:nvSpPr>
        <p:spPr>
          <a:xfrm>
            <a:off x="5883656" y="3699662"/>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3.2-1. 장비 신청 양식. '수리' 선택과 증상을 적는 위치를 표시한다.</a:t>
            </a:r>
          </a:p>
        </p:txBody>
      </p:sp>
      <p:sp>
        <p:nvSpPr>
          <p:cNvPr id="15" name="TextBox 14"/>
          <p:cNvSpPr txBox="1"/>
          <p:nvPr/>
        </p:nvSpPr>
        <p:spPr>
          <a:xfrm>
            <a:off x="584200" y="400700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승인 절차</a:t>
            </a:r>
          </a:p>
        </p:txBody>
      </p:sp>
      <p:sp>
        <p:nvSpPr>
          <p:cNvPr id="16" name="TextBox 15"/>
          <p:cNvSpPr txBox="1"/>
          <p:nvPr/>
        </p:nvSpPr>
        <p:spPr>
          <a:xfrm>
            <a:off x="635000" y="433148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17" name="TextBox 16"/>
          <p:cNvSpPr txBox="1"/>
          <p:nvPr/>
        </p:nvSpPr>
        <p:spPr>
          <a:xfrm>
            <a:off x="838200" y="43314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승인 없음 (접수 후 엔드포인트지원팀 처리)</a:t>
            </a:r>
          </a:p>
        </p:txBody>
      </p:sp>
      <p:sp>
        <p:nvSpPr>
          <p:cNvPr id="18" name="TextBox 17"/>
          <p:cNvSpPr txBox="1"/>
          <p:nvPr/>
        </p:nvSpPr>
        <p:spPr>
          <a:xfrm>
            <a:off x="584200" y="462142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기간과 결과 확인</a:t>
            </a:r>
          </a:p>
        </p:txBody>
      </p:sp>
      <p:sp>
        <p:nvSpPr>
          <p:cNvPr id="19" name="TextBox 18"/>
          <p:cNvSpPr txBox="1"/>
          <p:nvPr/>
        </p:nvSpPr>
        <p:spPr>
          <a:xfrm>
            <a:off x="584200" y="4945913"/>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접수 후 1영업일 안에 점검하고, 무상 보증 기간이면 제조사 보증 수리로 접수한다. 메인보드 수리처럼 오래 걸리면 대여 노트북을 지급한다.</a:t>
            </a:r>
          </a:p>
        </p:txBody>
      </p:sp>
      <p:sp>
        <p:nvSpPr>
          <p:cNvPr id="20" name="TextBox 1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21" name="TextBox 2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14 / 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키보드·포트 등 부품 고장 수리 신청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반려되는 경우</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사용자 과실로 인한 파손은 3.1 절차로 처리된다.</a:t>
            </a:r>
          </a:p>
        </p:txBody>
      </p:sp>
      <p:sp>
        <p:nvSpPr>
          <p:cNvPr id="9" name="TextBox 8"/>
          <p:cNvSpPr txBox="1"/>
          <p:nvPr/>
        </p:nvSpPr>
        <p:spPr>
          <a:xfrm>
            <a:off x="584200" y="17828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 시 알려 주실 정보</a:t>
            </a:r>
          </a:p>
        </p:txBody>
      </p:sp>
      <p:sp>
        <p:nvSpPr>
          <p:cNvPr id="10" name="TextBox 9"/>
          <p:cNvSpPr txBox="1"/>
          <p:nvPr/>
        </p:nvSpPr>
        <p:spPr>
          <a:xfrm>
            <a:off x="635000" y="21073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1" name="TextBox 10"/>
          <p:cNvSpPr txBox="1"/>
          <p:nvPr/>
        </p:nvSpPr>
        <p:spPr>
          <a:xfrm>
            <a:off x="838200" y="21073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신청 번호</a:t>
            </a:r>
          </a:p>
        </p:txBody>
      </p:sp>
      <p:sp>
        <p:nvSpPr>
          <p:cNvPr id="12" name="TextBox 11"/>
          <p:cNvSpPr txBox="1"/>
          <p:nvPr/>
        </p:nvSpPr>
        <p:spPr>
          <a:xfrm>
            <a:off x="635000" y="23464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23464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14" name="TextBox 13"/>
          <p:cNvSpPr txBox="1"/>
          <p:nvPr/>
        </p:nvSpPr>
        <p:spPr>
          <a:xfrm>
            <a:off x="635000" y="25855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5" name="TextBox 14"/>
          <p:cNvSpPr txBox="1"/>
          <p:nvPr/>
        </p:nvSpPr>
        <p:spPr>
          <a:xfrm>
            <a:off x="838200" y="25855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노트북 모델명</a:t>
            </a:r>
          </a:p>
        </p:txBody>
      </p:sp>
      <p:sp>
        <p:nvSpPr>
          <p:cNvPr id="16" name="TextBox 15"/>
          <p:cNvSpPr txBox="1"/>
          <p:nvPr/>
        </p:nvSpPr>
        <p:spPr>
          <a:xfrm>
            <a:off x="635000" y="282473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7" name="TextBox 16"/>
          <p:cNvSpPr txBox="1"/>
          <p:nvPr/>
        </p:nvSpPr>
        <p:spPr>
          <a:xfrm>
            <a:off x="838200" y="282473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증상</a:t>
            </a:r>
          </a:p>
        </p:txBody>
      </p:sp>
      <p:sp>
        <p:nvSpPr>
          <p:cNvPr id="18" name="TextBox 1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19" name="TextBox 1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15 /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교체 주기(3년)가 지난 노트북 교체 신청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811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571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HW-05</a:t>
            </a:r>
          </a:p>
        </p:txBody>
      </p:sp>
      <p:sp>
        <p:nvSpPr>
          <p:cNvPr id="10" name="Rectangle 9"/>
          <p:cNvSpPr/>
          <p:nvPr/>
        </p:nvSpPr>
        <p:spPr>
          <a:xfrm>
            <a:off x="1867359"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43559"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72407" y="1168400"/>
            <a:ext cx="990054" cy="292100"/>
          </a:xfrm>
          <a:prstGeom prst="rect">
            <a:avLst/>
          </a:prstGeom>
          <a:solidFill>
            <a:srgbClr val="E3EAF3"/>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8607" y="1219200"/>
            <a:ext cx="837654"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IT 담당자 처리</a:t>
            </a:r>
          </a:p>
        </p:txBody>
      </p:sp>
      <p:sp>
        <p:nvSpPr>
          <p:cNvPr id="14" name="Rectangle 13"/>
          <p:cNvSpPr/>
          <p:nvPr/>
        </p:nvSpPr>
        <p:spPr>
          <a:xfrm>
            <a:off x="3562462"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8662"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7510"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3710"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43591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1211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기간</a:t>
            </a:r>
          </a:p>
        </p:txBody>
      </p:sp>
      <p:sp>
        <p:nvSpPr>
          <p:cNvPr id="20" name="Rectangle 19"/>
          <p:cNvSpPr/>
          <p:nvPr/>
        </p:nvSpPr>
        <p:spPr>
          <a:xfrm>
            <a:off x="6140958" y="1168400"/>
            <a:ext cx="1077305"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158" y="1219200"/>
            <a:ext cx="92490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접수 후 1영업일</a:t>
            </a:r>
          </a:p>
        </p:txBody>
      </p:sp>
      <p:sp>
        <p:nvSpPr>
          <p:cNvPr id="22" name="Rectangle 21"/>
          <p:cNvSpPr/>
          <p:nvPr/>
        </p:nvSpPr>
        <p:spPr>
          <a:xfrm>
            <a:off x="7218263"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94463"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4" name="Rectangle 23"/>
          <p:cNvSpPr/>
          <p:nvPr/>
        </p:nvSpPr>
        <p:spPr>
          <a:xfrm>
            <a:off x="792387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0007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FAQ-018</a:t>
            </a:r>
          </a:p>
        </p:txBody>
      </p:sp>
      <p:sp>
        <p:nvSpPr>
          <p:cNvPr id="26" name="TextBox 25"/>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이럴 때 신청합니다</a:t>
            </a:r>
          </a:p>
        </p:txBody>
      </p:sp>
      <p:sp>
        <p:nvSpPr>
          <p:cNvPr id="27" name="TextBox 26"/>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8" name="TextBox 27"/>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노트북을 받은 지 3년이 지나 교체하려 한다.</a:t>
            </a:r>
          </a:p>
        </p:txBody>
      </p:sp>
      <p:sp>
        <p:nvSpPr>
          <p:cNvPr id="29" name="TextBox 28"/>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대상</a:t>
            </a:r>
          </a:p>
        </p:txBody>
      </p:sp>
      <p:sp>
        <p:nvSpPr>
          <p:cNvPr id="30" name="TextBox 29"/>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1" name="TextBox 30"/>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지급일로부터 3년이 지난 장비 사용자</a:t>
            </a:r>
          </a:p>
        </p:txBody>
      </p:sp>
      <p:sp>
        <p:nvSpPr>
          <p:cNvPr id="32" name="TextBox 31"/>
          <p:cNvSpPr txBox="1"/>
          <p:nvPr/>
        </p:nvSpPr>
        <p:spPr>
          <a:xfrm>
            <a:off x="584200" y="281635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준비할 정보</a:t>
            </a:r>
          </a:p>
        </p:txBody>
      </p:sp>
      <p:sp>
        <p:nvSpPr>
          <p:cNvPr id="33" name="TextBox 32"/>
          <p:cNvSpPr txBox="1"/>
          <p:nvPr/>
        </p:nvSpPr>
        <p:spPr>
          <a:xfrm>
            <a:off x="635000" y="314083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4" name="TextBox 33"/>
          <p:cNvSpPr txBox="1"/>
          <p:nvPr/>
        </p:nvSpPr>
        <p:spPr>
          <a:xfrm>
            <a:off x="838200" y="314083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35" name="TextBox 34"/>
          <p:cNvSpPr txBox="1"/>
          <p:nvPr/>
        </p:nvSpPr>
        <p:spPr>
          <a:xfrm>
            <a:off x="635000" y="33799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6" name="TextBox 35"/>
          <p:cNvSpPr txBox="1"/>
          <p:nvPr/>
        </p:nvSpPr>
        <p:spPr>
          <a:xfrm>
            <a:off x="838200" y="33799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현재 노트북 지급일 (모르면 헬프데스크에서 교체 예정일 확인)</a:t>
            </a:r>
          </a:p>
        </p:txBody>
      </p:sp>
      <p:sp>
        <p:nvSpPr>
          <p:cNvPr id="37" name="TextBox 36"/>
          <p:cNvSpPr txBox="1"/>
          <p:nvPr/>
        </p:nvSpPr>
        <p:spPr>
          <a:xfrm>
            <a:off x="635000" y="36191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8" name="TextBox 37"/>
          <p:cNvSpPr txBox="1"/>
          <p:nvPr/>
        </p:nvSpPr>
        <p:spPr>
          <a:xfrm>
            <a:off x="838200" y="36191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희망 OS (개발 직군)</a:t>
            </a:r>
          </a:p>
        </p:txBody>
      </p:sp>
      <p:sp>
        <p:nvSpPr>
          <p:cNvPr id="39" name="TextBox 38"/>
          <p:cNvSpPr txBox="1"/>
          <p:nvPr/>
        </p:nvSpPr>
        <p:spPr>
          <a:xfrm>
            <a:off x="584200" y="390906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방법</a:t>
            </a:r>
          </a:p>
        </p:txBody>
      </p:sp>
      <p:sp>
        <p:nvSpPr>
          <p:cNvPr id="40" name="TextBox 39"/>
          <p:cNvSpPr txBox="1"/>
          <p:nvPr/>
        </p:nvSpPr>
        <p:spPr>
          <a:xfrm>
            <a:off x="584200" y="423354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41" name="TextBox 40"/>
          <p:cNvSpPr txBox="1"/>
          <p:nvPr/>
        </p:nvSpPr>
        <p:spPr>
          <a:xfrm>
            <a:off x="838200" y="4233545"/>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헬프데스크에 내 장비의 교체 예정일을 확인합니다.</a:t>
            </a:r>
          </a:p>
        </p:txBody>
      </p:sp>
      <p:sp>
        <p:nvSpPr>
          <p:cNvPr id="42" name="TextBox 41"/>
          <p:cNvSpPr txBox="1"/>
          <p:nvPr/>
        </p:nvSpPr>
        <p:spPr>
          <a:xfrm>
            <a:off x="584200" y="4472686"/>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43" name="TextBox 42"/>
          <p:cNvSpPr txBox="1"/>
          <p:nvPr/>
        </p:nvSpPr>
        <p:spPr>
          <a:xfrm>
            <a:off x="838200" y="4472686"/>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그룹웨어 &gt; IT 요청 &gt; 장비 신청에서 '교체'를 선택해 제출합니다.</a:t>
            </a:r>
          </a:p>
        </p:txBody>
      </p:sp>
      <p:sp>
        <p:nvSpPr>
          <p:cNvPr id="44" name="TextBox 43"/>
          <p:cNvSpPr txBox="1"/>
          <p:nvPr/>
        </p:nvSpPr>
        <p:spPr>
          <a:xfrm>
            <a:off x="584200" y="4711827"/>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45" name="TextBox 44"/>
          <p:cNvSpPr txBox="1"/>
          <p:nvPr/>
        </p:nvSpPr>
        <p:spPr>
          <a:xfrm>
            <a:off x="838200" y="4711827"/>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새 장비를 받으면 데이터를 옮기고 기존 장비는 3.7에 따라 반납합니다.</a:t>
            </a:r>
          </a:p>
        </p:txBody>
      </p:sp>
      <p:sp>
        <p:nvSpPr>
          <p:cNvPr id="46" name="Rectangle 45"/>
          <p:cNvSpPr/>
          <p:nvPr/>
        </p:nvSpPr>
        <p:spPr>
          <a:xfrm>
            <a:off x="6599672" y="4233545"/>
            <a:ext cx="4292112" cy="185991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IT-HW-002_03.png"/>
          <p:cNvPicPr>
            <a:picLocks noChangeAspect="1"/>
          </p:cNvPicPr>
          <p:nvPr/>
        </p:nvPicPr>
        <p:blipFill>
          <a:blip r:embed="rId2"/>
          <a:stretch>
            <a:fillRect/>
          </a:stretch>
        </p:blipFill>
        <p:spPr>
          <a:xfrm>
            <a:off x="6599672" y="4233545"/>
            <a:ext cx="4292112" cy="1859915"/>
          </a:xfrm>
          <a:prstGeom prst="rect">
            <a:avLst/>
          </a:prstGeom>
        </p:spPr>
      </p:pic>
      <p:sp>
        <p:nvSpPr>
          <p:cNvPr id="48" name="TextBox 47"/>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3.3-1. 장비 신청 양식. 신청 종류(수리/교체/신규 지급/비품/반납) 선택 위치를 표시한다.</a:t>
            </a:r>
          </a:p>
        </p:txBody>
      </p:sp>
      <p:sp>
        <p:nvSpPr>
          <p:cNvPr id="49" name="TextBox 4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50" name="TextBox 4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16 / 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교체 주기(3년)가 지난 노트북 교체 신청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승인 절차</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승인 없음 (접수 후 엔드포인트지원팀 처리)</a:t>
            </a:r>
          </a:p>
        </p:txBody>
      </p:sp>
      <p:sp>
        <p:nvSpPr>
          <p:cNvPr id="9" name="TextBox 8"/>
          <p:cNvSpPr txBox="1"/>
          <p:nvPr/>
        </p:nvSpPr>
        <p:spPr>
          <a:xfrm>
            <a:off x="584200" y="17828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기간과 결과 확인</a:t>
            </a:r>
          </a:p>
        </p:txBody>
      </p:sp>
      <p:sp>
        <p:nvSpPr>
          <p:cNvPr id="10" name="TextBox 9"/>
          <p:cNvSpPr txBox="1"/>
          <p:nvPr/>
        </p:nvSpPr>
        <p:spPr>
          <a:xfrm>
            <a:off x="584200" y="2107311"/>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접수 후 1영업일 안에 지급 일정이 안내되고, 보안 프로그램까지 설치된 장비를 받는다.</a:t>
            </a:r>
          </a:p>
        </p:txBody>
      </p:sp>
      <p:sp>
        <p:nvSpPr>
          <p:cNvPr id="11" name="TextBox 10"/>
          <p:cNvSpPr txBox="1"/>
          <p:nvPr/>
        </p:nvSpPr>
        <p:spPr>
          <a:xfrm>
            <a:off x="584200" y="240360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반려되는 경우</a:t>
            </a:r>
          </a:p>
        </p:txBody>
      </p:sp>
      <p:sp>
        <p:nvSpPr>
          <p:cNvPr id="12" name="TextBox 11"/>
          <p:cNvSpPr txBox="1"/>
          <p:nvPr/>
        </p:nvSpPr>
        <p:spPr>
          <a:xfrm>
            <a:off x="635000" y="272808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27280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지급일로부터 3년이 지나지 않았으면 교체되지 않는다. 업무상 고사양이 필요하면 3.4로 신청한다.</a:t>
            </a:r>
          </a:p>
        </p:txBody>
      </p:sp>
      <p:sp>
        <p:nvSpPr>
          <p:cNvPr id="14" name="TextBox 13"/>
          <p:cNvSpPr txBox="1"/>
          <p:nvPr/>
        </p:nvSpPr>
        <p:spPr>
          <a:xfrm>
            <a:off x="584200" y="301802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 시 알려 주실 정보</a:t>
            </a:r>
          </a:p>
        </p:txBody>
      </p:sp>
      <p:sp>
        <p:nvSpPr>
          <p:cNvPr id="15" name="TextBox 14"/>
          <p:cNvSpPr txBox="1"/>
          <p:nvPr/>
        </p:nvSpPr>
        <p:spPr>
          <a:xfrm>
            <a:off x="635000" y="334251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6" name="TextBox 15"/>
          <p:cNvSpPr txBox="1"/>
          <p:nvPr/>
        </p:nvSpPr>
        <p:spPr>
          <a:xfrm>
            <a:off x="838200" y="334251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신청 번호</a:t>
            </a:r>
          </a:p>
        </p:txBody>
      </p:sp>
      <p:sp>
        <p:nvSpPr>
          <p:cNvPr id="17" name="TextBox 16"/>
          <p:cNvSpPr txBox="1"/>
          <p:nvPr/>
        </p:nvSpPr>
        <p:spPr>
          <a:xfrm>
            <a:off x="635000" y="358165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8" name="TextBox 17"/>
          <p:cNvSpPr txBox="1"/>
          <p:nvPr/>
        </p:nvSpPr>
        <p:spPr>
          <a:xfrm>
            <a:off x="838200" y="358165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19" name="TextBox 18"/>
          <p:cNvSpPr txBox="1"/>
          <p:nvPr/>
        </p:nvSpPr>
        <p:spPr>
          <a:xfrm>
            <a:off x="635000" y="382079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382079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현재 장비 지급일</a:t>
            </a:r>
          </a:p>
        </p:txBody>
      </p:sp>
      <p:sp>
        <p:nvSpPr>
          <p:cNvPr id="21" name="TextBox 2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22" name="TextBox 2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17 / 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교체 주기 전 고사양 노트북 신청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811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571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HW-05</a:t>
            </a:r>
          </a:p>
        </p:txBody>
      </p:sp>
      <p:sp>
        <p:nvSpPr>
          <p:cNvPr id="10" name="Rectangle 9"/>
          <p:cNvSpPr/>
          <p:nvPr/>
        </p:nvSpPr>
        <p:spPr>
          <a:xfrm>
            <a:off x="1867359"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43559"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72407" y="1168400"/>
            <a:ext cx="1163935" cy="292100"/>
          </a:xfrm>
          <a:prstGeom prst="rect">
            <a:avLst/>
          </a:prstGeom>
          <a:solidFill>
            <a:srgbClr val="FDF3D8"/>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8607" y="1219200"/>
            <a:ext cx="101153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8A5A00"/>
                </a:solidFill>
                <a:latin typeface="Malgun Gothic"/>
                <a:ea typeface="Malgun Gothic"/>
                <a:cs typeface="Malgun Gothic"/>
              </a:rPr>
              <a:t>신청·승인 후 처리</a:t>
            </a:r>
          </a:p>
        </p:txBody>
      </p:sp>
      <p:sp>
        <p:nvSpPr>
          <p:cNvPr id="14" name="Rectangle 13"/>
          <p:cNvSpPr/>
          <p:nvPr/>
        </p:nvSpPr>
        <p:spPr>
          <a:xfrm>
            <a:off x="3736342"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812542"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441391"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17591"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609791"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85991"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기간</a:t>
            </a:r>
          </a:p>
        </p:txBody>
      </p:sp>
      <p:sp>
        <p:nvSpPr>
          <p:cNvPr id="20" name="Rectangle 19"/>
          <p:cNvSpPr/>
          <p:nvPr/>
        </p:nvSpPr>
        <p:spPr>
          <a:xfrm>
            <a:off x="6314839" y="1168400"/>
            <a:ext cx="1077305"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91039" y="1219200"/>
            <a:ext cx="92490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승인 후 1영업일</a:t>
            </a:r>
          </a:p>
        </p:txBody>
      </p:sp>
      <p:sp>
        <p:nvSpPr>
          <p:cNvPr id="22" name="Rectangle 21"/>
          <p:cNvSpPr/>
          <p:nvPr/>
        </p:nvSpPr>
        <p:spPr>
          <a:xfrm>
            <a:off x="739214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6834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4" name="Rectangle 23"/>
          <p:cNvSpPr/>
          <p:nvPr/>
        </p:nvSpPr>
        <p:spPr>
          <a:xfrm>
            <a:off x="8097751"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73951"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FAQ-018</a:t>
            </a:r>
          </a:p>
        </p:txBody>
      </p:sp>
      <p:sp>
        <p:nvSpPr>
          <p:cNvPr id="26" name="TextBox 25"/>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이럴 때 신청합니다</a:t>
            </a:r>
          </a:p>
        </p:txBody>
      </p:sp>
      <p:sp>
        <p:nvSpPr>
          <p:cNvPr id="27" name="TextBox 26"/>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8" name="TextBox 27"/>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AI 모델 분석 등 업무 때문에 더 높은 사양의 노트북이 필요하다.</a:t>
            </a:r>
          </a:p>
        </p:txBody>
      </p:sp>
      <p:sp>
        <p:nvSpPr>
          <p:cNvPr id="29" name="TextBox 28"/>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대상</a:t>
            </a:r>
          </a:p>
        </p:txBody>
      </p:sp>
      <p:sp>
        <p:nvSpPr>
          <p:cNvPr id="30" name="TextBox 29"/>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1" name="TextBox 30"/>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업무상 고사양 장비가 필요한 임직원 (부서장 승인 필요)</a:t>
            </a:r>
          </a:p>
        </p:txBody>
      </p:sp>
      <p:sp>
        <p:nvSpPr>
          <p:cNvPr id="32" name="TextBox 31"/>
          <p:cNvSpPr txBox="1"/>
          <p:nvPr/>
        </p:nvSpPr>
        <p:spPr>
          <a:xfrm>
            <a:off x="584200" y="281635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준비할 정보</a:t>
            </a:r>
          </a:p>
        </p:txBody>
      </p:sp>
      <p:sp>
        <p:nvSpPr>
          <p:cNvPr id="33" name="TextBox 32"/>
          <p:cNvSpPr txBox="1"/>
          <p:nvPr/>
        </p:nvSpPr>
        <p:spPr>
          <a:xfrm>
            <a:off x="635000" y="314083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4" name="TextBox 33"/>
          <p:cNvSpPr txBox="1"/>
          <p:nvPr/>
        </p:nvSpPr>
        <p:spPr>
          <a:xfrm>
            <a:off x="838200" y="314083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35" name="TextBox 34"/>
          <p:cNvSpPr txBox="1"/>
          <p:nvPr/>
        </p:nvSpPr>
        <p:spPr>
          <a:xfrm>
            <a:off x="635000" y="33799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6" name="TextBox 35"/>
          <p:cNvSpPr txBox="1"/>
          <p:nvPr/>
        </p:nvSpPr>
        <p:spPr>
          <a:xfrm>
            <a:off x="838200" y="33799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필요한 사양과 사유</a:t>
            </a:r>
          </a:p>
        </p:txBody>
      </p:sp>
      <p:sp>
        <p:nvSpPr>
          <p:cNvPr id="37" name="TextBox 36"/>
          <p:cNvSpPr txBox="1"/>
          <p:nvPr/>
        </p:nvSpPr>
        <p:spPr>
          <a:xfrm>
            <a:off x="635000" y="36191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8" name="TextBox 37"/>
          <p:cNvSpPr txBox="1"/>
          <p:nvPr/>
        </p:nvSpPr>
        <p:spPr>
          <a:xfrm>
            <a:off x="838200" y="36191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사용하는 프로그램</a:t>
            </a:r>
          </a:p>
        </p:txBody>
      </p:sp>
      <p:sp>
        <p:nvSpPr>
          <p:cNvPr id="39" name="TextBox 38"/>
          <p:cNvSpPr txBox="1"/>
          <p:nvPr/>
        </p:nvSpPr>
        <p:spPr>
          <a:xfrm>
            <a:off x="584200" y="390906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방법</a:t>
            </a:r>
          </a:p>
        </p:txBody>
      </p:sp>
      <p:sp>
        <p:nvSpPr>
          <p:cNvPr id="40" name="TextBox 39"/>
          <p:cNvSpPr txBox="1"/>
          <p:nvPr/>
        </p:nvSpPr>
        <p:spPr>
          <a:xfrm>
            <a:off x="584200" y="423354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41" name="TextBox 40"/>
          <p:cNvSpPr txBox="1"/>
          <p:nvPr/>
        </p:nvSpPr>
        <p:spPr>
          <a:xfrm>
            <a:off x="838200" y="4233545"/>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그룹웨어 &gt; IT 요청 &gt; 장비 신청에서 '교체'를 선택하고 고사양이 필요한</a:t>
            </a:r>
          </a:p>
          <a:p>
            <a:pPr algn="l">
              <a:lnSpc>
                <a:spcPts val="1632"/>
              </a:lnSpc>
              <a:spcBef>
                <a:spcPts val="0"/>
              </a:spcBef>
              <a:spcAft>
                <a:spcPts val="0"/>
              </a:spcAft>
            </a:pPr>
            <a:r>
              <a:rPr sz="1150" b="0">
                <a:solidFill>
                  <a:srgbClr val="1D2433"/>
                </a:solidFill>
                <a:latin typeface="Malgun Gothic"/>
                <a:ea typeface="Malgun Gothic"/>
                <a:cs typeface="Malgun Gothic"/>
              </a:rPr>
              <a:t>사유를 적습니다.</a:t>
            </a:r>
          </a:p>
        </p:txBody>
      </p:sp>
      <p:sp>
        <p:nvSpPr>
          <p:cNvPr id="42" name="TextBox 41"/>
          <p:cNvSpPr txBox="1"/>
          <p:nvPr/>
        </p:nvSpPr>
        <p:spPr>
          <a:xfrm>
            <a:off x="584200" y="4680077"/>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43" name="TextBox 42"/>
          <p:cNvSpPr txBox="1"/>
          <p:nvPr/>
        </p:nvSpPr>
        <p:spPr>
          <a:xfrm>
            <a:off x="838200" y="4680077"/>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제출하면 부서장에게 결재가 올라갑니다.</a:t>
            </a:r>
          </a:p>
        </p:txBody>
      </p:sp>
      <p:sp>
        <p:nvSpPr>
          <p:cNvPr id="44" name="Rectangle 43"/>
          <p:cNvSpPr/>
          <p:nvPr/>
        </p:nvSpPr>
        <p:spPr>
          <a:xfrm>
            <a:off x="6599672" y="4233545"/>
            <a:ext cx="4292112" cy="185991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IT-HW-002_04.png"/>
          <p:cNvPicPr>
            <a:picLocks noChangeAspect="1"/>
          </p:cNvPicPr>
          <p:nvPr/>
        </p:nvPicPr>
        <p:blipFill>
          <a:blip r:embed="rId2"/>
          <a:stretch>
            <a:fillRect/>
          </a:stretch>
        </p:blipFill>
        <p:spPr>
          <a:xfrm>
            <a:off x="6599672" y="4233545"/>
            <a:ext cx="4292112" cy="1859915"/>
          </a:xfrm>
          <a:prstGeom prst="rect">
            <a:avLst/>
          </a:prstGeom>
        </p:spPr>
      </p:pic>
      <p:sp>
        <p:nvSpPr>
          <p:cNvPr id="46" name="TextBox 45"/>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3.4-1. 장비 신청 양식. '교체' 선택과 고사양 사유를 적는 위치, 승인 흐름을 표시한다.</a:t>
            </a:r>
          </a:p>
        </p:txBody>
      </p:sp>
      <p:sp>
        <p:nvSpPr>
          <p:cNvPr id="47" name="TextBox 4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48" name="TextBox 4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18 / 34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교체 주기 전 고사양 노트북 신청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승인 절차</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부서장 승인</a:t>
            </a:r>
          </a:p>
        </p:txBody>
      </p:sp>
      <p:sp>
        <p:nvSpPr>
          <p:cNvPr id="9" name="TextBox 8"/>
          <p:cNvSpPr txBox="1"/>
          <p:nvPr/>
        </p:nvSpPr>
        <p:spPr>
          <a:xfrm>
            <a:off x="635000" y="17320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10" name="TextBox 9"/>
          <p:cNvSpPr txBox="1"/>
          <p:nvPr/>
        </p:nvSpPr>
        <p:spPr>
          <a:xfrm>
            <a:off x="838200" y="17320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엔드포인트지원팀 재고 확인 후 지급</a:t>
            </a:r>
          </a:p>
        </p:txBody>
      </p:sp>
      <p:sp>
        <p:nvSpPr>
          <p:cNvPr id="11" name="TextBox 10"/>
          <p:cNvSpPr txBox="1"/>
          <p:nvPr/>
        </p:nvSpPr>
        <p:spPr>
          <a:xfrm>
            <a:off x="584200" y="20219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기간과 결과 확인</a:t>
            </a:r>
          </a:p>
        </p:txBody>
      </p:sp>
      <p:sp>
        <p:nvSpPr>
          <p:cNvPr id="12" name="TextBox 11"/>
          <p:cNvSpPr txBox="1"/>
          <p:nvPr/>
        </p:nvSpPr>
        <p:spPr>
          <a:xfrm>
            <a:off x="584200" y="2346452"/>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부서장 승인 후 1영업일 안에 지급 가능 여부와 일정이 안내된다.</a:t>
            </a:r>
          </a:p>
        </p:txBody>
      </p:sp>
      <p:sp>
        <p:nvSpPr>
          <p:cNvPr id="13" name="TextBox 12"/>
          <p:cNvSpPr txBox="1"/>
          <p:nvPr/>
        </p:nvSpPr>
        <p:spPr>
          <a:xfrm>
            <a:off x="584200" y="264274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반려되는 경우</a:t>
            </a:r>
          </a:p>
        </p:txBody>
      </p:sp>
      <p:sp>
        <p:nvSpPr>
          <p:cNvPr id="14" name="TextBox 13"/>
          <p:cNvSpPr txBox="1"/>
          <p:nvPr/>
        </p:nvSpPr>
        <p:spPr>
          <a:xfrm>
            <a:off x="635000" y="296722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5" name="TextBox 14"/>
          <p:cNvSpPr txBox="1"/>
          <p:nvPr/>
        </p:nvSpPr>
        <p:spPr>
          <a:xfrm>
            <a:off x="838200" y="296722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업무상 필요가 확인되지 않으면 반려된다. 교체 주기가 될 때까지 기존 장비를 쓴다.</a:t>
            </a:r>
          </a:p>
        </p:txBody>
      </p:sp>
      <p:sp>
        <p:nvSpPr>
          <p:cNvPr id="16" name="TextBox 15"/>
          <p:cNvSpPr txBox="1"/>
          <p:nvPr/>
        </p:nvSpPr>
        <p:spPr>
          <a:xfrm>
            <a:off x="584200" y="3257169"/>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 시 알려 주실 정보</a:t>
            </a:r>
          </a:p>
        </p:txBody>
      </p:sp>
      <p:sp>
        <p:nvSpPr>
          <p:cNvPr id="17" name="TextBox 16"/>
          <p:cNvSpPr txBox="1"/>
          <p:nvPr/>
        </p:nvSpPr>
        <p:spPr>
          <a:xfrm>
            <a:off x="635000" y="358165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8" name="TextBox 17"/>
          <p:cNvSpPr txBox="1"/>
          <p:nvPr/>
        </p:nvSpPr>
        <p:spPr>
          <a:xfrm>
            <a:off x="838200" y="358165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신청 번호</a:t>
            </a:r>
          </a:p>
        </p:txBody>
      </p:sp>
      <p:sp>
        <p:nvSpPr>
          <p:cNvPr id="19" name="TextBox 18"/>
          <p:cNvSpPr txBox="1"/>
          <p:nvPr/>
        </p:nvSpPr>
        <p:spPr>
          <a:xfrm>
            <a:off x="635000" y="382079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382079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21" name="TextBox 20"/>
          <p:cNvSpPr txBox="1"/>
          <p:nvPr/>
        </p:nvSpPr>
        <p:spPr>
          <a:xfrm>
            <a:off x="635000" y="405993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2" name="TextBox 21"/>
          <p:cNvSpPr txBox="1"/>
          <p:nvPr/>
        </p:nvSpPr>
        <p:spPr>
          <a:xfrm>
            <a:off x="838200" y="405993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필요한 사양</a:t>
            </a:r>
          </a:p>
        </p:txBody>
      </p:sp>
      <p:sp>
        <p:nvSpPr>
          <p:cNvPr id="23" name="TextBox 22"/>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24" name="TextBox 23"/>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19 / 34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신규 입사자 PC 준비 요청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811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571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HW-05</a:t>
            </a:r>
          </a:p>
        </p:txBody>
      </p:sp>
      <p:sp>
        <p:nvSpPr>
          <p:cNvPr id="10" name="Rectangle 9"/>
          <p:cNvSpPr/>
          <p:nvPr/>
        </p:nvSpPr>
        <p:spPr>
          <a:xfrm>
            <a:off x="1867359"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43559"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72407" y="1168400"/>
            <a:ext cx="990054" cy="292100"/>
          </a:xfrm>
          <a:prstGeom prst="rect">
            <a:avLst/>
          </a:prstGeom>
          <a:solidFill>
            <a:srgbClr val="E3EAF3"/>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8607" y="1219200"/>
            <a:ext cx="837654"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IT 담당자 처리</a:t>
            </a:r>
          </a:p>
        </p:txBody>
      </p:sp>
      <p:sp>
        <p:nvSpPr>
          <p:cNvPr id="14" name="Rectangle 13"/>
          <p:cNvSpPr/>
          <p:nvPr/>
        </p:nvSpPr>
        <p:spPr>
          <a:xfrm>
            <a:off x="3562462"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8662"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7510"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3710"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43591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1211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기간</a:t>
            </a:r>
          </a:p>
        </p:txBody>
      </p:sp>
      <p:sp>
        <p:nvSpPr>
          <p:cNvPr id="20" name="Rectangle 19"/>
          <p:cNvSpPr/>
          <p:nvPr/>
        </p:nvSpPr>
        <p:spPr>
          <a:xfrm>
            <a:off x="6140958" y="1168400"/>
            <a:ext cx="1077305"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158" y="1219200"/>
            <a:ext cx="92490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접수 후 1영업일</a:t>
            </a:r>
          </a:p>
        </p:txBody>
      </p:sp>
      <p:sp>
        <p:nvSpPr>
          <p:cNvPr id="22" name="Rectangle 21"/>
          <p:cNvSpPr/>
          <p:nvPr/>
        </p:nvSpPr>
        <p:spPr>
          <a:xfrm>
            <a:off x="7218263"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94463"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4" name="Rectangle 23"/>
          <p:cNvSpPr/>
          <p:nvPr/>
        </p:nvSpPr>
        <p:spPr>
          <a:xfrm>
            <a:off x="792387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0007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FAQ-018</a:t>
            </a:r>
          </a:p>
        </p:txBody>
      </p:sp>
      <p:sp>
        <p:nvSpPr>
          <p:cNvPr id="26" name="TextBox 25"/>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이럴 때 신청합니다</a:t>
            </a:r>
          </a:p>
        </p:txBody>
      </p:sp>
      <p:sp>
        <p:nvSpPr>
          <p:cNvPr id="27" name="TextBox 26"/>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8" name="TextBox 27"/>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다음 주 입사자가 쓸 PC를 준비해야 한다.</a:t>
            </a:r>
          </a:p>
        </p:txBody>
      </p:sp>
      <p:sp>
        <p:nvSpPr>
          <p:cNvPr id="29" name="TextBox 28"/>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대상</a:t>
            </a:r>
          </a:p>
        </p:txBody>
      </p:sp>
      <p:sp>
        <p:nvSpPr>
          <p:cNvPr id="30" name="TextBox 29"/>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1" name="TextBox 30"/>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입사자의 소속 팀장 또는 팀 담당자</a:t>
            </a:r>
          </a:p>
        </p:txBody>
      </p:sp>
      <p:sp>
        <p:nvSpPr>
          <p:cNvPr id="32" name="TextBox 31"/>
          <p:cNvSpPr txBox="1"/>
          <p:nvPr/>
        </p:nvSpPr>
        <p:spPr>
          <a:xfrm>
            <a:off x="584200" y="281635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준비할 정보</a:t>
            </a:r>
          </a:p>
        </p:txBody>
      </p:sp>
      <p:sp>
        <p:nvSpPr>
          <p:cNvPr id="33" name="TextBox 32"/>
          <p:cNvSpPr txBox="1"/>
          <p:nvPr/>
        </p:nvSpPr>
        <p:spPr>
          <a:xfrm>
            <a:off x="635000" y="314083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4" name="TextBox 33"/>
          <p:cNvSpPr txBox="1"/>
          <p:nvPr/>
        </p:nvSpPr>
        <p:spPr>
          <a:xfrm>
            <a:off x="838200" y="314083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입사자 이름과 입사일</a:t>
            </a:r>
          </a:p>
        </p:txBody>
      </p:sp>
      <p:sp>
        <p:nvSpPr>
          <p:cNvPr id="35" name="TextBox 34"/>
          <p:cNvSpPr txBox="1"/>
          <p:nvPr/>
        </p:nvSpPr>
        <p:spPr>
          <a:xfrm>
            <a:off x="635000" y="33799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6" name="TextBox 35"/>
          <p:cNvSpPr txBox="1"/>
          <p:nvPr/>
        </p:nvSpPr>
        <p:spPr>
          <a:xfrm>
            <a:off x="838200" y="33799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인원 수</a:t>
            </a:r>
          </a:p>
        </p:txBody>
      </p:sp>
      <p:sp>
        <p:nvSpPr>
          <p:cNvPr id="37" name="TextBox 36"/>
          <p:cNvSpPr txBox="1"/>
          <p:nvPr/>
        </p:nvSpPr>
        <p:spPr>
          <a:xfrm>
            <a:off x="635000" y="36191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8" name="TextBox 37"/>
          <p:cNvSpPr txBox="1"/>
          <p:nvPr/>
        </p:nvSpPr>
        <p:spPr>
          <a:xfrm>
            <a:off x="838200" y="36191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직군 (개발 직군이면 희망 OS)</a:t>
            </a:r>
          </a:p>
        </p:txBody>
      </p:sp>
      <p:sp>
        <p:nvSpPr>
          <p:cNvPr id="39" name="TextBox 38"/>
          <p:cNvSpPr txBox="1"/>
          <p:nvPr/>
        </p:nvSpPr>
        <p:spPr>
          <a:xfrm>
            <a:off x="584200" y="390906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방법</a:t>
            </a:r>
          </a:p>
        </p:txBody>
      </p:sp>
      <p:sp>
        <p:nvSpPr>
          <p:cNvPr id="40" name="TextBox 39"/>
          <p:cNvSpPr txBox="1"/>
          <p:nvPr/>
        </p:nvSpPr>
        <p:spPr>
          <a:xfrm>
            <a:off x="584200" y="423354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41" name="TextBox 40"/>
          <p:cNvSpPr txBox="1"/>
          <p:nvPr/>
        </p:nvSpPr>
        <p:spPr>
          <a:xfrm>
            <a:off x="838200" y="4233545"/>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그룹웨어 &gt; IT 요청 &gt; 장비 신청에서 '신규 지급'을 선택합니다.</a:t>
            </a:r>
          </a:p>
        </p:txBody>
      </p:sp>
      <p:sp>
        <p:nvSpPr>
          <p:cNvPr id="42" name="TextBox 41"/>
          <p:cNvSpPr txBox="1"/>
          <p:nvPr/>
        </p:nvSpPr>
        <p:spPr>
          <a:xfrm>
            <a:off x="584200" y="4472686"/>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43" name="TextBox 42"/>
          <p:cNvSpPr txBox="1"/>
          <p:nvPr/>
        </p:nvSpPr>
        <p:spPr>
          <a:xfrm>
            <a:off x="838200" y="4472686"/>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입사자 정보와 입사일을 적어 제출합니다.</a:t>
            </a:r>
          </a:p>
        </p:txBody>
      </p:sp>
      <p:sp>
        <p:nvSpPr>
          <p:cNvPr id="44" name="TextBox 43"/>
          <p:cNvSpPr txBox="1"/>
          <p:nvPr/>
        </p:nvSpPr>
        <p:spPr>
          <a:xfrm>
            <a:off x="584200" y="4711827"/>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45" name="TextBox 44"/>
          <p:cNvSpPr txBox="1"/>
          <p:nvPr/>
        </p:nvSpPr>
        <p:spPr>
          <a:xfrm>
            <a:off x="838200" y="4711827"/>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입사일에 세팅이 끝난 PC를 받습니다.</a:t>
            </a:r>
          </a:p>
        </p:txBody>
      </p:sp>
      <p:sp>
        <p:nvSpPr>
          <p:cNvPr id="46" name="Rectangle 45"/>
          <p:cNvSpPr/>
          <p:nvPr/>
        </p:nvSpPr>
        <p:spPr>
          <a:xfrm>
            <a:off x="6599672" y="4233545"/>
            <a:ext cx="4292112" cy="185991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IT-HW-002_05.png"/>
          <p:cNvPicPr>
            <a:picLocks noChangeAspect="1"/>
          </p:cNvPicPr>
          <p:nvPr/>
        </p:nvPicPr>
        <p:blipFill>
          <a:blip r:embed="rId2"/>
          <a:stretch>
            <a:fillRect/>
          </a:stretch>
        </p:blipFill>
        <p:spPr>
          <a:xfrm>
            <a:off x="6599672" y="4233545"/>
            <a:ext cx="4292112" cy="1859915"/>
          </a:xfrm>
          <a:prstGeom prst="rect">
            <a:avLst/>
          </a:prstGeom>
        </p:spPr>
      </p:pic>
      <p:sp>
        <p:nvSpPr>
          <p:cNvPr id="48" name="TextBox 47"/>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3.5-1. 장비 신청 양식. '신규 지급' 선택과 입사자 정보를 적는 위치를 표시한다.</a:t>
            </a:r>
          </a:p>
        </p:txBody>
      </p:sp>
      <p:sp>
        <p:nvSpPr>
          <p:cNvPr id="49" name="TextBox 4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50" name="TextBox 4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20 / 34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신규 입사자 PC 준비 요청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승인 절차</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승인 없음 (접수 후 엔드포인트지원팀 처리)</a:t>
            </a:r>
          </a:p>
        </p:txBody>
      </p:sp>
      <p:sp>
        <p:nvSpPr>
          <p:cNvPr id="9" name="TextBox 8"/>
          <p:cNvSpPr txBox="1"/>
          <p:nvPr/>
        </p:nvSpPr>
        <p:spPr>
          <a:xfrm>
            <a:off x="584200" y="17828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기간과 결과 확인</a:t>
            </a:r>
          </a:p>
        </p:txBody>
      </p:sp>
      <p:sp>
        <p:nvSpPr>
          <p:cNvPr id="10" name="TextBox 9"/>
          <p:cNvSpPr txBox="1"/>
          <p:nvPr/>
        </p:nvSpPr>
        <p:spPr>
          <a:xfrm>
            <a:off x="584200" y="2107311"/>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접수 후 1영업일 안에 재고를 확인하고, 보안 프로그램 설치까지 마친 PC를 입사일에 전달한다.</a:t>
            </a:r>
          </a:p>
        </p:txBody>
      </p:sp>
      <p:sp>
        <p:nvSpPr>
          <p:cNvPr id="11" name="TextBox 10"/>
          <p:cNvSpPr txBox="1"/>
          <p:nvPr/>
        </p:nvSpPr>
        <p:spPr>
          <a:xfrm>
            <a:off x="584200" y="240360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반려되는 경우</a:t>
            </a:r>
          </a:p>
        </p:txBody>
      </p:sp>
      <p:sp>
        <p:nvSpPr>
          <p:cNvPr id="12" name="TextBox 11"/>
          <p:cNvSpPr txBox="1"/>
          <p:nvPr/>
        </p:nvSpPr>
        <p:spPr>
          <a:xfrm>
            <a:off x="635000" y="272808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27280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입사일이 정해지지 않았으면 보완 요청을 받는다.</a:t>
            </a:r>
          </a:p>
        </p:txBody>
      </p:sp>
      <p:sp>
        <p:nvSpPr>
          <p:cNvPr id="14" name="TextBox 13"/>
          <p:cNvSpPr txBox="1"/>
          <p:nvPr/>
        </p:nvSpPr>
        <p:spPr>
          <a:xfrm>
            <a:off x="584200" y="301802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 시 알려 주실 정보</a:t>
            </a:r>
          </a:p>
        </p:txBody>
      </p:sp>
      <p:sp>
        <p:nvSpPr>
          <p:cNvPr id="15" name="TextBox 14"/>
          <p:cNvSpPr txBox="1"/>
          <p:nvPr/>
        </p:nvSpPr>
        <p:spPr>
          <a:xfrm>
            <a:off x="635000" y="334251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6" name="TextBox 15"/>
          <p:cNvSpPr txBox="1"/>
          <p:nvPr/>
        </p:nvSpPr>
        <p:spPr>
          <a:xfrm>
            <a:off x="838200" y="334251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신청 번호</a:t>
            </a:r>
          </a:p>
        </p:txBody>
      </p:sp>
      <p:sp>
        <p:nvSpPr>
          <p:cNvPr id="17" name="TextBox 16"/>
          <p:cNvSpPr txBox="1"/>
          <p:nvPr/>
        </p:nvSpPr>
        <p:spPr>
          <a:xfrm>
            <a:off x="635000" y="358165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8" name="TextBox 17"/>
          <p:cNvSpPr txBox="1"/>
          <p:nvPr/>
        </p:nvSpPr>
        <p:spPr>
          <a:xfrm>
            <a:off x="838200" y="358165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입사자 이름</a:t>
            </a:r>
          </a:p>
        </p:txBody>
      </p:sp>
      <p:sp>
        <p:nvSpPr>
          <p:cNvPr id="19" name="TextBox 18"/>
          <p:cNvSpPr txBox="1"/>
          <p:nvPr/>
        </p:nvSpPr>
        <p:spPr>
          <a:xfrm>
            <a:off x="635000" y="382079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382079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입사일</a:t>
            </a:r>
          </a:p>
        </p:txBody>
      </p:sp>
      <p:sp>
        <p:nvSpPr>
          <p:cNvPr id="21" name="TextBox 2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22" name="TextBox 2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21 / 34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마우스·키보드 등 주변기기 교체 신청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811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571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HW-05</a:t>
            </a:r>
          </a:p>
        </p:txBody>
      </p:sp>
      <p:sp>
        <p:nvSpPr>
          <p:cNvPr id="10" name="Rectangle 9"/>
          <p:cNvSpPr/>
          <p:nvPr/>
        </p:nvSpPr>
        <p:spPr>
          <a:xfrm>
            <a:off x="1867359"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43559"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72407" y="1168400"/>
            <a:ext cx="990054" cy="292100"/>
          </a:xfrm>
          <a:prstGeom prst="rect">
            <a:avLst/>
          </a:prstGeom>
          <a:solidFill>
            <a:srgbClr val="E3EAF3"/>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8607" y="1219200"/>
            <a:ext cx="837654"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IT 담당자 처리</a:t>
            </a:r>
          </a:p>
        </p:txBody>
      </p:sp>
      <p:sp>
        <p:nvSpPr>
          <p:cNvPr id="14" name="Rectangle 13"/>
          <p:cNvSpPr/>
          <p:nvPr/>
        </p:nvSpPr>
        <p:spPr>
          <a:xfrm>
            <a:off x="3562462"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8662"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7510"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3710"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43591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1211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기간</a:t>
            </a:r>
          </a:p>
        </p:txBody>
      </p:sp>
      <p:sp>
        <p:nvSpPr>
          <p:cNvPr id="20" name="Rectangle 19"/>
          <p:cNvSpPr/>
          <p:nvPr/>
        </p:nvSpPr>
        <p:spPr>
          <a:xfrm>
            <a:off x="6140958" y="1168400"/>
            <a:ext cx="1077305"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158" y="1219200"/>
            <a:ext cx="92490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접수 후 1영업일</a:t>
            </a:r>
          </a:p>
        </p:txBody>
      </p:sp>
      <p:sp>
        <p:nvSpPr>
          <p:cNvPr id="22" name="Rectangle 21"/>
          <p:cNvSpPr/>
          <p:nvPr/>
        </p:nvSpPr>
        <p:spPr>
          <a:xfrm>
            <a:off x="7218263"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94463"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4" name="Rectangle 23"/>
          <p:cNvSpPr/>
          <p:nvPr/>
        </p:nvSpPr>
        <p:spPr>
          <a:xfrm>
            <a:off x="792387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0007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FAQ-018</a:t>
            </a:r>
          </a:p>
        </p:txBody>
      </p:sp>
      <p:sp>
        <p:nvSpPr>
          <p:cNvPr id="26" name="TextBox 25"/>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이럴 때 신청합니다</a:t>
            </a:r>
          </a:p>
        </p:txBody>
      </p:sp>
      <p:sp>
        <p:nvSpPr>
          <p:cNvPr id="27" name="TextBox 26"/>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8" name="TextBox 27"/>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마우스·키보드 등 주변기기가 고장 나 새로 받고 싶다.</a:t>
            </a:r>
          </a:p>
        </p:txBody>
      </p:sp>
      <p:sp>
        <p:nvSpPr>
          <p:cNvPr id="29" name="TextBox 28"/>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대상</a:t>
            </a:r>
          </a:p>
        </p:txBody>
      </p:sp>
      <p:sp>
        <p:nvSpPr>
          <p:cNvPr id="30" name="TextBox 29"/>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1" name="TextBox 30"/>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장비를 쓰는 본인</a:t>
            </a:r>
          </a:p>
        </p:txBody>
      </p:sp>
      <p:sp>
        <p:nvSpPr>
          <p:cNvPr id="32" name="TextBox 31"/>
          <p:cNvSpPr txBox="1"/>
          <p:nvPr/>
        </p:nvSpPr>
        <p:spPr>
          <a:xfrm>
            <a:off x="584200" y="281635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준비할 정보</a:t>
            </a:r>
          </a:p>
        </p:txBody>
      </p:sp>
      <p:sp>
        <p:nvSpPr>
          <p:cNvPr id="33" name="TextBox 32"/>
          <p:cNvSpPr txBox="1"/>
          <p:nvPr/>
        </p:nvSpPr>
        <p:spPr>
          <a:xfrm>
            <a:off x="635000" y="314083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4" name="TextBox 33"/>
          <p:cNvSpPr txBox="1"/>
          <p:nvPr/>
        </p:nvSpPr>
        <p:spPr>
          <a:xfrm>
            <a:off x="838200" y="314083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35" name="TextBox 34"/>
          <p:cNvSpPr txBox="1"/>
          <p:nvPr/>
        </p:nvSpPr>
        <p:spPr>
          <a:xfrm>
            <a:off x="635000" y="33799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6" name="TextBox 35"/>
          <p:cNvSpPr txBox="1"/>
          <p:nvPr/>
        </p:nvSpPr>
        <p:spPr>
          <a:xfrm>
            <a:off x="838200" y="33799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주변기기 종류</a:t>
            </a:r>
          </a:p>
        </p:txBody>
      </p:sp>
      <p:sp>
        <p:nvSpPr>
          <p:cNvPr id="37" name="TextBox 36"/>
          <p:cNvSpPr txBox="1"/>
          <p:nvPr/>
        </p:nvSpPr>
        <p:spPr>
          <a:xfrm>
            <a:off x="635000" y="36191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8" name="TextBox 37"/>
          <p:cNvSpPr txBox="1"/>
          <p:nvPr/>
        </p:nvSpPr>
        <p:spPr>
          <a:xfrm>
            <a:off x="838200" y="36191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고장 증상</a:t>
            </a:r>
          </a:p>
        </p:txBody>
      </p:sp>
      <p:sp>
        <p:nvSpPr>
          <p:cNvPr id="39" name="TextBox 38"/>
          <p:cNvSpPr txBox="1"/>
          <p:nvPr/>
        </p:nvSpPr>
        <p:spPr>
          <a:xfrm>
            <a:off x="584200" y="390906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방법</a:t>
            </a:r>
          </a:p>
        </p:txBody>
      </p:sp>
      <p:sp>
        <p:nvSpPr>
          <p:cNvPr id="40" name="TextBox 39"/>
          <p:cNvSpPr txBox="1"/>
          <p:nvPr/>
        </p:nvSpPr>
        <p:spPr>
          <a:xfrm>
            <a:off x="584200" y="423354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41" name="TextBox 40"/>
          <p:cNvSpPr txBox="1"/>
          <p:nvPr/>
        </p:nvSpPr>
        <p:spPr>
          <a:xfrm>
            <a:off x="838200" y="4233545"/>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그룹웨어 &gt; IT 요청 &gt; 장비 신청에서 '비품'을 선택합니다.</a:t>
            </a:r>
          </a:p>
        </p:txBody>
      </p:sp>
      <p:sp>
        <p:nvSpPr>
          <p:cNvPr id="42" name="TextBox 41"/>
          <p:cNvSpPr txBox="1"/>
          <p:nvPr/>
        </p:nvSpPr>
        <p:spPr>
          <a:xfrm>
            <a:off x="584200" y="4472686"/>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43" name="TextBox 42"/>
          <p:cNvSpPr txBox="1"/>
          <p:nvPr/>
        </p:nvSpPr>
        <p:spPr>
          <a:xfrm>
            <a:off x="838200" y="4472686"/>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주변기기 종류와 증상을 적어 제출합니다.</a:t>
            </a:r>
          </a:p>
        </p:txBody>
      </p:sp>
      <p:sp>
        <p:nvSpPr>
          <p:cNvPr id="44" name="Rectangle 43"/>
          <p:cNvSpPr/>
          <p:nvPr/>
        </p:nvSpPr>
        <p:spPr>
          <a:xfrm>
            <a:off x="6599672" y="4233545"/>
            <a:ext cx="4292112" cy="185991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IT-HW-002_06.png"/>
          <p:cNvPicPr>
            <a:picLocks noChangeAspect="1"/>
          </p:cNvPicPr>
          <p:nvPr/>
        </p:nvPicPr>
        <p:blipFill>
          <a:blip r:embed="rId2"/>
          <a:stretch>
            <a:fillRect/>
          </a:stretch>
        </p:blipFill>
        <p:spPr>
          <a:xfrm>
            <a:off x="6599672" y="4233545"/>
            <a:ext cx="4292112" cy="1859915"/>
          </a:xfrm>
          <a:prstGeom prst="rect">
            <a:avLst/>
          </a:prstGeom>
        </p:spPr>
      </p:pic>
      <p:sp>
        <p:nvSpPr>
          <p:cNvPr id="46" name="TextBox 45"/>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3.6-1. 장비 신청 양식. '비품' 선택과 주변기기 종류·증상을 적는 위치를 표시한다.</a:t>
            </a:r>
          </a:p>
        </p:txBody>
      </p:sp>
      <p:sp>
        <p:nvSpPr>
          <p:cNvPr id="47" name="TextBox 4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48" name="TextBox 4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22 / 34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마우스·키보드 등 주변기기 교체 신청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승인 절차</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승인 없음 (접수 후 엔드포인트지원팀 처리)</a:t>
            </a:r>
          </a:p>
        </p:txBody>
      </p:sp>
      <p:sp>
        <p:nvSpPr>
          <p:cNvPr id="9" name="TextBox 8"/>
          <p:cNvSpPr txBox="1"/>
          <p:nvPr/>
        </p:nvSpPr>
        <p:spPr>
          <a:xfrm>
            <a:off x="584200" y="17828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기간과 결과 확인</a:t>
            </a:r>
          </a:p>
        </p:txBody>
      </p:sp>
      <p:sp>
        <p:nvSpPr>
          <p:cNvPr id="10" name="TextBox 9"/>
          <p:cNvSpPr txBox="1"/>
          <p:nvPr/>
        </p:nvSpPr>
        <p:spPr>
          <a:xfrm>
            <a:off x="584200" y="2107311"/>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접수 후 1영업일 안에 재고에서 지급한다.</a:t>
            </a:r>
          </a:p>
        </p:txBody>
      </p:sp>
      <p:sp>
        <p:nvSpPr>
          <p:cNvPr id="11" name="TextBox 10"/>
          <p:cNvSpPr txBox="1"/>
          <p:nvPr/>
        </p:nvSpPr>
        <p:spPr>
          <a:xfrm>
            <a:off x="584200" y="240360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반려되는 경우</a:t>
            </a:r>
          </a:p>
        </p:txBody>
      </p:sp>
      <p:sp>
        <p:nvSpPr>
          <p:cNvPr id="12" name="TextBox 11"/>
          <p:cNvSpPr txBox="1"/>
          <p:nvPr/>
        </p:nvSpPr>
        <p:spPr>
          <a:xfrm>
            <a:off x="635000" y="272808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27280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개인 구매 주변기기는 대상이 아니다.</a:t>
            </a:r>
          </a:p>
        </p:txBody>
      </p:sp>
      <p:sp>
        <p:nvSpPr>
          <p:cNvPr id="14" name="TextBox 13"/>
          <p:cNvSpPr txBox="1"/>
          <p:nvPr/>
        </p:nvSpPr>
        <p:spPr>
          <a:xfrm>
            <a:off x="584200" y="301802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 시 알려 주실 정보</a:t>
            </a:r>
          </a:p>
        </p:txBody>
      </p:sp>
      <p:sp>
        <p:nvSpPr>
          <p:cNvPr id="15" name="TextBox 14"/>
          <p:cNvSpPr txBox="1"/>
          <p:nvPr/>
        </p:nvSpPr>
        <p:spPr>
          <a:xfrm>
            <a:off x="635000" y="334251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6" name="TextBox 15"/>
          <p:cNvSpPr txBox="1"/>
          <p:nvPr/>
        </p:nvSpPr>
        <p:spPr>
          <a:xfrm>
            <a:off x="838200" y="334251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신청 번호</a:t>
            </a:r>
          </a:p>
        </p:txBody>
      </p:sp>
      <p:sp>
        <p:nvSpPr>
          <p:cNvPr id="17" name="TextBox 16"/>
          <p:cNvSpPr txBox="1"/>
          <p:nvPr/>
        </p:nvSpPr>
        <p:spPr>
          <a:xfrm>
            <a:off x="635000" y="358165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8" name="TextBox 17"/>
          <p:cNvSpPr txBox="1"/>
          <p:nvPr/>
        </p:nvSpPr>
        <p:spPr>
          <a:xfrm>
            <a:off x="838200" y="358165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19" name="TextBox 18"/>
          <p:cNvSpPr txBox="1"/>
          <p:nvPr/>
        </p:nvSpPr>
        <p:spPr>
          <a:xfrm>
            <a:off x="635000" y="382079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382079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주변기기 종류</a:t>
            </a:r>
          </a:p>
        </p:txBody>
      </p:sp>
      <p:sp>
        <p:nvSpPr>
          <p:cNvPr id="21" name="TextBox 2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22" name="TextBox 2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23 / 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3.7 퇴사·교체 시 장비 반납</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7811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42571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HW-05</a:t>
            </a:r>
          </a:p>
        </p:txBody>
      </p:sp>
      <p:sp>
        <p:nvSpPr>
          <p:cNvPr id="10" name="Rectangle 9"/>
          <p:cNvSpPr/>
          <p:nvPr/>
        </p:nvSpPr>
        <p:spPr>
          <a:xfrm>
            <a:off x="1867359"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43559"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72407" y="1168400"/>
            <a:ext cx="990054" cy="292100"/>
          </a:xfrm>
          <a:prstGeom prst="rect">
            <a:avLst/>
          </a:prstGeom>
          <a:solidFill>
            <a:srgbClr val="E3EAF3"/>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48607" y="1219200"/>
            <a:ext cx="837654"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IT 담당자 처리</a:t>
            </a:r>
          </a:p>
        </p:txBody>
      </p:sp>
      <p:sp>
        <p:nvSpPr>
          <p:cNvPr id="14" name="Rectangle 13"/>
          <p:cNvSpPr/>
          <p:nvPr/>
        </p:nvSpPr>
        <p:spPr>
          <a:xfrm>
            <a:off x="3562462"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38662"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267510"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43710"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43591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1211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기간</a:t>
            </a:r>
          </a:p>
        </p:txBody>
      </p:sp>
      <p:sp>
        <p:nvSpPr>
          <p:cNvPr id="20" name="Rectangle 19"/>
          <p:cNvSpPr/>
          <p:nvPr/>
        </p:nvSpPr>
        <p:spPr>
          <a:xfrm>
            <a:off x="6140958" y="1168400"/>
            <a:ext cx="1077305"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17158" y="1219200"/>
            <a:ext cx="92490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접수 후 1영업일</a:t>
            </a:r>
          </a:p>
        </p:txBody>
      </p:sp>
      <p:sp>
        <p:nvSpPr>
          <p:cNvPr id="22" name="Rectangle 21"/>
          <p:cNvSpPr/>
          <p:nvPr/>
        </p:nvSpPr>
        <p:spPr>
          <a:xfrm>
            <a:off x="7218263"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94463"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4" name="Rectangle 23"/>
          <p:cNvSpPr/>
          <p:nvPr/>
        </p:nvSpPr>
        <p:spPr>
          <a:xfrm>
            <a:off x="792387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0007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FAQ-018</a:t>
            </a:r>
          </a:p>
        </p:txBody>
      </p:sp>
      <p:sp>
        <p:nvSpPr>
          <p:cNvPr id="26" name="TextBox 25"/>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이럴 때 신청합니다</a:t>
            </a:r>
          </a:p>
        </p:txBody>
      </p:sp>
      <p:sp>
        <p:nvSpPr>
          <p:cNvPr id="27" name="TextBox 26"/>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8" name="TextBox 27"/>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퇴사하거나 새 장비를 받아 기존 장비를 반납해야 한다.</a:t>
            </a:r>
          </a:p>
        </p:txBody>
      </p:sp>
      <p:sp>
        <p:nvSpPr>
          <p:cNvPr id="29" name="TextBox 28"/>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대상</a:t>
            </a:r>
          </a:p>
        </p:txBody>
      </p:sp>
      <p:sp>
        <p:nvSpPr>
          <p:cNvPr id="30" name="TextBox 29"/>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1" name="TextBox 30"/>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장비를 쓰던 본인</a:t>
            </a:r>
          </a:p>
        </p:txBody>
      </p:sp>
      <p:sp>
        <p:nvSpPr>
          <p:cNvPr id="32" name="TextBox 31"/>
          <p:cNvSpPr txBox="1"/>
          <p:nvPr/>
        </p:nvSpPr>
        <p:spPr>
          <a:xfrm>
            <a:off x="584200" y="281635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준비할 정보</a:t>
            </a:r>
          </a:p>
        </p:txBody>
      </p:sp>
      <p:sp>
        <p:nvSpPr>
          <p:cNvPr id="33" name="TextBox 32"/>
          <p:cNvSpPr txBox="1"/>
          <p:nvPr/>
        </p:nvSpPr>
        <p:spPr>
          <a:xfrm>
            <a:off x="635000" y="314083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4" name="TextBox 33"/>
          <p:cNvSpPr txBox="1"/>
          <p:nvPr/>
        </p:nvSpPr>
        <p:spPr>
          <a:xfrm>
            <a:off x="838200" y="314083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35" name="TextBox 34"/>
          <p:cNvSpPr txBox="1"/>
          <p:nvPr/>
        </p:nvSpPr>
        <p:spPr>
          <a:xfrm>
            <a:off x="635000" y="33799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6" name="TextBox 35"/>
          <p:cNvSpPr txBox="1"/>
          <p:nvPr/>
        </p:nvSpPr>
        <p:spPr>
          <a:xfrm>
            <a:off x="838200" y="33799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반납할 장비</a:t>
            </a:r>
          </a:p>
        </p:txBody>
      </p:sp>
      <p:sp>
        <p:nvSpPr>
          <p:cNvPr id="37" name="TextBox 36"/>
          <p:cNvSpPr txBox="1"/>
          <p:nvPr/>
        </p:nvSpPr>
        <p:spPr>
          <a:xfrm>
            <a:off x="635000" y="36191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8" name="TextBox 37"/>
          <p:cNvSpPr txBox="1"/>
          <p:nvPr/>
        </p:nvSpPr>
        <p:spPr>
          <a:xfrm>
            <a:off x="838200" y="36191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 데이터 백업 여부</a:t>
            </a:r>
          </a:p>
        </p:txBody>
      </p:sp>
      <p:sp>
        <p:nvSpPr>
          <p:cNvPr id="39" name="TextBox 38"/>
          <p:cNvSpPr txBox="1"/>
          <p:nvPr/>
        </p:nvSpPr>
        <p:spPr>
          <a:xfrm>
            <a:off x="584200" y="390906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방법</a:t>
            </a:r>
          </a:p>
        </p:txBody>
      </p:sp>
      <p:sp>
        <p:nvSpPr>
          <p:cNvPr id="40" name="TextBox 39"/>
          <p:cNvSpPr txBox="1"/>
          <p:nvPr/>
        </p:nvSpPr>
        <p:spPr>
          <a:xfrm>
            <a:off x="584200" y="423354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41" name="TextBox 40"/>
          <p:cNvSpPr txBox="1"/>
          <p:nvPr/>
        </p:nvSpPr>
        <p:spPr>
          <a:xfrm>
            <a:off x="838200" y="4233545"/>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 파일을 팀 공유 드라이브로 옮깁니다.</a:t>
            </a:r>
          </a:p>
        </p:txBody>
      </p:sp>
      <p:sp>
        <p:nvSpPr>
          <p:cNvPr id="42" name="TextBox 41"/>
          <p:cNvSpPr txBox="1"/>
          <p:nvPr/>
        </p:nvSpPr>
        <p:spPr>
          <a:xfrm>
            <a:off x="584200" y="4472686"/>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43" name="TextBox 42"/>
          <p:cNvSpPr txBox="1"/>
          <p:nvPr/>
        </p:nvSpPr>
        <p:spPr>
          <a:xfrm>
            <a:off x="838200" y="4472686"/>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그룹웨어 &gt; IT 요청 &gt; 장비 신청에서 '반납'을 선택해 제출합니다.</a:t>
            </a:r>
          </a:p>
        </p:txBody>
      </p:sp>
      <p:sp>
        <p:nvSpPr>
          <p:cNvPr id="44" name="TextBox 43"/>
          <p:cNvSpPr txBox="1"/>
          <p:nvPr/>
        </p:nvSpPr>
        <p:spPr>
          <a:xfrm>
            <a:off x="584200" y="4711827"/>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45" name="TextBox 44"/>
          <p:cNvSpPr txBox="1"/>
          <p:nvPr/>
        </p:nvSpPr>
        <p:spPr>
          <a:xfrm>
            <a:off x="838200" y="4711827"/>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직접 초기화하지 말고 그대로 엔드포인트지원팀에 반납합니다. 초기화는</a:t>
            </a:r>
          </a:p>
          <a:p>
            <a:pPr algn="l">
              <a:lnSpc>
                <a:spcPts val="1632"/>
              </a:lnSpc>
              <a:spcBef>
                <a:spcPts val="0"/>
              </a:spcBef>
              <a:spcAft>
                <a:spcPts val="0"/>
              </a:spcAft>
            </a:pPr>
            <a:r>
              <a:rPr sz="1150" b="0">
                <a:solidFill>
                  <a:srgbClr val="1D2433"/>
                </a:solidFill>
                <a:latin typeface="Malgun Gothic"/>
                <a:ea typeface="Malgun Gothic"/>
                <a:cs typeface="Malgun Gothic"/>
              </a:rPr>
              <a:t>IT에서 진행합니다.</a:t>
            </a:r>
          </a:p>
        </p:txBody>
      </p:sp>
      <p:sp>
        <p:nvSpPr>
          <p:cNvPr id="46" name="Rectangle 45"/>
          <p:cNvSpPr/>
          <p:nvPr/>
        </p:nvSpPr>
        <p:spPr>
          <a:xfrm>
            <a:off x="6599672" y="4233545"/>
            <a:ext cx="4292112" cy="1859915"/>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IT-HW-002_07.png"/>
          <p:cNvPicPr>
            <a:picLocks noChangeAspect="1"/>
          </p:cNvPicPr>
          <p:nvPr/>
        </p:nvPicPr>
        <p:blipFill>
          <a:blip r:embed="rId2"/>
          <a:stretch>
            <a:fillRect/>
          </a:stretch>
        </p:blipFill>
        <p:spPr>
          <a:xfrm>
            <a:off x="6599672" y="4233545"/>
            <a:ext cx="4292112" cy="1859915"/>
          </a:xfrm>
          <a:prstGeom prst="rect">
            <a:avLst/>
          </a:prstGeom>
        </p:spPr>
      </p:pic>
      <p:sp>
        <p:nvSpPr>
          <p:cNvPr id="48" name="TextBox 47"/>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3.7-1. 장비 신청 양식. '반납' 선택 위치를 표시한다.</a:t>
            </a:r>
          </a:p>
        </p:txBody>
      </p:sp>
      <p:sp>
        <p:nvSpPr>
          <p:cNvPr id="49" name="TextBox 4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50" name="TextBox 4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24 / 34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3.7 퇴사·교체 시 장비 반납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신청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승인 절차</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승인 없음 (접수 후 엔드포인트지원팀 처리)</a:t>
            </a:r>
          </a:p>
        </p:txBody>
      </p:sp>
      <p:sp>
        <p:nvSpPr>
          <p:cNvPr id="9" name="TextBox 8"/>
          <p:cNvSpPr txBox="1"/>
          <p:nvPr/>
        </p:nvSpPr>
        <p:spPr>
          <a:xfrm>
            <a:off x="584200" y="17828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기간과 결과 확인</a:t>
            </a:r>
          </a:p>
        </p:txBody>
      </p:sp>
      <p:sp>
        <p:nvSpPr>
          <p:cNvPr id="10" name="TextBox 9"/>
          <p:cNvSpPr txBox="1"/>
          <p:nvPr/>
        </p:nvSpPr>
        <p:spPr>
          <a:xfrm>
            <a:off x="584200" y="2107311"/>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접수 후 1영업일 안에 반납 일정이 안내되고, 반납한 장비는 IT에서 초기화한다.</a:t>
            </a:r>
          </a:p>
        </p:txBody>
      </p:sp>
      <p:sp>
        <p:nvSpPr>
          <p:cNvPr id="11" name="TextBox 10"/>
          <p:cNvSpPr txBox="1"/>
          <p:nvPr/>
        </p:nvSpPr>
        <p:spPr>
          <a:xfrm>
            <a:off x="584200" y="240360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반려되는 경우</a:t>
            </a:r>
          </a:p>
        </p:txBody>
      </p:sp>
      <p:sp>
        <p:nvSpPr>
          <p:cNvPr id="12" name="TextBox 11"/>
          <p:cNvSpPr txBox="1"/>
          <p:nvPr/>
        </p:nvSpPr>
        <p:spPr>
          <a:xfrm>
            <a:off x="635000" y="272808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272808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장비를 분실했으면 반납이 아니라 IT-SEC-003 3.7에 따라 분실 신고를 한다.</a:t>
            </a:r>
          </a:p>
        </p:txBody>
      </p:sp>
      <p:sp>
        <p:nvSpPr>
          <p:cNvPr id="14" name="TextBox 13"/>
          <p:cNvSpPr txBox="1"/>
          <p:nvPr/>
        </p:nvSpPr>
        <p:spPr>
          <a:xfrm>
            <a:off x="584200" y="301802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 시 알려 주실 정보</a:t>
            </a:r>
          </a:p>
        </p:txBody>
      </p:sp>
      <p:sp>
        <p:nvSpPr>
          <p:cNvPr id="15" name="TextBox 14"/>
          <p:cNvSpPr txBox="1"/>
          <p:nvPr/>
        </p:nvSpPr>
        <p:spPr>
          <a:xfrm>
            <a:off x="635000" y="334251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6" name="TextBox 15"/>
          <p:cNvSpPr txBox="1"/>
          <p:nvPr/>
        </p:nvSpPr>
        <p:spPr>
          <a:xfrm>
            <a:off x="838200" y="334251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신청 번호</a:t>
            </a:r>
          </a:p>
        </p:txBody>
      </p:sp>
      <p:sp>
        <p:nvSpPr>
          <p:cNvPr id="17" name="TextBox 16"/>
          <p:cNvSpPr txBox="1"/>
          <p:nvPr/>
        </p:nvSpPr>
        <p:spPr>
          <a:xfrm>
            <a:off x="635000" y="358165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8" name="TextBox 17"/>
          <p:cNvSpPr txBox="1"/>
          <p:nvPr/>
        </p:nvSpPr>
        <p:spPr>
          <a:xfrm>
            <a:off x="838200" y="358165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사번</a:t>
            </a:r>
          </a:p>
        </p:txBody>
      </p:sp>
      <p:sp>
        <p:nvSpPr>
          <p:cNvPr id="19" name="TextBox 18"/>
          <p:cNvSpPr txBox="1"/>
          <p:nvPr/>
        </p:nvSpPr>
        <p:spPr>
          <a:xfrm>
            <a:off x="635000" y="382079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382079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반납할 장비</a:t>
            </a:r>
          </a:p>
        </p:txBody>
      </p:sp>
      <p:sp>
        <p:nvSpPr>
          <p:cNvPr id="21" name="Rectangle 20"/>
          <p:cNvSpPr/>
          <p:nvPr/>
        </p:nvSpPr>
        <p:spPr>
          <a:xfrm>
            <a:off x="584200" y="4110736"/>
            <a:ext cx="11023600" cy="5999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11200" y="4212336"/>
            <a:ext cx="10769600"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퇴사할 때 계정은 퇴사일 18시에 자동 비활성화되고(IT-ACS-003 3.3), 유료 SW 라이선스도 함께 회수됩니다(IT-SW-002 3.7). 반납 전에 업무 파일을 팀 공유 드라이브로</a:t>
            </a:r>
          </a:p>
          <a:p>
            <a:pPr algn="l">
              <a:lnSpc>
                <a:spcPts val="1562"/>
              </a:lnSpc>
              <a:spcBef>
                <a:spcPts val="0"/>
              </a:spcBef>
              <a:spcAft>
                <a:spcPts val="0"/>
              </a:spcAft>
            </a:pPr>
            <a:r>
              <a:rPr sz="1100" b="0">
                <a:solidFill>
                  <a:srgbClr val="5A6270"/>
                </a:solidFill>
                <a:latin typeface="Malgun Gothic"/>
                <a:ea typeface="Malgun Gothic"/>
                <a:cs typeface="Malgun Gothic"/>
              </a:rPr>
              <a:t>옮깁니다.</a:t>
            </a:r>
          </a:p>
        </p:txBody>
      </p:sp>
      <p:sp>
        <p:nvSpPr>
          <p:cNvPr id="23" name="TextBox 22"/>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24" name="TextBox 23"/>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25 / 34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04</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자주 묻는 질문</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IT-HW-002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26 / 34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자주 묻는 질문</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04. 자주 묻는 질문</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206500"/>
        </p:xfrm>
        <a:graphic>
          <a:graphicData uri="http://schemas.openxmlformats.org/drawingml/2006/table">
            <a:tbl>
              <a:tblPr firstRow="0" bandRow="0">
                <a:tableStyleId>{5940675A-B579-460E-94D1-54222C63F5DA}</a:tableStyleId>
              </a:tblPr>
              <a:tblGrid>
                <a:gridCol w="3674533"/>
                <a:gridCol w="73490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질문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답변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노트북에 음료를 쏟았거나 파손됐어요. (FAQ-017)</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즉시 전원을 끄고 충전기를 분리하세요. 엔드포인트지원팀에 접수하면 데이터 백업 후 수리를 진행하고 필요하면 대여 장비를</a:t>
                      </a:r>
                    </a:p>
                    <a:p>
                      <a:pPr algn="l">
                        <a:lnSpc>
                          <a:spcPts val="1300"/>
                        </a:lnSpc>
                        <a:spcBef>
                          <a:spcPts val="0"/>
                        </a:spcBef>
                        <a:spcAft>
                          <a:spcPts val="0"/>
                        </a:spcAft>
                      </a:pPr>
                      <a:r>
                        <a:rPr sz="1000" b="0">
                          <a:solidFill>
                            <a:srgbClr val="1D2433"/>
                          </a:solidFill>
                          <a:latin typeface="Malgun Gothic"/>
                          <a:ea typeface="Malgun Gothic"/>
                          <a:cs typeface="Malgun Gothic"/>
                        </a:rPr>
                        <a:t>지급합니다.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노트북 교체·반납은 어떻게 하나요? (FAQ-018)</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업무용 PC 교체 주기는 지급일로부터 3년입니다. 개발 직군은 macOS/Windows 중 선택, 그 외 직군은 Windows가 기본입니다.</a:t>
                      </a:r>
                    </a:p>
                    <a:p>
                      <a:pPr algn="l">
                        <a:lnSpc>
                          <a:spcPts val="1300"/>
                        </a:lnSpc>
                        <a:spcBef>
                          <a:spcPts val="0"/>
                        </a:spcBef>
                        <a:spcAft>
                          <a:spcPts val="0"/>
                        </a:spcAft>
                      </a:pPr>
                      <a:r>
                        <a:rPr sz="1000" b="0">
                          <a:solidFill>
                            <a:srgbClr val="1D2433"/>
                          </a:solidFill>
                          <a:latin typeface="Malgun Gothic"/>
                          <a:ea typeface="Malgun Gothic"/>
                          <a:cs typeface="Malgun Gothic"/>
                        </a:rPr>
                        <a:t>반납 시 초기화는 IT에서 진행하므로 그대로 반납하면 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27 /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05</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주의사항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IT-HW-002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28 / 34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주의사항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05. 주의사항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5000" y="1168400"/>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7" name="TextBox 6"/>
          <p:cNvSpPr txBox="1"/>
          <p:nvPr/>
        </p:nvSpPr>
        <p:spPr>
          <a:xfrm>
            <a:off x="838200" y="11684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음료를 쏟은 장비를 다시 켜지 않는다.</a:t>
            </a:r>
          </a:p>
        </p:txBody>
      </p:sp>
      <p:sp>
        <p:nvSpPr>
          <p:cNvPr id="8" name="TextBox 7"/>
          <p:cNvSpPr txBox="1"/>
          <p:nvPr/>
        </p:nvSpPr>
        <p:spPr>
          <a:xfrm>
            <a:off x="635000" y="140754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9" name="TextBox 8"/>
          <p:cNvSpPr txBox="1"/>
          <p:nvPr/>
        </p:nvSpPr>
        <p:spPr>
          <a:xfrm>
            <a:off x="838200" y="140754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회사 장비를 개인적으로 수리업체에 맡기지 않는다.</a:t>
            </a:r>
          </a:p>
        </p:txBody>
      </p:sp>
      <p:sp>
        <p:nvSpPr>
          <p:cNvPr id="10" name="TextBox 9"/>
          <p:cNvSpPr txBox="1"/>
          <p:nvPr/>
        </p:nvSpPr>
        <p:spPr>
          <a:xfrm>
            <a:off x="635000" y="164668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1" name="TextBox 10"/>
          <p:cNvSpPr txBox="1"/>
          <p:nvPr/>
        </p:nvSpPr>
        <p:spPr>
          <a:xfrm>
            <a:off x="838200" y="164668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반납 전에 직접 초기화하지 않는다.</a:t>
            </a:r>
          </a:p>
        </p:txBody>
      </p:sp>
      <p:sp>
        <p:nvSpPr>
          <p:cNvPr id="12" name="TextBox 11"/>
          <p:cNvSpPr txBox="1"/>
          <p:nvPr/>
        </p:nvSpPr>
        <p:spPr>
          <a:xfrm>
            <a:off x="635000" y="188582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188582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장비를 잃어버렸으면 IT-SEC-003에 따라 바로 신고한다.</a:t>
            </a:r>
          </a:p>
        </p:txBody>
      </p:sp>
      <p:sp>
        <p:nvSpPr>
          <p:cNvPr id="14" name="TextBox 1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15" name="TextBox 1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29 / 34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06</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문의처</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IT-HW-002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30 / 34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문의처</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06. 문의처</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209800"/>
        </p:xfrm>
        <a:graphic>
          <a:graphicData uri="http://schemas.openxmlformats.org/drawingml/2006/table">
            <a:tbl>
              <a:tblPr firstRow="0" bandRow="0">
                <a:tableStyleId>{5940675A-B579-460E-94D1-54222C63F5DA}</a:tableStyleId>
              </a:tblPr>
              <a:tblGrid>
                <a:gridCol w="2204720"/>
                <a:gridCol w="3307080"/>
                <a:gridCol w="5511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창구</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연락처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이용 기준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포털(hanwha-admin) 상단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24시간. 모든 IT 문의의 기본 창구입니다. 챗봇이 해결하지 못하면 확인을 거쳐 담당 팀에</a:t>
                      </a:r>
                    </a:p>
                    <a:p>
                      <a:pPr algn="l">
                        <a:lnSpc>
                          <a:spcPts val="1300"/>
                        </a:lnSpc>
                        <a:spcBef>
                          <a:spcPts val="0"/>
                        </a:spcBef>
                        <a:spcAft>
                          <a:spcPts val="0"/>
                        </a:spcAft>
                      </a:pPr>
                      <a:r>
                        <a:rPr sz="1000" b="0">
                          <a:solidFill>
                            <a:srgbClr val="1D2433"/>
                          </a:solidFill>
                          <a:latin typeface="Malgun Gothic"/>
                          <a:ea typeface="Malgun Gothic"/>
                          <a:cs typeface="Malgun Gothic"/>
                        </a:rPr>
                        <a:t>티켓으로 접수합니다.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 (서비스데스크)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1000 (평일 09:00~18:00)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PC나 챗봇을 쓸 수 없을 때, 여러 사람이 함께 업무를 못 할 때, 본인 확인이 필요한 처리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1119</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링크 클릭·비밀번호 입력·감염 의심·계정 도용·장비 분실처럼 바로 알려야 할 보안 문제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메신저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 채널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(챗봇을 쓸 수 없을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it-helpdesk@hanwha-ict.example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비밀번호·인증번호는 메일로 보내지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처리 상황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메신저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접수·담당자 배정·처리 완료를 알려 드립니다. 진행 상황은 [내 요청 현황]에서도 봅니다.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31 / 34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558800"/>
          </a:xfrm>
          <a:prstGeom prst="rect">
            <a:avLst/>
          </a:prstGeom>
          <a:noFill/>
        </p:spPr>
        <p:txBody>
          <a:bodyPr wrap="none" lIns="0" rIns="0" tIns="0" bIns="0" anchor="t">
            <a:spAutoFit/>
          </a:bodyPr>
          <a:lstStyle/>
          <a:p>
            <a:pPr algn="l">
              <a:lnSpc>
                <a:spcPts val="4400"/>
              </a:lnSpc>
              <a:spcBef>
                <a:spcPts val="0"/>
              </a:spcBef>
              <a:spcAft>
                <a:spcPts val="0"/>
              </a:spcAft>
            </a:pPr>
            <a:r>
              <a:rPr sz="4000" b="1">
                <a:solidFill>
                  <a:srgbClr val="E8590C"/>
                </a:solidFill>
                <a:latin typeface="Malgun Gothic"/>
                <a:ea typeface="Malgun Gothic"/>
                <a:cs typeface="Malgun Gothic"/>
              </a:rPr>
              <a:t>부록</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관련 문서 · 용어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IT-HW-002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32 / 34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관련 문서 · 용어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관련 문서</a:t>
            </a:r>
          </a:p>
        </p:txBody>
      </p:sp>
      <p:graphicFrame>
        <p:nvGraphicFramePr>
          <p:cNvPr id="7" name="Table 6"/>
          <p:cNvGraphicFramePr>
            <a:graphicFrameLocks noGrp="1"/>
          </p:cNvGraphicFramePr>
          <p:nvPr/>
        </p:nvGraphicFramePr>
        <p:xfrm>
          <a:off x="584200" y="1492885"/>
          <a:ext cx="11023600" cy="1460500"/>
        </p:xfrm>
        <a:graphic>
          <a:graphicData uri="http://schemas.openxmlformats.org/drawingml/2006/table">
            <a:tbl>
              <a:tblPr firstRow="0" bandRow="0">
                <a:tableStyleId>{5940675A-B579-460E-94D1-54222C63F5DA}</a:tableStyleId>
              </a:tblPr>
              <a:tblGrid>
                <a:gridCol w="1837267"/>
                <a:gridCol w="4133850"/>
                <a:gridCol w="50524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 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이럴 때 봅니다</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IT-HW-001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PC 기본 장애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 </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IT-ACS-003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퇴사·부서이동 권한 변경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 </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 도용·장비 분실 신고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 </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IT-STD-001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서비스 운영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 </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0549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용어</a:t>
            </a:r>
          </a:p>
        </p:txBody>
      </p:sp>
      <p:graphicFrame>
        <p:nvGraphicFramePr>
          <p:cNvPr id="9" name="Table 8"/>
          <p:cNvGraphicFramePr>
            <a:graphicFrameLocks noGrp="1"/>
          </p:cNvGraphicFramePr>
          <p:nvPr/>
        </p:nvGraphicFramePr>
        <p:xfrm>
          <a:off x="584200" y="3379470"/>
          <a:ext cx="11023600" cy="876300"/>
        </p:xfrm>
        <a:graphic>
          <a:graphicData uri="http://schemas.openxmlformats.org/drawingml/2006/table">
            <a:tbl>
              <a:tblPr firstRow="0" bandRow="0">
                <a:tableStyleId>{5940675A-B579-460E-94D1-54222C63F5DA}</a:tableStyleId>
              </a:tblPr>
              <a:tblGrid>
                <a:gridCol w="2179301"/>
                <a:gridCol w="8844299"/>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용어</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설명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대여 노트북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수리 기간 동안 임시로 쓰는 회사 노트북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교체 주기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업무용 PC를 새 장비로 바꿀 수 있는 기간. 지급일로부터 3년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33 / 34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개정 이력</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876300"/>
        </p:xfrm>
        <a:graphic>
          <a:graphicData uri="http://schemas.openxmlformats.org/drawingml/2006/table">
            <a:tbl>
              <a:tblPr firstRow="0" bandRow="0">
                <a:tableStyleId>{5940675A-B579-460E-94D1-54222C63F5DA}</a:tableStyleId>
              </a:tblPr>
              <a:tblGrid>
                <a:gridCol w="1002145"/>
                <a:gridCol w="1403004"/>
                <a:gridCol w="1603433"/>
                <a:gridCol w="701501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버전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개정일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작성자</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변경 내용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v1.0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2026-03-01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최초 작성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7개 분류 통합 정리본. 문서 양식·열람 등급·용어·연락처를 통일하고 분류 사이의 중복 내용을 한 문서로 정리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IT-HW-002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34 / 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IT-HW-002 업무 장비 교체·수리 신청 가이드</dc:title>
  <dc:subject>사내 일반 · 전 임직원</dc:subject>
  <dc:creator>엔드포인트지원팀</dc:creator>
  <cp:keywords>노트북에 물을 쏟았어요, 커피, 음료, 침수, 파손, 액정, 수리, 키보드 일부 키가 안 눌려요, USB 포트 인식 불량, 정전, 무상 보증, 대여 노트북, 교체, 교체 주기 3년, 노트북 교체 가능한가요, 고사양 노트북, 반납, PC 반납 절차, 초기화, 신규 입사자 PC 준비, 마우스 고장, 키보드 신청, 비품</cp:keywords>
  <dc:description>generated using python-pptx</dc:description>
  <cp:lastModifiedBy>엔드포인트지원팀</cp:lastModifiedBy>
  <cp:revision>1</cp:revision>
  <dcterms:created xsi:type="dcterms:W3CDTF">2013-01-27T09:14:16Z</dcterms:created>
  <dcterms:modified xsi:type="dcterms:W3CDTF">2013-01-27T09:15:58Z</dcterms:modified>
  <cp:category>사내 일반</cp:category>
</cp:coreProperties>
</file>