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84200" y="1651000"/>
            <a:ext cx="1168400" cy="508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84200" y="2108200"/>
            <a:ext cx="11023600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9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가상 ICT 기업 IT 담당자 매뉴얼 · VPN·네트워크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2489200"/>
            <a:ext cx="11023600" cy="609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VPN 접속 장애 처리 매뉴얼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4200" y="3149600"/>
            <a:ext cx="11023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IT-NET-001-M  |  네트워크팀  |  2026.10.16  |  Ver 2.0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4200" y="3581400"/>
            <a:ext cx="2449984" cy="304800"/>
          </a:xfrm>
          <a:prstGeom prst="roundRect">
            <a:avLst>
              <a:gd name="adj" fmla="val 16666"/>
            </a:avLst>
          </a:prstGeom>
          <a:solidFill>
            <a:srgbClr val="B84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300" y="3644900"/>
            <a:ext cx="2449984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사내 제한 · IT 운영 담당자·관리자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5689600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IT운영·보안 조직 내부 문서입니다. 사용자에게 문서 자체를 전달하지 않고, 안내는 짝이 되는 임직원용 가이드를 기준으로 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IT-NET-001-M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 / 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문서 정보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IT-NET-001-M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32280"/>
                <a:gridCol w="3779520"/>
                <a:gridCol w="1732280"/>
                <a:gridCol w="377952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번호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IT-NET-001-M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NET VPN·네트워크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시행일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유형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등급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 (IT 운영 담당자·관리자)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관리 부서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네트워크팀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승인자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네트워크팀장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대상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서비스데스크, 네트워크팀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대상 사용자 가이드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IT-NET-001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포함 시나리오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NET-02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FAQ-007, FAQ-037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IT-NET-001-M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 / 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Contents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65200" y="1244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1. 개요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59892" y="1431290"/>
            <a:ext cx="84239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185400" y="1244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5200" y="16764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2. 접수·분류 기준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480134" y="1863090"/>
            <a:ext cx="7603666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185400" y="1676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6p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200" y="21082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3. 증상별 처리 절차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73908" y="2294890"/>
            <a:ext cx="74098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185400" y="21082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8p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25400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4. 대형 장애 대응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496108" y="27266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185400" y="25400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15p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200" y="29718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5. 처리 기록 기준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96108" y="31584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185400" y="29718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17p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200" y="34036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부록 · 관련 문서 · 용어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710706" y="3570288"/>
            <a:ext cx="7373094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185400" y="3403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19p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200" y="38354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783011" y="4002088"/>
            <a:ext cx="8300789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0185400" y="3835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21p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IT-NET-001-M · 사내 제한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 /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IT-NET-001-M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4 / 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01. 개요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" y="1492885"/>
            <a:ext cx="110236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IT-NET-001로 들어오는 개인 VPN 접속 문의(연결 실패, 연결 후 사내 시스템·화상회의 문제, 잦은 끊김)를 서비스데스크가 즉시 처리할지 네트워크팀에 티켓으로 넘길지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판단하고, 같은 기준으로 처리한다.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" y="199656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담당 범위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84200" y="2321052"/>
          <a:ext cx="11023600" cy="11684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24667"/>
                <a:gridCol w="83989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서비스데스크(L1): 증상 확인, VPN 클라이언트 재설치·핫스팟·DNS 초기화·분할 터널링 안내로 즉시 처리, 해결되지 않으면 티켓 생성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2차 이관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네트워크팀(L2): VPN 접속 로그 확인, 분할 터널링 정책 적용, VPN 클라이언트 MTU 조정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배정 담당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김태현 (VPN), 황진혁 (VPN) / 1차 점검: 곽지민, 이윤호 (PC·네트워크 1차 점검)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시스템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VPN 관리 콘솔, VPN 접속 로그 조회 화면, 상담 기록 시스템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IT-NET-001-M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5 / 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IT-NET-001-M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6 / 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접수·분류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 가이드의 블록별 기본값이다. 긴급도 기준은 IT-STD-001 IT 서비스 운영 기준을 따른다.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599" cy="11684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653145"/>
                <a:gridCol w="939152"/>
                <a:gridCol w="3927021"/>
                <a:gridCol w="1102438"/>
                <a:gridCol w="1208319"/>
                <a:gridCol w="2148491"/>
                <a:gridCol w="10450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번호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문의 유형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증상·요청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기본 긴급도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방식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이관 대상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NET-02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VPN 연결 시 '서버에 연결할 수 없습니다' 오류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처리 후 필요 시 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네트워크팀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NET-02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VPN 연결 후 사내 시스템 접속 불가·화상회의 느림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처리 후 필요 시 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네트워크팀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NET-02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집에서 VPN이 자주 끊김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네트워크팀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273469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305917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305917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서비스데스크(L1)가 안내만으로 끝낸 건. 티켓 없이 상담 기록만 남긴다.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" y="329831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329831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담당자 조치가 필요한 건. 담당팀에 배정하고 상태를 RDY → WIP → FIN → CLS 으로 관리한다.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3588258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긴급도 조정 조건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" y="391274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391274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VPN 증상이 여러 부서에서 동시에 접수되면 NET-03(P1)으로 전환하고 IT-NET-003-M 절차를 따른다.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000" y="415188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415188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급하다고 하거나 당일 마감 등 당일 업무 차질이 있으면 P2로 한 단계 올린다 (예: INQ-2026-00055, INQ-2026-00131, INQ-2026-00171).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000" y="439102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200" y="439102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핫스팟·사무실 출근 등 우회 수단이 있고 개인 업무 일부만 지장이 있으면 기본 P3을 유지한다.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IT-NET-001-M · 사내 제한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7 / 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증상별 처리 절차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IT-NET-001-M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8 / 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VPN 연결 시 '서버에 연결할 수 없습니다' 오류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9584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4344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NET-02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85094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61294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17143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93343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21223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97423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72880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49080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8728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6348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92328" y="1168400"/>
            <a:ext cx="787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68528" y="1219200"/>
            <a:ext cx="635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네트워크팀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6437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메시지가 '서버에 연결할 수 없습니다'인가요?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접속 장소와 인터넷 종류(가정용 공유기, 호텔·카페 공용 Wi-Fi, 핫스팟)는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무엇인가요?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26694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2669413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VPN 클라이언트 버전은 무엇인가요? 같은 팀이나 다른 재택 근무자도 같은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증상인가요?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72200" y="1587500"/>
            <a:ext cx="5435600" cy="16437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26200" y="1998091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최신 버전 재설치, 핫스팟·우회 포트 모드 안내로 연결되면 상담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기록만 남긴다 (평가셋: 개인 VPN 접속 불가는 안내로 해결).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99200" y="2432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26200" y="2432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재설치와 핫스팟 시도 후에도 연결되지 않으면 네트워크팀에 이관한다.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99200" y="26694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6200" y="266941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여러 사람이 같은 증상이면 NET-03으로 전환해 IT-NET-003-M을 따른다.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4200" y="333286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4200" y="3657346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" y="3657346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클라이언트 버전을 확인하고, 구버전이면 최신 버전 재설치를 안내한다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(INQ-2026-00127, INQ-2026-00131).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4200" y="4103878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200" y="4103878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공용 Wi-Fi이면 핫스팟 이용을, 어려우면 우회 포트 모드 전환을 안내한다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(INQ-2026-00215).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4200" y="4550410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4550410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해결되지 않으면 티켓을 만들어 네트워크팀에 배정한다. 네트워크팀은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VPN 관리 콘솔에서 접속 로그를 확인한다.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4200" y="4996942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00" y="4996942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클라이언트 재설치 후 정상 접속을 사용자와 확인하고 FIN 처리한다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(INQ-2026-00148).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883656" y="3657346"/>
            <a:ext cx="5724144" cy="148112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0" name="Picture 49" descr="IT-NET-001-M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3657346"/>
            <a:ext cx="5724144" cy="1481122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5883656" y="5189268"/>
            <a:ext cx="5724144" cy="360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3.1-1. VPN 관리 콘솔에서 사번으로 접속 로그를 조회해 클라이언트 버전과 실패 사유를</a:t>
            </a:r>
          </a:p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확인하는 화면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IT-NET-001-M · 사내 제한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9 / 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VPN 연결 시 '서버에 연결할 수 없습니다' 오류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11023600" cy="61798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84200" y="1492885"/>
            <a:ext cx="50800" cy="61798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7400" y="1594485"/>
            <a:ext cx="106934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VPN 클라이언트를 최신 버전으로 다시 설치하고 정상 접속을 확인했습니다. 같은 오류가 다시 나면 클라이언트 버전부터 확인해 주시고, 공용 Wi-Fi에서는 휴대폰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핫스팟을 이용해 주세요. 자세한 방법은 IT-NET-001 3.1을 참고해 주세요.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4200" y="2212467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84200" y="2212467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11200" y="2339467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623058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623058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VPN 클라이언트 자동 업데이트 배포 (문의이력)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2212467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6172200" y="2212467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299200" y="2339467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623058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623058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메시지, 접속 장소, 클라이언트 버전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285953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2859532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안내한 조치와 결과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9200" y="3096006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6200" y="3096006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사번과 발생 시각 (접속 로그 확인용)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IT-NET-001-M · 사내 제한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10 /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VPN 연결 후 사내 시스템 접속 불가·화상회의 느림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9584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4344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NET-02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85094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61294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17143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93343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21223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97423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72880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49080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8728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6348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92328" y="1168400"/>
            <a:ext cx="787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68528" y="1219200"/>
            <a:ext cx="635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네트워크팀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84213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VPN은 연결 상태인가요? 어떤 시스템이 열리지 않나요(그룹웨어, ERP 등)?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사내 시스템 접속이 안 되나요, 화상회의만 느린가요?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ipconfig /flushdns 를 실행하고 VPN을 다시 연결해 봤나요?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72200" y="1587500"/>
            <a:ext cx="5435600" cy="184213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26200" y="1998091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DNS 캐시 초기화 후 재연결, 화상회의 트래픽 분할 터널링 안내로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해결되면 끝낸다 (INQ-2026-00016, INQ-2026-00110).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99200" y="2432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26200" y="2432939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안내 후에도 화상회의가 계속 느리거나 사내 시스템이 계속 열리지 않으면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네트워크팀에 이관한다.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99200" y="286778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6200" y="2867787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VPN 없이 사내에서도 같은 시스템이 안 되면 해당 시스템 장애로 보고 IT-SYS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문서 기준으로 분류한다.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4200" y="3531235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4200" y="3855720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" y="3855720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사내 시스템 접속 불가: ipconfig /flushdns 실행 후 VPN 재연결을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안내한다 (INQ-2026-00044).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4200" y="4302252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200" y="4302252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화상회의 느림: 화상회의 트래픽 분할 터널링 정책 적용을 안내한다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(INQ-2026-00037, INQ-2026-00171).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4200" y="4748784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4748784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해결되지 않으면 티켓을 만들고, 네트워크팀이 VPN 관리 콘솔에서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 정책 적용 여부를 확인해 적용한다.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4200" y="5195316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00" y="5195316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화상회의·사내 시스템 접속이 정상인지 사용자와 확인하고 FIN 처리한다.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883656" y="3855720"/>
            <a:ext cx="5724144" cy="142388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0" name="Picture 49" descr="IT-NET-001-M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3855720"/>
            <a:ext cx="5724144" cy="1423881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5883656" y="5330401"/>
            <a:ext cx="5724144" cy="360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3.2-1. VPN 관리 콘솔에서 사용자의 화상회의 트래픽 분할 터널링 정책을 적용하고 저장하는</a:t>
            </a:r>
          </a:p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화면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IT-NET-001-M · 사내 제한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11 /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VPN 연결 후 사내 시스템 접속 불가·화상회의 느림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11023600" cy="61798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84200" y="1492885"/>
            <a:ext cx="50800" cy="61798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7400" y="1594485"/>
            <a:ext cx="106934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화상회의 트래픽 분할 터널링 정책을 적용했습니다. VPN을 다시 연결한 뒤 화상회의를 이용해 주세요. 사내 시스템이 열리지 않을 때는 명령 프롬프트에서 ipconfig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/flushdns 를 실행한 뒤 VPN을 다시 연결해 주세요.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4200" y="2212467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84200" y="2212467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11200" y="2339467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623058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623058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VPN 클라이언트 자동 업데이트 배포 (문의이력)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1200" y="285953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2859532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NET-02 14건 중 8건이 화상회의 속도 문의라 가이드 3.2 보강을 검토한다.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2212467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172200" y="2212467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299200" y="2339467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2623058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2623058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증상(접속 불가·속도 저하)과 대상 시스템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9200" y="285953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6200" y="2859532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안내한 조치와 결과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99200" y="3096006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26200" y="3096006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사번, 접속 장소, 발생 시각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IT-NET-001-M · 사내 제한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12 / 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집에서 VPN이 자주 끊김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9584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4344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NET-02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85094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61294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17143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93343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21223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97423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72880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49080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8728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6348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92328" y="1168400"/>
            <a:ext cx="787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68528" y="1219200"/>
            <a:ext cx="635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네트워크팀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1587500"/>
            <a:ext cx="5435600" cy="14072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공유기를 재시작하고 VPN 없이 인터넷이 안정적인지 확인했나요?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언제, 얼마나 자주 끊기나요? 회의 중에만 끊기나요?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집이 아닌 곳(핫스팟 등)에서도 끊기나요?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72200" y="1587500"/>
            <a:ext cx="5435600" cy="14072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26200" y="1998091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공유기 재시작·인터넷 확인을 아직 하지 않았다면 먼저 안내하고,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그것으로 해결되면 끝낸다.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99200" y="2432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26200" y="2432939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공유기 재시작 후에도 VPN만 반복해서 끊기면 네트워크팀 티켓으로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MTU를 조정한다 (INQ-2026-00376).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4200" y="309638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4200" y="3420872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3420872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공유기 재시작과 VPN 없이 인터넷 상태를 확인했는지 묻는다.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4200" y="3660013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" y="3660013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티켓을 만들어 네트워크팀에 배정한다.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4200" y="3899154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200" y="3899154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네트워크팀이 원격 지원으로 사용자 VPN 클라이언트의 MTU 값을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조정한다.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4200" y="4345686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4345686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회의 등 실제 사용에서 끊기지 않는지 사용자와 확인하고 FIN 처리한다.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883656" y="3420872"/>
            <a:ext cx="5724144" cy="187227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8" name="Picture 47" descr="IT-NET-001-M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3420872"/>
            <a:ext cx="5724144" cy="1872272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5883656" y="5343944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3.3-1. VPN 관리 콘솔의 세션 끊김 이력과, 원격 지원으로 클라이언트 MTU 값을 조정하는 화면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IT-NET-001-M · 사내 제한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13 / 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집에서 VPN이 자주 끊김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84200" y="1492885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7400" y="1594485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가정용 공유기와 VPN 설정이 맞지 않아 연결이 끊기던 문제로, VPN 클라이언트 설정(MTU)을 조정했습니다. 다시 끊기면 끊긴 시각을 알려 주세요.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4200" y="2005076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84200" y="2005076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11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문의이력에 재발 방지 기록 없음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1200" y="265214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2652141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증상이 반복되면 MTU 조정 기준을 정해 사용자 가이드 반영 여부를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검토한다.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2005076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172200" y="2005076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299200" y="2132076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241566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241566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끊기는 시각·빈도와 사용 중이던 프로그램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9200" y="265214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6200" y="265214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공유기 재시작 여부와 VPN 없이 인터넷 상태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99200" y="288861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26200" y="288861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VPN 클라이언트 버전, 사번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IT-NET-001-M · 사내 제한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14 / 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IT-NET-001-M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15 / 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04. 대형 장애 대응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35000" y="116840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168400"/>
            <a:ext cx="107696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VPN 증상('게이트웨이 응답 없음', 연결 불가)이 여러 부서에서 짧은 시간에 접수되면 개인 장애(NET-02)가 아니라 NET-03 전사 장애로 판단한다. 예: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MI-2026-02는 08:40~09:15에 9개 부서에서 12건이 접수됐다.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161493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61493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대표 티켓(MI-YYYY-NN)을 만들고, 같은 증상의 개별 문의는 대표 티켓에 연결한다.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185407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185407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공지 방법과 갱신 주기는 IT-NET-003-M 4장을 따른다.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209321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209321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복구 후 개별 문의 일괄 완료 처리와 원인 보고는 IT-NET-003-M 4장을 따른다.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IT-NET-001-M · 사내 제한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16 / 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IT-NET-001-M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17 /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05. 처리 기록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처리 완료(FIN) 시 티켓에 아래 항목을 남긴다. 반복되는 건은 사용자 가이드 반영 여부를 검토한다.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91100"/>
                <a:gridCol w="873250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기록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확인된 원인 한 줄 (예: VPN 클라이언트 구버전 사용)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조치 내용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실제로 한 조치. 즉시 처리면 앞에 [즉시 처리]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재발 방지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같은 문의를 줄이기 위한 조치 (없으면 빈칸)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안내에 쓴 FAQ 번호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가이드 반영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 가이드에 추가·수정이 필요한지 (필요 / 불필요)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IT-NET-001-M · 사내 제한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18 /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558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4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관련 문서 · 용어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IT-NET-001-M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19 / 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관련 문서 · 용어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내부 연락처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92885"/>
          <a:ext cx="11023600" cy="5842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24667"/>
                <a:gridCol w="83989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헬프데스크 내선 1000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네트워크팀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1040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IT-NET-001-M · 사내 제한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20 /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876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02145"/>
                <a:gridCol w="1403004"/>
                <a:gridCol w="1603433"/>
                <a:gridCol w="7015018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개정일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작성자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변경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v1.0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2026-03-01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네트워크팀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최초 작성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네트워크팀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7개 분류 통합 정리본. 문서 양식·열람 등급·용어·연락처를 통일하고 분류 사이의 중복 내용을 한 문서로 정리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IT-NET-001-M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21 /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IT-NET-001-M VPN 접속 장애 처리 매뉴얼</dc:title>
  <dc:subject>사내 제한 · IT 운영 담당자·관리자</dc:subject>
  <dc:creator>네트워크팀</dc:creator>
  <cp:keywords/>
  <dc:description>generated using python-pptx</dc:description>
  <cp:lastModifiedBy>네트워크팀</cp:lastModifiedBy>
  <cp:revision>1</cp:revision>
  <dcterms:created xsi:type="dcterms:W3CDTF">2013-01-27T09:14:16Z</dcterms:created>
  <dcterms:modified xsi:type="dcterms:W3CDTF">2013-01-27T09:15:58Z</dcterms:modified>
  <cp:category>사내 제한</cp:category>
</cp:coreProperties>
</file>