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84200" y="1651000"/>
            <a:ext cx="1168400" cy="508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84200" y="2108200"/>
            <a:ext cx="11023600" cy="270510"/>
          </a:xfrm>
          <a:prstGeom prst="rect">
            <a:avLst/>
          </a:prstGeom>
          <a:noFill/>
        </p:spPr>
        <p:txBody>
          <a:bodyPr wrap="none" lIns="0" rIns="0" tIns="0" bIns="0" anchor="t">
            <a:spAutoFit/>
          </a:bodyPr>
          <a:lstStyle/>
          <a:p>
            <a:pPr algn="l">
              <a:lnSpc>
                <a:spcPts val="2129"/>
              </a:lnSpc>
              <a:spcBef>
                <a:spcPts val="0"/>
              </a:spcBef>
              <a:spcAft>
                <a:spcPts val="0"/>
              </a:spcAft>
            </a:pPr>
            <a:r>
              <a:rPr sz="1500" b="0">
                <a:solidFill>
                  <a:srgbClr val="5A6270"/>
                </a:solidFill>
                <a:latin typeface="Malgun Gothic"/>
                <a:ea typeface="Malgun Gothic"/>
                <a:cs typeface="Malgun Gothic"/>
              </a:rPr>
              <a:t>가상 ICT 기업 임직원 IT 안내 · 정보보안</a:t>
            </a:r>
          </a:p>
        </p:txBody>
      </p:sp>
      <p:sp>
        <p:nvSpPr>
          <p:cNvPr id="5" name="TextBox 4"/>
          <p:cNvSpPr txBox="1"/>
          <p:nvPr/>
        </p:nvSpPr>
        <p:spPr>
          <a:xfrm>
            <a:off x="584200" y="2489200"/>
            <a:ext cx="11023600" cy="609600"/>
          </a:xfrm>
          <a:prstGeom prst="rect">
            <a:avLst/>
          </a:prstGeom>
          <a:noFill/>
        </p:spPr>
        <p:txBody>
          <a:bodyPr wrap="none" lIns="0" rIns="0" tIns="0" bIns="0" anchor="t">
            <a:spAutoFit/>
          </a:bodyPr>
          <a:lstStyle/>
          <a:p>
            <a:pPr algn="l">
              <a:lnSpc>
                <a:spcPts val="4800"/>
              </a:lnSpc>
              <a:spcBef>
                <a:spcPts val="0"/>
              </a:spcBef>
              <a:spcAft>
                <a:spcPts val="0"/>
              </a:spcAft>
            </a:pPr>
            <a:r>
              <a:rPr sz="4000" b="1">
                <a:solidFill>
                  <a:srgbClr val="1D2433"/>
                </a:solidFill>
                <a:latin typeface="Malgun Gothic"/>
                <a:ea typeface="Malgun Gothic"/>
                <a:cs typeface="Malgun Gothic"/>
              </a:rPr>
              <a:t>피싱·의심 메일 대응 가이드</a:t>
            </a:r>
          </a:p>
        </p:txBody>
      </p:sp>
      <p:sp>
        <p:nvSpPr>
          <p:cNvPr id="6" name="TextBox 5"/>
          <p:cNvSpPr txBox="1"/>
          <p:nvPr/>
        </p:nvSpPr>
        <p:spPr>
          <a:xfrm>
            <a:off x="584200" y="3149600"/>
            <a:ext cx="11023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IT-SEC-001  |  정보보안팀  |  2026.10.16  |  Ver 2.0</a:t>
            </a:r>
          </a:p>
        </p:txBody>
      </p:sp>
      <p:sp>
        <p:nvSpPr>
          <p:cNvPr id="7" name="Rounded Rectangle 6"/>
          <p:cNvSpPr/>
          <p:nvPr/>
        </p:nvSpPr>
        <p:spPr>
          <a:xfrm>
            <a:off x="584200" y="3581400"/>
            <a:ext cx="1680815" cy="304800"/>
          </a:xfrm>
          <a:prstGeom prst="roundRect">
            <a:avLst>
              <a:gd name="adj" fmla="val 1666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300" y="3644900"/>
            <a:ext cx="1680815"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FFFFFF"/>
                </a:solidFill>
                <a:latin typeface="Malgun Gothic"/>
                <a:ea typeface="Malgun Gothic"/>
                <a:cs typeface="Malgun Gothic"/>
              </a:rPr>
              <a:t>사내 일반 · 전 임직원</a:t>
            </a:r>
          </a:p>
        </p:txBody>
      </p:sp>
      <p:sp>
        <p:nvSpPr>
          <p:cNvPr id="9" name="TextBox 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10" name="TextBox 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 /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문서 정보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IT-SEC-001</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752600"/>
        </p:xfrm>
        <a:graphic>
          <a:graphicData uri="http://schemas.openxmlformats.org/drawingml/2006/table">
            <a:tbl>
              <a:tblPr firstRow="0" bandRow="0">
                <a:tableStyleId>{5940675A-B579-460E-94D1-54222C63F5DA}</a:tableStyleId>
              </a:tblPr>
              <a:tblGrid>
                <a:gridCol w="1732280"/>
                <a:gridCol w="3779520"/>
                <a:gridCol w="1732280"/>
                <a:gridCol w="3779520"/>
              </a:tblGrid>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번호</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버전</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분류</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 정보보안</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시행일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유형</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장애 대응</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열람 등급</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일반 (전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관리 부서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승인자</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대상</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담당자 매뉴얼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포함 시나리오</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SEC-01, SEC-04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관련 FAQ</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graphicFrame>
        <p:nvGraphicFramePr>
          <p:cNvPr id="7" name="Table 6"/>
          <p:cNvGraphicFramePr>
            <a:graphicFrameLocks noGrp="1"/>
          </p:cNvGraphicFramePr>
          <p:nvPr/>
        </p:nvGraphicFramePr>
        <p:xfrm>
          <a:off x="584200" y="3022600"/>
          <a:ext cx="11023600" cy="457200"/>
        </p:xfrm>
        <a:graphic>
          <a:graphicData uri="http://schemas.openxmlformats.org/drawingml/2006/table">
            <a:tbl>
              <a:tblPr firstRow="0" bandRow="0">
                <a:tableStyleId>{5940675A-B579-460E-94D1-54222C63F5DA}</a:tableStyleId>
              </a:tblPr>
              <a:tblGrid>
                <a:gridCol w="1732280"/>
                <a:gridCol w="9291320"/>
              </a:tblGrid>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키워드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메일, 의심 메일, 수상한 메일, 피싱 신고, 링크를 눌렀어요, 첨부파일, 매크로, 콘텐츠 사용, 비밀번호 입력, 임원 사칭, 대표 사칭, BEC, 기프트카드, 송금 요청,</a:t>
                      </a:r>
                    </a:p>
                    <a:p>
                      <a:pPr algn="l">
                        <a:lnSpc>
                          <a:spcPts val="1300"/>
                        </a:lnSpc>
                        <a:spcBef>
                          <a:spcPts val="0"/>
                        </a:spcBef>
                        <a:spcAft>
                          <a:spcPts val="0"/>
                        </a:spcAft>
                      </a:pPr>
                      <a:r>
                        <a:rPr sz="1000" b="0">
                          <a:solidFill>
                            <a:srgbClr val="1D2433"/>
                          </a:solidFill>
                          <a:latin typeface="Malgun Gothic"/>
                          <a:ea typeface="Malgun Gothic"/>
                          <a:cs typeface="Malgun Gothic"/>
                        </a:rPr>
                        <a:t>급여명세서, 택배 조회, 연말정산, 인사팀 사칭, 대량 유입, 스미싱, 사칭 전화, 인증번호 요구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Contents</a:t>
            </a:r>
          </a:p>
        </p:txBody>
      </p:sp>
      <p:cxnSp>
        <p:nvCxnSpPr>
          <p:cNvPr id="4" name="Connector 3"/>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65200" y="1244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1. 개요</a:t>
            </a:r>
          </a:p>
        </p:txBody>
      </p:sp>
      <p:cxnSp>
        <p:nvCxnSpPr>
          <p:cNvPr id="6" name="Connector 5"/>
          <p:cNvCxnSpPr/>
          <p:nvPr/>
        </p:nvCxnSpPr>
        <p:spPr>
          <a:xfrm>
            <a:off x="1659892" y="1431290"/>
            <a:ext cx="84239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185400" y="1244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4p</a:t>
            </a:r>
          </a:p>
        </p:txBody>
      </p:sp>
      <p:sp>
        <p:nvSpPr>
          <p:cNvPr id="8" name="TextBox 7"/>
          <p:cNvSpPr txBox="1"/>
          <p:nvPr/>
        </p:nvSpPr>
        <p:spPr>
          <a:xfrm>
            <a:off x="965200" y="16764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2. 먼저 확인할 사항</a:t>
            </a:r>
          </a:p>
        </p:txBody>
      </p:sp>
      <p:cxnSp>
        <p:nvCxnSpPr>
          <p:cNvPr id="9" name="Connector 8"/>
          <p:cNvCxnSpPr/>
          <p:nvPr/>
        </p:nvCxnSpPr>
        <p:spPr>
          <a:xfrm>
            <a:off x="2673908" y="1863090"/>
            <a:ext cx="74098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5400" y="1676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6p</a:t>
            </a:r>
          </a:p>
        </p:txBody>
      </p:sp>
      <p:sp>
        <p:nvSpPr>
          <p:cNvPr id="11" name="TextBox 10"/>
          <p:cNvSpPr txBox="1"/>
          <p:nvPr/>
        </p:nvSpPr>
        <p:spPr>
          <a:xfrm>
            <a:off x="965200" y="21082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3. 증상별 조치 방법</a:t>
            </a:r>
          </a:p>
        </p:txBody>
      </p:sp>
      <p:cxnSp>
        <p:nvCxnSpPr>
          <p:cNvPr id="12" name="Connector 11"/>
          <p:cNvCxnSpPr/>
          <p:nvPr/>
        </p:nvCxnSpPr>
        <p:spPr>
          <a:xfrm>
            <a:off x="2673908" y="2294890"/>
            <a:ext cx="74098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85400" y="2108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9p</a:t>
            </a:r>
          </a:p>
        </p:txBody>
      </p:sp>
      <p:sp>
        <p:nvSpPr>
          <p:cNvPr id="14" name="TextBox 13"/>
          <p:cNvSpPr txBox="1"/>
          <p:nvPr/>
        </p:nvSpPr>
        <p:spPr>
          <a:xfrm>
            <a:off x="965200" y="25400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4. 자주 묻는 질문</a:t>
            </a:r>
          </a:p>
        </p:txBody>
      </p:sp>
      <p:cxnSp>
        <p:nvCxnSpPr>
          <p:cNvPr id="15" name="Connector 14"/>
          <p:cNvCxnSpPr/>
          <p:nvPr/>
        </p:nvCxnSpPr>
        <p:spPr>
          <a:xfrm>
            <a:off x="2496108" y="2726690"/>
            <a:ext cx="75876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5400" y="25400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23p</a:t>
            </a:r>
          </a:p>
        </p:txBody>
      </p:sp>
      <p:sp>
        <p:nvSpPr>
          <p:cNvPr id="17" name="TextBox 16"/>
          <p:cNvSpPr txBox="1"/>
          <p:nvPr/>
        </p:nvSpPr>
        <p:spPr>
          <a:xfrm>
            <a:off x="965200" y="29718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5. 주의사항</a:t>
            </a:r>
          </a:p>
        </p:txBody>
      </p:sp>
      <p:cxnSp>
        <p:nvCxnSpPr>
          <p:cNvPr id="18" name="Connector 17"/>
          <p:cNvCxnSpPr/>
          <p:nvPr/>
        </p:nvCxnSpPr>
        <p:spPr>
          <a:xfrm>
            <a:off x="2015492" y="3158490"/>
            <a:ext cx="80683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5400" y="29718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25p</a:t>
            </a:r>
          </a:p>
        </p:txBody>
      </p:sp>
      <p:sp>
        <p:nvSpPr>
          <p:cNvPr id="20" name="TextBox 19"/>
          <p:cNvSpPr txBox="1"/>
          <p:nvPr/>
        </p:nvSpPr>
        <p:spPr>
          <a:xfrm>
            <a:off x="965200" y="3403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6. 문의처</a:t>
            </a:r>
          </a:p>
        </p:txBody>
      </p:sp>
      <p:cxnSp>
        <p:nvCxnSpPr>
          <p:cNvPr id="21" name="Connector 20"/>
          <p:cNvCxnSpPr/>
          <p:nvPr/>
        </p:nvCxnSpPr>
        <p:spPr>
          <a:xfrm>
            <a:off x="1837692" y="3590290"/>
            <a:ext cx="82461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185400" y="3403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27p</a:t>
            </a:r>
          </a:p>
        </p:txBody>
      </p:sp>
      <p:sp>
        <p:nvSpPr>
          <p:cNvPr id="23" name="TextBox 22"/>
          <p:cNvSpPr txBox="1"/>
          <p:nvPr/>
        </p:nvSpPr>
        <p:spPr>
          <a:xfrm>
            <a:off x="965200" y="38354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부록 · 관련 문서 · 용어</a:t>
            </a:r>
          </a:p>
        </p:txBody>
      </p:sp>
      <p:cxnSp>
        <p:nvCxnSpPr>
          <p:cNvPr id="24" name="Connector 23"/>
          <p:cNvCxnSpPr/>
          <p:nvPr/>
        </p:nvCxnSpPr>
        <p:spPr>
          <a:xfrm>
            <a:off x="2710706" y="4002088"/>
            <a:ext cx="737309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5400" y="3835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29p</a:t>
            </a:r>
          </a:p>
        </p:txBody>
      </p:sp>
      <p:sp>
        <p:nvSpPr>
          <p:cNvPr id="26" name="TextBox 25"/>
          <p:cNvSpPr txBox="1"/>
          <p:nvPr/>
        </p:nvSpPr>
        <p:spPr>
          <a:xfrm>
            <a:off x="965200" y="42672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개정 이력</a:t>
            </a:r>
          </a:p>
        </p:txBody>
      </p:sp>
      <p:cxnSp>
        <p:nvCxnSpPr>
          <p:cNvPr id="27" name="Connector 26"/>
          <p:cNvCxnSpPr/>
          <p:nvPr/>
        </p:nvCxnSpPr>
        <p:spPr>
          <a:xfrm>
            <a:off x="1783011" y="4433888"/>
            <a:ext cx="8300789"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5400" y="4267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31p</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01</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개요</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개요</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01. 개요</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84213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목적</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의심 메일을 구별하고 [피싱 신고] 버튼으로</a:t>
            </a:r>
          </a:p>
          <a:p>
            <a:pPr algn="l">
              <a:lnSpc>
                <a:spcPts val="1562"/>
              </a:lnSpc>
              <a:spcBef>
                <a:spcPts val="0"/>
              </a:spcBef>
              <a:spcAft>
                <a:spcPts val="0"/>
              </a:spcAft>
            </a:pPr>
            <a:r>
              <a:rPr sz="1100" b="0">
                <a:solidFill>
                  <a:srgbClr val="1D2433"/>
                </a:solidFill>
                <a:latin typeface="Malgun Gothic"/>
                <a:ea typeface="Malgun Gothic"/>
                <a:cs typeface="Malgun Gothic"/>
              </a:rPr>
              <a:t>신고하는 방법을 안내합니다.</a:t>
            </a:r>
          </a:p>
        </p:txBody>
      </p:sp>
      <p:sp>
        <p:nvSpPr>
          <p:cNvPr id="11" name="TextBox 10"/>
          <p:cNvSpPr txBox="1"/>
          <p:nvPr/>
        </p:nvSpPr>
        <p:spPr>
          <a:xfrm>
            <a:off x="711200"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링크를 눌렀거나 비밀번호를 입력했을 때 바로 할</a:t>
            </a:r>
          </a:p>
          <a:p>
            <a:pPr algn="l">
              <a:lnSpc>
                <a:spcPts val="1562"/>
              </a:lnSpc>
              <a:spcBef>
                <a:spcPts val="0"/>
              </a:spcBef>
              <a:spcAft>
                <a:spcPts val="0"/>
              </a:spcAft>
            </a:pPr>
            <a:r>
              <a:rPr sz="1100" b="0">
                <a:solidFill>
                  <a:srgbClr val="1D2433"/>
                </a:solidFill>
                <a:latin typeface="Malgun Gothic"/>
                <a:ea typeface="Malgun Gothic"/>
                <a:cs typeface="Malgun Gothic"/>
              </a:rPr>
              <a:t>일을 안내합니다.</a:t>
            </a:r>
          </a:p>
        </p:txBody>
      </p:sp>
      <p:sp>
        <p:nvSpPr>
          <p:cNvPr id="13" name="TextBox 12"/>
          <p:cNvSpPr txBox="1"/>
          <p:nvPr/>
        </p:nvSpPr>
        <p:spPr>
          <a:xfrm>
            <a:off x="711200" y="2448687"/>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4" name="TextBox 13"/>
          <p:cNvSpPr txBox="1"/>
          <p:nvPr/>
        </p:nvSpPr>
        <p:spPr>
          <a:xfrm>
            <a:off x="838200" y="2448687"/>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여러 사람이 같은 메일을 받았을 때 신고하는</a:t>
            </a:r>
          </a:p>
          <a:p>
            <a:pPr algn="l">
              <a:lnSpc>
                <a:spcPts val="1562"/>
              </a:lnSpc>
              <a:spcBef>
                <a:spcPts val="0"/>
              </a:spcBef>
              <a:spcAft>
                <a:spcPts val="0"/>
              </a:spcAft>
            </a:pPr>
            <a:r>
              <a:rPr sz="1100" b="0">
                <a:solidFill>
                  <a:srgbClr val="1D2433"/>
                </a:solidFill>
                <a:latin typeface="Malgun Gothic"/>
                <a:ea typeface="Malgun Gothic"/>
                <a:cs typeface="Malgun Gothic"/>
              </a:rPr>
              <a:t>방법을 안내합니다.</a:t>
            </a:r>
          </a:p>
        </p:txBody>
      </p:sp>
      <p:sp>
        <p:nvSpPr>
          <p:cNvPr id="15" name="Rectangle 14"/>
          <p:cNvSpPr/>
          <p:nvPr/>
        </p:nvSpPr>
        <p:spPr>
          <a:xfrm>
            <a:off x="4309533" y="1168400"/>
            <a:ext cx="3572933" cy="184213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대상</a:t>
            </a:r>
          </a:p>
        </p:txBody>
      </p:sp>
      <p:sp>
        <p:nvSpPr>
          <p:cNvPr id="18" name="TextBox 17"/>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사내 메일을 쓰는 전 임직원이 대상입니다.</a:t>
            </a:r>
          </a:p>
        </p:txBody>
      </p:sp>
      <p:sp>
        <p:nvSpPr>
          <p:cNvPr id="20" name="TextBox 19"/>
          <p:cNvSpPr txBox="1"/>
          <p:nvPr/>
        </p:nvSpPr>
        <p:spPr>
          <a:xfrm>
            <a:off x="4436533"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1" name="TextBox 20"/>
          <p:cNvSpPr txBox="1"/>
          <p:nvPr/>
        </p:nvSpPr>
        <p:spPr>
          <a:xfrm>
            <a:off x="4563533" y="1815465"/>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메일 대신 문자·메신저·전화로 온 사칭 연락도 이</a:t>
            </a:r>
          </a:p>
          <a:p>
            <a:pPr algn="l">
              <a:lnSpc>
                <a:spcPts val="1562"/>
              </a:lnSpc>
              <a:spcBef>
                <a:spcPts val="0"/>
              </a:spcBef>
              <a:spcAft>
                <a:spcPts val="0"/>
              </a:spcAft>
            </a:pPr>
            <a:r>
              <a:rPr sz="1100" b="0">
                <a:solidFill>
                  <a:srgbClr val="1D2433"/>
                </a:solidFill>
                <a:latin typeface="Malgun Gothic"/>
                <a:ea typeface="Malgun Gothic"/>
                <a:cs typeface="Malgun Gothic"/>
              </a:rPr>
              <a:t>문서에서 다룹니다.</a:t>
            </a:r>
          </a:p>
        </p:txBody>
      </p:sp>
      <p:sp>
        <p:nvSpPr>
          <p:cNvPr id="22" name="TextBox 21"/>
          <p:cNvSpPr txBox="1"/>
          <p:nvPr/>
        </p:nvSpPr>
        <p:spPr>
          <a:xfrm>
            <a:off x="4436533" y="22503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3" name="TextBox 22"/>
          <p:cNvSpPr txBox="1"/>
          <p:nvPr/>
        </p:nvSpPr>
        <p:spPr>
          <a:xfrm>
            <a:off x="4563533" y="2250313"/>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보안 프로그램 알림은 IT-SEC-002, 모르는 로그인</a:t>
            </a:r>
          </a:p>
          <a:p>
            <a:pPr algn="l">
              <a:lnSpc>
                <a:spcPts val="1562"/>
              </a:lnSpc>
              <a:spcBef>
                <a:spcPts val="0"/>
              </a:spcBef>
              <a:spcAft>
                <a:spcPts val="0"/>
              </a:spcAft>
            </a:pPr>
            <a:r>
              <a:rPr sz="1100" b="0">
                <a:solidFill>
                  <a:srgbClr val="1D2433"/>
                </a:solidFill>
                <a:latin typeface="Malgun Gothic"/>
                <a:ea typeface="Malgun Gothic"/>
                <a:cs typeface="Malgun Gothic"/>
              </a:rPr>
              <a:t>알림은 IT-SEC-003을 봅니다.</a:t>
            </a:r>
          </a:p>
        </p:txBody>
      </p:sp>
      <p:sp>
        <p:nvSpPr>
          <p:cNvPr id="24" name="Rectangle 23"/>
          <p:cNvSpPr/>
          <p:nvPr/>
        </p:nvSpPr>
        <p:spPr>
          <a:xfrm>
            <a:off x="8034867" y="1168400"/>
            <a:ext cx="3572933" cy="184213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환경</a:t>
            </a:r>
          </a:p>
        </p:txBody>
      </p:sp>
      <p:sp>
        <p:nvSpPr>
          <p:cNvPr id="27" name="TextBox 26"/>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그룹웨어 [메일] (PC·모바일)</a:t>
            </a:r>
          </a:p>
        </p:txBody>
      </p:sp>
      <p:sp>
        <p:nvSpPr>
          <p:cNvPr id="29" name="TextBox 28"/>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30" name="TextBox 29"/>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메일 보안 ([피싱 신고] 버튼)</a:t>
            </a:r>
          </a:p>
        </p:txBody>
      </p:sp>
      <p:sp>
        <p:nvSpPr>
          <p:cNvPr id="31" name="TextBox 30"/>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32" name="TextBox 31"/>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Windows / macOS</a:t>
            </a:r>
          </a:p>
        </p:txBody>
      </p:sp>
      <p:sp>
        <p:nvSpPr>
          <p:cNvPr id="33" name="TextBox 3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4" name="TextBox 3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02</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먼저 확인할 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먼저 확인할 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먼저 확인할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조치하기 전에 확인합니다</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링크나 첨부파일을 누르기 전에 </a:t>
            </a:r>
            <a:r>
              <a:rPr sz="1150" b="1">
                <a:solidFill>
                  <a:srgbClr val="1D2433"/>
                </a:solidFill>
                <a:latin typeface="Malgun Gothic"/>
                <a:ea typeface="Malgun Gothic"/>
                <a:cs typeface="Malgun Gothic"/>
              </a:rPr>
              <a:t>보낸 사람 주소</a:t>
            </a:r>
            <a:r>
              <a:rPr sz="1150" b="0">
                <a:solidFill>
                  <a:srgbClr val="1D2433"/>
                </a:solidFill>
                <a:latin typeface="Malgun Gothic"/>
                <a:ea typeface="Malgun Gothic"/>
                <a:cs typeface="Malgun Gothic"/>
              </a:rPr>
              <a:t>를 확인합니다. 표시 이름이 아니라 @ 뒤의 주소를 봅니다.</a:t>
            </a:r>
          </a:p>
        </p:txBody>
      </p:sp>
      <p:sp>
        <p:nvSpPr>
          <p:cNvPr id="9" name="TextBox 8"/>
          <p:cNvSpPr txBox="1"/>
          <p:nvPr/>
        </p:nvSpPr>
        <p:spPr>
          <a:xfrm>
            <a:off x="635000" y="17320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0" name="TextBox 9"/>
          <p:cNvSpPr txBox="1"/>
          <p:nvPr/>
        </p:nvSpPr>
        <p:spPr>
          <a:xfrm>
            <a:off x="838200" y="17320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 메일 주소는 ict.example로 끝납니다. 철자가 비슷한 주소(예: hanvva-ict)는 외부 메일입니다.</a:t>
            </a:r>
          </a:p>
        </p:txBody>
      </p:sp>
      <p:sp>
        <p:nvSpPr>
          <p:cNvPr id="11" name="TextBox 10"/>
          <p:cNvSpPr txBox="1"/>
          <p:nvPr/>
        </p:nvSpPr>
        <p:spPr>
          <a:xfrm>
            <a:off x="635000" y="197116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2" name="TextBox 11"/>
          <p:cNvSpPr txBox="1"/>
          <p:nvPr/>
        </p:nvSpPr>
        <p:spPr>
          <a:xfrm>
            <a:off x="838200" y="197116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의심 메일은 지우지 말고 </a:t>
            </a:r>
            <a:r>
              <a:rPr sz="1150" b="1">
                <a:solidFill>
                  <a:srgbClr val="1D2433"/>
                </a:solidFill>
                <a:latin typeface="Malgun Gothic"/>
                <a:ea typeface="Malgun Gothic"/>
                <a:cs typeface="Malgun Gothic"/>
              </a:rPr>
              <a:t>[피싱 신고]</a:t>
            </a:r>
            <a:r>
              <a:rPr sz="1150" b="0">
                <a:solidFill>
                  <a:srgbClr val="1D2433"/>
                </a:solidFill>
                <a:latin typeface="Malgun Gothic"/>
                <a:ea typeface="Malgun Gothic"/>
                <a:cs typeface="Malgun Gothic"/>
              </a:rPr>
              <a:t> 버튼으로 신고합니다. 지우면 같은 메일을 받은 다른 사람을 찾기 어렵습니다.</a:t>
            </a:r>
          </a:p>
        </p:txBody>
      </p:sp>
      <p:sp>
        <p:nvSpPr>
          <p:cNvPr id="13" name="TextBox 12"/>
          <p:cNvSpPr txBox="1"/>
          <p:nvPr/>
        </p:nvSpPr>
        <p:spPr>
          <a:xfrm>
            <a:off x="635000" y="221030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4" name="TextBox 13"/>
          <p:cNvSpPr txBox="1"/>
          <p:nvPr/>
        </p:nvSpPr>
        <p:spPr>
          <a:xfrm>
            <a:off x="838200" y="221030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이미 링크·첨부를 눌렀거나 비밀번호를 입력했다면 이 문서를 끝까지 읽기 전에 </a:t>
            </a:r>
            <a:r>
              <a:rPr sz="1150" b="1">
                <a:solidFill>
                  <a:srgbClr val="1D2433"/>
                </a:solidFill>
                <a:latin typeface="Malgun Gothic"/>
                <a:ea typeface="Malgun Gothic"/>
                <a:cs typeface="Malgun Gothic"/>
              </a:rPr>
              <a:t>정보보안팀(내선 1119)</a:t>
            </a:r>
            <a:r>
              <a:rPr sz="1150" b="0">
                <a:solidFill>
                  <a:srgbClr val="1D2433"/>
                </a:solidFill>
                <a:latin typeface="Malgun Gothic"/>
                <a:ea typeface="Malgun Gothic"/>
                <a:cs typeface="Malgun Gothic"/>
              </a:rPr>
              <a:t> 에 먼저 연락합니다.</a:t>
            </a:r>
          </a:p>
        </p:txBody>
      </p:sp>
      <p:sp>
        <p:nvSpPr>
          <p:cNvPr id="15" name="TextBox 14"/>
          <p:cNvSpPr txBox="1"/>
          <p:nvPr/>
        </p:nvSpPr>
        <p:spPr>
          <a:xfrm>
            <a:off x="635000" y="244944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244944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팀원 여러 명이 같은 메일을 받았다면 3.5를 따릅니다.</a:t>
            </a:r>
          </a:p>
        </p:txBody>
      </p:sp>
      <p:sp>
        <p:nvSpPr>
          <p:cNvPr id="17" name="Rectangle 16"/>
          <p:cNvSpPr/>
          <p:nvPr/>
        </p:nvSpPr>
        <p:spPr>
          <a:xfrm>
            <a:off x="584200" y="2739390"/>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1200" y="284099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빨리 알릴수록 피해가 줄어듭니다</a:t>
            </a:r>
          </a:p>
        </p:txBody>
      </p:sp>
      <p:sp>
        <p:nvSpPr>
          <p:cNvPr id="19" name="TextBox 18"/>
          <p:cNvSpPr txBox="1"/>
          <p:nvPr/>
        </p:nvSpPr>
        <p:spPr>
          <a:xfrm>
            <a:off x="711200" y="3077464"/>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실수로 눌렀더라도 숨기지 말고 바로 알려 주세요. 신고했다고 불이익을 받지 않습니다.</a:t>
            </a:r>
          </a:p>
        </p:txBody>
      </p:sp>
      <p:sp>
        <p:nvSpPr>
          <p:cNvPr id="20" name="TextBox 19"/>
          <p:cNvSpPr txBox="1"/>
          <p:nvPr/>
        </p:nvSpPr>
        <p:spPr>
          <a:xfrm>
            <a:off x="584200" y="347903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의심 메일 구별법 (하나라도 해당하면 의심합니다)</a:t>
            </a:r>
          </a:p>
        </p:txBody>
      </p:sp>
      <p:graphicFrame>
        <p:nvGraphicFramePr>
          <p:cNvPr id="21" name="Table 20"/>
          <p:cNvGraphicFramePr>
            <a:graphicFrameLocks noGrp="1"/>
          </p:cNvGraphicFramePr>
          <p:nvPr/>
        </p:nvGraphicFramePr>
        <p:xfrm>
          <a:off x="584200" y="3803523"/>
          <a:ext cx="11023600" cy="2044700"/>
        </p:xfrm>
        <a:graphic>
          <a:graphicData uri="http://schemas.openxmlformats.org/drawingml/2006/table">
            <a:tbl>
              <a:tblPr firstRow="0" bandRow="0">
                <a:tableStyleId>{5940675A-B579-460E-94D1-54222C63F5DA}</a:tableStyleId>
              </a:tblPr>
              <a:tblGrid>
                <a:gridCol w="2515993"/>
                <a:gridCol w="850760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확인할 곳</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이런 점이 보이면 의심합니다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보낸 사람 주소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표시 이름은 회사 사람이나 부서인데 주소가 외부 도메인이거나 철자가 비슷합니다.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제목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'급여명세서', '택배 조회', '연말정산', '계정 만료'처럼 바로 열어 보게 만드는 제목입니다.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"오늘 안에", "다른 사람에게는 말하지 말고"처럼 서두르게 하거나 비밀을 요구합니다.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로그인 화면으로 연결합니다. 링크 위에 마우스를 올리면 보이는 주소가 회사 주소가 아닙니다.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첨부파일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압축 파일(.zip), 실행 파일(.exe)이거나, 열면 [콘텐츠 사용]을 누르라고 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비밀번호·인증번호 입력, 송금·계좌 변경, 기프트카드 구매, 자료 전달을 요청합니다.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22" name="TextBox 2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23" name="TextBox 2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먼저 확인할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먼저 확인할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증상별 바로가기</a:t>
            </a:r>
          </a:p>
        </p:txBody>
      </p:sp>
      <p:graphicFrame>
        <p:nvGraphicFramePr>
          <p:cNvPr id="7" name="Table 6"/>
          <p:cNvGraphicFramePr>
            <a:graphicFrameLocks noGrp="1"/>
          </p:cNvGraphicFramePr>
          <p:nvPr/>
        </p:nvGraphicFramePr>
        <p:xfrm>
          <a:off x="584200" y="1492885"/>
          <a:ext cx="11023601" cy="2628900"/>
        </p:xfrm>
        <a:graphic>
          <a:graphicData uri="http://schemas.openxmlformats.org/drawingml/2006/table">
            <a:tbl>
              <a:tblPr firstRow="0" bandRow="0">
                <a:tableStyleId>{5940675A-B579-460E-94D1-54222C63F5DA}</a:tableStyleId>
              </a:tblPr>
              <a:tblGrid>
                <a:gridCol w="6239774"/>
                <a:gridCol w="2079925"/>
                <a:gridCol w="2703902"/>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겪고 있는 증상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볼 곳</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의심 메일을 받았다. 열어 보기만 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임원·거래처 이름으로 송금·기프트카드·자료를 요청하는 메일을 받았다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메일의 링크를 눌렀거나 첨부파일을 열었다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 링크로 열린 화면에 아이디·비밀번호를 입력했다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팀원 여러 명이 같은 의심 메일을 받았다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문자·메신저·전화로 비밀번호나 인증번호를 요구받았다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프로그램이 위협을 탐지했다는 알림이 떴다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내가 하지 않은 로그인 알림을 받았다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IT-SEC-003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03</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증상별 조치 방법</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증상별 조치 방법</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044700"/>
        </p:xfrm>
        <a:graphic>
          <a:graphicData uri="http://schemas.openxmlformats.org/drawingml/2006/table">
            <a:tbl>
              <a:tblPr firstRow="0" bandRow="0">
                <a:tableStyleId>{5940675A-B579-460E-94D1-54222C63F5DA}</a:tableStyleId>
              </a:tblPr>
              <a:tblGrid>
                <a:gridCol w="787400"/>
                <a:gridCol w="5511800"/>
                <a:gridCol w="1259840"/>
                <a:gridCol w="1889760"/>
                <a:gridCol w="1574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제목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문의 유형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담당 부서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의심 메일을 받았을 때 (열어 보기만 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임원·거래처를 사칭해 송금·구매·자료를 요청할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링크를 눌렀거나 첨부파일을 열었을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화면에 아이디·비밀번호를 입력했을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여러 사람이 같은 의심 메일을 받았을 때 (대량 유입)</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B8430E"/>
                          </a:solidFill>
                          <a:latin typeface="Malgun Gothic"/>
                          <a:ea typeface="Malgun Gothic"/>
                          <a:cs typeface="Malgun Gothic"/>
                        </a:rPr>
                        <a:t>즉시 신고·이관</a:t>
                      </a:r>
                    </a:p>
                  </a:txBody>
                  <a:tcPr marL="76200" marR="76200" marT="63500" marB="63500" anchor="t">
                    <a:solidFill>
                      <a:srgbClr val="FBE3DC"/>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문자·메신저·전화로 사칭 연락을 받았을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의심 메일을 받았을 때 (열어 보기만 함)</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SEC-01</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9851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7471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40356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7976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19096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26716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8965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727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FAQ-030</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'급여명세서 확인' 제목으로 이상한 링크가 있는 메일이 왔습니다. 링크와 첨부는 누르지 않았습니다.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보낸 사람 이름은 회사 부서인데 주소가 회사 주소와 조금 다릅니다.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외부에서 보낸 피싱 메일입니다. 계정 정보를 빼내거나 악성코드를 설치하려는 목적입니다.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링크·첨부파일을 누르지 않고, 회신하거나 전달하지 않습니다.</a:t>
            </a:r>
          </a:p>
        </p:txBody>
      </p:sp>
      <p:sp>
        <p:nvSpPr>
          <p:cNvPr id="33" name="TextBox 32"/>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619119"/>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보낸 사람 주소와 2장의 구별법을 확인합니다.</a:t>
            </a:r>
          </a:p>
        </p:txBody>
      </p:sp>
      <p:sp>
        <p:nvSpPr>
          <p:cNvPr id="35" name="TextBox 34"/>
          <p:cNvSpPr txBox="1"/>
          <p:nvPr/>
        </p:nvSpPr>
        <p:spPr>
          <a:xfrm>
            <a:off x="584200" y="385826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3858260"/>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메일을 연 상태에서 위쪽의 </a:t>
            </a:r>
            <a:r>
              <a:rPr sz="1150" b="1">
                <a:solidFill>
                  <a:srgbClr val="1D2433"/>
                </a:solidFill>
                <a:latin typeface="Malgun Gothic"/>
                <a:ea typeface="Malgun Gothic"/>
                <a:cs typeface="Malgun Gothic"/>
              </a:rPr>
              <a:t>[피싱 신고]</a:t>
            </a:r>
            <a:r>
              <a:rPr sz="1150" b="0">
                <a:solidFill>
                  <a:srgbClr val="1D2433"/>
                </a:solidFill>
                <a:latin typeface="Malgun Gothic"/>
                <a:ea typeface="Malgun Gothic"/>
                <a:cs typeface="Malgun Gothic"/>
              </a:rPr>
              <a:t> 를 누릅니다.</a:t>
            </a:r>
          </a:p>
        </p:txBody>
      </p:sp>
      <p:sp>
        <p:nvSpPr>
          <p:cNvPr id="37" name="TextBox 36"/>
          <p:cNvSpPr txBox="1"/>
          <p:nvPr/>
        </p:nvSpPr>
        <p:spPr>
          <a:xfrm>
            <a:off x="584200" y="409740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09740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확인 창에서 </a:t>
            </a:r>
            <a:r>
              <a:rPr sz="1150" b="1">
                <a:solidFill>
                  <a:srgbClr val="1D2433"/>
                </a:solidFill>
                <a:latin typeface="Malgun Gothic"/>
                <a:ea typeface="Malgun Gothic"/>
                <a:cs typeface="Malgun Gothic"/>
              </a:rPr>
              <a:t>[신고]</a:t>
            </a:r>
            <a:r>
              <a:rPr sz="1150" b="0">
                <a:solidFill>
                  <a:srgbClr val="1D2433"/>
                </a:solidFill>
                <a:latin typeface="Malgun Gothic"/>
                <a:ea typeface="Malgun Gothic"/>
                <a:cs typeface="Malgun Gothic"/>
              </a:rPr>
              <a:t> 를 누릅니다. 신고한 메일은 받은편지함에서</a:t>
            </a:r>
          </a:p>
          <a:p>
            <a:pPr algn="l">
              <a:lnSpc>
                <a:spcPts val="1632"/>
              </a:lnSpc>
              <a:spcBef>
                <a:spcPts val="0"/>
              </a:spcBef>
              <a:spcAft>
                <a:spcPts val="0"/>
              </a:spcAft>
            </a:pPr>
            <a:r>
              <a:rPr sz="1150" b="0">
                <a:solidFill>
                  <a:srgbClr val="1D2433"/>
                </a:solidFill>
                <a:latin typeface="Malgun Gothic"/>
                <a:ea typeface="Malgun Gothic"/>
                <a:cs typeface="Malgun Gothic"/>
              </a:rPr>
              <a:t>사라집니다.</a:t>
            </a:r>
          </a:p>
        </p:txBody>
      </p:sp>
      <p:sp>
        <p:nvSpPr>
          <p:cNvPr id="39" name="Rectangle 38"/>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sec001_31_report.png"/>
          <p:cNvPicPr>
            <a:picLocks noChangeAspect="1"/>
          </p:cNvPicPr>
          <p:nvPr/>
        </p:nvPicPr>
        <p:blipFill>
          <a:blip r:embed="rId2"/>
          <a:stretch>
            <a:fillRect/>
          </a:stretch>
        </p:blipFill>
        <p:spPr>
          <a:xfrm>
            <a:off x="6537080" y="3379978"/>
            <a:ext cx="4417296" cy="2713482"/>
          </a:xfrm>
          <a:prstGeom prst="rect">
            <a:avLst/>
          </a:prstGeom>
        </p:spPr>
      </p:pic>
      <p:sp>
        <p:nvSpPr>
          <p:cNvPr id="41" name="TextBox 40"/>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3.1-1. ① 보낸 사람 주소 확인 → ② [피싱 신고] → ③ [신고]</a:t>
            </a:r>
          </a:p>
        </p:txBody>
      </p:sp>
      <p:sp>
        <p:nvSpPr>
          <p:cNvPr id="42" name="TextBox 4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43" name="TextBox 4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의심 메일을 받았을 때 (열어 보기만 함)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204050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'신고가 접수되었습니다' 안내가 나오고 메일이</a:t>
            </a:r>
          </a:p>
          <a:p>
            <a:pPr algn="l">
              <a:lnSpc>
                <a:spcPts val="1562"/>
              </a:lnSpc>
              <a:spcBef>
                <a:spcPts val="0"/>
              </a:spcBef>
              <a:spcAft>
                <a:spcPts val="0"/>
              </a:spcAft>
            </a:pPr>
            <a:r>
              <a:rPr sz="1100" b="0">
                <a:solidFill>
                  <a:srgbClr val="1D2433"/>
                </a:solidFill>
                <a:latin typeface="Malgun Gothic"/>
                <a:ea typeface="Malgun Gothic"/>
                <a:cs typeface="Malgun Gothic"/>
              </a:rPr>
              <a:t>받은편지함에서 사라지면 끝난 것입니다. 추가로</a:t>
            </a:r>
          </a:p>
          <a:p>
            <a:pPr algn="l">
              <a:lnSpc>
                <a:spcPts val="1562"/>
              </a:lnSpc>
              <a:spcBef>
                <a:spcPts val="0"/>
              </a:spcBef>
              <a:spcAft>
                <a:spcPts val="0"/>
              </a:spcAft>
            </a:pPr>
            <a:r>
              <a:rPr sz="1100" b="0">
                <a:solidFill>
                  <a:srgbClr val="1D2433"/>
                </a:solidFill>
                <a:latin typeface="Malgun Gothic"/>
                <a:ea typeface="Malgun Gothic"/>
                <a:cs typeface="Malgun Gothic"/>
              </a:rPr>
              <a:t>할 일은 없습니다.</a:t>
            </a:r>
          </a:p>
        </p:txBody>
      </p:sp>
      <p:sp>
        <p:nvSpPr>
          <p:cNvPr id="11" name="Rectangle 10"/>
          <p:cNvSpPr/>
          <p:nvPr/>
        </p:nvSpPr>
        <p:spPr>
          <a:xfrm>
            <a:off x="4309533" y="1168400"/>
            <a:ext cx="3572933" cy="204050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[피싱 신고] 버튼이 보이지 않으면 메일을 지우지</a:t>
            </a:r>
          </a:p>
          <a:p>
            <a:pPr algn="l">
              <a:lnSpc>
                <a:spcPts val="1562"/>
              </a:lnSpc>
              <a:spcBef>
                <a:spcPts val="0"/>
              </a:spcBef>
              <a:spcAft>
                <a:spcPts val="0"/>
              </a:spcAft>
            </a:pPr>
            <a:r>
              <a:rPr sz="1100" b="0">
                <a:solidFill>
                  <a:srgbClr val="1D2433"/>
                </a:solidFill>
                <a:latin typeface="Malgun Gothic"/>
                <a:ea typeface="Malgun Gothic"/>
                <a:cs typeface="Malgun Gothic"/>
              </a:rPr>
              <a:t>말고 ITssue 챗봇에 메일 제목과 보낸 사람 주소를</a:t>
            </a:r>
          </a:p>
          <a:p>
            <a:pPr algn="l">
              <a:lnSpc>
                <a:spcPts val="1562"/>
              </a:lnSpc>
              <a:spcBef>
                <a:spcPts val="0"/>
              </a:spcBef>
              <a:spcAft>
                <a:spcPts val="0"/>
              </a:spcAft>
            </a:pPr>
            <a:r>
              <a:rPr sz="1100" b="0">
                <a:solidFill>
                  <a:srgbClr val="1D2433"/>
                </a:solidFill>
                <a:latin typeface="Malgun Gothic"/>
                <a:ea typeface="Malgun Gothic"/>
                <a:cs typeface="Malgun Gothic"/>
              </a:rPr>
              <a:t>알립니다.</a:t>
            </a:r>
          </a:p>
        </p:txBody>
      </p:sp>
      <p:sp>
        <p:nvSpPr>
          <p:cNvPr id="16" name="TextBox 15"/>
          <p:cNvSpPr txBox="1"/>
          <p:nvPr/>
        </p:nvSpPr>
        <p:spPr>
          <a:xfrm>
            <a:off x="4436533" y="22122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212213"/>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링크·첨부를 이미 눌렀다면 3.3, 비밀번호를</a:t>
            </a:r>
          </a:p>
          <a:p>
            <a:pPr algn="l">
              <a:lnSpc>
                <a:spcPts val="1562"/>
              </a:lnSpc>
              <a:spcBef>
                <a:spcPts val="0"/>
              </a:spcBef>
              <a:spcAft>
                <a:spcPts val="0"/>
              </a:spcAft>
            </a:pPr>
            <a:r>
              <a:rPr sz="1100" b="0">
                <a:solidFill>
                  <a:srgbClr val="1D2433"/>
                </a:solidFill>
                <a:latin typeface="Malgun Gothic"/>
                <a:ea typeface="Malgun Gothic"/>
                <a:cs typeface="Malgun Gothic"/>
              </a:rPr>
              <a:t>입력했다면 3.4를 따릅니다.</a:t>
            </a:r>
          </a:p>
        </p:txBody>
      </p:sp>
      <p:sp>
        <p:nvSpPr>
          <p:cNvPr id="18" name="TextBox 17"/>
          <p:cNvSpPr txBox="1"/>
          <p:nvPr/>
        </p:nvSpPr>
        <p:spPr>
          <a:xfrm>
            <a:off x="4436533" y="264706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264706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팀원 여러 명이 같은 메일을 받았다면 3.5를</a:t>
            </a:r>
          </a:p>
          <a:p>
            <a:pPr algn="l">
              <a:lnSpc>
                <a:spcPts val="1562"/>
              </a:lnSpc>
              <a:spcBef>
                <a:spcPts val="0"/>
              </a:spcBef>
              <a:spcAft>
                <a:spcPts val="0"/>
              </a:spcAft>
            </a:pPr>
            <a:r>
              <a:rPr sz="1100" b="0">
                <a:solidFill>
                  <a:srgbClr val="1D2433"/>
                </a:solidFill>
                <a:latin typeface="Malgun Gothic"/>
                <a:ea typeface="Malgun Gothic"/>
                <a:cs typeface="Malgun Gothic"/>
              </a:rPr>
              <a:t>따릅니다.</a:t>
            </a:r>
          </a:p>
        </p:txBody>
      </p:sp>
      <p:sp>
        <p:nvSpPr>
          <p:cNvPr id="20" name="Rectangle 19"/>
          <p:cNvSpPr/>
          <p:nvPr/>
        </p:nvSpPr>
        <p:spPr>
          <a:xfrm>
            <a:off x="8034867" y="1168400"/>
            <a:ext cx="3572933" cy="204050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3" name="TextBox 22"/>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5" name="TextBox 24"/>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메일 제목과 보낸 사람 주소</a:t>
            </a:r>
          </a:p>
        </p:txBody>
      </p:sp>
      <p:sp>
        <p:nvSpPr>
          <p:cNvPr id="27" name="TextBox 26"/>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받은 시각</a:t>
            </a:r>
          </a:p>
        </p:txBody>
      </p:sp>
      <p:sp>
        <p:nvSpPr>
          <p:cNvPr id="29" name="TextBox 28"/>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30" name="TextBox 29"/>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링크·첨부를 눌렀는지</a:t>
            </a:r>
          </a:p>
        </p:txBody>
      </p:sp>
      <p:sp>
        <p:nvSpPr>
          <p:cNvPr id="31" name="Rectangle 30"/>
          <p:cNvSpPr/>
          <p:nvPr/>
        </p:nvSpPr>
        <p:spPr>
          <a:xfrm>
            <a:off x="584200" y="3310509"/>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1200" y="3412109"/>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정상 메일인지 확실하지 않을 때도 [피싱 신고]를 눌러도 됩니다. 정보보안팀이 확인합니다.</a:t>
            </a:r>
          </a:p>
        </p:txBody>
      </p:sp>
      <p:sp>
        <p:nvSpPr>
          <p:cNvPr id="33" name="TextBox 3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4" name="TextBox 3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임원·거래처를 사칭해 송금·구매·자료를 요청할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SEC-01</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9851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7471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40356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7976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19096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26716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8965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727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FAQ-030</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대표님 이름으로 기프트카드 구매를 요청하는 메일이 왔습니다.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거래처 담당자 이름으로 '입금 계좌가 바뀌었다'는 메일이 왔습니다.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임원이나 거래처를 사칭해 돈이나 자료를 보내게 하는 메일(BEC)입니다. 링크·첨부 없이 글만 있어 보안 프로그램에 잘 걸리지 않습니다.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메일에 회신하지 않고, 메일에 적힌 연락처로 연락하지 않습니다.</a:t>
            </a:r>
          </a:p>
        </p:txBody>
      </p:sp>
      <p:sp>
        <p:nvSpPr>
          <p:cNvPr id="33" name="TextBox 32"/>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619119"/>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메신저나 그룹웨어 조직도의 번호로 요청한 본인에게 직접</a:t>
            </a:r>
          </a:p>
          <a:p>
            <a:pPr algn="l">
              <a:lnSpc>
                <a:spcPts val="1632"/>
              </a:lnSpc>
              <a:spcBef>
                <a:spcPts val="0"/>
              </a:spcBef>
              <a:spcAft>
                <a:spcPts val="0"/>
              </a:spcAft>
            </a:pPr>
            <a:r>
              <a:rPr sz="1150" b="0">
                <a:solidFill>
                  <a:srgbClr val="1D2433"/>
                </a:solidFill>
                <a:latin typeface="Malgun Gothic"/>
                <a:ea typeface="Malgun Gothic"/>
                <a:cs typeface="Malgun Gothic"/>
              </a:rPr>
              <a:t>확인합니다. 거래처는 계약서·기존 거래 기록의 연락처로 확인합니다.</a:t>
            </a:r>
          </a:p>
        </p:txBody>
      </p:sp>
      <p:sp>
        <p:nvSpPr>
          <p:cNvPr id="35" name="TextBox 34"/>
          <p:cNvSpPr txBox="1"/>
          <p:nvPr/>
        </p:nvSpPr>
        <p:spPr>
          <a:xfrm>
            <a:off x="584200" y="406565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065651"/>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확인이 끝날 때까지 송금·구매·자료 전달을 하지 않습니다.</a:t>
            </a:r>
          </a:p>
        </p:txBody>
      </p:sp>
      <p:sp>
        <p:nvSpPr>
          <p:cNvPr id="37" name="TextBox 36"/>
          <p:cNvSpPr txBox="1"/>
          <p:nvPr/>
        </p:nvSpPr>
        <p:spPr>
          <a:xfrm>
            <a:off x="584200" y="430479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304792"/>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사칭으로 확인되면 </a:t>
            </a:r>
            <a:r>
              <a:rPr sz="1150" b="1">
                <a:solidFill>
                  <a:srgbClr val="1D2433"/>
                </a:solidFill>
                <a:latin typeface="Malgun Gothic"/>
                <a:ea typeface="Malgun Gothic"/>
                <a:cs typeface="Malgun Gothic"/>
              </a:rPr>
              <a:t>[피싱 신고]</a:t>
            </a:r>
            <a:r>
              <a:rPr sz="1150" b="0">
                <a:solidFill>
                  <a:srgbClr val="1D2433"/>
                </a:solidFill>
                <a:latin typeface="Malgun Gothic"/>
                <a:ea typeface="Malgun Gothic"/>
                <a:cs typeface="Malgun Gothic"/>
              </a:rPr>
              <a:t> 로 신고합니다.</a:t>
            </a:r>
          </a:p>
        </p:txBody>
      </p:sp>
      <p:sp>
        <p:nvSpPr>
          <p:cNvPr id="39" name="Rectangle 38"/>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sec001_32_bec.png"/>
          <p:cNvPicPr>
            <a:picLocks noChangeAspect="1"/>
          </p:cNvPicPr>
          <p:nvPr/>
        </p:nvPicPr>
        <p:blipFill>
          <a:blip r:embed="rId2"/>
          <a:stretch>
            <a:fillRect/>
          </a:stretch>
        </p:blipFill>
        <p:spPr>
          <a:xfrm>
            <a:off x="6537080" y="3379978"/>
            <a:ext cx="4417296" cy="2713482"/>
          </a:xfrm>
          <a:prstGeom prst="rect">
            <a:avLst/>
          </a:prstGeom>
        </p:spPr>
      </p:pic>
      <p:sp>
        <p:nvSpPr>
          <p:cNvPr id="41" name="TextBox 40"/>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3.2-1. ① 외부 주소에서 온 대표이사 이름 메일 ② 서두르고 비밀을 요구하는 문장</a:t>
            </a:r>
          </a:p>
        </p:txBody>
      </p:sp>
      <p:sp>
        <p:nvSpPr>
          <p:cNvPr id="42" name="TextBox 4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43" name="TextBox 4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임원·거래처를 사칭해 송금·구매·자료를 요청할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요청한 본인이 보낸 메일이 아니라고 확인되고</a:t>
            </a:r>
          </a:p>
          <a:p>
            <a:pPr algn="l">
              <a:lnSpc>
                <a:spcPts val="1562"/>
              </a:lnSpc>
              <a:spcBef>
                <a:spcPts val="0"/>
              </a:spcBef>
              <a:spcAft>
                <a:spcPts val="0"/>
              </a:spcAft>
            </a:pPr>
            <a:r>
              <a:rPr sz="1100" b="0">
                <a:solidFill>
                  <a:srgbClr val="1D2433"/>
                </a:solidFill>
                <a:latin typeface="Malgun Gothic"/>
                <a:ea typeface="Malgun Gothic"/>
                <a:cs typeface="Malgun Gothic"/>
              </a:rPr>
              <a:t>신고 접수 안내가 나오면 끝난 것입니다.</a:t>
            </a:r>
          </a:p>
        </p:txBody>
      </p:sp>
      <p:sp>
        <p:nvSpPr>
          <p:cNvPr id="11" name="Rectangle 10"/>
          <p:cNvSpPr/>
          <p:nvPr/>
        </p:nvSpPr>
        <p:spPr>
          <a:xfrm>
            <a:off x="4309533"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이미 송금·구매했거나 자료를 보냈다면 즉시</a:t>
            </a:r>
          </a:p>
          <a:p>
            <a:pPr algn="l">
              <a:lnSpc>
                <a:spcPts val="1562"/>
              </a:lnSpc>
              <a:spcBef>
                <a:spcPts val="0"/>
              </a:spcBef>
              <a:spcAft>
                <a:spcPts val="0"/>
              </a:spcAft>
            </a:pPr>
            <a:r>
              <a:rPr sz="1100" b="0">
                <a:solidFill>
                  <a:srgbClr val="1D2433"/>
                </a:solidFill>
                <a:latin typeface="Malgun Gothic"/>
                <a:ea typeface="Malgun Gothic"/>
                <a:cs typeface="Malgun Gothic"/>
              </a:rPr>
              <a:t>정보보안팀(내선 1119)에 전화합니다. 송금했다면</a:t>
            </a:r>
          </a:p>
          <a:p>
            <a:pPr algn="l">
              <a:lnSpc>
                <a:spcPts val="1562"/>
              </a:lnSpc>
              <a:spcBef>
                <a:spcPts val="0"/>
              </a:spcBef>
              <a:spcAft>
                <a:spcPts val="0"/>
              </a:spcAft>
            </a:pPr>
            <a:r>
              <a:rPr sz="1100" b="0">
                <a:solidFill>
                  <a:srgbClr val="1D2433"/>
                </a:solidFill>
                <a:latin typeface="Malgun Gothic"/>
                <a:ea typeface="Malgun Gothic"/>
                <a:cs typeface="Malgun Gothic"/>
              </a:rPr>
              <a:t>재무팀에도 바로 알립니다.</a:t>
            </a:r>
          </a:p>
        </p:txBody>
      </p:sp>
      <p:sp>
        <p:nvSpPr>
          <p:cNvPr id="16" name="TextBox 15"/>
          <p:cNvSpPr txBox="1"/>
          <p:nvPr/>
        </p:nvSpPr>
        <p:spPr>
          <a:xfrm>
            <a:off x="4436533" y="22122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212213"/>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같은 사칭 메일이 계속 오면 받은 날짜를 모아</a:t>
            </a:r>
          </a:p>
          <a:p>
            <a:pPr algn="l">
              <a:lnSpc>
                <a:spcPts val="1562"/>
              </a:lnSpc>
              <a:spcBef>
                <a:spcPts val="0"/>
              </a:spcBef>
              <a:spcAft>
                <a:spcPts val="0"/>
              </a:spcAft>
            </a:pPr>
            <a:r>
              <a:rPr sz="1100" b="0">
                <a:solidFill>
                  <a:srgbClr val="1D2433"/>
                </a:solidFill>
                <a:latin typeface="Malgun Gothic"/>
                <a:ea typeface="Malgun Gothic"/>
                <a:cs typeface="Malgun Gothic"/>
              </a:rPr>
              <a:t>ITssue 챗봇에 알립니다.</a:t>
            </a:r>
          </a:p>
        </p:txBody>
      </p:sp>
      <p:sp>
        <p:nvSpPr>
          <p:cNvPr id="18" name="Rectangle 17"/>
          <p:cNvSpPr/>
          <p:nvPr/>
        </p:nvSpPr>
        <p:spPr>
          <a:xfrm>
            <a:off x="8034867"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사칭된 사람 이름과 보낸 사람 주소</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 내용 (금액·자료)</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이미 응했는지</a:t>
            </a:r>
          </a:p>
        </p:txBody>
      </p:sp>
      <p:sp>
        <p:nvSpPr>
          <p:cNvPr id="29" name="Rectangle 28"/>
          <p:cNvSpPr/>
          <p:nvPr/>
        </p:nvSpPr>
        <p:spPr>
          <a:xfrm>
            <a:off x="584200" y="2875661"/>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97726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메일로 받은 송금·계좌 변경·구매 요청은 반드시 다른 경로로 확인합니다</a:t>
            </a:r>
          </a:p>
        </p:txBody>
      </p:sp>
      <p:sp>
        <p:nvSpPr>
          <p:cNvPr id="31" name="TextBox 30"/>
          <p:cNvSpPr txBox="1"/>
          <p:nvPr/>
        </p:nvSpPr>
        <p:spPr>
          <a:xfrm>
            <a:off x="711200" y="3213735"/>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"비밀로", "지금 바로" 같은 표현이 있으면 사칭을 먼저 의심합니다.</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링크를 눌렀거나 첨부파일을 열었을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SEC-01</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255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875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816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436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FAQ-030</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택배 조회 메일인 줄 알고 링크를 눌렀는데 로그인 화면이 떴어요. 비밀번호는 입력 안 했어요.</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의심 메일의 첨부파일을 열었더니 [콘텐츠 사용]을 누르라는 안내가 나왔습니다.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링크는 계정 정보를 노리는 피싱 사이트로, 첨부파일은 악성코드 실행으로 이어질 수 있습니다.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열린 화면에 아무것도 입력하지 않고 창을 닫습니다.</a:t>
            </a:r>
          </a:p>
        </p:txBody>
      </p:sp>
      <p:sp>
        <p:nvSpPr>
          <p:cNvPr id="33" name="TextBox 32"/>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619119"/>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첨부파일을 열었거나 [콘텐츠 사용]을 눌렀다면 Wi-Fi를 끄거나 랜선을</a:t>
            </a:r>
          </a:p>
          <a:p>
            <a:pPr algn="l">
              <a:lnSpc>
                <a:spcPts val="1632"/>
              </a:lnSpc>
              <a:spcBef>
                <a:spcPts val="0"/>
              </a:spcBef>
              <a:spcAft>
                <a:spcPts val="0"/>
              </a:spcAft>
            </a:pPr>
            <a:r>
              <a:rPr sz="1150" b="0">
                <a:solidFill>
                  <a:srgbClr val="1D2433"/>
                </a:solidFill>
                <a:latin typeface="Malgun Gothic"/>
                <a:ea typeface="Malgun Gothic"/>
                <a:cs typeface="Malgun Gothic"/>
              </a:rPr>
              <a:t>뽑습니다. </a:t>
            </a:r>
            <a:r>
              <a:rPr sz="1150" b="1">
                <a:solidFill>
                  <a:srgbClr val="1D2433"/>
                </a:solidFill>
                <a:latin typeface="Malgun Gothic"/>
                <a:ea typeface="Malgun Gothic"/>
                <a:cs typeface="Malgun Gothic"/>
              </a:rPr>
              <a:t>PC 전원은 끄지 않습니다.</a:t>
            </a:r>
          </a:p>
        </p:txBody>
      </p:sp>
      <p:sp>
        <p:nvSpPr>
          <p:cNvPr id="35" name="TextBox 34"/>
          <p:cNvSpPr txBox="1"/>
          <p:nvPr/>
        </p:nvSpPr>
        <p:spPr>
          <a:xfrm>
            <a:off x="584200" y="406565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065651"/>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정보보안팀(내선 1119)에 바로 연락해 누른 시각과 한 일을 알립니다.</a:t>
            </a:r>
          </a:p>
        </p:txBody>
      </p:sp>
      <p:sp>
        <p:nvSpPr>
          <p:cNvPr id="37" name="TextBox 36"/>
          <p:cNvSpPr txBox="1"/>
          <p:nvPr/>
        </p:nvSpPr>
        <p:spPr>
          <a:xfrm>
            <a:off x="584200" y="430479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304792"/>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메일은 </a:t>
            </a:r>
            <a:r>
              <a:rPr sz="1150" b="1">
                <a:solidFill>
                  <a:srgbClr val="1D2433"/>
                </a:solidFill>
                <a:latin typeface="Malgun Gothic"/>
                <a:ea typeface="Malgun Gothic"/>
                <a:cs typeface="Malgun Gothic"/>
              </a:rPr>
              <a:t>[피싱 신고]</a:t>
            </a:r>
            <a:r>
              <a:rPr sz="1150" b="0">
                <a:solidFill>
                  <a:srgbClr val="1D2433"/>
                </a:solidFill>
                <a:latin typeface="Malgun Gothic"/>
                <a:ea typeface="Malgun Gothic"/>
                <a:cs typeface="Malgun Gothic"/>
              </a:rPr>
              <a:t> 로 신고합니다.</a:t>
            </a:r>
          </a:p>
        </p:txBody>
      </p:sp>
      <p:sp>
        <p:nvSpPr>
          <p:cNvPr id="39" name="TextBox 38"/>
          <p:cNvSpPr txBox="1"/>
          <p:nvPr/>
        </p:nvSpPr>
        <p:spPr>
          <a:xfrm>
            <a:off x="584200" y="454393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0" name="TextBox 39"/>
          <p:cNvSpPr txBox="1"/>
          <p:nvPr/>
        </p:nvSpPr>
        <p:spPr>
          <a:xfrm>
            <a:off x="838200" y="4543933"/>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 안내에 따라 PC 검사를 받고, 비밀번호 변경을 권고받으면</a:t>
            </a:r>
          </a:p>
          <a:p>
            <a:pPr algn="l">
              <a:lnSpc>
                <a:spcPts val="1632"/>
              </a:lnSpc>
              <a:spcBef>
                <a:spcPts val="0"/>
              </a:spcBef>
              <a:spcAft>
                <a:spcPts val="0"/>
              </a:spcAft>
            </a:pPr>
            <a:r>
              <a:rPr sz="1150" b="0">
                <a:solidFill>
                  <a:srgbClr val="1D2433"/>
                </a:solidFill>
                <a:latin typeface="Malgun Gothic"/>
                <a:ea typeface="Malgun Gothic"/>
                <a:cs typeface="Malgun Gothic"/>
              </a:rPr>
              <a:t>바로 바꿉니다.</a:t>
            </a:r>
          </a:p>
        </p:txBody>
      </p:sp>
      <p:sp>
        <p:nvSpPr>
          <p:cNvPr id="41" name="Rectangle 40"/>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ec001_33_link.png"/>
          <p:cNvPicPr>
            <a:picLocks noChangeAspect="1"/>
          </p:cNvPicPr>
          <p:nvPr/>
        </p:nvPicPr>
        <p:blipFill>
          <a:blip r:embed="rId2"/>
          <a:stretch>
            <a:fillRect/>
          </a:stretch>
        </p:blipFill>
        <p:spPr>
          <a:xfrm>
            <a:off x="6537080" y="3379978"/>
            <a:ext cx="4417296" cy="2713482"/>
          </a:xfrm>
          <a:prstGeom prst="rect">
            <a:avLst/>
          </a:prstGeom>
        </p:spPr>
      </p:pic>
      <p:sp>
        <p:nvSpPr>
          <p:cNvPr id="43" name="TextBox 42"/>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3.3-1. ① 회사 주소가 아닌 로그인 화면은 닫기 ② 첨부를 열었으면 네트워크 끊기</a:t>
            </a:r>
          </a:p>
        </p:txBody>
      </p:sp>
      <p:sp>
        <p:nvSpPr>
          <p:cNvPr id="44" name="TextBox 4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45" name="TextBox 4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링크를 눌렀거나 첨부파일을 열었을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7199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정보보안팀이 PC 검사 결과 이상이 없다고 알려</a:t>
            </a:r>
          </a:p>
          <a:p>
            <a:pPr algn="l">
              <a:lnSpc>
                <a:spcPts val="1562"/>
              </a:lnSpc>
              <a:spcBef>
                <a:spcPts val="0"/>
              </a:spcBef>
              <a:spcAft>
                <a:spcPts val="0"/>
              </a:spcAft>
            </a:pPr>
            <a:r>
              <a:rPr sz="1100" b="0">
                <a:solidFill>
                  <a:srgbClr val="1D2433"/>
                </a:solidFill>
                <a:latin typeface="Malgun Gothic"/>
                <a:ea typeface="Malgun Gothic"/>
                <a:cs typeface="Malgun Gothic"/>
              </a:rPr>
              <a:t>주면 끝난 것입니다.</a:t>
            </a:r>
          </a:p>
        </p:txBody>
      </p:sp>
      <p:sp>
        <p:nvSpPr>
          <p:cNvPr id="11" name="Rectangle 10"/>
          <p:cNvSpPr/>
          <p:nvPr/>
        </p:nvSpPr>
        <p:spPr>
          <a:xfrm>
            <a:off x="4309533" y="1168400"/>
            <a:ext cx="3572933" cy="17199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검사 전에 PC가 느려지거나 모르는 프로그램이</a:t>
            </a:r>
          </a:p>
          <a:p>
            <a:pPr algn="l">
              <a:lnSpc>
                <a:spcPts val="1562"/>
              </a:lnSpc>
              <a:spcBef>
                <a:spcPts val="0"/>
              </a:spcBef>
              <a:spcAft>
                <a:spcPts val="0"/>
              </a:spcAft>
            </a:pPr>
            <a:r>
              <a:rPr sz="1100" b="0">
                <a:solidFill>
                  <a:srgbClr val="1D2433"/>
                </a:solidFill>
                <a:latin typeface="Malgun Gothic"/>
                <a:ea typeface="Malgun Gothic"/>
                <a:cs typeface="Malgun Gothic"/>
              </a:rPr>
              <a:t>실행되면 IT-SEC-002 3.4를 따릅니다.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그 뒤 내 계정에 모르는 접속 시도가 보이면 3.4와</a:t>
            </a:r>
          </a:p>
          <a:p>
            <a:pPr algn="l">
              <a:lnSpc>
                <a:spcPts val="1562"/>
              </a:lnSpc>
              <a:spcBef>
                <a:spcPts val="0"/>
              </a:spcBef>
              <a:spcAft>
                <a:spcPts val="0"/>
              </a:spcAft>
            </a:pPr>
            <a:r>
              <a:rPr sz="1100" b="0">
                <a:solidFill>
                  <a:srgbClr val="1D2433"/>
                </a:solidFill>
                <a:latin typeface="Malgun Gothic"/>
                <a:ea typeface="Malgun Gothic"/>
                <a:cs typeface="Malgun Gothic"/>
              </a:rPr>
              <a:t>IT-SEC-003 3.1을 따릅니다.</a:t>
            </a:r>
          </a:p>
        </p:txBody>
      </p:sp>
      <p:sp>
        <p:nvSpPr>
          <p:cNvPr id="18" name="Rectangle 17"/>
          <p:cNvSpPr/>
          <p:nvPr/>
        </p:nvSpPr>
        <p:spPr>
          <a:xfrm>
            <a:off x="8034867" y="1168400"/>
            <a:ext cx="3572933" cy="17199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누른 시각</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링크 주소 또는 첨부파일 이름</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입력한 정보가 있는지</a:t>
            </a:r>
          </a:p>
        </p:txBody>
      </p:sp>
      <p:sp>
        <p:nvSpPr>
          <p:cNvPr id="29" name="TextBox 28"/>
          <p:cNvSpPr txBox="1"/>
          <p:nvPr/>
        </p:nvSpPr>
        <p:spPr>
          <a:xfrm>
            <a:off x="8161867" y="2524887"/>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30" name="TextBox 29"/>
          <p:cNvSpPr txBox="1"/>
          <p:nvPr/>
        </p:nvSpPr>
        <p:spPr>
          <a:xfrm>
            <a:off x="8288867" y="2524887"/>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네트워크를 끊었는지</a:t>
            </a:r>
          </a:p>
        </p:txBody>
      </p:sp>
      <p:sp>
        <p:nvSpPr>
          <p:cNvPr id="31" name="Rectangle 30"/>
          <p:cNvSpPr/>
          <p:nvPr/>
        </p:nvSpPr>
        <p:spPr>
          <a:xfrm>
            <a:off x="584200" y="2989961"/>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1200" y="309156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PC 전원을 끄거나 백신 검사를 혼자 반복하지 않습니다</a:t>
            </a:r>
          </a:p>
        </p:txBody>
      </p:sp>
      <p:sp>
        <p:nvSpPr>
          <p:cNvPr id="33" name="TextBox 32"/>
          <p:cNvSpPr txBox="1"/>
          <p:nvPr/>
        </p:nvSpPr>
        <p:spPr>
          <a:xfrm>
            <a:off x="711200" y="3328035"/>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전원을 끄면 원인을 확인할 기록이 사라질 수 있습니다. 네트워크만 끊고 정보보안팀 안내를 기다립니다.</a:t>
            </a:r>
          </a:p>
        </p:txBody>
      </p:sp>
      <p:sp>
        <p:nvSpPr>
          <p:cNvPr id="34" name="TextBox 3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5" name="TextBox 3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피싱 화면에 아이디·비밀번호를 입력했을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SEC-01</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255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875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8160" y="1168400"/>
            <a:ext cx="1286098"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4360" y="1219200"/>
            <a:ext cx="113369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FAQ-030, FAQ-005</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 링크로 열린 로그인 화면에 사번과 비밀번호를 입력했습니다.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의심 메일 링크를 눌렀는데 그 뒤로 제 계정에 모르는 접속 시도가 있었어요.</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피싱 사이트에 입력한 계정 정보가 공격자에게 넘어갔을 수 있습니다.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비밀번호 재설정 포털(password.ict.example)에서 비밀번호를 바로</a:t>
            </a:r>
          </a:p>
          <a:p>
            <a:pPr algn="l">
              <a:lnSpc>
                <a:spcPts val="1632"/>
              </a:lnSpc>
              <a:spcBef>
                <a:spcPts val="0"/>
              </a:spcBef>
              <a:spcAft>
                <a:spcPts val="0"/>
              </a:spcAft>
            </a:pPr>
            <a:r>
              <a:rPr sz="1150" b="0">
                <a:solidFill>
                  <a:srgbClr val="1D2433"/>
                </a:solidFill>
                <a:latin typeface="Malgun Gothic"/>
                <a:ea typeface="Malgun Gothic"/>
                <a:cs typeface="Malgun Gothic"/>
              </a:rPr>
              <a:t>바꿉니다. 첨부파일도 열었다면 다른 기기에서 바꿉니다.</a:t>
            </a:r>
          </a:p>
        </p:txBody>
      </p:sp>
      <p:sp>
        <p:nvSpPr>
          <p:cNvPr id="33" name="TextBox 32"/>
          <p:cNvSpPr txBox="1"/>
          <p:nvPr/>
        </p:nvSpPr>
        <p:spPr>
          <a:xfrm>
            <a:off x="584200" y="382651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826510"/>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같은 비밀번호를 쓰는 다른 사이트가 있으면 모두 바꿉니다.</a:t>
            </a:r>
          </a:p>
        </p:txBody>
      </p:sp>
      <p:sp>
        <p:nvSpPr>
          <p:cNvPr id="35" name="TextBox 34"/>
          <p:cNvSpPr txBox="1"/>
          <p:nvPr/>
        </p:nvSpPr>
        <p:spPr>
          <a:xfrm>
            <a:off x="584200" y="406565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06565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정보보안팀(내선 1119)에 입력한 시각과 입력한 정보의 종류를 알립니다.</a:t>
            </a:r>
          </a:p>
          <a:p>
            <a:pPr algn="l">
              <a:lnSpc>
                <a:spcPts val="1632"/>
              </a:lnSpc>
              <a:spcBef>
                <a:spcPts val="0"/>
              </a:spcBef>
              <a:spcAft>
                <a:spcPts val="0"/>
              </a:spcAft>
            </a:pPr>
            <a:r>
              <a:rPr sz="1150" b="0">
                <a:solidFill>
                  <a:srgbClr val="1D2433"/>
                </a:solidFill>
                <a:latin typeface="Malgun Gothic"/>
                <a:ea typeface="Malgun Gothic"/>
                <a:cs typeface="Malgun Gothic"/>
              </a:rPr>
              <a:t>정보보안팀이 로그인 세션을 끊고 접속 기록을 확인합니다.</a:t>
            </a:r>
          </a:p>
        </p:txBody>
      </p:sp>
      <p:sp>
        <p:nvSpPr>
          <p:cNvPr id="37" name="TextBox 36"/>
          <p:cNvSpPr txBox="1"/>
          <p:nvPr/>
        </p:nvSpPr>
        <p:spPr>
          <a:xfrm>
            <a:off x="584200" y="451218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512183"/>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메일은 </a:t>
            </a:r>
            <a:r>
              <a:rPr sz="1150" b="1">
                <a:solidFill>
                  <a:srgbClr val="1D2433"/>
                </a:solidFill>
                <a:latin typeface="Malgun Gothic"/>
                <a:ea typeface="Malgun Gothic"/>
                <a:cs typeface="Malgun Gothic"/>
              </a:rPr>
              <a:t>[피싱 신고]</a:t>
            </a:r>
            <a:r>
              <a:rPr sz="1150" b="0">
                <a:solidFill>
                  <a:srgbClr val="1D2433"/>
                </a:solidFill>
                <a:latin typeface="Malgun Gothic"/>
                <a:ea typeface="Malgun Gothic"/>
                <a:cs typeface="Malgun Gothic"/>
              </a:rPr>
              <a:t> 로 신고합니다.</a:t>
            </a:r>
          </a:p>
        </p:txBody>
      </p:sp>
      <p:sp>
        <p:nvSpPr>
          <p:cNvPr id="39" name="Rectangle 38"/>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sec001_34_reset.png"/>
          <p:cNvPicPr>
            <a:picLocks noChangeAspect="1"/>
          </p:cNvPicPr>
          <p:nvPr/>
        </p:nvPicPr>
        <p:blipFill>
          <a:blip r:embed="rId2"/>
          <a:stretch>
            <a:fillRect/>
          </a:stretch>
        </p:blipFill>
        <p:spPr>
          <a:xfrm>
            <a:off x="6537080" y="3379978"/>
            <a:ext cx="4417296" cy="2713482"/>
          </a:xfrm>
          <a:prstGeom prst="rect">
            <a:avLst/>
          </a:prstGeom>
        </p:spPr>
      </p:pic>
      <p:sp>
        <p:nvSpPr>
          <p:cNvPr id="41" name="TextBox 40"/>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3.4-1. 비밀번호 재설정 포털: ① 새 비밀번호 입력 ② [변경]</a:t>
            </a:r>
          </a:p>
        </p:txBody>
      </p:sp>
      <p:sp>
        <p:nvSpPr>
          <p:cNvPr id="42" name="TextBox 4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43" name="TextBox 4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피싱 화면에 아이디·비밀번호를 입력했을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새 비밀번호로 로그인되고, 정보보안팀이 접속</a:t>
            </a:r>
          </a:p>
          <a:p>
            <a:pPr algn="l">
              <a:lnSpc>
                <a:spcPts val="1562"/>
              </a:lnSpc>
              <a:spcBef>
                <a:spcPts val="0"/>
              </a:spcBef>
              <a:spcAft>
                <a:spcPts val="0"/>
              </a:spcAft>
            </a:pPr>
            <a:r>
              <a:rPr sz="1100" b="0">
                <a:solidFill>
                  <a:srgbClr val="1D2433"/>
                </a:solidFill>
                <a:latin typeface="Malgun Gothic"/>
                <a:ea typeface="Malgun Gothic"/>
                <a:cs typeface="Malgun Gothic"/>
              </a:rPr>
              <a:t>기록에 이상이 없다고 알려 주면 끝난 것입니다.</a:t>
            </a:r>
          </a:p>
        </p:txBody>
      </p:sp>
      <p:sp>
        <p:nvSpPr>
          <p:cNvPr id="11" name="Rectangle 10"/>
          <p:cNvSpPr/>
          <p:nvPr/>
        </p:nvSpPr>
        <p:spPr>
          <a:xfrm>
            <a:off x="4309533"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바꿀 수 없거나 계정이 잠겼으면 IT</a:t>
            </a:r>
          </a:p>
          <a:p>
            <a:pPr algn="l">
              <a:lnSpc>
                <a:spcPts val="1562"/>
              </a:lnSpc>
              <a:spcBef>
                <a:spcPts val="0"/>
              </a:spcBef>
              <a:spcAft>
                <a:spcPts val="0"/>
              </a:spcAft>
            </a:pPr>
            <a:r>
              <a:rPr sz="1100" b="0">
                <a:solidFill>
                  <a:srgbClr val="1D2433"/>
                </a:solidFill>
                <a:latin typeface="Malgun Gothic"/>
                <a:ea typeface="Malgun Gothic"/>
                <a:cs typeface="Malgun Gothic"/>
              </a:rPr>
              <a:t>헬프데스크(내선 1000)에 본인 확인 후 초기화를</a:t>
            </a:r>
          </a:p>
          <a:p>
            <a:pPr algn="l">
              <a:lnSpc>
                <a:spcPts val="1562"/>
              </a:lnSpc>
              <a:spcBef>
                <a:spcPts val="0"/>
              </a:spcBef>
              <a:spcAft>
                <a:spcPts val="0"/>
              </a:spcAft>
            </a:pPr>
            <a:r>
              <a:rPr sz="1100" b="0">
                <a:solidFill>
                  <a:srgbClr val="1D2433"/>
                </a:solidFill>
                <a:latin typeface="Malgun Gothic"/>
                <a:ea typeface="Malgun Gothic"/>
                <a:cs typeface="Malgun Gothic"/>
              </a:rPr>
              <a:t>요청합니다.</a:t>
            </a:r>
          </a:p>
        </p:txBody>
      </p:sp>
      <p:sp>
        <p:nvSpPr>
          <p:cNvPr id="16" name="TextBox 15"/>
          <p:cNvSpPr txBox="1"/>
          <p:nvPr/>
        </p:nvSpPr>
        <p:spPr>
          <a:xfrm>
            <a:off x="4436533" y="22122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212213"/>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요청하지 않은 인증(MFA) 알림이 오면 승인하지</a:t>
            </a:r>
          </a:p>
          <a:p>
            <a:pPr algn="l">
              <a:lnSpc>
                <a:spcPts val="1562"/>
              </a:lnSpc>
              <a:spcBef>
                <a:spcPts val="0"/>
              </a:spcBef>
              <a:spcAft>
                <a:spcPts val="0"/>
              </a:spcAft>
            </a:pPr>
            <a:r>
              <a:rPr sz="1100" b="0">
                <a:solidFill>
                  <a:srgbClr val="1D2433"/>
                </a:solidFill>
                <a:latin typeface="Malgun Gothic"/>
                <a:ea typeface="Malgun Gothic"/>
                <a:cs typeface="Malgun Gothic"/>
              </a:rPr>
              <a:t>말고 IT-SEC-003 3.2를 따릅니다.</a:t>
            </a:r>
          </a:p>
        </p:txBody>
      </p:sp>
      <p:sp>
        <p:nvSpPr>
          <p:cNvPr id="18" name="Rectangle 17"/>
          <p:cNvSpPr/>
          <p:nvPr/>
        </p:nvSpPr>
        <p:spPr>
          <a:xfrm>
            <a:off x="8034867"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입력한 시각과 입력한 정보의 종류 (비밀번호</a:t>
            </a:r>
          </a:p>
          <a:p>
            <a:pPr algn="l">
              <a:lnSpc>
                <a:spcPts val="1562"/>
              </a:lnSpc>
              <a:spcBef>
                <a:spcPts val="0"/>
              </a:spcBef>
              <a:spcAft>
                <a:spcPts val="0"/>
              </a:spcAft>
            </a:pPr>
            <a:r>
              <a:rPr sz="1100" b="0">
                <a:solidFill>
                  <a:srgbClr val="1D2433"/>
                </a:solidFill>
                <a:latin typeface="Malgun Gothic"/>
                <a:ea typeface="Malgun Gothic"/>
                <a:cs typeface="Malgun Gothic"/>
              </a:rPr>
              <a:t>자체는 알려 주지 않음)</a:t>
            </a:r>
          </a:p>
        </p:txBody>
      </p:sp>
      <p:sp>
        <p:nvSpPr>
          <p:cNvPr id="25" name="TextBox 24"/>
          <p:cNvSpPr txBox="1"/>
          <p:nvPr/>
        </p:nvSpPr>
        <p:spPr>
          <a:xfrm>
            <a:off x="8161867" y="22503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2503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비밀번호를 바꿨는지</a:t>
            </a:r>
          </a:p>
        </p:txBody>
      </p:sp>
      <p:sp>
        <p:nvSpPr>
          <p:cNvPr id="27" name="TextBox 26"/>
          <p:cNvSpPr txBox="1"/>
          <p:nvPr/>
        </p:nvSpPr>
        <p:spPr>
          <a:xfrm>
            <a:off x="8161867" y="2486787"/>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486787"/>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링크 주소</a:t>
            </a:r>
          </a:p>
        </p:txBody>
      </p:sp>
      <p:sp>
        <p:nvSpPr>
          <p:cNvPr id="29" name="Rectangle 28"/>
          <p:cNvSpPr/>
          <p:nvPr/>
        </p:nvSpPr>
        <p:spPr>
          <a:xfrm>
            <a:off x="584200" y="2951861"/>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305346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비밀번호는 누구에게도 알려 주지 않습니다</a:t>
            </a:r>
          </a:p>
        </p:txBody>
      </p:sp>
      <p:sp>
        <p:nvSpPr>
          <p:cNvPr id="31" name="TextBox 30"/>
          <p:cNvSpPr txBox="1"/>
          <p:nvPr/>
        </p:nvSpPr>
        <p:spPr>
          <a:xfrm>
            <a:off x="711200" y="3289935"/>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정보보안팀·헬프데스크·챗봇도 비밀번호를 묻지 않습니다. 비밀번호를 묻는 연락은 사칭입니다.</a:t>
            </a:r>
          </a:p>
        </p:txBody>
      </p:sp>
      <p:sp>
        <p:nvSpPr>
          <p:cNvPr id="32" name="Rectangle 31"/>
          <p:cNvSpPr/>
          <p:nvPr/>
        </p:nvSpPr>
        <p:spPr>
          <a:xfrm>
            <a:off x="584200" y="3691509"/>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1200" y="3793109"/>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비밀번호 규칙: 12자 이상, 대문자·소문자·숫자·특수문자 모두 포함, 최근 5개는 다시 쓸 수 없음, 90일마다 변경 (FAQ-001)</a:t>
            </a:r>
          </a:p>
        </p:txBody>
      </p:sp>
      <p:sp>
        <p:nvSpPr>
          <p:cNvPr id="34" name="TextBox 3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5" name="TextBox 3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여러 사람이 같은 의심 메일을 받았을 때 (대량 유입)</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SEC-04</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992287" cy="292100"/>
          </a:xfrm>
          <a:prstGeom prst="rect">
            <a:avLst/>
          </a:prstGeom>
          <a:solidFill>
            <a:srgbClr val="FBE3DC"/>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83988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B8430E"/>
                </a:solidFill>
                <a:latin typeface="Malgun Gothic"/>
                <a:ea typeface="Malgun Gothic"/>
                <a:cs typeface="Malgun Gothic"/>
              </a:rPr>
              <a:t>즉시 신고·이관</a:t>
            </a:r>
          </a:p>
        </p:txBody>
      </p:sp>
      <p:sp>
        <p:nvSpPr>
          <p:cNvPr id="14" name="Rectangle 13"/>
          <p:cNvSpPr/>
          <p:nvPr/>
        </p:nvSpPr>
        <p:spPr>
          <a:xfrm>
            <a:off x="356010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630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515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135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Rectangle 17"/>
          <p:cNvSpPr/>
          <p:nvPr/>
        </p:nvSpPr>
        <p:spPr>
          <a:xfrm>
            <a:off x="505255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875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575816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3436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FAQ-030</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저희 팀 전원이 같은 수상한 메일을 받았습니다.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'[인사팀] 연말정산 서류 제출' 제목으로 첨부파일 메일이 왔는데 인사팀은 보낸 적 없대요.</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부서를 사칭해 여러 사람에게 한꺼번에 보낸 피싱 메일입니다.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메일을 열었다면 첨부·링크를 누르지 않습니다.</a:t>
            </a:r>
          </a:p>
        </p:txBody>
      </p:sp>
      <p:sp>
        <p:nvSpPr>
          <p:cNvPr id="33" name="TextBox 32"/>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619119"/>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각자 </a:t>
            </a:r>
            <a:r>
              <a:rPr sz="1150" b="1">
                <a:solidFill>
                  <a:srgbClr val="1D2433"/>
                </a:solidFill>
                <a:latin typeface="Malgun Gothic"/>
                <a:ea typeface="Malgun Gothic"/>
                <a:cs typeface="Malgun Gothic"/>
              </a:rPr>
              <a:t>[피싱 신고]</a:t>
            </a:r>
            <a:r>
              <a:rPr sz="1150" b="0">
                <a:solidFill>
                  <a:srgbClr val="1D2433"/>
                </a:solidFill>
                <a:latin typeface="Malgun Gothic"/>
                <a:ea typeface="Malgun Gothic"/>
                <a:cs typeface="Malgun Gothic"/>
              </a:rPr>
              <a:t> 를 누릅니다.</a:t>
            </a:r>
          </a:p>
        </p:txBody>
      </p:sp>
      <p:sp>
        <p:nvSpPr>
          <p:cNvPr id="35" name="TextBox 34"/>
          <p:cNvSpPr txBox="1"/>
          <p:nvPr/>
        </p:nvSpPr>
        <p:spPr>
          <a:xfrm>
            <a:off x="584200" y="385826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3858260"/>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팀에서 한 사람이 정보보안팀(내선 1119)에 '팀원 몇 명이 같은 메일을</a:t>
            </a:r>
          </a:p>
          <a:p>
            <a:pPr algn="l">
              <a:lnSpc>
                <a:spcPts val="1632"/>
              </a:lnSpc>
              <a:spcBef>
                <a:spcPts val="0"/>
              </a:spcBef>
              <a:spcAft>
                <a:spcPts val="0"/>
              </a:spcAft>
            </a:pPr>
            <a:r>
              <a:rPr sz="1150" b="0">
                <a:solidFill>
                  <a:srgbClr val="1D2433"/>
                </a:solidFill>
                <a:latin typeface="Malgun Gothic"/>
                <a:ea typeface="Malgun Gothic"/>
                <a:cs typeface="Malgun Gothic"/>
              </a:rPr>
              <a:t>받았다'고 알립니다.</a:t>
            </a:r>
          </a:p>
        </p:txBody>
      </p:sp>
      <p:sp>
        <p:nvSpPr>
          <p:cNvPr id="37" name="TextBox 36"/>
          <p:cNvSpPr txBox="1"/>
          <p:nvPr/>
        </p:nvSpPr>
        <p:spPr>
          <a:xfrm>
            <a:off x="584200" y="430479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304792"/>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동료에게 주의를 줄 때는 메일을 전달하지 말고 메신저로 제목만</a:t>
            </a:r>
          </a:p>
          <a:p>
            <a:pPr algn="l">
              <a:lnSpc>
                <a:spcPts val="1632"/>
              </a:lnSpc>
              <a:spcBef>
                <a:spcPts val="0"/>
              </a:spcBef>
              <a:spcAft>
                <a:spcPts val="0"/>
              </a:spcAft>
            </a:pPr>
            <a:r>
              <a:rPr sz="1150" b="0">
                <a:solidFill>
                  <a:srgbClr val="1D2433"/>
                </a:solidFill>
                <a:latin typeface="Malgun Gothic"/>
                <a:ea typeface="Malgun Gothic"/>
                <a:cs typeface="Malgun Gothic"/>
              </a:rPr>
              <a:t>알립니다.</a:t>
            </a:r>
          </a:p>
        </p:txBody>
      </p:sp>
      <p:sp>
        <p:nvSpPr>
          <p:cNvPr id="39" name="TextBox 38"/>
          <p:cNvSpPr txBox="1"/>
          <p:nvPr/>
        </p:nvSpPr>
        <p:spPr>
          <a:xfrm>
            <a:off x="584200" y="4751324"/>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0" name="TextBox 39"/>
          <p:cNvSpPr txBox="1"/>
          <p:nvPr/>
        </p:nvSpPr>
        <p:spPr>
          <a:xfrm>
            <a:off x="838200" y="4751324"/>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공지와 ITssue 챗봇 첫 화면의 안내를 따릅니다. 정보보안팀이 회사</a:t>
            </a:r>
          </a:p>
          <a:p>
            <a:pPr algn="l">
              <a:lnSpc>
                <a:spcPts val="1632"/>
              </a:lnSpc>
              <a:spcBef>
                <a:spcPts val="0"/>
              </a:spcBef>
              <a:spcAft>
                <a:spcPts val="0"/>
              </a:spcAft>
            </a:pPr>
            <a:r>
              <a:rPr sz="1150" b="0">
                <a:solidFill>
                  <a:srgbClr val="1D2433"/>
                </a:solidFill>
                <a:latin typeface="Malgun Gothic"/>
                <a:ea typeface="Malgun Gothic"/>
                <a:cs typeface="Malgun Gothic"/>
              </a:rPr>
              <a:t>메일함에서 같은 메일을 한꺼번에 지웁니다.</a:t>
            </a:r>
          </a:p>
        </p:txBody>
      </p:sp>
      <p:sp>
        <p:nvSpPr>
          <p:cNvPr id="41" name="Rectangle 40"/>
          <p:cNvSpPr/>
          <p:nvPr/>
        </p:nvSpPr>
        <p:spPr>
          <a:xfrm>
            <a:off x="6537080" y="3379978"/>
            <a:ext cx="4417296" cy="271348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ec001_35_mass.png"/>
          <p:cNvPicPr>
            <a:picLocks noChangeAspect="1"/>
          </p:cNvPicPr>
          <p:nvPr/>
        </p:nvPicPr>
        <p:blipFill>
          <a:blip r:embed="rId2"/>
          <a:stretch>
            <a:fillRect/>
          </a:stretch>
        </p:blipFill>
        <p:spPr>
          <a:xfrm>
            <a:off x="6537080" y="3379978"/>
            <a:ext cx="4417296" cy="2713482"/>
          </a:xfrm>
          <a:prstGeom prst="rect">
            <a:avLst/>
          </a:prstGeom>
        </p:spPr>
      </p:pic>
      <p:sp>
        <p:nvSpPr>
          <p:cNvPr id="43" name="TextBox 42"/>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3.5-1. ① 같은 제목의 의심 메일 여러 통 ② 사내 공지 확인</a:t>
            </a:r>
          </a:p>
        </p:txBody>
      </p:sp>
      <p:sp>
        <p:nvSpPr>
          <p:cNvPr id="44" name="TextBox 4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45" name="TextBox 4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여러 사람이 같은 의심 메일을 받았을 때 (대량 유입)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사내 공지로 '조치 완료' 안내가 나오고 메일함에서</a:t>
            </a:r>
          </a:p>
          <a:p>
            <a:pPr algn="l">
              <a:lnSpc>
                <a:spcPts val="1562"/>
              </a:lnSpc>
              <a:spcBef>
                <a:spcPts val="0"/>
              </a:spcBef>
              <a:spcAft>
                <a:spcPts val="0"/>
              </a:spcAft>
            </a:pPr>
            <a:r>
              <a:rPr sz="1100" b="0">
                <a:solidFill>
                  <a:srgbClr val="1D2433"/>
                </a:solidFill>
                <a:latin typeface="Malgun Gothic"/>
                <a:ea typeface="Malgun Gothic"/>
                <a:cs typeface="Malgun Gothic"/>
              </a:rPr>
              <a:t>같은 메일이 사라지면 끝난 것입니다.</a:t>
            </a:r>
          </a:p>
        </p:txBody>
      </p:sp>
      <p:sp>
        <p:nvSpPr>
          <p:cNvPr id="11" name="Rectangle 10"/>
          <p:cNvSpPr/>
          <p:nvPr/>
        </p:nvSpPr>
        <p:spPr>
          <a:xfrm>
            <a:off x="4309533"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첨부·링크를 이미 누른 사람은 3.3, 비밀번호를</a:t>
            </a:r>
          </a:p>
          <a:p>
            <a:pPr algn="l">
              <a:lnSpc>
                <a:spcPts val="1562"/>
              </a:lnSpc>
              <a:spcBef>
                <a:spcPts val="0"/>
              </a:spcBef>
              <a:spcAft>
                <a:spcPts val="0"/>
              </a:spcAft>
            </a:pPr>
            <a:r>
              <a:rPr sz="1100" b="0">
                <a:solidFill>
                  <a:srgbClr val="1D2433"/>
                </a:solidFill>
                <a:latin typeface="Malgun Gothic"/>
                <a:ea typeface="Malgun Gothic"/>
                <a:cs typeface="Malgun Gothic"/>
              </a:rPr>
              <a:t>입력한 사람은 3.4를 따로 따릅니다.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공지 뒤에도 같은 메일이 계속 오면 받은 시각을</a:t>
            </a:r>
          </a:p>
          <a:p>
            <a:pPr algn="l">
              <a:lnSpc>
                <a:spcPts val="1562"/>
              </a:lnSpc>
              <a:spcBef>
                <a:spcPts val="0"/>
              </a:spcBef>
              <a:spcAft>
                <a:spcPts val="0"/>
              </a:spcAft>
            </a:pPr>
            <a:r>
              <a:rPr sz="1100" b="0">
                <a:solidFill>
                  <a:srgbClr val="1D2433"/>
                </a:solidFill>
                <a:latin typeface="Malgun Gothic"/>
                <a:ea typeface="Malgun Gothic"/>
                <a:cs typeface="Malgun Gothic"/>
              </a:rPr>
              <a:t>적어 다시 알립니다.</a:t>
            </a:r>
          </a:p>
        </p:txBody>
      </p:sp>
      <p:sp>
        <p:nvSpPr>
          <p:cNvPr id="18" name="Rectangle 17"/>
          <p:cNvSpPr/>
          <p:nvPr/>
        </p:nvSpPr>
        <p:spPr>
          <a:xfrm>
            <a:off x="8034867" y="1168400"/>
            <a:ext cx="3572933" cy="14834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팀·부서와 받은 사람 수</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메일 제목과 보낸 사람 주소</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받은 시각</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누른 사람이 있는지</a:t>
            </a:r>
          </a:p>
        </p:txBody>
      </p:sp>
      <p:sp>
        <p:nvSpPr>
          <p:cNvPr id="29" name="Rectangle 28"/>
          <p:cNvSpPr/>
          <p:nvPr/>
        </p:nvSpPr>
        <p:spPr>
          <a:xfrm>
            <a:off x="584200" y="2753487"/>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855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"조심하세요"라며 의심 메일을 동료에게 전달하지 않습니다</a:t>
            </a:r>
          </a:p>
        </p:txBody>
      </p:sp>
      <p:sp>
        <p:nvSpPr>
          <p:cNvPr id="31" name="TextBox 30"/>
          <p:cNvSpPr txBox="1"/>
          <p:nvPr/>
        </p:nvSpPr>
        <p:spPr>
          <a:xfrm>
            <a:off x="711200" y="3091561"/>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전달한 메일을 누군가 실수로 열 수 있습니다. 제목만 알려 주세요.</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문자·메신저·전화로 사칭 연락을 받았을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352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112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SEC-01</a:t>
            </a:r>
          </a:p>
        </p:txBody>
      </p:sp>
      <p:sp>
        <p:nvSpPr>
          <p:cNvPr id="10" name="Rectangle 9"/>
          <p:cNvSpPr/>
          <p:nvPr/>
        </p:nvSpPr>
        <p:spPr>
          <a:xfrm>
            <a:off x="186277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3897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6781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401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9851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7471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403564" y="1168400"/>
            <a:ext cx="787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79764" y="1219200"/>
            <a:ext cx="635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정보보안팀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IT 헬프데스크라며 전화로 방금 받은 인증번호를 불러 달라고 합니다.</a:t>
            </a:r>
          </a:p>
        </p:txBody>
      </p:sp>
      <p:sp>
        <p:nvSpPr>
          <p:cNvPr id="21" name="TextBox 20"/>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2" name="TextBox 21"/>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계정 점검을 핑계로 링크가 있는 문자를 받았습니다 (스미싱).</a:t>
            </a:r>
          </a:p>
        </p:txBody>
      </p:sp>
      <p:sp>
        <p:nvSpPr>
          <p:cNvPr id="23" name="TextBox 22"/>
          <p:cNvSpPr txBox="1"/>
          <p:nvPr/>
        </p:nvSpPr>
        <p:spPr>
          <a:xfrm>
            <a:off x="635000" y="239026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239026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메신저로 임원 이름의 낯선 계정이 급한 부탁을 합니다.</a:t>
            </a:r>
          </a:p>
        </p:txBody>
      </p:sp>
      <p:sp>
        <p:nvSpPr>
          <p:cNvPr id="25" name="TextBox 24"/>
          <p:cNvSpPr txBox="1"/>
          <p:nvPr/>
        </p:nvSpPr>
        <p:spPr>
          <a:xfrm>
            <a:off x="584200" y="268020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6" name="TextBox 25"/>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7" name="TextBox 26"/>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 대신 문자·메신저·전화로 믿게 만든 뒤 계정 정보나 돈을 노리는 사칭입니다.</a:t>
            </a:r>
          </a:p>
        </p:txBody>
      </p:sp>
      <p:sp>
        <p:nvSpPr>
          <p:cNvPr id="28" name="TextBox 27"/>
          <p:cNvSpPr txBox="1"/>
          <p:nvPr/>
        </p:nvSpPr>
        <p:spPr>
          <a:xfrm>
            <a:off x="584200" y="3294634"/>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9" name="TextBox 28"/>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0" name="TextBox 29"/>
          <p:cNvSpPr txBox="1"/>
          <p:nvPr/>
        </p:nvSpPr>
        <p:spPr>
          <a:xfrm>
            <a:off x="838200" y="3619119"/>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비밀번호·인증번호는 알려 주지 않고, 요청하지 않은 인증(MFA) 알림은</a:t>
            </a:r>
          </a:p>
          <a:p>
            <a:pPr algn="l">
              <a:lnSpc>
                <a:spcPts val="1632"/>
              </a:lnSpc>
              <a:spcBef>
                <a:spcPts val="0"/>
              </a:spcBef>
              <a:spcAft>
                <a:spcPts val="0"/>
              </a:spcAft>
            </a:pPr>
            <a:r>
              <a:rPr sz="1150" b="0">
                <a:solidFill>
                  <a:srgbClr val="1D2433"/>
                </a:solidFill>
                <a:latin typeface="Malgun Gothic"/>
                <a:ea typeface="Malgun Gothic"/>
                <a:cs typeface="Malgun Gothic"/>
              </a:rPr>
              <a:t>승인하지 않습니다.</a:t>
            </a:r>
          </a:p>
        </p:txBody>
      </p:sp>
      <p:sp>
        <p:nvSpPr>
          <p:cNvPr id="31" name="TextBox 30"/>
          <p:cNvSpPr txBox="1"/>
          <p:nvPr/>
        </p:nvSpPr>
        <p:spPr>
          <a:xfrm>
            <a:off x="584200" y="406565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2" name="TextBox 31"/>
          <p:cNvSpPr txBox="1"/>
          <p:nvPr/>
        </p:nvSpPr>
        <p:spPr>
          <a:xfrm>
            <a:off x="838200" y="406565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전화는 끊고 공식 번호(IT 헬프데스크 내선 1000, 정보보안팀 내선</a:t>
            </a:r>
          </a:p>
          <a:p>
            <a:pPr algn="l">
              <a:lnSpc>
                <a:spcPts val="1632"/>
              </a:lnSpc>
              <a:spcBef>
                <a:spcPts val="0"/>
              </a:spcBef>
              <a:spcAft>
                <a:spcPts val="0"/>
              </a:spcAft>
            </a:pPr>
            <a:r>
              <a:rPr sz="1150" b="0">
                <a:solidFill>
                  <a:srgbClr val="1D2433"/>
                </a:solidFill>
                <a:latin typeface="Malgun Gothic"/>
                <a:ea typeface="Malgun Gothic"/>
                <a:cs typeface="Malgun Gothic"/>
              </a:rPr>
              <a:t>1119)로 다시 걸어 확인합니다.</a:t>
            </a:r>
          </a:p>
        </p:txBody>
      </p:sp>
      <p:sp>
        <p:nvSpPr>
          <p:cNvPr id="33" name="TextBox 32"/>
          <p:cNvSpPr txBox="1"/>
          <p:nvPr/>
        </p:nvSpPr>
        <p:spPr>
          <a:xfrm>
            <a:off x="584200" y="451218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4" name="TextBox 33"/>
          <p:cNvSpPr txBox="1"/>
          <p:nvPr/>
        </p:nvSpPr>
        <p:spPr>
          <a:xfrm>
            <a:off x="838200" y="4512183"/>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문자 속 링크는 누르지 않습니다. 메신저 요청은 그룹웨어 조직도로</a:t>
            </a:r>
          </a:p>
          <a:p>
            <a:pPr algn="l">
              <a:lnSpc>
                <a:spcPts val="1632"/>
              </a:lnSpc>
              <a:spcBef>
                <a:spcPts val="0"/>
              </a:spcBef>
              <a:spcAft>
                <a:spcPts val="0"/>
              </a:spcAft>
            </a:pPr>
            <a:r>
              <a:rPr sz="1150" b="0">
                <a:solidFill>
                  <a:srgbClr val="1D2433"/>
                </a:solidFill>
                <a:latin typeface="Malgun Gothic"/>
                <a:ea typeface="Malgun Gothic"/>
                <a:cs typeface="Malgun Gothic"/>
              </a:rPr>
              <a:t>본인에게 확인합니다.</a:t>
            </a:r>
          </a:p>
        </p:txBody>
      </p:sp>
      <p:sp>
        <p:nvSpPr>
          <p:cNvPr id="35" name="TextBox 34"/>
          <p:cNvSpPr txBox="1"/>
          <p:nvPr/>
        </p:nvSpPr>
        <p:spPr>
          <a:xfrm>
            <a:off x="584200" y="495871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6" name="TextBox 35"/>
          <p:cNvSpPr txBox="1"/>
          <p:nvPr/>
        </p:nvSpPr>
        <p:spPr>
          <a:xfrm>
            <a:off x="838200" y="4958715"/>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사칭으로 판단되면 ITssue 챗봇에 받은 시각·번호·내용을 알립니다.</a:t>
            </a:r>
          </a:p>
        </p:txBody>
      </p:sp>
      <p:sp>
        <p:nvSpPr>
          <p:cNvPr id="37" name="Rectangle 36"/>
          <p:cNvSpPr/>
          <p:nvPr/>
        </p:nvSpPr>
        <p:spPr>
          <a:xfrm>
            <a:off x="6731730" y="3619119"/>
            <a:ext cx="4027997" cy="247434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sec001_36_smish.png"/>
          <p:cNvPicPr>
            <a:picLocks noChangeAspect="1"/>
          </p:cNvPicPr>
          <p:nvPr/>
        </p:nvPicPr>
        <p:blipFill>
          <a:blip r:embed="rId2"/>
          <a:stretch>
            <a:fillRect/>
          </a:stretch>
        </p:blipFill>
        <p:spPr>
          <a:xfrm>
            <a:off x="6731730" y="3619119"/>
            <a:ext cx="4027997" cy="2474341"/>
          </a:xfrm>
          <a:prstGeom prst="rect">
            <a:avLst/>
          </a:prstGeom>
        </p:spPr>
      </p:pic>
      <p:sp>
        <p:nvSpPr>
          <p:cNvPr id="39" name="TextBox 38"/>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3.6-1. ① 문자 속 링크는 누르지 않기 ② 인증번호를 묻는 전화는 끊기</a:t>
            </a:r>
          </a:p>
        </p:txBody>
      </p:sp>
      <p:sp>
        <p:nvSpPr>
          <p:cNvPr id="40" name="TextBox 3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41" name="TextBox 4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문자·메신저·전화로 사칭 연락을 받았을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증상별 조치 방법</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공식 번호로 확인해 사칭으로 판단되고 신고했으면</a:t>
            </a:r>
          </a:p>
          <a:p>
            <a:pPr algn="l">
              <a:lnSpc>
                <a:spcPts val="1562"/>
              </a:lnSpc>
              <a:spcBef>
                <a:spcPts val="0"/>
              </a:spcBef>
              <a:spcAft>
                <a:spcPts val="0"/>
              </a:spcAft>
            </a:pPr>
            <a:r>
              <a:rPr sz="1100" b="0">
                <a:solidFill>
                  <a:srgbClr val="1D2433"/>
                </a:solidFill>
                <a:latin typeface="Malgun Gothic"/>
                <a:ea typeface="Malgun Gothic"/>
                <a:cs typeface="Malgun Gothic"/>
              </a:rPr>
              <a:t>끝난 것입니다.</a:t>
            </a:r>
          </a:p>
        </p:txBody>
      </p:sp>
      <p:sp>
        <p:nvSpPr>
          <p:cNvPr id="11" name="Rectangle 10"/>
          <p:cNvSpPr/>
          <p:nvPr/>
        </p:nvSpPr>
        <p:spPr>
          <a:xfrm>
            <a:off x="4309533"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이미 비밀번호나 인증번호를 알려 줬다면 3.4를</a:t>
            </a:r>
          </a:p>
          <a:p>
            <a:pPr algn="l">
              <a:lnSpc>
                <a:spcPts val="1562"/>
              </a:lnSpc>
              <a:spcBef>
                <a:spcPts val="0"/>
              </a:spcBef>
              <a:spcAft>
                <a:spcPts val="0"/>
              </a:spcAft>
            </a:pPr>
            <a:r>
              <a:rPr sz="1100" b="0">
                <a:solidFill>
                  <a:srgbClr val="1D2433"/>
                </a:solidFill>
                <a:latin typeface="Malgun Gothic"/>
                <a:ea typeface="Malgun Gothic"/>
                <a:cs typeface="Malgun Gothic"/>
              </a:rPr>
              <a:t>따릅니다.</a:t>
            </a:r>
          </a:p>
        </p:txBody>
      </p:sp>
      <p:sp>
        <p:nvSpPr>
          <p:cNvPr id="16" name="TextBox 15"/>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013839"/>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문자 링크를 눌러 앱을 설치했다면 휴대폰을</a:t>
            </a:r>
          </a:p>
          <a:p>
            <a:pPr algn="l">
              <a:lnSpc>
                <a:spcPts val="1562"/>
              </a:lnSpc>
              <a:spcBef>
                <a:spcPts val="0"/>
              </a:spcBef>
              <a:spcAft>
                <a:spcPts val="0"/>
              </a:spcAft>
            </a:pPr>
            <a:r>
              <a:rPr sz="1100" b="0">
                <a:solidFill>
                  <a:srgbClr val="1D2433"/>
                </a:solidFill>
                <a:latin typeface="Malgun Gothic"/>
                <a:ea typeface="Malgun Gothic"/>
                <a:cs typeface="Malgun Gothic"/>
              </a:rPr>
              <a:t>비행기 모드로 바꾸고 정보보안팀(내선 1119)에</a:t>
            </a:r>
          </a:p>
          <a:p>
            <a:pPr algn="l">
              <a:lnSpc>
                <a:spcPts val="1562"/>
              </a:lnSpc>
              <a:spcBef>
                <a:spcPts val="0"/>
              </a:spcBef>
              <a:spcAft>
                <a:spcPts val="0"/>
              </a:spcAft>
            </a:pPr>
            <a:r>
              <a:rPr sz="1100" b="0">
                <a:solidFill>
                  <a:srgbClr val="1D2433"/>
                </a:solidFill>
                <a:latin typeface="Malgun Gothic"/>
                <a:ea typeface="Malgun Gothic"/>
                <a:cs typeface="Malgun Gothic"/>
              </a:rPr>
              <a:t>연락합니다.</a:t>
            </a:r>
          </a:p>
        </p:txBody>
      </p:sp>
      <p:sp>
        <p:nvSpPr>
          <p:cNvPr id="18" name="Rectangle 17"/>
          <p:cNvSpPr/>
          <p:nvPr/>
        </p:nvSpPr>
        <p:spPr>
          <a:xfrm>
            <a:off x="8034867" y="1168400"/>
            <a:ext cx="3572933" cy="16056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사번</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연락받은 시각</a:t>
            </a:r>
          </a:p>
        </p:txBody>
      </p:sp>
      <p:sp>
        <p:nvSpPr>
          <p:cNvPr id="25" name="TextBox 24"/>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발신 번호 또는 메신저 계정</a:t>
            </a:r>
          </a:p>
        </p:txBody>
      </p:sp>
      <p:sp>
        <p:nvSpPr>
          <p:cNvPr id="27" name="TextBox 26"/>
          <p:cNvSpPr txBox="1"/>
          <p:nvPr/>
        </p:nvSpPr>
        <p:spPr>
          <a:xfrm>
            <a:off x="8161867" y="22884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2884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 내용과 알려 준 정보가 있는지</a:t>
            </a:r>
          </a:p>
        </p:txBody>
      </p:sp>
      <p:sp>
        <p:nvSpPr>
          <p:cNvPr id="29" name="Rectangle 28"/>
          <p:cNvSpPr/>
          <p:nvPr/>
        </p:nvSpPr>
        <p:spPr>
          <a:xfrm>
            <a:off x="584200" y="2875661"/>
            <a:ext cx="11023600" cy="401574"/>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1200" y="297726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헬프데스크·정보보안팀·챗봇은 비밀번호와 인증번호를 묻지 않습니다</a:t>
            </a:r>
          </a:p>
        </p:txBody>
      </p:sp>
      <p:sp>
        <p:nvSpPr>
          <p:cNvPr id="31" name="TextBox 3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32" name="TextBox 3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04</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자주 묻는 질문</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자주 묻는 질문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자주 묻는 질문</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120900"/>
        </p:xfrm>
        <a:graphic>
          <a:graphicData uri="http://schemas.openxmlformats.org/drawingml/2006/table">
            <a:tbl>
              <a:tblPr firstRow="0" bandRow="0">
                <a:tableStyleId>{5940675A-B579-460E-94D1-54222C63F5DA}</a:tableStyleId>
              </a:tblPr>
              <a:tblGrid>
                <a:gridCol w="3674533"/>
                <a:gridCol w="73490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질문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답변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피싱 메일을 받았어요 / 링크를 눌렀어요. (FAQ-030)</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메일을 열었다면 첨부·링크를 누르지 말고 '피싱 신고' 버튼으로 신고하세요. 이미 링크를 눌렀거나 비밀번호를 입력했다면</a:t>
                      </a:r>
                    </a:p>
                    <a:p>
                      <a:pPr algn="l">
                        <a:lnSpc>
                          <a:spcPts val="1300"/>
                        </a:lnSpc>
                        <a:spcBef>
                          <a:spcPts val="0"/>
                        </a:spcBef>
                        <a:spcAft>
                          <a:spcPts val="0"/>
                        </a:spcAft>
                      </a:pPr>
                      <a:r>
                        <a:rPr sz="1000" b="0">
                          <a:solidFill>
                            <a:srgbClr val="1D2433"/>
                          </a:solidFill>
                          <a:latin typeface="Malgun Gothic"/>
                          <a:ea typeface="Malgun Gothic"/>
                          <a:cs typeface="Malgun Gothic"/>
                        </a:rPr>
                        <a:t>즉시 비밀번호를 바꾸고 정보보안팀(내선 1119)에 연락하세요.</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내가 하지 않은 로그인 알림을 받았어요. (FAQ-005)</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즉시 비밀번호를 변경하고 정보보안팀(내선 1119)으로 신고하세요. 해외 출장 중이라면 출장 전 '해외 접속 사전 등록'을 하면</a:t>
                      </a:r>
                    </a:p>
                    <a:p>
                      <a:pPr algn="l">
                        <a:lnSpc>
                          <a:spcPts val="1300"/>
                        </a:lnSpc>
                        <a:spcBef>
                          <a:spcPts val="0"/>
                        </a:spcBef>
                        <a:spcAft>
                          <a:spcPts val="0"/>
                        </a:spcAft>
                      </a:pPr>
                      <a:r>
                        <a:rPr sz="1000" b="0">
                          <a:solidFill>
                            <a:srgbClr val="1D2433"/>
                          </a:solidFill>
                          <a:latin typeface="Malgun Gothic"/>
                          <a:ea typeface="Malgun Gothic"/>
                          <a:cs typeface="Malgun Gothic"/>
                        </a:rPr>
                        <a:t>추가 인증이 줄어듭니다 (IT-SEC-003 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의심 메일을 그냥 지워도 되나요?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지우기 전에 [피싱 신고]를 눌러 주세요. 신고해야 정보보안팀이 같은 메일을 받은 다른 사람의 메일함에서도 지울 수</a:t>
                      </a:r>
                    </a:p>
                    <a:p>
                      <a:pPr algn="l">
                        <a:lnSpc>
                          <a:spcPts val="1300"/>
                        </a:lnSpc>
                        <a:spcBef>
                          <a:spcPts val="0"/>
                        </a:spcBef>
                        <a:spcAft>
                          <a:spcPts val="0"/>
                        </a:spcAft>
                      </a:pPr>
                      <a:r>
                        <a:rPr sz="1000" b="0">
                          <a:solidFill>
                            <a:srgbClr val="1D2433"/>
                          </a:solidFill>
                          <a:latin typeface="Malgun Gothic"/>
                          <a:ea typeface="Malgun Gothic"/>
                          <a:cs typeface="Malgun Gothic"/>
                        </a:rPr>
                        <a:t>있습니다.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거래처 메일이 스팸(격리)함에 들어갔어요.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정상 거래처 메일이면 IT-SYS-004 3.1에 따라 해제합니다. 보낸 사람이 의심스러우면 해제하지 말고 이 문서 3.1에 따라</a:t>
                      </a:r>
                    </a:p>
                    <a:p>
                      <a:pPr algn="l">
                        <a:lnSpc>
                          <a:spcPts val="1300"/>
                        </a:lnSpc>
                        <a:spcBef>
                          <a:spcPts val="0"/>
                        </a:spcBef>
                        <a:spcAft>
                          <a:spcPts val="0"/>
                        </a:spcAft>
                      </a:pPr>
                      <a:r>
                        <a:rPr sz="1000" b="0">
                          <a:solidFill>
                            <a:srgbClr val="1D2433"/>
                          </a:solidFill>
                          <a:latin typeface="Malgun Gothic"/>
                          <a:ea typeface="Malgun Gothic"/>
                          <a:cs typeface="Malgun Gothic"/>
                        </a:rPr>
                        <a:t>신고합니다.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05</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주의사항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주의사항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05. 주의사항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1034796"/>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꼭 지켜 주세요</a:t>
            </a:r>
          </a:p>
        </p:txBody>
      </p:sp>
      <p:sp>
        <p:nvSpPr>
          <p:cNvPr id="8" name="TextBox 7"/>
          <p:cNvSpPr txBox="1"/>
          <p:nvPr/>
        </p:nvSpPr>
        <p:spPr>
          <a:xfrm>
            <a:off x="711200" y="1506474"/>
            <a:ext cx="10769600"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비밀번호·인증번호는 누구에게도 알려 주지 않습니다. 헬프데스크·정보보안팀·챗봇도 묻지 않습니다.</a:t>
            </a:r>
          </a:p>
          <a:p>
            <a:pPr algn="l">
              <a:lnSpc>
                <a:spcPts val="1562"/>
              </a:lnSpc>
              <a:spcBef>
                <a:spcPts val="0"/>
              </a:spcBef>
              <a:spcAft>
                <a:spcPts val="0"/>
              </a:spcAft>
            </a:pPr>
            <a:r>
              <a:rPr sz="1100" b="0">
                <a:solidFill>
                  <a:srgbClr val="1D2433"/>
                </a:solidFill>
                <a:latin typeface="Malgun Gothic"/>
                <a:ea typeface="Malgun Gothic"/>
                <a:cs typeface="Malgun Gothic"/>
              </a:rPr>
              <a:t>의심 메일은 동료에게 전달하지 않고 [피싱 신고] 버튼으로 신고합니다.</a:t>
            </a:r>
          </a:p>
          <a:p>
            <a:pPr algn="l">
              <a:lnSpc>
                <a:spcPts val="1562"/>
              </a:lnSpc>
              <a:spcBef>
                <a:spcPts val="0"/>
              </a:spcBef>
              <a:spcAft>
                <a:spcPts val="0"/>
              </a:spcAft>
            </a:pPr>
            <a:r>
              <a:rPr sz="1100" b="0">
                <a:solidFill>
                  <a:srgbClr val="1D2433"/>
                </a:solidFill>
                <a:latin typeface="Malgun Gothic"/>
                <a:ea typeface="Malgun Gothic"/>
                <a:cs typeface="Malgun Gothic"/>
              </a:rPr>
              <a:t>링크를 눌렀거나 비밀번호를 입력했으면 숨기지 말고 바로 알립니다.</a:t>
            </a:r>
          </a:p>
        </p:txBody>
      </p:sp>
      <p:sp>
        <p:nvSpPr>
          <p:cNvPr id="9" name="TextBox 8"/>
          <p:cNvSpPr txBox="1"/>
          <p:nvPr/>
        </p:nvSpPr>
        <p:spPr>
          <a:xfrm>
            <a:off x="635000" y="230479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0" name="TextBox 9"/>
          <p:cNvSpPr txBox="1"/>
          <p:nvPr/>
        </p:nvSpPr>
        <p:spPr>
          <a:xfrm>
            <a:off x="838200" y="230479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메일로 받은 송금·계좌 변경·구매 요청은 다른 경로로 본인에게 확인한 뒤 처리합니다.</a:t>
            </a:r>
          </a:p>
        </p:txBody>
      </p:sp>
      <p:sp>
        <p:nvSpPr>
          <p:cNvPr id="11" name="TextBox 10"/>
          <p:cNvSpPr txBox="1"/>
          <p:nvPr/>
        </p:nvSpPr>
        <p:spPr>
          <a:xfrm>
            <a:off x="635000" y="25439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2" name="TextBox 11"/>
          <p:cNvSpPr txBox="1"/>
          <p:nvPr/>
        </p:nvSpPr>
        <p:spPr>
          <a:xfrm>
            <a:off x="838200" y="25439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 계정과 같은 비밀번호를 다른 사이트에 쓰지 않습니다.</a:t>
            </a:r>
          </a:p>
        </p:txBody>
      </p:sp>
      <p:sp>
        <p:nvSpPr>
          <p:cNvPr id="13" name="TextBox 12"/>
          <p:cNvSpPr txBox="1"/>
          <p:nvPr/>
        </p:nvSpPr>
        <p:spPr>
          <a:xfrm>
            <a:off x="635000" y="27830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4" name="TextBox 13"/>
          <p:cNvSpPr txBox="1"/>
          <p:nvPr/>
        </p:nvSpPr>
        <p:spPr>
          <a:xfrm>
            <a:off x="838200" y="27830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분기마다 모의 피싱 훈련 메일이 발송됩니다. 훈련 메일도 실제와 똑같이 [피싱 신고]로 신고합니다.</a:t>
            </a:r>
          </a:p>
        </p:txBody>
      </p:sp>
      <p:sp>
        <p:nvSpPr>
          <p:cNvPr id="15" name="TextBox 14"/>
          <p:cNvSpPr txBox="1"/>
          <p:nvPr/>
        </p:nvSpPr>
        <p:spPr>
          <a:xfrm>
            <a:off x="635000" y="30222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30222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스팸(격리)함에 있는 의심 메일은 해제하지 않습니다.</a:t>
            </a:r>
          </a:p>
        </p:txBody>
      </p:sp>
      <p:sp>
        <p:nvSpPr>
          <p:cNvPr id="17" name="TextBox 1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18" name="TextBox 1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06</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문의처</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문의처</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06. 문의처</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209800"/>
        </p:xfrm>
        <a:graphic>
          <a:graphicData uri="http://schemas.openxmlformats.org/drawingml/2006/table">
            <a:tbl>
              <a:tblPr firstRow="0" bandRow="0">
                <a:tableStyleId>{5940675A-B579-460E-94D1-54222C63F5DA}</a:tableStyleId>
              </a:tblPr>
              <a:tblGrid>
                <a:gridCol w="2204720"/>
                <a:gridCol w="3307080"/>
                <a:gridCol w="5511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창구</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연락처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이용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 상단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24시간. 모든 IT 문의의 기본 창구입니다. 챗봇이 해결하지 못하면 확인을 거쳐 담당 팀에</a:t>
                      </a:r>
                    </a:p>
                    <a:p>
                      <a:pPr algn="l">
                        <a:lnSpc>
                          <a:spcPts val="1300"/>
                        </a:lnSpc>
                        <a:spcBef>
                          <a:spcPts val="0"/>
                        </a:spcBef>
                        <a:spcAft>
                          <a:spcPts val="0"/>
                        </a:spcAft>
                      </a:pPr>
                      <a:r>
                        <a:rPr sz="1000" b="0">
                          <a:solidFill>
                            <a:srgbClr val="1D2433"/>
                          </a:solidFill>
                          <a:latin typeface="Malgun Gothic"/>
                          <a:ea typeface="Malgun Gothic"/>
                          <a:cs typeface="Malgun Gothic"/>
                        </a:rPr>
                        <a:t>티켓으로 접수합니다.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1000 (평일 09:00~18:00)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PC나 챗봇을 쓸 수 없을 때, 여러 사람이 함께 업무를 못 할 때, 본인 확인이 필요한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1119</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 클릭·비밀번호 입력·감염 의심·계정 도용·장비 분실처럼 바로 알려야 할 보안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 채널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(챗봇을 쓸 수 없을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비밀번호·인증번호는 메일로 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상황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메신저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접수·담당자 배정·처리 완료를 알려 드립니다. 진행 상황은 [내 요청 현황]에서도 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558800"/>
          </a:xfrm>
          <a:prstGeom prst="rect">
            <a:avLst/>
          </a:prstGeom>
          <a:noFill/>
        </p:spPr>
        <p:txBody>
          <a:bodyPr wrap="none" lIns="0" rIns="0" tIns="0" bIns="0" anchor="t">
            <a:spAutoFit/>
          </a:bodyPr>
          <a:lstStyle/>
          <a:p>
            <a:pPr algn="l">
              <a:lnSpc>
                <a:spcPts val="4400"/>
              </a:lnSpc>
              <a:spcBef>
                <a:spcPts val="0"/>
              </a:spcBef>
              <a:spcAft>
                <a:spcPts val="0"/>
              </a:spcAft>
            </a:pPr>
            <a:r>
              <a:rPr sz="4000" b="1">
                <a:solidFill>
                  <a:srgbClr val="E8590C"/>
                </a:solidFill>
                <a:latin typeface="Malgun Gothic"/>
                <a:ea typeface="Malgun Gothic"/>
                <a:cs typeface="Malgun Gothic"/>
              </a:rPr>
              <a:t>부록</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관련 문서 · 용어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IT-SEC-001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관련 문서 · 용어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문서</a:t>
            </a:r>
          </a:p>
        </p:txBody>
      </p:sp>
      <p:graphicFrame>
        <p:nvGraphicFramePr>
          <p:cNvPr id="7" name="Table 6"/>
          <p:cNvGraphicFramePr>
            <a:graphicFrameLocks noGrp="1"/>
          </p:cNvGraphicFramePr>
          <p:nvPr/>
        </p:nvGraphicFramePr>
        <p:xfrm>
          <a:off x="584200" y="1492885"/>
          <a:ext cx="11023600" cy="2044700"/>
        </p:xfrm>
        <a:graphic>
          <a:graphicData uri="http://schemas.openxmlformats.org/drawingml/2006/table">
            <a:tbl>
              <a:tblPr firstRow="0" bandRow="0">
                <a:tableStyleId>{5940675A-B579-460E-94D1-54222C63F5DA}</a:tableStyleId>
              </a:tblPr>
              <a:tblGrid>
                <a:gridCol w="1837267"/>
                <a:gridCol w="4133850"/>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 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이럴 때 봅니다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프로그램(백신·EDR) 알림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첨부파일을 연 뒤 보안 알림이 뜨거나 PC가 이상할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 도용·장비 분실 신고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모르는 로그인 알림이나 요청하지 않은 인증 알림이 올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예외 신청·정책 안내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개인정보가 든 파일을 외부로 보내야 할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IT-SYS-004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 이용 장애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정상 메일이 격리함에 들어가거나 메일이 오지 않을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IT-ACC-002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변경·초기화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비밀번호를 바꾸거나, 바꾼 뒤 로그인이 되지 않을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서비스 운영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긴급도와 처리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6391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용어</a:t>
            </a:r>
          </a:p>
        </p:txBody>
      </p:sp>
      <p:graphicFrame>
        <p:nvGraphicFramePr>
          <p:cNvPr id="9" name="Table 8"/>
          <p:cNvGraphicFramePr>
            <a:graphicFrameLocks noGrp="1"/>
          </p:cNvGraphicFramePr>
          <p:nvPr/>
        </p:nvGraphicFramePr>
        <p:xfrm>
          <a:off x="584200" y="3963670"/>
          <a:ext cx="11023600" cy="2044700"/>
        </p:xfrm>
        <a:graphic>
          <a:graphicData uri="http://schemas.openxmlformats.org/drawingml/2006/table">
            <a:tbl>
              <a:tblPr firstRow="0" bandRow="0">
                <a:tableStyleId>{5940675A-B579-460E-94D1-54222C63F5DA}</a:tableStyleId>
              </a:tblPr>
              <a:tblGrid>
                <a:gridCol w="2755900"/>
                <a:gridCol w="82677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용어</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믿을 만한 곳인 척 메일·문자를 보내 계정 정보나 돈을 빼내는 공격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BEC (메일 사칭)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임원·거래처를 사칭해 송금이나 자료 전달을 요청하는 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스미싱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문자 메시지의 링크로 피싱 사이트나 악성 앱 설치로 이끄는 공격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신고] 버튼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그룹웨어 메일에서 의심 메일을 정보보안팀에 바로 신고하는 버튼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[콘텐츠 사용]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문서의 매크로를 실행하는 버튼. 의심 메일의 첨부에서는 누르지 않는다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세션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로그인한 상태. 정보보안팀이 강제로 끊으면 모든 기기에서 다시 로그인해야 한다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개정 이력</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876300"/>
        </p:xfrm>
        <a:graphic>
          <a:graphicData uri="http://schemas.openxmlformats.org/drawingml/2006/table">
            <a:tbl>
              <a:tblPr firstRow="0" bandRow="0">
                <a:tableStyleId>{5940675A-B579-460E-94D1-54222C63F5DA}</a:tableStyleId>
              </a:tblPr>
              <a:tblGrid>
                <a:gridCol w="1002145"/>
                <a:gridCol w="1403004"/>
                <a:gridCol w="1603433"/>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버전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개정일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작성자</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변경 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v1.0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2026-03-01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최초 작성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7개 분류 통합 정리본. 문서 양식·열람 등급·용어·연락처를 통일하고 분류 사이의 중복 내용을 한 문서로 정리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IT-SEC-001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IT-SEC-001 피싱·의심 메일 대응 가이드</dc:title>
  <dc:subject>사내 일반 · 전 임직원</dc:subject>
  <dc:creator>정보보안팀</dc:creator>
  <cp:keywords>피싱 메일, 의심 메일, 수상한 메일, 피싱 신고, 링크를 눌렀어요, 첨부파일, 매크로, 콘텐츠 사용, 비밀번호 입력, 임원 사칭, 대표 사칭, BEC, 기프트카드, 송금 요청, 급여명세서, 택배 조회, 연말정산, 인사팀 사칭, 대량 유입, 스미싱, 사칭 전화, 인증번호 요구</cp:keywords>
  <dc:description>generated using python-pptx</dc:description>
  <cp:lastModifiedBy>정보보안팀</cp:lastModifiedBy>
  <cp:revision>1</cp:revision>
  <dcterms:created xsi:type="dcterms:W3CDTF">2013-01-27T09:14:16Z</dcterms:created>
  <dcterms:modified xsi:type="dcterms:W3CDTF">2013-01-27T09:15:58Z</dcterms:modified>
  <cp:category>사내 일반</cp:category>
</cp:coreProperties>
</file>