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84200" y="1651000"/>
            <a:ext cx="1168400" cy="508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84200" y="2108200"/>
            <a:ext cx="11023600" cy="270510"/>
          </a:xfrm>
          <a:prstGeom prst="rect">
            <a:avLst/>
          </a:prstGeom>
          <a:noFill/>
        </p:spPr>
        <p:txBody>
          <a:bodyPr wrap="none" lIns="0" rIns="0" tIns="0" bIns="0" anchor="t">
            <a:spAutoFit/>
          </a:bodyPr>
          <a:lstStyle/>
          <a:p>
            <a:pPr algn="l">
              <a:lnSpc>
                <a:spcPts val="2129"/>
              </a:lnSpc>
              <a:spcBef>
                <a:spcPts val="0"/>
              </a:spcBef>
              <a:spcAft>
                <a:spcPts val="0"/>
              </a:spcAft>
            </a:pPr>
            <a:r>
              <a:rPr sz="1500" b="0">
                <a:solidFill>
                  <a:srgbClr val="5A6270"/>
                </a:solidFill>
                <a:latin typeface="Malgun Gothic"/>
                <a:ea typeface="Malgun Gothic"/>
                <a:cs typeface="Malgun Gothic"/>
              </a:rPr>
              <a:t>가상 ICT 기업 임직원 IT 안내 · 정보보안</a:t>
            </a:r>
          </a:p>
        </p:txBody>
      </p:sp>
      <p:sp>
        <p:nvSpPr>
          <p:cNvPr id="5" name="TextBox 4"/>
          <p:cNvSpPr txBox="1"/>
          <p:nvPr/>
        </p:nvSpPr>
        <p:spPr>
          <a:xfrm>
            <a:off x="584200" y="2489200"/>
            <a:ext cx="11023600" cy="609600"/>
          </a:xfrm>
          <a:prstGeom prst="rect">
            <a:avLst/>
          </a:prstGeom>
          <a:noFill/>
        </p:spPr>
        <p:txBody>
          <a:bodyPr wrap="none" lIns="0" rIns="0" tIns="0" bIns="0" anchor="t">
            <a:spAutoFit/>
          </a:bodyPr>
          <a:lstStyle/>
          <a:p>
            <a:pPr algn="l">
              <a:lnSpc>
                <a:spcPts val="4800"/>
              </a:lnSpc>
              <a:spcBef>
                <a:spcPts val="0"/>
              </a:spcBef>
              <a:spcAft>
                <a:spcPts val="0"/>
              </a:spcAft>
            </a:pPr>
            <a:r>
              <a:rPr sz="4000" b="1">
                <a:solidFill>
                  <a:srgbClr val="1D2433"/>
                </a:solidFill>
                <a:latin typeface="Malgun Gothic"/>
                <a:ea typeface="Malgun Gothic"/>
                <a:cs typeface="Malgun Gothic"/>
              </a:rPr>
              <a:t>계정 도용·장비 분실 신고 가이드</a:t>
            </a:r>
          </a:p>
        </p:txBody>
      </p:sp>
      <p:sp>
        <p:nvSpPr>
          <p:cNvPr id="6" name="TextBox 5"/>
          <p:cNvSpPr txBox="1"/>
          <p:nvPr/>
        </p:nvSpPr>
        <p:spPr>
          <a:xfrm>
            <a:off x="584200" y="3149600"/>
            <a:ext cx="11023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IT-SEC-003  |  정보보안팀  |  2026.10.16  |  Ver 2.0</a:t>
            </a:r>
          </a:p>
        </p:txBody>
      </p:sp>
      <p:sp>
        <p:nvSpPr>
          <p:cNvPr id="7" name="Rounded Rectangle 6"/>
          <p:cNvSpPr/>
          <p:nvPr/>
        </p:nvSpPr>
        <p:spPr>
          <a:xfrm>
            <a:off x="584200" y="3581400"/>
            <a:ext cx="1680815" cy="304800"/>
          </a:xfrm>
          <a:prstGeom prst="roundRect">
            <a:avLst>
              <a:gd name="adj" fmla="val 16666"/>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300" y="3644900"/>
            <a:ext cx="1680815"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FFFFFF"/>
                </a:solidFill>
                <a:latin typeface="Malgun Gothic"/>
                <a:ea typeface="Malgun Gothic"/>
                <a:cs typeface="Malgun Gothic"/>
              </a:rPr>
              <a:t>사내 일반 · 전 임직원</a:t>
            </a:r>
          </a:p>
        </p:txBody>
      </p:sp>
      <p:sp>
        <p:nvSpPr>
          <p:cNvPr id="9" name="TextBox 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10" name="TextBox 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 / 33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문서 정보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IT-SEC-003</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1752600"/>
        </p:xfrm>
        <a:graphic>
          <a:graphicData uri="http://schemas.openxmlformats.org/drawingml/2006/table">
            <a:tbl>
              <a:tblPr firstRow="0" bandRow="0">
                <a:tableStyleId>{5940675A-B579-460E-94D1-54222C63F5DA}</a:tableStyleId>
              </a:tblPr>
              <a:tblGrid>
                <a:gridCol w="1732280"/>
                <a:gridCol w="3779520"/>
                <a:gridCol w="1732280"/>
                <a:gridCol w="3779520"/>
              </a:tblGrid>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번호</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버전</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분류</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 정보보안</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시행일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유형</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장애 대응·신고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열람 등급</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일반 (전 임직원)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관리 부서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승인자</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대상</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전 임직원 (3.5는 시스템·서버 담당자)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담당자 매뉴얼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IT-SEC-003-M</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포함 시나리오</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SEC-06, SEC-05, SEC-08</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관련 FAQ</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graphicFrame>
        <p:nvGraphicFramePr>
          <p:cNvPr id="7" name="Table 6"/>
          <p:cNvGraphicFramePr>
            <a:graphicFrameLocks noGrp="1"/>
          </p:cNvGraphicFramePr>
          <p:nvPr/>
        </p:nvGraphicFramePr>
        <p:xfrm>
          <a:off x="584200" y="3022600"/>
          <a:ext cx="11023600" cy="622300"/>
        </p:xfrm>
        <a:graphic>
          <a:graphicData uri="http://schemas.openxmlformats.org/drawingml/2006/table">
            <a:tbl>
              <a:tblPr firstRow="0" bandRow="0">
                <a:tableStyleId>{5940675A-B579-460E-94D1-54222C63F5DA}</a:tableStyleId>
              </a:tblPr>
              <a:tblGrid>
                <a:gridCol w="1732280"/>
                <a:gridCol w="9291320"/>
              </a:tblGrid>
              <a:tr h="6223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키워드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계정 도용, 내가 하지 않은 로그인, 새로운 위치에서 로그인, 해외 로그인 알림, 로그인 시도 알림, MFA 알림, 인증 알림, 실수로 승인, 해외 출장, 해외 접속 사전</a:t>
                      </a:r>
                    </a:p>
                    <a:p>
                      <a:pPr algn="l">
                        <a:lnSpc>
                          <a:spcPts val="1300"/>
                        </a:lnSpc>
                        <a:spcBef>
                          <a:spcPts val="0"/>
                        </a:spcBef>
                        <a:spcAft>
                          <a:spcPts val="0"/>
                        </a:spcAft>
                      </a:pPr>
                      <a:r>
                        <a:rPr sz="1000" b="0">
                          <a:solidFill>
                            <a:srgbClr val="1D2433"/>
                          </a:solidFill>
                          <a:latin typeface="Malgun Gothic"/>
                          <a:ea typeface="Malgun Gothic"/>
                          <a:cs typeface="Malgun Gothic"/>
                        </a:rPr>
                        <a:t>등록, 추가 인증 반복, 계정 잠김 반복, 비밀번호가 바뀜, 무단 접근, 침해 의심, 무단 조회 기록, 서버 무단 로그인, 데이터 외부 전송, DB 외부 노출, 휴대폰 분실,</a:t>
                      </a:r>
                    </a:p>
                    <a:p>
                      <a:pPr algn="l">
                        <a:lnSpc>
                          <a:spcPts val="1300"/>
                        </a:lnSpc>
                        <a:spcBef>
                          <a:spcPts val="0"/>
                        </a:spcBef>
                        <a:spcAft>
                          <a:spcPts val="0"/>
                        </a:spcAft>
                      </a:pPr>
                      <a:r>
                        <a:rPr sz="1000" b="0">
                          <a:solidFill>
                            <a:srgbClr val="1D2433"/>
                          </a:solidFill>
                          <a:latin typeface="Malgun Gothic"/>
                          <a:ea typeface="Malgun Gothic"/>
                          <a:cs typeface="Malgun Gothic"/>
                        </a:rPr>
                        <a:t>노트북 분실, 장비 분실, 원격 잠금, 분실 경위서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9" name="TextBox 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 / 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Contents</a:t>
            </a:r>
          </a:p>
        </p:txBody>
      </p:sp>
      <p:cxnSp>
        <p:nvCxnSpPr>
          <p:cNvPr id="4" name="Connector 3"/>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65200" y="1244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1. 개요</a:t>
            </a:r>
          </a:p>
        </p:txBody>
      </p:sp>
      <p:cxnSp>
        <p:nvCxnSpPr>
          <p:cNvPr id="6" name="Connector 5"/>
          <p:cNvCxnSpPr/>
          <p:nvPr/>
        </p:nvCxnSpPr>
        <p:spPr>
          <a:xfrm>
            <a:off x="1659892" y="1431290"/>
            <a:ext cx="84239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185400" y="1244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4p</a:t>
            </a:r>
          </a:p>
        </p:txBody>
      </p:sp>
      <p:sp>
        <p:nvSpPr>
          <p:cNvPr id="8" name="TextBox 7"/>
          <p:cNvSpPr txBox="1"/>
          <p:nvPr/>
        </p:nvSpPr>
        <p:spPr>
          <a:xfrm>
            <a:off x="965200" y="16764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2. 먼저 확인할 사항</a:t>
            </a:r>
          </a:p>
        </p:txBody>
      </p:sp>
      <p:cxnSp>
        <p:nvCxnSpPr>
          <p:cNvPr id="9" name="Connector 8"/>
          <p:cNvCxnSpPr/>
          <p:nvPr/>
        </p:nvCxnSpPr>
        <p:spPr>
          <a:xfrm>
            <a:off x="2673908" y="1863090"/>
            <a:ext cx="7409892"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185400" y="1676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6p</a:t>
            </a:r>
          </a:p>
        </p:txBody>
      </p:sp>
      <p:sp>
        <p:nvSpPr>
          <p:cNvPr id="11" name="TextBox 10"/>
          <p:cNvSpPr txBox="1"/>
          <p:nvPr/>
        </p:nvSpPr>
        <p:spPr>
          <a:xfrm>
            <a:off x="965200" y="21082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3. 증상별 조치 방법</a:t>
            </a:r>
          </a:p>
        </p:txBody>
      </p:sp>
      <p:cxnSp>
        <p:nvCxnSpPr>
          <p:cNvPr id="12" name="Connector 11"/>
          <p:cNvCxnSpPr/>
          <p:nvPr/>
        </p:nvCxnSpPr>
        <p:spPr>
          <a:xfrm>
            <a:off x="2673908" y="2294890"/>
            <a:ext cx="7409892"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185400" y="2108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9p</a:t>
            </a:r>
          </a:p>
        </p:txBody>
      </p:sp>
      <p:sp>
        <p:nvSpPr>
          <p:cNvPr id="14" name="TextBox 13"/>
          <p:cNvSpPr txBox="1"/>
          <p:nvPr/>
        </p:nvSpPr>
        <p:spPr>
          <a:xfrm>
            <a:off x="965200" y="25400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4. 자주 묻는 질문</a:t>
            </a:r>
          </a:p>
        </p:txBody>
      </p:sp>
      <p:cxnSp>
        <p:nvCxnSpPr>
          <p:cNvPr id="15" name="Connector 14"/>
          <p:cNvCxnSpPr/>
          <p:nvPr/>
        </p:nvCxnSpPr>
        <p:spPr>
          <a:xfrm>
            <a:off x="2496108" y="2726690"/>
            <a:ext cx="7587692"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185400" y="25400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25p</a:t>
            </a:r>
          </a:p>
        </p:txBody>
      </p:sp>
      <p:sp>
        <p:nvSpPr>
          <p:cNvPr id="17" name="TextBox 16"/>
          <p:cNvSpPr txBox="1"/>
          <p:nvPr/>
        </p:nvSpPr>
        <p:spPr>
          <a:xfrm>
            <a:off x="965200" y="29718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5. 주의사항</a:t>
            </a:r>
          </a:p>
        </p:txBody>
      </p:sp>
      <p:cxnSp>
        <p:nvCxnSpPr>
          <p:cNvPr id="18" name="Connector 17"/>
          <p:cNvCxnSpPr/>
          <p:nvPr/>
        </p:nvCxnSpPr>
        <p:spPr>
          <a:xfrm>
            <a:off x="2015492" y="3158490"/>
            <a:ext cx="80683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185400" y="29718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27p</a:t>
            </a:r>
          </a:p>
        </p:txBody>
      </p:sp>
      <p:sp>
        <p:nvSpPr>
          <p:cNvPr id="20" name="TextBox 19"/>
          <p:cNvSpPr txBox="1"/>
          <p:nvPr/>
        </p:nvSpPr>
        <p:spPr>
          <a:xfrm>
            <a:off x="965200" y="3403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6. 문의처</a:t>
            </a:r>
          </a:p>
        </p:txBody>
      </p:sp>
      <p:cxnSp>
        <p:nvCxnSpPr>
          <p:cNvPr id="21" name="Connector 20"/>
          <p:cNvCxnSpPr/>
          <p:nvPr/>
        </p:nvCxnSpPr>
        <p:spPr>
          <a:xfrm>
            <a:off x="1837692" y="3590290"/>
            <a:ext cx="82461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185400" y="3403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29p</a:t>
            </a:r>
          </a:p>
        </p:txBody>
      </p:sp>
      <p:sp>
        <p:nvSpPr>
          <p:cNvPr id="23" name="TextBox 22"/>
          <p:cNvSpPr txBox="1"/>
          <p:nvPr/>
        </p:nvSpPr>
        <p:spPr>
          <a:xfrm>
            <a:off x="965200" y="38354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부록 · 관련 문서 · 용어</a:t>
            </a:r>
          </a:p>
        </p:txBody>
      </p:sp>
      <p:cxnSp>
        <p:nvCxnSpPr>
          <p:cNvPr id="24" name="Connector 23"/>
          <p:cNvCxnSpPr/>
          <p:nvPr/>
        </p:nvCxnSpPr>
        <p:spPr>
          <a:xfrm>
            <a:off x="2710706" y="4002088"/>
            <a:ext cx="7373094"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185400" y="3835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31p</a:t>
            </a:r>
          </a:p>
        </p:txBody>
      </p:sp>
      <p:sp>
        <p:nvSpPr>
          <p:cNvPr id="26" name="TextBox 25"/>
          <p:cNvSpPr txBox="1"/>
          <p:nvPr/>
        </p:nvSpPr>
        <p:spPr>
          <a:xfrm>
            <a:off x="965200" y="42672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개정 이력</a:t>
            </a:r>
          </a:p>
        </p:txBody>
      </p:sp>
      <p:cxnSp>
        <p:nvCxnSpPr>
          <p:cNvPr id="27" name="Connector 26"/>
          <p:cNvCxnSpPr/>
          <p:nvPr/>
        </p:nvCxnSpPr>
        <p:spPr>
          <a:xfrm>
            <a:off x="1783011" y="4433888"/>
            <a:ext cx="8300789"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185400" y="4267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33p</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 / 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01</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개요</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IT-SEC-003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4 / 33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개요</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01. 개요</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842135"/>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목적</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내 계정이 도용됐다고 의심될 때 바로 할 일과 신고</a:t>
            </a:r>
          </a:p>
          <a:p>
            <a:pPr algn="l">
              <a:lnSpc>
                <a:spcPts val="1562"/>
              </a:lnSpc>
              <a:spcBef>
                <a:spcPts val="0"/>
              </a:spcBef>
              <a:spcAft>
                <a:spcPts val="0"/>
              </a:spcAft>
            </a:pPr>
            <a:r>
              <a:rPr sz="1100" b="0">
                <a:solidFill>
                  <a:srgbClr val="1D2433"/>
                </a:solidFill>
                <a:latin typeface="Malgun Gothic"/>
                <a:ea typeface="Malgun Gothic"/>
                <a:cs typeface="Malgun Gothic"/>
              </a:rPr>
              <a:t>방법을 안내합니다.</a:t>
            </a:r>
          </a:p>
        </p:txBody>
      </p:sp>
      <p:sp>
        <p:nvSpPr>
          <p:cNvPr id="11" name="TextBox 10"/>
          <p:cNvSpPr txBox="1"/>
          <p:nvPr/>
        </p:nvSpPr>
        <p:spPr>
          <a:xfrm>
            <a:off x="711200"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2" name="TextBox 11"/>
          <p:cNvSpPr txBox="1"/>
          <p:nvPr/>
        </p:nvSpPr>
        <p:spPr>
          <a:xfrm>
            <a:off x="838200"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시스템·서버에서 무단 접근 흔적을 발견했을 때</a:t>
            </a:r>
          </a:p>
          <a:p>
            <a:pPr algn="l">
              <a:lnSpc>
                <a:spcPts val="1562"/>
              </a:lnSpc>
              <a:spcBef>
                <a:spcPts val="0"/>
              </a:spcBef>
              <a:spcAft>
                <a:spcPts val="0"/>
              </a:spcAft>
            </a:pPr>
            <a:r>
              <a:rPr sz="1100" b="0">
                <a:solidFill>
                  <a:srgbClr val="1D2433"/>
                </a:solidFill>
                <a:latin typeface="Malgun Gothic"/>
                <a:ea typeface="Malgun Gothic"/>
                <a:cs typeface="Malgun Gothic"/>
              </a:rPr>
              <a:t>신고 방법을 안내합니다.</a:t>
            </a:r>
          </a:p>
        </p:txBody>
      </p:sp>
      <p:sp>
        <p:nvSpPr>
          <p:cNvPr id="13" name="TextBox 12"/>
          <p:cNvSpPr txBox="1"/>
          <p:nvPr/>
        </p:nvSpPr>
        <p:spPr>
          <a:xfrm>
            <a:off x="711200" y="2448687"/>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4" name="TextBox 13"/>
          <p:cNvSpPr txBox="1"/>
          <p:nvPr/>
        </p:nvSpPr>
        <p:spPr>
          <a:xfrm>
            <a:off x="838200" y="2448687"/>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휴대폰·노트북을 잃어버렸을 때 신고와 원격 잠금</a:t>
            </a:r>
          </a:p>
          <a:p>
            <a:pPr algn="l">
              <a:lnSpc>
                <a:spcPts val="1562"/>
              </a:lnSpc>
              <a:spcBef>
                <a:spcPts val="0"/>
              </a:spcBef>
              <a:spcAft>
                <a:spcPts val="0"/>
              </a:spcAft>
            </a:pPr>
            <a:r>
              <a:rPr sz="1100" b="0">
                <a:solidFill>
                  <a:srgbClr val="1D2433"/>
                </a:solidFill>
                <a:latin typeface="Malgun Gothic"/>
                <a:ea typeface="Malgun Gothic"/>
                <a:cs typeface="Malgun Gothic"/>
              </a:rPr>
              <a:t>절차를 안내합니다.</a:t>
            </a:r>
          </a:p>
        </p:txBody>
      </p:sp>
      <p:sp>
        <p:nvSpPr>
          <p:cNvPr id="15" name="Rectangle 14"/>
          <p:cNvSpPr/>
          <p:nvPr/>
        </p:nvSpPr>
        <p:spPr>
          <a:xfrm>
            <a:off x="4309533" y="1168400"/>
            <a:ext cx="3572933" cy="1842135"/>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적용 대상</a:t>
            </a:r>
          </a:p>
        </p:txBody>
      </p:sp>
      <p:sp>
        <p:nvSpPr>
          <p:cNvPr id="18" name="TextBox 17"/>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9" name="TextBox 18"/>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전 임직원이 대상입니다. 3.5는 시스템·서버를 맡은</a:t>
            </a:r>
          </a:p>
          <a:p>
            <a:pPr algn="l">
              <a:lnSpc>
                <a:spcPts val="1562"/>
              </a:lnSpc>
              <a:spcBef>
                <a:spcPts val="0"/>
              </a:spcBef>
              <a:spcAft>
                <a:spcPts val="0"/>
              </a:spcAft>
            </a:pPr>
            <a:r>
              <a:rPr sz="1100" b="0">
                <a:solidFill>
                  <a:srgbClr val="1D2433"/>
                </a:solidFill>
                <a:latin typeface="Malgun Gothic"/>
                <a:ea typeface="Malgun Gothic"/>
                <a:cs typeface="Malgun Gothic"/>
              </a:rPr>
              <a:t>개발·운영 담당자가 주로 봅니다.</a:t>
            </a:r>
          </a:p>
        </p:txBody>
      </p:sp>
      <p:sp>
        <p:nvSpPr>
          <p:cNvPr id="20" name="TextBox 19"/>
          <p:cNvSpPr txBox="1"/>
          <p:nvPr/>
        </p:nvSpPr>
        <p:spPr>
          <a:xfrm>
            <a:off x="4436533"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1" name="TextBox 20"/>
          <p:cNvSpPr txBox="1"/>
          <p:nvPr/>
        </p:nvSpPr>
        <p:spPr>
          <a:xfrm>
            <a:off x="4563533"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피싱 링크에 비밀번호를 입력한 경우는 IT-SEC-001</a:t>
            </a:r>
          </a:p>
          <a:p>
            <a:pPr algn="l">
              <a:lnSpc>
                <a:spcPts val="1562"/>
              </a:lnSpc>
              <a:spcBef>
                <a:spcPts val="0"/>
              </a:spcBef>
              <a:spcAft>
                <a:spcPts val="0"/>
              </a:spcAft>
            </a:pPr>
            <a:r>
              <a:rPr sz="1100" b="0">
                <a:solidFill>
                  <a:srgbClr val="1D2433"/>
                </a:solidFill>
                <a:latin typeface="Malgun Gothic"/>
                <a:ea typeface="Malgun Gothic"/>
                <a:cs typeface="Malgun Gothic"/>
              </a:rPr>
              <a:t>3.4를 함께 봅니다.</a:t>
            </a:r>
          </a:p>
        </p:txBody>
      </p:sp>
      <p:sp>
        <p:nvSpPr>
          <p:cNvPr id="22" name="TextBox 21"/>
          <p:cNvSpPr txBox="1"/>
          <p:nvPr/>
        </p:nvSpPr>
        <p:spPr>
          <a:xfrm>
            <a:off x="4436533" y="2448687"/>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3" name="TextBox 22"/>
          <p:cNvSpPr txBox="1"/>
          <p:nvPr/>
        </p:nvSpPr>
        <p:spPr>
          <a:xfrm>
            <a:off x="4563533" y="2448687"/>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일반 로그인 오류는 IT-ACC-001, 비밀번호 분실은</a:t>
            </a:r>
          </a:p>
          <a:p>
            <a:pPr algn="l">
              <a:lnSpc>
                <a:spcPts val="1562"/>
              </a:lnSpc>
              <a:spcBef>
                <a:spcPts val="0"/>
              </a:spcBef>
              <a:spcAft>
                <a:spcPts val="0"/>
              </a:spcAft>
            </a:pPr>
            <a:r>
              <a:rPr sz="1100" b="0">
                <a:solidFill>
                  <a:srgbClr val="1D2433"/>
                </a:solidFill>
                <a:latin typeface="Malgun Gothic"/>
                <a:ea typeface="Malgun Gothic"/>
                <a:cs typeface="Malgun Gothic"/>
              </a:rPr>
              <a:t>IT-ACC-002를 봅니다.</a:t>
            </a:r>
          </a:p>
        </p:txBody>
      </p:sp>
      <p:sp>
        <p:nvSpPr>
          <p:cNvPr id="24" name="Rectangle 23"/>
          <p:cNvSpPr/>
          <p:nvPr/>
        </p:nvSpPr>
        <p:spPr>
          <a:xfrm>
            <a:off x="8034867" y="1168400"/>
            <a:ext cx="3572933" cy="1842135"/>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적용 환경</a:t>
            </a:r>
          </a:p>
        </p:txBody>
      </p:sp>
      <p:sp>
        <p:nvSpPr>
          <p:cNvPr id="27" name="TextBox 26"/>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통합 로그인(SSO)·인증 앱(MFA)</a:t>
            </a:r>
          </a:p>
        </p:txBody>
      </p:sp>
      <p:sp>
        <p:nvSpPr>
          <p:cNvPr id="29" name="TextBox 28"/>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30" name="TextBox 29"/>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정보보안 포털</a:t>
            </a:r>
          </a:p>
        </p:txBody>
      </p:sp>
      <p:sp>
        <p:nvSpPr>
          <p:cNvPr id="31" name="TextBox 30"/>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32" name="TextBox 31"/>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단말 관리(원격 잠금)</a:t>
            </a:r>
          </a:p>
        </p:txBody>
      </p:sp>
      <p:sp>
        <p:nvSpPr>
          <p:cNvPr id="33" name="TextBox 32"/>
          <p:cNvSpPr txBox="1"/>
          <p:nvPr/>
        </p:nvSpPr>
        <p:spPr>
          <a:xfrm>
            <a:off x="8161867" y="22884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34" name="TextBox 33"/>
          <p:cNvSpPr txBox="1"/>
          <p:nvPr/>
        </p:nvSpPr>
        <p:spPr>
          <a:xfrm>
            <a:off x="8288867" y="22884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Windows / macOS / 휴대폰</a:t>
            </a:r>
          </a:p>
        </p:txBody>
      </p:sp>
      <p:sp>
        <p:nvSpPr>
          <p:cNvPr id="35" name="Rectangle 34"/>
          <p:cNvSpPr/>
          <p:nvPr/>
        </p:nvSpPr>
        <p:spPr>
          <a:xfrm>
            <a:off x="584200" y="3112135"/>
            <a:ext cx="11023600" cy="401574"/>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11200" y="3213735"/>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이 문서는 계정 도용 의심(3.1~3.4), 시스템 무단 접근·침해 의심(3.5), 장비 분실(3.6~3.7) 신고를 함께 다룹니다.</a:t>
            </a:r>
          </a:p>
        </p:txBody>
      </p:sp>
      <p:sp>
        <p:nvSpPr>
          <p:cNvPr id="37" name="TextBox 3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38" name="TextBox 3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5 / 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02</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먼저 확인할 사항</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IT-SEC-003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6 / 33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먼저 확인할 사항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먼저 확인할 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조치하기 전에 확인합니다</a:t>
            </a:r>
          </a:p>
        </p:txBody>
      </p:sp>
      <p:sp>
        <p:nvSpPr>
          <p:cNvPr id="7" name="TextBox 6"/>
          <p:cNvSpPr txBox="1"/>
          <p:nvPr/>
        </p:nvSpPr>
        <p:spPr>
          <a:xfrm>
            <a:off x="635000" y="14928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8" name="TextBox 7"/>
          <p:cNvSpPr txBox="1"/>
          <p:nvPr/>
        </p:nvSpPr>
        <p:spPr>
          <a:xfrm>
            <a:off x="838200" y="14928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이 문서의 상황은 대부분 </a:t>
            </a:r>
            <a:r>
              <a:rPr sz="1150" b="1">
                <a:solidFill>
                  <a:srgbClr val="1D2433"/>
                </a:solidFill>
                <a:latin typeface="Malgun Gothic"/>
                <a:ea typeface="Malgun Gothic"/>
                <a:cs typeface="Malgun Gothic"/>
              </a:rPr>
              <a:t>정보보안팀(내선 1119)에 바로 신고</a:t>
            </a:r>
            <a:r>
              <a:rPr sz="1150" b="0">
                <a:solidFill>
                  <a:srgbClr val="1D2433"/>
                </a:solidFill>
                <a:latin typeface="Malgun Gothic"/>
                <a:ea typeface="Malgun Gothic"/>
                <a:cs typeface="Malgun Gothic"/>
              </a:rPr>
              <a:t>하는 일입니다. 혼자 해결하려고 시간을 쓰지 않습니다.</a:t>
            </a:r>
          </a:p>
        </p:txBody>
      </p:sp>
      <p:sp>
        <p:nvSpPr>
          <p:cNvPr id="9" name="TextBox 8"/>
          <p:cNvSpPr txBox="1"/>
          <p:nvPr/>
        </p:nvSpPr>
        <p:spPr>
          <a:xfrm>
            <a:off x="635000" y="17320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0" name="TextBox 9"/>
          <p:cNvSpPr txBox="1"/>
          <p:nvPr/>
        </p:nvSpPr>
        <p:spPr>
          <a:xfrm>
            <a:off x="838200" y="17320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신고할 때 </a:t>
            </a:r>
            <a:r>
              <a:rPr sz="1150" b="1">
                <a:solidFill>
                  <a:srgbClr val="1D2433"/>
                </a:solidFill>
                <a:latin typeface="Malgun Gothic"/>
                <a:ea typeface="Malgun Gothic"/>
                <a:cs typeface="Malgun Gothic"/>
              </a:rPr>
              <a:t>발견한 시각, 화면, 이미 한 조치</a:t>
            </a:r>
            <a:r>
              <a:rPr sz="1150" b="0">
                <a:solidFill>
                  <a:srgbClr val="1D2433"/>
                </a:solidFill>
                <a:latin typeface="Malgun Gothic"/>
                <a:ea typeface="Malgun Gothic"/>
                <a:cs typeface="Malgun Gothic"/>
              </a:rPr>
              <a:t>를 알려 주세요. 이미 비밀번호를 바꿨거나 서버를 막았어도 그대로 알립니다.</a:t>
            </a:r>
          </a:p>
        </p:txBody>
      </p:sp>
      <p:sp>
        <p:nvSpPr>
          <p:cNvPr id="11" name="TextBox 10"/>
          <p:cNvSpPr txBox="1"/>
          <p:nvPr/>
        </p:nvSpPr>
        <p:spPr>
          <a:xfrm>
            <a:off x="635000" y="197116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2" name="TextBox 11"/>
          <p:cNvSpPr txBox="1"/>
          <p:nvPr/>
        </p:nvSpPr>
        <p:spPr>
          <a:xfrm>
            <a:off x="838200" y="197116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알림 메일·문자의 링크는 누르지 않습니다. 알림 자체가 피싱일 수 있습니다 (IT-SEC-001).</a:t>
            </a:r>
          </a:p>
        </p:txBody>
      </p:sp>
      <p:sp>
        <p:nvSpPr>
          <p:cNvPr id="13" name="TextBox 12"/>
          <p:cNvSpPr txBox="1"/>
          <p:nvPr/>
        </p:nvSpPr>
        <p:spPr>
          <a:xfrm>
            <a:off x="635000" y="221030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4" name="TextBox 13"/>
          <p:cNvSpPr txBox="1"/>
          <p:nvPr/>
        </p:nvSpPr>
        <p:spPr>
          <a:xfrm>
            <a:off x="838200" y="221030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비밀번호를 바꿀 때는 비밀번호 재설정 포털(password.ict.example) 주소를 직접 입력합니다.</a:t>
            </a:r>
          </a:p>
        </p:txBody>
      </p:sp>
      <p:sp>
        <p:nvSpPr>
          <p:cNvPr id="15" name="TextBox 14"/>
          <p:cNvSpPr txBox="1"/>
          <p:nvPr/>
        </p:nvSpPr>
        <p:spPr>
          <a:xfrm>
            <a:off x="635000" y="244944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6" name="TextBox 15"/>
          <p:cNvSpPr txBox="1"/>
          <p:nvPr/>
        </p:nvSpPr>
        <p:spPr>
          <a:xfrm>
            <a:off x="838200" y="244944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해외 출장이 예정돼 있으면 출발 전에 해외 접속 사전 등록을 합니다 (3.3).</a:t>
            </a:r>
          </a:p>
        </p:txBody>
      </p:sp>
      <p:sp>
        <p:nvSpPr>
          <p:cNvPr id="17" name="Rectangle 16"/>
          <p:cNvSpPr/>
          <p:nvPr/>
        </p:nvSpPr>
        <p:spPr>
          <a:xfrm>
            <a:off x="584200" y="2739390"/>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1200" y="284099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증거를 지우지 않습니다</a:t>
            </a:r>
          </a:p>
        </p:txBody>
      </p:sp>
      <p:sp>
        <p:nvSpPr>
          <p:cNvPr id="19" name="TextBox 18"/>
          <p:cNvSpPr txBox="1"/>
          <p:nvPr/>
        </p:nvSpPr>
        <p:spPr>
          <a:xfrm>
            <a:off x="711200" y="3077464"/>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알림 메일, 접근 기록, 서버 상태를 지우거나 재시작하지 않습니다. 원인과 피해 범위를 확인할 수 없게 됩니다.</a:t>
            </a:r>
          </a:p>
        </p:txBody>
      </p:sp>
      <p:sp>
        <p:nvSpPr>
          <p:cNvPr id="20" name="TextBox 19"/>
          <p:cNvSpPr txBox="1"/>
          <p:nvPr/>
        </p:nvSpPr>
        <p:spPr>
          <a:xfrm>
            <a:off x="584200" y="3479038"/>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신호가 보이면 신고합니다</a:t>
            </a:r>
          </a:p>
        </p:txBody>
      </p:sp>
      <p:graphicFrame>
        <p:nvGraphicFramePr>
          <p:cNvPr id="21" name="Table 20"/>
          <p:cNvGraphicFramePr>
            <a:graphicFrameLocks noGrp="1"/>
          </p:cNvGraphicFramePr>
          <p:nvPr/>
        </p:nvGraphicFramePr>
        <p:xfrm>
          <a:off x="584200" y="3803523"/>
          <a:ext cx="11023600" cy="1752600"/>
        </p:xfrm>
        <a:graphic>
          <a:graphicData uri="http://schemas.openxmlformats.org/drawingml/2006/table">
            <a:tbl>
              <a:tblPr firstRow="0" bandRow="0">
                <a:tableStyleId>{5940675A-B579-460E-94D1-54222C63F5DA}</a:tableStyleId>
              </a:tblPr>
              <a:tblGrid>
                <a:gridCol w="2144772"/>
                <a:gridCol w="8878828"/>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신호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계정</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내가 하지 않은 로그인·로그인 시도 알림, 요청하지 않은 인증(MFA) 알림, 바꾸지 않았는데 바뀐 비밀번호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계정</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바꾼 적이 없는데 반복되는 계정 잠김, 내가 하지 않은 메일 발송·설정 변경</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시스템·서버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 계정이나 모르는 계정의 조회·내려받기 기록, 외부로 데이터가 나간 흔적</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시스템·서버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외부에 열려 있던 DB·포트, 승인하지 않은 원격 제어 프로그램, 무단 접근 시도 보안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장비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휴대폰(인증 앱·회사 앱 설치)이나 업무 노트북을 잃어버리거나 도난당함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22" name="TextBox 2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23" name="TextBox 2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7 / 33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먼저 확인할 사항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먼저 확인할 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증상별 바로가기</a:t>
            </a:r>
          </a:p>
        </p:txBody>
      </p:sp>
      <p:graphicFrame>
        <p:nvGraphicFramePr>
          <p:cNvPr id="7" name="Table 6"/>
          <p:cNvGraphicFramePr>
            <a:graphicFrameLocks noGrp="1"/>
          </p:cNvGraphicFramePr>
          <p:nvPr/>
        </p:nvGraphicFramePr>
        <p:xfrm>
          <a:off x="584200" y="1492885"/>
          <a:ext cx="11023601" cy="2628900"/>
        </p:xfrm>
        <a:graphic>
          <a:graphicData uri="http://schemas.openxmlformats.org/drawingml/2006/table">
            <a:tbl>
              <a:tblPr firstRow="0" bandRow="0">
                <a:tableStyleId>{5940675A-B579-460E-94D1-54222C63F5DA}</a:tableStyleId>
              </a:tblPr>
              <a:tblGrid>
                <a:gridCol w="6239774"/>
                <a:gridCol w="2079925"/>
                <a:gridCol w="2703902"/>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겪고 있는 증상</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볼 곳</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처리 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내가 하지 않은 로그인(해외 등) 알림이나 로그인 시도 알림을 받았다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요청하지 않은 인증(MFA) 알림이 왔다 / 실수로 승인했다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해외 출장을 간다 / 출장 중 로그인할 때마다 추가 인증을 요구한다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8A5A00"/>
                          </a:solidFill>
                          <a:latin typeface="Malgun Gothic"/>
                          <a:ea typeface="Malgun Gothic"/>
                          <a:cs typeface="Malgun Gothic"/>
                        </a:rPr>
                        <a:t>신청·승인 후 처리</a:t>
                      </a:r>
                    </a:p>
                  </a:txBody>
                  <a:tcPr marL="76200" marR="76200" marT="63500" marB="63500" anchor="t">
                    <a:solidFill>
                      <a:srgbClr val="FDF3D8"/>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바꾼 적 없는데 계정이 반복해서 잠기거나 비밀번호가 바뀌어 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1F3A5F"/>
                          </a:solidFill>
                          <a:latin typeface="Malgun Gothic"/>
                          <a:ea typeface="Malgun Gothic"/>
                          <a:cs typeface="Malgun Gothic"/>
                        </a:rPr>
                        <a:t>IT 담당자 처리</a:t>
                      </a:r>
                    </a:p>
                  </a:txBody>
                  <a:tcPr marL="76200" marR="76200" marT="63500" marB="63500" anchor="t">
                    <a:solidFill>
                      <a:srgbClr val="E3EAF3"/>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시스템·서버에 무단 접근·조회·외부 전송 흔적이 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인증 앱·회사 앱이 깔린 휴대폰을 잃어버렸다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 노트북 등 회사 장비를 잃어버렸다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3.7</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피싱 화면에 비밀번호를 입력했다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IT-SEC-001 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9" name="TextBox 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8 / 33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03</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증상별 조치 방법</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IT-SEC-003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9 / 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증상별 조치 방법</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2336800"/>
        </p:xfrm>
        <a:graphic>
          <a:graphicData uri="http://schemas.openxmlformats.org/drawingml/2006/table">
            <a:tbl>
              <a:tblPr firstRow="0" bandRow="0">
                <a:tableStyleId>{5940675A-B579-460E-94D1-54222C63F5DA}</a:tableStyleId>
              </a:tblPr>
              <a:tblGrid>
                <a:gridCol w="787400"/>
                <a:gridCol w="5511800"/>
                <a:gridCol w="1259840"/>
                <a:gridCol w="1889760"/>
                <a:gridCol w="15748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번호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제목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문의 유형</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처리 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담당 부서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내가 하지 않은 로그인 알림을 받았을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요청하지 않은 인증(MFA) 알림이 오거나 실수로 승인했을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해외 출장 전 해외 접속 사전 등록</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8A5A00"/>
                          </a:solidFill>
                          <a:latin typeface="Malgun Gothic"/>
                          <a:ea typeface="Malgun Gothic"/>
                          <a:cs typeface="Malgun Gothic"/>
                        </a:rPr>
                        <a:t>신청·승인 후 처리</a:t>
                      </a:r>
                    </a:p>
                  </a:txBody>
                  <a:tcPr marL="76200" marR="76200" marT="63500" marB="63500" anchor="t">
                    <a:solidFill>
                      <a:srgbClr val="FDF3D8"/>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계정이 반복해서 잠기거나 비밀번호가 바뀌어 있을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1F3A5F"/>
                          </a:solidFill>
                          <a:latin typeface="Malgun Gothic"/>
                          <a:ea typeface="Malgun Gothic"/>
                          <a:cs typeface="Malgun Gothic"/>
                        </a:rPr>
                        <a:t>IT 담당자 처리</a:t>
                      </a:r>
                    </a:p>
                  </a:txBody>
                  <a:tcPr marL="76200" marR="76200" marT="63500" marB="63500" anchor="t">
                    <a:solidFill>
                      <a:srgbClr val="E3EAF3"/>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시스템·서버 무단 접근·침해가 의심될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인증 앱·회사 앱이 설치된 휴대폰을 잃어버렸을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SEC-08</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3.7</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 노트북 등 회사 장비를 잃어버렸을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SEC-08</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10 / 33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내가 하지 않은 로그인 알림을 받았을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352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112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SEC-06</a:t>
            </a:r>
          </a:p>
        </p:txBody>
      </p:sp>
      <p:sp>
        <p:nvSpPr>
          <p:cNvPr id="10" name="Rectangle 9"/>
          <p:cNvSpPr/>
          <p:nvPr/>
        </p:nvSpPr>
        <p:spPr>
          <a:xfrm>
            <a:off x="186277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3897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67818" y="1168400"/>
            <a:ext cx="992287" cy="292100"/>
          </a:xfrm>
          <a:prstGeom prst="rect">
            <a:avLst/>
          </a:prstGeom>
          <a:solidFill>
            <a:srgbClr val="FBE3DC"/>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4018" y="1219200"/>
            <a:ext cx="83988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B8430E"/>
                </a:solidFill>
                <a:latin typeface="Malgun Gothic"/>
                <a:ea typeface="Malgun Gothic"/>
                <a:cs typeface="Malgun Gothic"/>
              </a:rPr>
              <a:t>즉시 신고·이관</a:t>
            </a:r>
          </a:p>
        </p:txBody>
      </p:sp>
      <p:sp>
        <p:nvSpPr>
          <p:cNvPr id="14" name="Rectangle 13"/>
          <p:cNvSpPr/>
          <p:nvPr/>
        </p:nvSpPr>
        <p:spPr>
          <a:xfrm>
            <a:off x="356010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630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5154" y="1168400"/>
            <a:ext cx="787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1354" y="1219200"/>
            <a:ext cx="635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정보보안팀</a:t>
            </a:r>
          </a:p>
        </p:txBody>
      </p:sp>
      <p:sp>
        <p:nvSpPr>
          <p:cNvPr id="18" name="Rectangle 17"/>
          <p:cNvSpPr/>
          <p:nvPr/>
        </p:nvSpPr>
        <p:spPr>
          <a:xfrm>
            <a:off x="5052554"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28754"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0" name="Rectangle 19"/>
          <p:cNvSpPr/>
          <p:nvPr/>
        </p:nvSpPr>
        <p:spPr>
          <a:xfrm>
            <a:off x="575816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3436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FAQ-005</a:t>
            </a:r>
          </a:p>
        </p:txBody>
      </p:sp>
      <p:sp>
        <p:nvSpPr>
          <p:cNvPr id="22" name="TextBox 21"/>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23" name="TextBox 22"/>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제가 로그인하지 않았는데 '새로운 위치(해외)에서 로그인' 알림 메일을 받았습니다.</a:t>
            </a:r>
          </a:p>
        </p:txBody>
      </p:sp>
      <p:sp>
        <p:nvSpPr>
          <p:cNvPr id="25" name="TextBox 24"/>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6" name="TextBox 25"/>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제가 하지 않은 로그인 시도 알림이 연속으로 왔어요. 비밀번호를 바꿔야 할까요?</a:t>
            </a:r>
          </a:p>
        </p:txBody>
      </p:sp>
      <p:sp>
        <p:nvSpPr>
          <p:cNvPr id="27" name="TextBox 26"/>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8" name="TextBox 27"/>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9" name="TextBox 28"/>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밖으로 새어 나간 비밀번호로 누군가 로그인했거나, 비밀번호를 여러 번 넣어 보는 시도입니다.</a:t>
            </a:r>
          </a:p>
        </p:txBody>
      </p:sp>
      <p:sp>
        <p:nvSpPr>
          <p:cNvPr id="30" name="TextBox 29"/>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31" name="TextBox 30"/>
          <p:cNvSpPr txBox="1"/>
          <p:nvPr/>
        </p:nvSpPr>
        <p:spPr>
          <a:xfrm>
            <a:off x="584200" y="3379978"/>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2" name="TextBox 31"/>
          <p:cNvSpPr txBox="1"/>
          <p:nvPr/>
        </p:nvSpPr>
        <p:spPr>
          <a:xfrm>
            <a:off x="838200" y="3379978"/>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알림 메일의 시각·위치·기기를 확인합니다. 메일 속 링크는 누르지</a:t>
            </a:r>
          </a:p>
          <a:p>
            <a:pPr algn="l">
              <a:lnSpc>
                <a:spcPts val="1632"/>
              </a:lnSpc>
              <a:spcBef>
                <a:spcPts val="0"/>
              </a:spcBef>
              <a:spcAft>
                <a:spcPts val="0"/>
              </a:spcAft>
            </a:pPr>
            <a:r>
              <a:rPr sz="1150" b="0">
                <a:solidFill>
                  <a:srgbClr val="1D2433"/>
                </a:solidFill>
                <a:latin typeface="Malgun Gothic"/>
                <a:ea typeface="Malgun Gothic"/>
                <a:cs typeface="Malgun Gothic"/>
              </a:rPr>
              <a:t>않습니다.</a:t>
            </a:r>
          </a:p>
        </p:txBody>
      </p:sp>
      <p:sp>
        <p:nvSpPr>
          <p:cNvPr id="33" name="TextBox 32"/>
          <p:cNvSpPr txBox="1"/>
          <p:nvPr/>
        </p:nvSpPr>
        <p:spPr>
          <a:xfrm>
            <a:off x="584200" y="3826510"/>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4" name="TextBox 33"/>
          <p:cNvSpPr txBox="1"/>
          <p:nvPr/>
        </p:nvSpPr>
        <p:spPr>
          <a:xfrm>
            <a:off x="838200" y="3826510"/>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비밀번호 재설정 포털 주소를 직접 입력해 비밀번호를 바로 바꿉니다.</a:t>
            </a:r>
          </a:p>
        </p:txBody>
      </p:sp>
      <p:sp>
        <p:nvSpPr>
          <p:cNvPr id="35" name="TextBox 34"/>
          <p:cNvSpPr txBox="1"/>
          <p:nvPr/>
        </p:nvSpPr>
        <p:spPr>
          <a:xfrm>
            <a:off x="584200" y="4065651"/>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6" name="TextBox 35"/>
          <p:cNvSpPr txBox="1"/>
          <p:nvPr/>
        </p:nvSpPr>
        <p:spPr>
          <a:xfrm>
            <a:off x="838200" y="4065651"/>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정보보안팀(내선 1119)에 알림 받은 시각과 내용을 알립니다.</a:t>
            </a:r>
          </a:p>
        </p:txBody>
      </p:sp>
      <p:sp>
        <p:nvSpPr>
          <p:cNvPr id="37" name="TextBox 36"/>
          <p:cNvSpPr txBox="1"/>
          <p:nvPr/>
        </p:nvSpPr>
        <p:spPr>
          <a:xfrm>
            <a:off x="584200" y="4304792"/>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8" name="TextBox 37"/>
          <p:cNvSpPr txBox="1"/>
          <p:nvPr/>
        </p:nvSpPr>
        <p:spPr>
          <a:xfrm>
            <a:off x="838200" y="4304792"/>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정보보안팀이 모든 로그인을 끊고 인증 앱(MFA) 재등록을 안내하면</a:t>
            </a:r>
          </a:p>
          <a:p>
            <a:pPr algn="l">
              <a:lnSpc>
                <a:spcPts val="1632"/>
              </a:lnSpc>
              <a:spcBef>
                <a:spcPts val="0"/>
              </a:spcBef>
              <a:spcAft>
                <a:spcPts val="0"/>
              </a:spcAft>
            </a:pPr>
            <a:r>
              <a:rPr sz="1150" b="0">
                <a:solidFill>
                  <a:srgbClr val="1D2433"/>
                </a:solidFill>
                <a:latin typeface="Malgun Gothic"/>
                <a:ea typeface="Malgun Gothic"/>
                <a:cs typeface="Malgun Gothic"/>
              </a:rPr>
              <a:t>따릅니다.</a:t>
            </a:r>
          </a:p>
        </p:txBody>
      </p:sp>
      <p:sp>
        <p:nvSpPr>
          <p:cNvPr id="39" name="TextBox 38"/>
          <p:cNvSpPr txBox="1"/>
          <p:nvPr/>
        </p:nvSpPr>
        <p:spPr>
          <a:xfrm>
            <a:off x="584200" y="4751324"/>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⑤</a:t>
            </a:r>
          </a:p>
        </p:txBody>
      </p:sp>
      <p:sp>
        <p:nvSpPr>
          <p:cNvPr id="40" name="TextBox 39"/>
          <p:cNvSpPr txBox="1"/>
          <p:nvPr/>
        </p:nvSpPr>
        <p:spPr>
          <a:xfrm>
            <a:off x="838200" y="4751324"/>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해외 출장 중 본인이 로그인한 것이면 3.3을 따릅니다.</a:t>
            </a:r>
          </a:p>
        </p:txBody>
      </p:sp>
      <p:sp>
        <p:nvSpPr>
          <p:cNvPr id="41" name="Rectangle 40"/>
          <p:cNvSpPr/>
          <p:nvPr/>
        </p:nvSpPr>
        <p:spPr>
          <a:xfrm>
            <a:off x="6537080" y="3379978"/>
            <a:ext cx="4417296" cy="271348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sec003_31_loginalert.png"/>
          <p:cNvPicPr>
            <a:picLocks noChangeAspect="1"/>
          </p:cNvPicPr>
          <p:nvPr/>
        </p:nvPicPr>
        <p:blipFill>
          <a:blip r:embed="rId2"/>
          <a:stretch>
            <a:fillRect/>
          </a:stretch>
        </p:blipFill>
        <p:spPr>
          <a:xfrm>
            <a:off x="6537080" y="3379978"/>
            <a:ext cx="4417296" cy="2713482"/>
          </a:xfrm>
          <a:prstGeom prst="rect">
            <a:avLst/>
          </a:prstGeom>
        </p:spPr>
      </p:pic>
      <p:sp>
        <p:nvSpPr>
          <p:cNvPr id="43" name="TextBox 42"/>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3.1-1. ① 시각·위치·기기 확인 ② 알림 메일의 링크는 누르지 않기</a:t>
            </a:r>
          </a:p>
        </p:txBody>
      </p:sp>
      <p:sp>
        <p:nvSpPr>
          <p:cNvPr id="44" name="TextBox 4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45" name="TextBox 4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11 / 33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내가 하지 않은 로그인 알림을 받았을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6056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비밀번호를 바꾸고, 정보보안팀이 로그인 기록을</a:t>
            </a:r>
          </a:p>
          <a:p>
            <a:pPr algn="l">
              <a:lnSpc>
                <a:spcPts val="1562"/>
              </a:lnSpc>
              <a:spcBef>
                <a:spcPts val="0"/>
              </a:spcBef>
              <a:spcAft>
                <a:spcPts val="0"/>
              </a:spcAft>
            </a:pPr>
            <a:r>
              <a:rPr sz="1100" b="0">
                <a:solidFill>
                  <a:srgbClr val="1D2433"/>
                </a:solidFill>
                <a:latin typeface="Malgun Gothic"/>
                <a:ea typeface="Malgun Gothic"/>
                <a:cs typeface="Malgun Gothic"/>
              </a:rPr>
              <a:t>확인해 조치를 마쳤다고 알려 주면 끝난 것입니다.</a:t>
            </a:r>
          </a:p>
        </p:txBody>
      </p:sp>
      <p:sp>
        <p:nvSpPr>
          <p:cNvPr id="11" name="Rectangle 10"/>
          <p:cNvSpPr/>
          <p:nvPr/>
        </p:nvSpPr>
        <p:spPr>
          <a:xfrm>
            <a:off x="4309533" y="1168400"/>
            <a:ext cx="3572933" cy="16056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비밀번호를 바꿀 수 없거나 계정이 잠겼으면 IT</a:t>
            </a:r>
          </a:p>
          <a:p>
            <a:pPr algn="l">
              <a:lnSpc>
                <a:spcPts val="1562"/>
              </a:lnSpc>
              <a:spcBef>
                <a:spcPts val="0"/>
              </a:spcBef>
              <a:spcAft>
                <a:spcPts val="0"/>
              </a:spcAft>
            </a:pPr>
            <a:r>
              <a:rPr sz="1100" b="0">
                <a:solidFill>
                  <a:srgbClr val="1D2433"/>
                </a:solidFill>
                <a:latin typeface="Malgun Gothic"/>
                <a:ea typeface="Malgun Gothic"/>
                <a:cs typeface="Malgun Gothic"/>
              </a:rPr>
              <a:t>헬프데스크(내선 1000)에 본인 확인 후 초기화를</a:t>
            </a:r>
          </a:p>
          <a:p>
            <a:pPr algn="l">
              <a:lnSpc>
                <a:spcPts val="1562"/>
              </a:lnSpc>
              <a:spcBef>
                <a:spcPts val="0"/>
              </a:spcBef>
              <a:spcAft>
                <a:spcPts val="0"/>
              </a:spcAft>
            </a:pPr>
            <a:r>
              <a:rPr sz="1100" b="0">
                <a:solidFill>
                  <a:srgbClr val="1D2433"/>
                </a:solidFill>
                <a:latin typeface="Malgun Gothic"/>
                <a:ea typeface="Malgun Gothic"/>
                <a:cs typeface="Malgun Gothic"/>
              </a:rPr>
              <a:t>요청합니다.</a:t>
            </a:r>
          </a:p>
        </p:txBody>
      </p:sp>
      <p:sp>
        <p:nvSpPr>
          <p:cNvPr id="16" name="TextBox 15"/>
          <p:cNvSpPr txBox="1"/>
          <p:nvPr/>
        </p:nvSpPr>
        <p:spPr>
          <a:xfrm>
            <a:off x="4436533" y="22122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212213"/>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같은 알림이 다시 오면 받은 시각을 적어 다시</a:t>
            </a:r>
          </a:p>
          <a:p>
            <a:pPr algn="l">
              <a:lnSpc>
                <a:spcPts val="1562"/>
              </a:lnSpc>
              <a:spcBef>
                <a:spcPts val="0"/>
              </a:spcBef>
              <a:spcAft>
                <a:spcPts val="0"/>
              </a:spcAft>
            </a:pPr>
            <a:r>
              <a:rPr sz="1100" b="0">
                <a:solidFill>
                  <a:srgbClr val="1D2433"/>
                </a:solidFill>
                <a:latin typeface="Malgun Gothic"/>
                <a:ea typeface="Malgun Gothic"/>
                <a:cs typeface="Malgun Gothic"/>
              </a:rPr>
              <a:t>알립니다.</a:t>
            </a:r>
          </a:p>
        </p:txBody>
      </p:sp>
      <p:sp>
        <p:nvSpPr>
          <p:cNvPr id="18" name="Rectangle 17"/>
          <p:cNvSpPr/>
          <p:nvPr/>
        </p:nvSpPr>
        <p:spPr>
          <a:xfrm>
            <a:off x="8034867" y="1168400"/>
            <a:ext cx="3572933" cy="16056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사번</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알림 받은 시각과 알림에 나온 위치·기기</a:t>
            </a:r>
          </a:p>
        </p:txBody>
      </p:sp>
      <p:sp>
        <p:nvSpPr>
          <p:cNvPr id="25" name="TextBox 24"/>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비밀번호를 바꿨는지</a:t>
            </a:r>
          </a:p>
        </p:txBody>
      </p:sp>
      <p:sp>
        <p:nvSpPr>
          <p:cNvPr id="27" name="TextBox 26"/>
          <p:cNvSpPr txBox="1"/>
          <p:nvPr/>
        </p:nvSpPr>
        <p:spPr>
          <a:xfrm>
            <a:off x="8161867" y="22884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2884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같은 비밀번호를 쓰는 다른 사이트가 있는지</a:t>
            </a:r>
          </a:p>
        </p:txBody>
      </p:sp>
      <p:sp>
        <p:nvSpPr>
          <p:cNvPr id="29" name="Rectangle 28"/>
          <p:cNvSpPr/>
          <p:nvPr/>
        </p:nvSpPr>
        <p:spPr>
          <a:xfrm>
            <a:off x="584200" y="2875661"/>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11200" y="297726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비밀번호를 바꿨어도 신고합니다</a:t>
            </a:r>
          </a:p>
        </p:txBody>
      </p:sp>
      <p:sp>
        <p:nvSpPr>
          <p:cNvPr id="31" name="TextBox 30"/>
          <p:cNvSpPr txBox="1"/>
          <p:nvPr/>
        </p:nvSpPr>
        <p:spPr>
          <a:xfrm>
            <a:off x="711200" y="3213735"/>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로그인 세션이 남아 있으면 비밀번호를 바꿔도 접속이 유지될 수 있습니다. 정보보안팀이 세션을 끊어야 합니다.</a:t>
            </a:r>
          </a:p>
        </p:txBody>
      </p:sp>
      <p:sp>
        <p:nvSpPr>
          <p:cNvPr id="32" name="TextBox 3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33" name="TextBox 3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12 / 33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3.2 요청하지 않은 인증(MFA) 알림이 오거나 실수로 승인했을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352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112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SEC-06</a:t>
            </a:r>
          </a:p>
        </p:txBody>
      </p:sp>
      <p:sp>
        <p:nvSpPr>
          <p:cNvPr id="10" name="Rectangle 9"/>
          <p:cNvSpPr/>
          <p:nvPr/>
        </p:nvSpPr>
        <p:spPr>
          <a:xfrm>
            <a:off x="186277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3897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67818" y="1168400"/>
            <a:ext cx="992287" cy="292100"/>
          </a:xfrm>
          <a:prstGeom prst="rect">
            <a:avLst/>
          </a:prstGeom>
          <a:solidFill>
            <a:srgbClr val="FBE3DC"/>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4018" y="1219200"/>
            <a:ext cx="83988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B8430E"/>
                </a:solidFill>
                <a:latin typeface="Malgun Gothic"/>
                <a:ea typeface="Malgun Gothic"/>
                <a:cs typeface="Malgun Gothic"/>
              </a:rPr>
              <a:t>즉시 신고·이관</a:t>
            </a:r>
          </a:p>
        </p:txBody>
      </p:sp>
      <p:sp>
        <p:nvSpPr>
          <p:cNvPr id="14" name="Rectangle 13"/>
          <p:cNvSpPr/>
          <p:nvPr/>
        </p:nvSpPr>
        <p:spPr>
          <a:xfrm>
            <a:off x="356010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630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5154" y="1168400"/>
            <a:ext cx="787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1354" y="1219200"/>
            <a:ext cx="635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정보보안팀</a:t>
            </a:r>
          </a:p>
        </p:txBody>
      </p:sp>
      <p:sp>
        <p:nvSpPr>
          <p:cNvPr id="18" name="Rectangle 17"/>
          <p:cNvSpPr/>
          <p:nvPr/>
        </p:nvSpPr>
        <p:spPr>
          <a:xfrm>
            <a:off x="5052554"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28754"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0" name="Rectangle 19"/>
          <p:cNvSpPr/>
          <p:nvPr/>
        </p:nvSpPr>
        <p:spPr>
          <a:xfrm>
            <a:off x="575816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3436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FAQ-005</a:t>
            </a:r>
          </a:p>
        </p:txBody>
      </p:sp>
      <p:sp>
        <p:nvSpPr>
          <p:cNvPr id="22" name="TextBox 21"/>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23" name="TextBox 22"/>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로그인하지 않았는데 인증 앱에 로그인 승인 요청이 계속 옵니다.</a:t>
            </a:r>
          </a:p>
        </p:txBody>
      </p:sp>
      <p:sp>
        <p:nvSpPr>
          <p:cNvPr id="25" name="TextBox 24"/>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6" name="TextBox 25"/>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알림을 끄려고 누르다가 모르는 요청을 [승인]했습니다.</a:t>
            </a:r>
          </a:p>
        </p:txBody>
      </p:sp>
      <p:sp>
        <p:nvSpPr>
          <p:cNvPr id="27" name="TextBox 26"/>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8" name="TextBox 27"/>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9" name="TextBox 28"/>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누군가 내 비밀번호를 알고 로그인을 시도하는 중입니다. 알림을 계속 보내 실수로 승인하게 만드는 공격도 있습니다.</a:t>
            </a:r>
          </a:p>
        </p:txBody>
      </p:sp>
      <p:sp>
        <p:nvSpPr>
          <p:cNvPr id="30" name="TextBox 29"/>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31" name="TextBox 30"/>
          <p:cNvSpPr txBox="1"/>
          <p:nvPr/>
        </p:nvSpPr>
        <p:spPr>
          <a:xfrm>
            <a:off x="584200" y="3379978"/>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2" name="TextBox 31"/>
          <p:cNvSpPr txBox="1"/>
          <p:nvPr/>
        </p:nvSpPr>
        <p:spPr>
          <a:xfrm>
            <a:off x="838200" y="3379978"/>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내가 한 로그인이 아니면 </a:t>
            </a:r>
            <a:r>
              <a:rPr sz="1150" b="1">
                <a:solidFill>
                  <a:srgbClr val="1D2433"/>
                </a:solidFill>
                <a:latin typeface="Malgun Gothic"/>
                <a:ea typeface="Malgun Gothic"/>
                <a:cs typeface="Malgun Gothic"/>
              </a:rPr>
              <a:t>[거부]</a:t>
            </a:r>
            <a:r>
              <a:rPr sz="1150" b="0">
                <a:solidFill>
                  <a:srgbClr val="1D2433"/>
                </a:solidFill>
                <a:latin typeface="Malgun Gothic"/>
                <a:ea typeface="Malgun Gothic"/>
                <a:cs typeface="Malgun Gothic"/>
              </a:rPr>
              <a:t> 를 누릅니다. 알림이 계속 와도 승인하지</a:t>
            </a:r>
          </a:p>
          <a:p>
            <a:pPr algn="l">
              <a:lnSpc>
                <a:spcPts val="1632"/>
              </a:lnSpc>
              <a:spcBef>
                <a:spcPts val="0"/>
              </a:spcBef>
              <a:spcAft>
                <a:spcPts val="0"/>
              </a:spcAft>
            </a:pPr>
            <a:r>
              <a:rPr sz="1150" b="0">
                <a:solidFill>
                  <a:srgbClr val="1D2433"/>
                </a:solidFill>
                <a:latin typeface="Malgun Gothic"/>
                <a:ea typeface="Malgun Gothic"/>
                <a:cs typeface="Malgun Gothic"/>
              </a:rPr>
              <a:t>않습니다.</a:t>
            </a:r>
          </a:p>
        </p:txBody>
      </p:sp>
      <p:sp>
        <p:nvSpPr>
          <p:cNvPr id="33" name="TextBox 32"/>
          <p:cNvSpPr txBox="1"/>
          <p:nvPr/>
        </p:nvSpPr>
        <p:spPr>
          <a:xfrm>
            <a:off x="584200" y="3826510"/>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4" name="TextBox 33"/>
          <p:cNvSpPr txBox="1"/>
          <p:nvPr/>
        </p:nvSpPr>
        <p:spPr>
          <a:xfrm>
            <a:off x="838200" y="3826510"/>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비밀번호를 바로 바꿉니다. 인증 요청이 왔다는 것은 비밀번호가 새어</a:t>
            </a:r>
          </a:p>
          <a:p>
            <a:pPr algn="l">
              <a:lnSpc>
                <a:spcPts val="1632"/>
              </a:lnSpc>
              <a:spcBef>
                <a:spcPts val="0"/>
              </a:spcBef>
              <a:spcAft>
                <a:spcPts val="0"/>
              </a:spcAft>
            </a:pPr>
            <a:r>
              <a:rPr sz="1150" b="0">
                <a:solidFill>
                  <a:srgbClr val="1D2433"/>
                </a:solidFill>
                <a:latin typeface="Malgun Gothic"/>
                <a:ea typeface="Malgun Gothic"/>
                <a:cs typeface="Malgun Gothic"/>
              </a:rPr>
              <a:t>나갔다는 뜻입니다.</a:t>
            </a:r>
          </a:p>
        </p:txBody>
      </p:sp>
      <p:sp>
        <p:nvSpPr>
          <p:cNvPr id="35" name="TextBox 34"/>
          <p:cNvSpPr txBox="1"/>
          <p:nvPr/>
        </p:nvSpPr>
        <p:spPr>
          <a:xfrm>
            <a:off x="584200" y="4273042"/>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6" name="TextBox 35"/>
          <p:cNvSpPr txBox="1"/>
          <p:nvPr/>
        </p:nvSpPr>
        <p:spPr>
          <a:xfrm>
            <a:off x="838200" y="4273042"/>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정보보안팀(내선 1119)에 알림이 온 시각·횟수를 알립니다.</a:t>
            </a:r>
          </a:p>
        </p:txBody>
      </p:sp>
      <p:sp>
        <p:nvSpPr>
          <p:cNvPr id="37" name="TextBox 36"/>
          <p:cNvSpPr txBox="1"/>
          <p:nvPr/>
        </p:nvSpPr>
        <p:spPr>
          <a:xfrm>
            <a:off x="584200" y="4512183"/>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8" name="TextBox 37"/>
          <p:cNvSpPr txBox="1"/>
          <p:nvPr/>
        </p:nvSpPr>
        <p:spPr>
          <a:xfrm>
            <a:off x="838200" y="4512183"/>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실수로 승인했다면 </a:t>
            </a:r>
            <a:r>
              <a:rPr sz="1150" b="1">
                <a:solidFill>
                  <a:srgbClr val="1D2433"/>
                </a:solidFill>
                <a:latin typeface="Malgun Gothic"/>
                <a:ea typeface="Malgun Gothic"/>
                <a:cs typeface="Malgun Gothic"/>
              </a:rPr>
              <a:t>바로 전화</a:t>
            </a:r>
            <a:r>
              <a:rPr sz="1150" b="0">
                <a:solidFill>
                  <a:srgbClr val="1D2433"/>
                </a:solidFill>
                <a:latin typeface="Malgun Gothic"/>
                <a:ea typeface="Malgun Gothic"/>
                <a:cs typeface="Malgun Gothic"/>
              </a:rPr>
              <a:t> 로 알립니다. 정보보안팀이 로그인을 끊고</a:t>
            </a:r>
          </a:p>
          <a:p>
            <a:pPr algn="l">
              <a:lnSpc>
                <a:spcPts val="1632"/>
              </a:lnSpc>
              <a:spcBef>
                <a:spcPts val="0"/>
              </a:spcBef>
              <a:spcAft>
                <a:spcPts val="0"/>
              </a:spcAft>
            </a:pPr>
            <a:r>
              <a:rPr sz="1150" b="0">
                <a:solidFill>
                  <a:srgbClr val="1D2433"/>
                </a:solidFill>
                <a:latin typeface="Malgun Gothic"/>
                <a:ea typeface="Malgun Gothic"/>
                <a:cs typeface="Malgun Gothic"/>
              </a:rPr>
              <a:t>계정을 보호합니다.</a:t>
            </a:r>
          </a:p>
        </p:txBody>
      </p:sp>
      <p:sp>
        <p:nvSpPr>
          <p:cNvPr id="39" name="Rectangle 38"/>
          <p:cNvSpPr/>
          <p:nvPr/>
        </p:nvSpPr>
        <p:spPr>
          <a:xfrm>
            <a:off x="6537080" y="3379978"/>
            <a:ext cx="4417296" cy="271348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sec003_32_mfa.png"/>
          <p:cNvPicPr>
            <a:picLocks noChangeAspect="1"/>
          </p:cNvPicPr>
          <p:nvPr/>
        </p:nvPicPr>
        <p:blipFill>
          <a:blip r:embed="rId2"/>
          <a:stretch>
            <a:fillRect/>
          </a:stretch>
        </p:blipFill>
        <p:spPr>
          <a:xfrm>
            <a:off x="6537080" y="3379978"/>
            <a:ext cx="4417296" cy="2713482"/>
          </a:xfrm>
          <a:prstGeom prst="rect">
            <a:avLst/>
          </a:prstGeom>
        </p:spPr>
      </p:pic>
      <p:sp>
        <p:nvSpPr>
          <p:cNvPr id="41" name="TextBox 40"/>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3.2-1. ① 요청 정보 확인 ② 내가 한 로그인이 아니면 [거부]</a:t>
            </a:r>
          </a:p>
        </p:txBody>
      </p:sp>
      <p:sp>
        <p:nvSpPr>
          <p:cNvPr id="42" name="TextBox 4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43" name="TextBox 4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13 / 33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84835"/>
            <a:ext cx="8483600" cy="269875"/>
          </a:xfrm>
          <a:prstGeom prst="rect">
            <a:avLst/>
          </a:prstGeom>
          <a:noFill/>
        </p:spPr>
        <p:txBody>
          <a:bodyPr wrap="none" lIns="0" rIns="0" tIns="0" bIns="0" anchor="t">
            <a:spAutoFit/>
          </a:bodyPr>
          <a:lstStyle/>
          <a:p>
            <a:pPr algn="l">
              <a:lnSpc>
                <a:spcPts val="2125"/>
              </a:lnSpc>
              <a:spcBef>
                <a:spcPts val="0"/>
              </a:spcBef>
              <a:spcAft>
                <a:spcPts val="0"/>
              </a:spcAft>
            </a:pPr>
            <a:r>
              <a:rPr sz="1700" b="1">
                <a:solidFill>
                  <a:srgbClr val="1D2433"/>
                </a:solidFill>
                <a:latin typeface="Malgun Gothic"/>
                <a:ea typeface="Malgun Gothic"/>
                <a:cs typeface="Malgun Gothic"/>
              </a:rPr>
              <a:t>3.2 요청하지 않은 인증(MFA) 알림이 오거나 실수로 승인했을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정보보안팀이 로그인 세션을 끊고 비밀번호·인증</a:t>
            </a:r>
          </a:p>
          <a:p>
            <a:pPr algn="l">
              <a:lnSpc>
                <a:spcPts val="1562"/>
              </a:lnSpc>
              <a:spcBef>
                <a:spcPts val="0"/>
              </a:spcBef>
              <a:spcAft>
                <a:spcPts val="0"/>
              </a:spcAft>
            </a:pPr>
            <a:r>
              <a:rPr sz="1100" b="0">
                <a:solidFill>
                  <a:srgbClr val="1D2433"/>
                </a:solidFill>
                <a:latin typeface="Malgun Gothic"/>
                <a:ea typeface="Malgun Gothic"/>
                <a:cs typeface="Malgun Gothic"/>
              </a:rPr>
              <a:t>앱 재등록을 마쳤다고 알려 주면 끝난 것입니다.</a:t>
            </a:r>
          </a:p>
        </p:txBody>
      </p:sp>
      <p:sp>
        <p:nvSpPr>
          <p:cNvPr id="11" name="Rectangle 10"/>
          <p:cNvSpPr/>
          <p:nvPr/>
        </p:nvSpPr>
        <p:spPr>
          <a:xfrm>
            <a:off x="4309533"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비밀번호를 바꾼 뒤에도 요청이 계속 오면</a:t>
            </a:r>
          </a:p>
          <a:p>
            <a:pPr algn="l">
              <a:lnSpc>
                <a:spcPts val="1562"/>
              </a:lnSpc>
              <a:spcBef>
                <a:spcPts val="0"/>
              </a:spcBef>
              <a:spcAft>
                <a:spcPts val="0"/>
              </a:spcAft>
            </a:pPr>
            <a:r>
              <a:rPr sz="1100" b="0">
                <a:solidFill>
                  <a:srgbClr val="1D2433"/>
                </a:solidFill>
                <a:latin typeface="Malgun Gothic"/>
                <a:ea typeface="Malgun Gothic"/>
                <a:cs typeface="Malgun Gothic"/>
              </a:rPr>
              <a:t>승인하지 말고 다시 알립니다.</a:t>
            </a:r>
          </a:p>
        </p:txBody>
      </p:sp>
      <p:sp>
        <p:nvSpPr>
          <p:cNvPr id="16" name="TextBox 15"/>
          <p:cNvSpPr txBox="1"/>
          <p:nvPr/>
        </p:nvSpPr>
        <p:spPr>
          <a:xfrm>
            <a:off x="4436533"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인증 앱을 다시 등록하는 방법은 IT-ACC-003 3.5를</a:t>
            </a:r>
          </a:p>
          <a:p>
            <a:pPr algn="l">
              <a:lnSpc>
                <a:spcPts val="1562"/>
              </a:lnSpc>
              <a:spcBef>
                <a:spcPts val="0"/>
              </a:spcBef>
              <a:spcAft>
                <a:spcPts val="0"/>
              </a:spcAft>
            </a:pPr>
            <a:r>
              <a:rPr sz="1100" b="0">
                <a:solidFill>
                  <a:srgbClr val="1D2433"/>
                </a:solidFill>
                <a:latin typeface="Malgun Gothic"/>
                <a:ea typeface="Malgun Gothic"/>
                <a:cs typeface="Malgun Gothic"/>
              </a:rPr>
              <a:t>따릅니다.</a:t>
            </a:r>
          </a:p>
        </p:txBody>
      </p:sp>
      <p:sp>
        <p:nvSpPr>
          <p:cNvPr id="18" name="Rectangle 17"/>
          <p:cNvSpPr/>
          <p:nvPr/>
        </p:nvSpPr>
        <p:spPr>
          <a:xfrm>
            <a:off x="8034867"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사번</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알림이 온 시각과 횟수, 알림에 나온 위치</a:t>
            </a:r>
          </a:p>
        </p:txBody>
      </p:sp>
      <p:sp>
        <p:nvSpPr>
          <p:cNvPr id="25" name="TextBox 24"/>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승인했는지</a:t>
            </a:r>
          </a:p>
        </p:txBody>
      </p:sp>
      <p:sp>
        <p:nvSpPr>
          <p:cNvPr id="27" name="TextBox 26"/>
          <p:cNvSpPr txBox="1"/>
          <p:nvPr/>
        </p:nvSpPr>
        <p:spPr>
          <a:xfrm>
            <a:off x="8161867" y="22884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2884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비밀번호를 바꿨는지</a:t>
            </a:r>
          </a:p>
        </p:txBody>
      </p:sp>
      <p:sp>
        <p:nvSpPr>
          <p:cNvPr id="29" name="Rectangle 28"/>
          <p:cNvSpPr/>
          <p:nvPr/>
        </p:nvSpPr>
        <p:spPr>
          <a:xfrm>
            <a:off x="584200" y="2753487"/>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11200" y="285508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귀찮아도 [승인]하지 않습니다</a:t>
            </a:r>
          </a:p>
        </p:txBody>
      </p:sp>
      <p:sp>
        <p:nvSpPr>
          <p:cNvPr id="31" name="TextBox 30"/>
          <p:cNvSpPr txBox="1"/>
          <p:nvPr/>
        </p:nvSpPr>
        <p:spPr>
          <a:xfrm>
            <a:off x="711200" y="3091561"/>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헬프데스크·정보보안팀은 인증 알림을 승인해 달라고 요청하지 않습니다.</a:t>
            </a:r>
          </a:p>
        </p:txBody>
      </p:sp>
      <p:sp>
        <p:nvSpPr>
          <p:cNvPr id="32" name="TextBox 3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33" name="TextBox 3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14 / 33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3.3 해외 출장 전 해외 접속 사전 등록</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352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112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SEC-06</a:t>
            </a:r>
          </a:p>
        </p:txBody>
      </p:sp>
      <p:sp>
        <p:nvSpPr>
          <p:cNvPr id="10" name="Rectangle 9"/>
          <p:cNvSpPr/>
          <p:nvPr/>
        </p:nvSpPr>
        <p:spPr>
          <a:xfrm>
            <a:off x="186277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3897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67818" y="1168400"/>
            <a:ext cx="1163935" cy="292100"/>
          </a:xfrm>
          <a:prstGeom prst="rect">
            <a:avLst/>
          </a:prstGeom>
          <a:solidFill>
            <a:srgbClr val="FDF3D8"/>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4018" y="1219200"/>
            <a:ext cx="1011535"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8A5A00"/>
                </a:solidFill>
                <a:latin typeface="Malgun Gothic"/>
                <a:ea typeface="Malgun Gothic"/>
                <a:cs typeface="Malgun Gothic"/>
              </a:rPr>
              <a:t>신청·승인 후 처리</a:t>
            </a:r>
          </a:p>
        </p:txBody>
      </p:sp>
      <p:sp>
        <p:nvSpPr>
          <p:cNvPr id="14" name="Rectangle 13"/>
          <p:cNvSpPr/>
          <p:nvPr/>
        </p:nvSpPr>
        <p:spPr>
          <a:xfrm>
            <a:off x="3731754"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807954"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436802" y="1168400"/>
            <a:ext cx="787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13002" y="1219200"/>
            <a:ext cx="635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정보보안팀</a:t>
            </a:r>
          </a:p>
        </p:txBody>
      </p:sp>
      <p:sp>
        <p:nvSpPr>
          <p:cNvPr id="18" name="Rectangle 17"/>
          <p:cNvSpPr/>
          <p:nvPr/>
        </p:nvSpPr>
        <p:spPr>
          <a:xfrm>
            <a:off x="5224202"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300402"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0" name="Rectangle 19"/>
          <p:cNvSpPr/>
          <p:nvPr/>
        </p:nvSpPr>
        <p:spPr>
          <a:xfrm>
            <a:off x="5929809"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006009"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FAQ-005</a:t>
            </a:r>
          </a:p>
        </p:txBody>
      </p:sp>
      <p:sp>
        <p:nvSpPr>
          <p:cNvPr id="22" name="TextBox 21"/>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23" name="TextBox 22"/>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출장 중인데 해외라서 그런지 로그인할 때마다 본인 확인을 계속 요구해요.</a:t>
            </a:r>
          </a:p>
        </p:txBody>
      </p:sp>
      <p:sp>
        <p:nvSpPr>
          <p:cNvPr id="25" name="TextBox 24"/>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6" name="TextBox 25"/>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다음 주 해외 출장이 있는데 미리 해 둘 것이 있나요?</a:t>
            </a:r>
          </a:p>
        </p:txBody>
      </p:sp>
      <p:sp>
        <p:nvSpPr>
          <p:cNvPr id="27" name="TextBox 26"/>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8" name="TextBox 27"/>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9" name="TextBox 28"/>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해외 접속을 이상 징후로 보고 추가 인증을 요구하는 정책 때문입니다. 출장 기간을 미리 등록하면 줄어듭니다.</a:t>
            </a:r>
          </a:p>
        </p:txBody>
      </p:sp>
      <p:sp>
        <p:nvSpPr>
          <p:cNvPr id="30" name="TextBox 29"/>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31" name="TextBox 30"/>
          <p:cNvSpPr txBox="1"/>
          <p:nvPr/>
        </p:nvSpPr>
        <p:spPr>
          <a:xfrm>
            <a:off x="584200" y="3379978"/>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2" name="TextBox 31"/>
          <p:cNvSpPr txBox="1"/>
          <p:nvPr/>
        </p:nvSpPr>
        <p:spPr>
          <a:xfrm>
            <a:off x="838200" y="3379978"/>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출장 전에 정보보안 포털 &gt; </a:t>
            </a:r>
            <a:r>
              <a:rPr sz="1150" b="1">
                <a:solidFill>
                  <a:srgbClr val="1D2433"/>
                </a:solidFill>
                <a:latin typeface="Malgun Gothic"/>
                <a:ea typeface="Malgun Gothic"/>
                <a:cs typeface="Malgun Gothic"/>
              </a:rPr>
              <a:t>[해외 접속 사전 등록]</a:t>
            </a:r>
            <a:r>
              <a:rPr sz="1150" b="0">
                <a:solidFill>
                  <a:srgbClr val="1D2433"/>
                </a:solidFill>
                <a:latin typeface="Malgun Gothic"/>
                <a:ea typeface="Malgun Gothic"/>
                <a:cs typeface="Malgun Gothic"/>
              </a:rPr>
              <a:t> 을 엽니다.</a:t>
            </a:r>
          </a:p>
        </p:txBody>
      </p:sp>
      <p:sp>
        <p:nvSpPr>
          <p:cNvPr id="33" name="TextBox 32"/>
          <p:cNvSpPr txBox="1"/>
          <p:nvPr/>
        </p:nvSpPr>
        <p:spPr>
          <a:xfrm>
            <a:off x="584200" y="3619119"/>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4" name="TextBox 33"/>
          <p:cNvSpPr txBox="1"/>
          <p:nvPr/>
        </p:nvSpPr>
        <p:spPr>
          <a:xfrm>
            <a:off x="838200" y="3619119"/>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출장 국가, 기간, 사용 기기(업무 노트북·휴대폰), 목적을 입력하고 </a:t>
            </a:r>
            <a:r>
              <a:rPr sz="1150" b="1">
                <a:solidFill>
                  <a:srgbClr val="1D2433"/>
                </a:solidFill>
                <a:latin typeface="Malgun Gothic"/>
                <a:ea typeface="Malgun Gothic"/>
                <a:cs typeface="Malgun Gothic"/>
              </a:rPr>
              <a:t>[신청]</a:t>
            </a:r>
          </a:p>
          <a:p>
            <a:pPr algn="l">
              <a:lnSpc>
                <a:spcPts val="1632"/>
              </a:lnSpc>
              <a:spcBef>
                <a:spcPts val="0"/>
              </a:spcBef>
              <a:spcAft>
                <a:spcPts val="0"/>
              </a:spcAft>
            </a:pPr>
            <a:r>
              <a:rPr sz="1150" b="0">
                <a:solidFill>
                  <a:srgbClr val="1D2433"/>
                </a:solidFill>
                <a:latin typeface="Malgun Gothic"/>
                <a:ea typeface="Malgun Gothic"/>
                <a:cs typeface="Malgun Gothic"/>
              </a:rPr>
              <a:t>을 누릅니다.</a:t>
            </a:r>
          </a:p>
        </p:txBody>
      </p:sp>
      <p:sp>
        <p:nvSpPr>
          <p:cNvPr id="35" name="TextBox 34"/>
          <p:cNvSpPr txBox="1"/>
          <p:nvPr/>
        </p:nvSpPr>
        <p:spPr>
          <a:xfrm>
            <a:off x="584200" y="4065651"/>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6" name="TextBox 35"/>
          <p:cNvSpPr txBox="1"/>
          <p:nvPr/>
        </p:nvSpPr>
        <p:spPr>
          <a:xfrm>
            <a:off x="838200" y="4065651"/>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정보보안팀이 확인해 등록하면 알림이 옵니다. 등록한 기간이 끝나면</a:t>
            </a:r>
          </a:p>
          <a:p>
            <a:pPr algn="l">
              <a:lnSpc>
                <a:spcPts val="1632"/>
              </a:lnSpc>
              <a:spcBef>
                <a:spcPts val="0"/>
              </a:spcBef>
              <a:spcAft>
                <a:spcPts val="0"/>
              </a:spcAft>
            </a:pPr>
            <a:r>
              <a:rPr sz="1150" b="0">
                <a:solidFill>
                  <a:srgbClr val="1D2433"/>
                </a:solidFill>
                <a:latin typeface="Malgun Gothic"/>
                <a:ea typeface="Malgun Gothic"/>
                <a:cs typeface="Malgun Gothic"/>
              </a:rPr>
              <a:t>예외도 끝납니다.</a:t>
            </a:r>
          </a:p>
        </p:txBody>
      </p:sp>
      <p:sp>
        <p:nvSpPr>
          <p:cNvPr id="37" name="TextBox 36"/>
          <p:cNvSpPr txBox="1"/>
          <p:nvPr/>
        </p:nvSpPr>
        <p:spPr>
          <a:xfrm>
            <a:off x="584200" y="4512183"/>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8" name="TextBox 37"/>
          <p:cNvSpPr txBox="1"/>
          <p:nvPr/>
        </p:nvSpPr>
        <p:spPr>
          <a:xfrm>
            <a:off x="838200" y="4512183"/>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출장 중 추가 인증이 계속 나오면 인증 앱의 인증번호(OTP)로 로그인하고,</a:t>
            </a:r>
          </a:p>
          <a:p>
            <a:pPr algn="l">
              <a:lnSpc>
                <a:spcPts val="1632"/>
              </a:lnSpc>
              <a:spcBef>
                <a:spcPts val="0"/>
              </a:spcBef>
              <a:spcAft>
                <a:spcPts val="0"/>
              </a:spcAft>
            </a:pPr>
            <a:r>
              <a:rPr sz="1150" b="0">
                <a:solidFill>
                  <a:srgbClr val="1D2433"/>
                </a:solidFill>
                <a:latin typeface="Malgun Gothic"/>
                <a:ea typeface="Malgun Gothic"/>
                <a:cs typeface="Malgun Gothic"/>
              </a:rPr>
              <a:t>ITssue 챗봇에 신청 번호를 알립니다.</a:t>
            </a:r>
          </a:p>
        </p:txBody>
      </p:sp>
      <p:sp>
        <p:nvSpPr>
          <p:cNvPr id="39" name="Rectangle 38"/>
          <p:cNvSpPr/>
          <p:nvPr/>
        </p:nvSpPr>
        <p:spPr>
          <a:xfrm>
            <a:off x="6537080" y="3379978"/>
            <a:ext cx="4417296" cy="271348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sec003_33_overseas.png"/>
          <p:cNvPicPr>
            <a:picLocks noChangeAspect="1"/>
          </p:cNvPicPr>
          <p:nvPr/>
        </p:nvPicPr>
        <p:blipFill>
          <a:blip r:embed="rId2"/>
          <a:stretch>
            <a:fillRect/>
          </a:stretch>
        </p:blipFill>
        <p:spPr>
          <a:xfrm>
            <a:off x="6537080" y="3379978"/>
            <a:ext cx="4417296" cy="2713482"/>
          </a:xfrm>
          <a:prstGeom prst="rect">
            <a:avLst/>
          </a:prstGeom>
        </p:spPr>
      </p:pic>
      <p:sp>
        <p:nvSpPr>
          <p:cNvPr id="41" name="TextBox 40"/>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3.3-1. 정보보안 포털: ① 출장 국가·기간 입력 ② [신청]</a:t>
            </a:r>
          </a:p>
        </p:txBody>
      </p:sp>
      <p:sp>
        <p:nvSpPr>
          <p:cNvPr id="42" name="TextBox 4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43" name="TextBox 4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15 / 33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3.3 해외 출장 전 해외 접속 사전 등록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등록 완료 알림을 받고, 출장지에서 정상적으로</a:t>
            </a:r>
          </a:p>
          <a:p>
            <a:pPr algn="l">
              <a:lnSpc>
                <a:spcPts val="1562"/>
              </a:lnSpc>
              <a:spcBef>
                <a:spcPts val="0"/>
              </a:spcBef>
              <a:spcAft>
                <a:spcPts val="0"/>
              </a:spcAft>
            </a:pPr>
            <a:r>
              <a:rPr sz="1100" b="0">
                <a:solidFill>
                  <a:srgbClr val="1D2433"/>
                </a:solidFill>
                <a:latin typeface="Malgun Gothic"/>
                <a:ea typeface="Malgun Gothic"/>
                <a:cs typeface="Malgun Gothic"/>
              </a:rPr>
              <a:t>로그인되면 끝난 것입니다.</a:t>
            </a:r>
          </a:p>
        </p:txBody>
      </p:sp>
      <p:sp>
        <p:nvSpPr>
          <p:cNvPr id="11" name="Rectangle 10"/>
          <p:cNvSpPr/>
          <p:nvPr/>
        </p:nvSpPr>
        <p:spPr>
          <a:xfrm>
            <a:off x="4309533"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출장 중에 급히 신청해야 하면 ITssue 챗봇에 출장</a:t>
            </a:r>
          </a:p>
          <a:p>
            <a:pPr algn="l">
              <a:lnSpc>
                <a:spcPts val="1562"/>
              </a:lnSpc>
              <a:spcBef>
                <a:spcPts val="0"/>
              </a:spcBef>
              <a:spcAft>
                <a:spcPts val="0"/>
              </a:spcAft>
            </a:pPr>
            <a:r>
              <a:rPr sz="1100" b="0">
                <a:solidFill>
                  <a:srgbClr val="1D2433"/>
                </a:solidFill>
                <a:latin typeface="Malgun Gothic"/>
                <a:ea typeface="Malgun Gothic"/>
                <a:cs typeface="Malgun Gothic"/>
              </a:rPr>
              <a:t>국가·기간을 알리고 등록을 요청합니다.</a:t>
            </a:r>
          </a:p>
        </p:txBody>
      </p:sp>
      <p:sp>
        <p:nvSpPr>
          <p:cNvPr id="16" name="TextBox 15"/>
          <p:cNvSpPr txBox="1"/>
          <p:nvPr/>
        </p:nvSpPr>
        <p:spPr>
          <a:xfrm>
            <a:off x="4436533"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출장지에서 내가 하지 않은 로그인 알림이 오면</a:t>
            </a:r>
          </a:p>
          <a:p>
            <a:pPr algn="l">
              <a:lnSpc>
                <a:spcPts val="1562"/>
              </a:lnSpc>
              <a:spcBef>
                <a:spcPts val="0"/>
              </a:spcBef>
              <a:spcAft>
                <a:spcPts val="0"/>
              </a:spcAft>
            </a:pPr>
            <a:r>
              <a:rPr sz="1100" b="0">
                <a:solidFill>
                  <a:srgbClr val="1D2433"/>
                </a:solidFill>
                <a:latin typeface="Malgun Gothic"/>
                <a:ea typeface="Malgun Gothic"/>
                <a:cs typeface="Malgun Gothic"/>
              </a:rPr>
              <a:t>3.1을 따릅니다.</a:t>
            </a:r>
          </a:p>
        </p:txBody>
      </p:sp>
      <p:sp>
        <p:nvSpPr>
          <p:cNvPr id="18" name="Rectangle 17"/>
          <p:cNvSpPr/>
          <p:nvPr/>
        </p:nvSpPr>
        <p:spPr>
          <a:xfrm>
            <a:off x="8034867"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사번</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출장 국가와 기간</a:t>
            </a:r>
          </a:p>
        </p:txBody>
      </p:sp>
      <p:sp>
        <p:nvSpPr>
          <p:cNvPr id="25" name="TextBox 24"/>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사용 기기</a:t>
            </a:r>
          </a:p>
        </p:txBody>
      </p:sp>
      <p:sp>
        <p:nvSpPr>
          <p:cNvPr id="27" name="TextBox 26"/>
          <p:cNvSpPr txBox="1"/>
          <p:nvPr/>
        </p:nvSpPr>
        <p:spPr>
          <a:xfrm>
            <a:off x="8161867" y="22884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2884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신청 번호 (신청했으면)</a:t>
            </a:r>
          </a:p>
        </p:txBody>
      </p:sp>
      <p:sp>
        <p:nvSpPr>
          <p:cNvPr id="29" name="Rectangle 28"/>
          <p:cNvSpPr/>
          <p:nvPr/>
        </p:nvSpPr>
        <p:spPr>
          <a:xfrm>
            <a:off x="584200" y="2753487"/>
            <a:ext cx="11023600" cy="401574"/>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11200" y="2855087"/>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해외에서는 문자 인증이 늦게 올 수 있습니다. 인터넷 없이도 되는 인증 앱 인증번호(OTP)를 쓰는 것이 편합니다.</a:t>
            </a:r>
          </a:p>
        </p:txBody>
      </p:sp>
      <p:sp>
        <p:nvSpPr>
          <p:cNvPr id="31" name="TextBox 30"/>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32" name="TextBox 31"/>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16 / 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3.4 계정이 반복해서 잠기거나 비밀번호가 바뀌어 있을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352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112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SEC-06</a:t>
            </a:r>
          </a:p>
        </p:txBody>
      </p:sp>
      <p:sp>
        <p:nvSpPr>
          <p:cNvPr id="10" name="Rectangle 9"/>
          <p:cNvSpPr/>
          <p:nvPr/>
        </p:nvSpPr>
        <p:spPr>
          <a:xfrm>
            <a:off x="186277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3897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67818" y="1168400"/>
            <a:ext cx="990054" cy="292100"/>
          </a:xfrm>
          <a:prstGeom prst="rect">
            <a:avLst/>
          </a:prstGeom>
          <a:solidFill>
            <a:srgbClr val="E3EAF3"/>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4018" y="1219200"/>
            <a:ext cx="837654"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IT 담당자 처리</a:t>
            </a:r>
          </a:p>
        </p:txBody>
      </p:sp>
      <p:sp>
        <p:nvSpPr>
          <p:cNvPr id="14" name="Rectangle 13"/>
          <p:cNvSpPr/>
          <p:nvPr/>
        </p:nvSpPr>
        <p:spPr>
          <a:xfrm>
            <a:off x="3557873"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4073"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2921" y="1168400"/>
            <a:ext cx="787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39121" y="1219200"/>
            <a:ext cx="635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정보보안팀</a:t>
            </a:r>
          </a:p>
        </p:txBody>
      </p:sp>
      <p:sp>
        <p:nvSpPr>
          <p:cNvPr id="18" name="Rectangle 17"/>
          <p:cNvSpPr/>
          <p:nvPr/>
        </p:nvSpPr>
        <p:spPr>
          <a:xfrm>
            <a:off x="5050321"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26521"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0" name="Rectangle 19"/>
          <p:cNvSpPr/>
          <p:nvPr/>
        </p:nvSpPr>
        <p:spPr>
          <a:xfrm>
            <a:off x="5755928"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32128"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FAQ-005</a:t>
            </a:r>
          </a:p>
        </p:txBody>
      </p:sp>
      <p:sp>
        <p:nvSpPr>
          <p:cNvPr id="22" name="TextBox 21"/>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23" name="TextBox 22"/>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비밀번호를 바꾼 적이 없는데 하루에도 몇 번씩 계정이 잠깁니다.</a:t>
            </a:r>
          </a:p>
        </p:txBody>
      </p:sp>
      <p:sp>
        <p:nvSpPr>
          <p:cNvPr id="25" name="TextBox 24"/>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6" name="TextBox 25"/>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로그인하려고 보니 비밀번호가 바뀌어 있습니다. 저는 바꾸지 않았습니다.</a:t>
            </a:r>
          </a:p>
        </p:txBody>
      </p:sp>
      <p:sp>
        <p:nvSpPr>
          <p:cNvPr id="27" name="TextBox 26"/>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8" name="TextBox 27"/>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9" name="TextBox 28"/>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휴대폰 메일 앱 등에 저장된 예전 비밀번호 때문일 수 있습니다.</a:t>
            </a:r>
          </a:p>
        </p:txBody>
      </p:sp>
      <p:sp>
        <p:nvSpPr>
          <p:cNvPr id="30" name="TextBox 29"/>
          <p:cNvSpPr txBox="1"/>
          <p:nvPr/>
        </p:nvSpPr>
        <p:spPr>
          <a:xfrm>
            <a:off x="635000" y="300469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1" name="TextBox 30"/>
          <p:cNvSpPr txBox="1"/>
          <p:nvPr/>
        </p:nvSpPr>
        <p:spPr>
          <a:xfrm>
            <a:off x="838200" y="300469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바꾼 적이 없다면 누군가 비밀번호를 여러 번 넣어 보는 중일 수 있습니다.</a:t>
            </a:r>
          </a:p>
        </p:txBody>
      </p:sp>
      <p:sp>
        <p:nvSpPr>
          <p:cNvPr id="32" name="TextBox 31"/>
          <p:cNvSpPr txBox="1"/>
          <p:nvPr/>
        </p:nvSpPr>
        <p:spPr>
          <a:xfrm>
            <a:off x="584200" y="3294634"/>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33" name="TextBox 32"/>
          <p:cNvSpPr txBox="1"/>
          <p:nvPr/>
        </p:nvSpPr>
        <p:spPr>
          <a:xfrm>
            <a:off x="584200" y="3619119"/>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4" name="TextBox 33"/>
          <p:cNvSpPr txBox="1"/>
          <p:nvPr/>
        </p:nvSpPr>
        <p:spPr>
          <a:xfrm>
            <a:off x="838200" y="3619119"/>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최근 비밀번호를 바꿨다면 휴대폰 메일 앱, PC에 저장된 예전 비밀번호를</a:t>
            </a:r>
          </a:p>
          <a:p>
            <a:pPr algn="l">
              <a:lnSpc>
                <a:spcPts val="1632"/>
              </a:lnSpc>
              <a:spcBef>
                <a:spcPts val="0"/>
              </a:spcBef>
              <a:spcAft>
                <a:spcPts val="0"/>
              </a:spcAft>
            </a:pPr>
            <a:r>
              <a:rPr sz="1150" b="0">
                <a:solidFill>
                  <a:srgbClr val="1D2433"/>
                </a:solidFill>
                <a:latin typeface="Malgun Gothic"/>
                <a:ea typeface="Malgun Gothic"/>
                <a:cs typeface="Malgun Gothic"/>
              </a:rPr>
              <a:t>먼저 고칩니다 (IT-ACC-001 3.2).</a:t>
            </a:r>
          </a:p>
        </p:txBody>
      </p:sp>
      <p:sp>
        <p:nvSpPr>
          <p:cNvPr id="35" name="TextBox 34"/>
          <p:cNvSpPr txBox="1"/>
          <p:nvPr/>
        </p:nvSpPr>
        <p:spPr>
          <a:xfrm>
            <a:off x="584200" y="4065651"/>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6" name="TextBox 35"/>
          <p:cNvSpPr txBox="1"/>
          <p:nvPr/>
        </p:nvSpPr>
        <p:spPr>
          <a:xfrm>
            <a:off x="838200" y="4065651"/>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바꾼 적이 없는데 잠김이 반복되면 정보보안팀(내선 1119)에 잠긴 시각을</a:t>
            </a:r>
          </a:p>
          <a:p>
            <a:pPr algn="l">
              <a:lnSpc>
                <a:spcPts val="1632"/>
              </a:lnSpc>
              <a:spcBef>
                <a:spcPts val="0"/>
              </a:spcBef>
              <a:spcAft>
                <a:spcPts val="0"/>
              </a:spcAft>
            </a:pPr>
            <a:r>
              <a:rPr sz="1150" b="0">
                <a:solidFill>
                  <a:srgbClr val="1D2433"/>
                </a:solidFill>
                <a:latin typeface="Malgun Gothic"/>
                <a:ea typeface="Malgun Gothic"/>
                <a:cs typeface="Malgun Gothic"/>
              </a:rPr>
              <a:t>알립니다.</a:t>
            </a:r>
          </a:p>
        </p:txBody>
      </p:sp>
      <p:sp>
        <p:nvSpPr>
          <p:cNvPr id="37" name="TextBox 36"/>
          <p:cNvSpPr txBox="1"/>
          <p:nvPr/>
        </p:nvSpPr>
        <p:spPr>
          <a:xfrm>
            <a:off x="584200" y="4512183"/>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8" name="TextBox 37"/>
          <p:cNvSpPr txBox="1"/>
          <p:nvPr/>
        </p:nvSpPr>
        <p:spPr>
          <a:xfrm>
            <a:off x="838200" y="4512183"/>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내가 바꾸지 않았는데 비밀번호가 바뀌어 있으면 </a:t>
            </a:r>
            <a:r>
              <a:rPr sz="1150" b="1">
                <a:solidFill>
                  <a:srgbClr val="1D2433"/>
                </a:solidFill>
                <a:latin typeface="Malgun Gothic"/>
                <a:ea typeface="Malgun Gothic"/>
                <a:cs typeface="Malgun Gothic"/>
              </a:rPr>
              <a:t>바로</a:t>
            </a:r>
            <a:r>
              <a:rPr sz="1150" b="0">
                <a:solidFill>
                  <a:srgbClr val="1D2433"/>
                </a:solidFill>
                <a:latin typeface="Malgun Gothic"/>
                <a:ea typeface="Malgun Gothic"/>
                <a:cs typeface="Malgun Gothic"/>
              </a:rPr>
              <a:t> 정보보안팀에</a:t>
            </a:r>
          </a:p>
          <a:p>
            <a:pPr algn="l">
              <a:lnSpc>
                <a:spcPts val="1632"/>
              </a:lnSpc>
              <a:spcBef>
                <a:spcPts val="0"/>
              </a:spcBef>
              <a:spcAft>
                <a:spcPts val="0"/>
              </a:spcAft>
            </a:pPr>
            <a:r>
              <a:rPr sz="1150" b="0">
                <a:solidFill>
                  <a:srgbClr val="1D2433"/>
                </a:solidFill>
                <a:latin typeface="Malgun Gothic"/>
                <a:ea typeface="Malgun Gothic"/>
                <a:cs typeface="Malgun Gothic"/>
              </a:rPr>
              <a:t>알립니다.</a:t>
            </a:r>
          </a:p>
        </p:txBody>
      </p:sp>
      <p:sp>
        <p:nvSpPr>
          <p:cNvPr id="39" name="TextBox 38"/>
          <p:cNvSpPr txBox="1"/>
          <p:nvPr/>
        </p:nvSpPr>
        <p:spPr>
          <a:xfrm>
            <a:off x="584200" y="4958715"/>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40" name="TextBox 39"/>
          <p:cNvSpPr txBox="1"/>
          <p:nvPr/>
        </p:nvSpPr>
        <p:spPr>
          <a:xfrm>
            <a:off x="838200" y="4958715"/>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IT 헬프데스크(내선 1000)에서 본인 확인 후 비밀번호를 초기화합니다.</a:t>
            </a:r>
          </a:p>
        </p:txBody>
      </p:sp>
      <p:sp>
        <p:nvSpPr>
          <p:cNvPr id="41" name="TextBox 40"/>
          <p:cNvSpPr txBox="1"/>
          <p:nvPr/>
        </p:nvSpPr>
        <p:spPr>
          <a:xfrm>
            <a:off x="584200" y="5197856"/>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⑤</a:t>
            </a:r>
          </a:p>
        </p:txBody>
      </p:sp>
      <p:sp>
        <p:nvSpPr>
          <p:cNvPr id="42" name="TextBox 41"/>
          <p:cNvSpPr txBox="1"/>
          <p:nvPr/>
        </p:nvSpPr>
        <p:spPr>
          <a:xfrm>
            <a:off x="838200" y="5197856"/>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정보보안팀이 로그인 실패 기록을 보고 도용 여부를 알려 줍니다.</a:t>
            </a:r>
          </a:p>
        </p:txBody>
      </p:sp>
      <p:sp>
        <p:nvSpPr>
          <p:cNvPr id="43" name="Rectangle 42"/>
          <p:cNvSpPr/>
          <p:nvPr/>
        </p:nvSpPr>
        <p:spPr>
          <a:xfrm>
            <a:off x="6731730" y="3619119"/>
            <a:ext cx="4027997" cy="247434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sec003_34_lock.png"/>
          <p:cNvPicPr>
            <a:picLocks noChangeAspect="1"/>
          </p:cNvPicPr>
          <p:nvPr/>
        </p:nvPicPr>
        <p:blipFill>
          <a:blip r:embed="rId2"/>
          <a:stretch>
            <a:fillRect/>
          </a:stretch>
        </p:blipFill>
        <p:spPr>
          <a:xfrm>
            <a:off x="6731730" y="3619119"/>
            <a:ext cx="4027997" cy="2474341"/>
          </a:xfrm>
          <a:prstGeom prst="rect">
            <a:avLst/>
          </a:prstGeom>
        </p:spPr>
      </p:pic>
      <p:sp>
        <p:nvSpPr>
          <p:cNvPr id="45" name="TextBox 44"/>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3.4-1. ① 잠김 안내 (5회 실패, 10분 뒤 자동 해제) ②~④ 원인 확인 순서</a:t>
            </a:r>
          </a:p>
        </p:txBody>
      </p:sp>
      <p:sp>
        <p:nvSpPr>
          <p:cNvPr id="46" name="TextBox 45"/>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47" name="TextBox 46"/>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17 / 33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3.4 계정이 반복해서 잠기거나 비밀번호가 바뀌어 있을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원인이 확인되고(저장된 예전 비밀번호 또는</a:t>
            </a:r>
          </a:p>
          <a:p>
            <a:pPr algn="l">
              <a:lnSpc>
                <a:spcPts val="1562"/>
              </a:lnSpc>
              <a:spcBef>
                <a:spcPts val="0"/>
              </a:spcBef>
              <a:spcAft>
                <a:spcPts val="0"/>
              </a:spcAft>
            </a:pPr>
            <a:r>
              <a:rPr sz="1100" b="0">
                <a:solidFill>
                  <a:srgbClr val="1D2433"/>
                </a:solidFill>
                <a:latin typeface="Malgun Gothic"/>
                <a:ea typeface="Malgun Gothic"/>
                <a:cs typeface="Malgun Gothic"/>
              </a:rPr>
              <a:t>차단된 대입 시도) 더 이상 잠기지 않으면 끝난</a:t>
            </a:r>
          </a:p>
          <a:p>
            <a:pPr algn="l">
              <a:lnSpc>
                <a:spcPts val="1562"/>
              </a:lnSpc>
              <a:spcBef>
                <a:spcPts val="0"/>
              </a:spcBef>
              <a:spcAft>
                <a:spcPts val="0"/>
              </a:spcAft>
            </a:pPr>
            <a:r>
              <a:rPr sz="1100" b="0">
                <a:solidFill>
                  <a:srgbClr val="1D2433"/>
                </a:solidFill>
                <a:latin typeface="Malgun Gothic"/>
                <a:ea typeface="Malgun Gothic"/>
                <a:cs typeface="Malgun Gothic"/>
              </a:rPr>
              <a:t>것입니다.</a:t>
            </a:r>
          </a:p>
        </p:txBody>
      </p:sp>
      <p:sp>
        <p:nvSpPr>
          <p:cNvPr id="11" name="Rectangle 10"/>
          <p:cNvSpPr/>
          <p:nvPr/>
        </p:nvSpPr>
        <p:spPr>
          <a:xfrm>
            <a:off x="4309533"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초기화 뒤에도 잠김이 계속되면 잠긴 시각을 모아</a:t>
            </a:r>
          </a:p>
          <a:p>
            <a:pPr algn="l">
              <a:lnSpc>
                <a:spcPts val="1562"/>
              </a:lnSpc>
              <a:spcBef>
                <a:spcPts val="0"/>
              </a:spcBef>
              <a:spcAft>
                <a:spcPts val="0"/>
              </a:spcAft>
            </a:pPr>
            <a:r>
              <a:rPr sz="1100" b="0">
                <a:solidFill>
                  <a:srgbClr val="1D2433"/>
                </a:solidFill>
                <a:latin typeface="Malgun Gothic"/>
                <a:ea typeface="Malgun Gothic"/>
                <a:cs typeface="Malgun Gothic"/>
              </a:rPr>
              <a:t>다시 알립니다.</a:t>
            </a:r>
          </a:p>
        </p:txBody>
      </p:sp>
      <p:sp>
        <p:nvSpPr>
          <p:cNvPr id="16" name="TextBox 15"/>
          <p:cNvSpPr txBox="1"/>
          <p:nvPr/>
        </p:nvSpPr>
        <p:spPr>
          <a:xfrm>
            <a:off x="4436533"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내가 하지 않은 메일 발송·설정 변경이 보이면</a:t>
            </a:r>
          </a:p>
          <a:p>
            <a:pPr algn="l">
              <a:lnSpc>
                <a:spcPts val="1562"/>
              </a:lnSpc>
              <a:spcBef>
                <a:spcPts val="0"/>
              </a:spcBef>
              <a:spcAft>
                <a:spcPts val="0"/>
              </a:spcAft>
            </a:pPr>
            <a:r>
              <a:rPr sz="1100" b="0">
                <a:solidFill>
                  <a:srgbClr val="1D2433"/>
                </a:solidFill>
                <a:latin typeface="Malgun Gothic"/>
                <a:ea typeface="Malgun Gothic"/>
                <a:cs typeface="Malgun Gothic"/>
              </a:rPr>
              <a:t>3.1을 함께 따릅니다.</a:t>
            </a:r>
          </a:p>
        </p:txBody>
      </p:sp>
      <p:sp>
        <p:nvSpPr>
          <p:cNvPr id="18" name="Rectangle 17"/>
          <p:cNvSpPr/>
          <p:nvPr/>
        </p:nvSpPr>
        <p:spPr>
          <a:xfrm>
            <a:off x="8034867"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사번</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잠긴 시각 (여러 번이면 모두)</a:t>
            </a:r>
          </a:p>
        </p:txBody>
      </p:sp>
      <p:sp>
        <p:nvSpPr>
          <p:cNvPr id="25" name="TextBox 24"/>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최근 비밀번호를 바꿨는지와 그 날짜</a:t>
            </a:r>
          </a:p>
        </p:txBody>
      </p:sp>
      <p:sp>
        <p:nvSpPr>
          <p:cNvPr id="27" name="TextBox 26"/>
          <p:cNvSpPr txBox="1"/>
          <p:nvPr/>
        </p:nvSpPr>
        <p:spPr>
          <a:xfrm>
            <a:off x="8161867" y="22884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2884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비밀번호를 저장해 둔 기기·앱</a:t>
            </a:r>
          </a:p>
        </p:txBody>
      </p:sp>
      <p:sp>
        <p:nvSpPr>
          <p:cNvPr id="29" name="Rectangle 28"/>
          <p:cNvSpPr/>
          <p:nvPr/>
        </p:nvSpPr>
        <p:spPr>
          <a:xfrm>
            <a:off x="584200" y="2753487"/>
            <a:ext cx="11023600" cy="401574"/>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11200" y="2855087"/>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비밀번호를 5회 연속 잘못 입력하면 계정이 잠기고 10분 뒤 자동으로 풀립니다.</a:t>
            </a:r>
          </a:p>
        </p:txBody>
      </p:sp>
      <p:sp>
        <p:nvSpPr>
          <p:cNvPr id="31" name="TextBox 30"/>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32" name="TextBox 31"/>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18 / 33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시스템·서버 무단 접근·침해가 의심될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352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112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SEC-05</a:t>
            </a:r>
          </a:p>
        </p:txBody>
      </p:sp>
      <p:sp>
        <p:nvSpPr>
          <p:cNvPr id="10" name="Rectangle 9"/>
          <p:cNvSpPr/>
          <p:nvPr/>
        </p:nvSpPr>
        <p:spPr>
          <a:xfrm>
            <a:off x="186277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3897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67818" y="1168400"/>
            <a:ext cx="992287" cy="292100"/>
          </a:xfrm>
          <a:prstGeom prst="rect">
            <a:avLst/>
          </a:prstGeom>
          <a:solidFill>
            <a:srgbClr val="FBE3DC"/>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4018" y="1219200"/>
            <a:ext cx="83988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B8430E"/>
                </a:solidFill>
                <a:latin typeface="Malgun Gothic"/>
                <a:ea typeface="Malgun Gothic"/>
                <a:cs typeface="Malgun Gothic"/>
              </a:rPr>
              <a:t>즉시 신고·이관</a:t>
            </a:r>
          </a:p>
        </p:txBody>
      </p:sp>
      <p:sp>
        <p:nvSpPr>
          <p:cNvPr id="14" name="Rectangle 13"/>
          <p:cNvSpPr/>
          <p:nvPr/>
        </p:nvSpPr>
        <p:spPr>
          <a:xfrm>
            <a:off x="356010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630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5154" y="1168400"/>
            <a:ext cx="787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1354" y="1219200"/>
            <a:ext cx="635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정보보안팀</a:t>
            </a:r>
          </a:p>
        </p:txBody>
      </p:sp>
      <p:sp>
        <p:nvSpPr>
          <p:cNvPr id="18" name="TextBox 17"/>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19" name="TextBox 18"/>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고객 문의 이력 시스템에 제가 하지 않은 고객 정보 조회 기록이 있어요. 비밀번호는 바로 바꿨어요.</a:t>
            </a:r>
          </a:p>
        </p:txBody>
      </p:sp>
      <p:sp>
        <p:nvSpPr>
          <p:cNvPr id="21" name="TextBox 20"/>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2" name="TextBox 21"/>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개발 서버 설정 실수로 테스트 DB가 외부에서 열려 있었던 걸 발견했어요. 지금은 막아뒀습니다.</a:t>
            </a:r>
          </a:p>
        </p:txBody>
      </p:sp>
      <p:sp>
        <p:nvSpPr>
          <p:cNvPr id="23" name="TextBox 22"/>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4" name="TextBox 23"/>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5" name="TextBox 24"/>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새어 나간 계정, 승인하지 않은 원격 제어 프로그램, 접근 설정 누락, 패치하지 않은 취약점 등이 원인일 수 있습니다.</a:t>
            </a:r>
          </a:p>
        </p:txBody>
      </p:sp>
      <p:sp>
        <p:nvSpPr>
          <p:cNvPr id="26" name="TextBox 25"/>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27" name="TextBox 26"/>
          <p:cNvSpPr txBox="1"/>
          <p:nvPr/>
        </p:nvSpPr>
        <p:spPr>
          <a:xfrm>
            <a:off x="584200" y="3379978"/>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28" name="TextBox 27"/>
          <p:cNvSpPr txBox="1"/>
          <p:nvPr/>
        </p:nvSpPr>
        <p:spPr>
          <a:xfrm>
            <a:off x="838200" y="3379978"/>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발견한 화면·로그를 캡처하고 발견 시각을 적어 둡니다.</a:t>
            </a:r>
          </a:p>
        </p:txBody>
      </p:sp>
      <p:sp>
        <p:nvSpPr>
          <p:cNvPr id="29" name="TextBox 28"/>
          <p:cNvSpPr txBox="1"/>
          <p:nvPr/>
        </p:nvSpPr>
        <p:spPr>
          <a:xfrm>
            <a:off x="584200" y="3619119"/>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0" name="TextBox 29"/>
          <p:cNvSpPr txBox="1"/>
          <p:nvPr/>
        </p:nvSpPr>
        <p:spPr>
          <a:xfrm>
            <a:off x="838200" y="3619119"/>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서버를 재시작하거나 로그·계정·파일을 지우지 않습니다.</a:t>
            </a:r>
          </a:p>
        </p:txBody>
      </p:sp>
      <p:sp>
        <p:nvSpPr>
          <p:cNvPr id="31" name="TextBox 30"/>
          <p:cNvSpPr txBox="1"/>
          <p:nvPr/>
        </p:nvSpPr>
        <p:spPr>
          <a:xfrm>
            <a:off x="584200" y="3858260"/>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2" name="TextBox 31"/>
          <p:cNvSpPr txBox="1"/>
          <p:nvPr/>
        </p:nvSpPr>
        <p:spPr>
          <a:xfrm>
            <a:off x="838200" y="3858260"/>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정보보안팀(내선 1119)에 바로 신고합니다.</a:t>
            </a:r>
          </a:p>
        </p:txBody>
      </p:sp>
      <p:sp>
        <p:nvSpPr>
          <p:cNvPr id="33" name="TextBox 32"/>
          <p:cNvSpPr txBox="1"/>
          <p:nvPr/>
        </p:nvSpPr>
        <p:spPr>
          <a:xfrm>
            <a:off x="584200" y="4097401"/>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4" name="TextBox 33"/>
          <p:cNvSpPr txBox="1"/>
          <p:nvPr/>
        </p:nvSpPr>
        <p:spPr>
          <a:xfrm>
            <a:off x="838200" y="4097401"/>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이미 한 조치(비밀번호 변경, 방화벽 차단, 패치)도 시각과 함께 그대로</a:t>
            </a:r>
          </a:p>
          <a:p>
            <a:pPr algn="l">
              <a:lnSpc>
                <a:spcPts val="1632"/>
              </a:lnSpc>
              <a:spcBef>
                <a:spcPts val="0"/>
              </a:spcBef>
              <a:spcAft>
                <a:spcPts val="0"/>
              </a:spcAft>
            </a:pPr>
            <a:r>
              <a:rPr sz="1150" b="0">
                <a:solidFill>
                  <a:srgbClr val="1D2433"/>
                </a:solidFill>
                <a:latin typeface="Malgun Gothic"/>
                <a:ea typeface="Malgun Gothic"/>
                <a:cs typeface="Malgun Gothic"/>
              </a:rPr>
              <a:t>알립니다.</a:t>
            </a:r>
          </a:p>
        </p:txBody>
      </p:sp>
      <p:sp>
        <p:nvSpPr>
          <p:cNvPr id="35" name="TextBox 34"/>
          <p:cNvSpPr txBox="1"/>
          <p:nvPr/>
        </p:nvSpPr>
        <p:spPr>
          <a:xfrm>
            <a:off x="584200" y="4543933"/>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⑤</a:t>
            </a:r>
          </a:p>
        </p:txBody>
      </p:sp>
      <p:sp>
        <p:nvSpPr>
          <p:cNvPr id="36" name="TextBox 35"/>
          <p:cNvSpPr txBox="1"/>
          <p:nvPr/>
        </p:nvSpPr>
        <p:spPr>
          <a:xfrm>
            <a:off x="838200" y="4543933"/>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정보보안팀이 접근 기록을 분석해 유출 여부와 범위를 알려 줍니다.</a:t>
            </a:r>
          </a:p>
        </p:txBody>
      </p:sp>
      <p:sp>
        <p:nvSpPr>
          <p:cNvPr id="37" name="Rectangle 36"/>
          <p:cNvSpPr/>
          <p:nvPr/>
        </p:nvSpPr>
        <p:spPr>
          <a:xfrm>
            <a:off x="6537080" y="3379978"/>
            <a:ext cx="4417296" cy="271348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sec003_35_accesslog.png"/>
          <p:cNvPicPr>
            <a:picLocks noChangeAspect="1"/>
          </p:cNvPicPr>
          <p:nvPr/>
        </p:nvPicPr>
        <p:blipFill>
          <a:blip r:embed="rId2"/>
          <a:stretch>
            <a:fillRect/>
          </a:stretch>
        </p:blipFill>
        <p:spPr>
          <a:xfrm>
            <a:off x="6537080" y="3379978"/>
            <a:ext cx="4417296" cy="2713482"/>
          </a:xfrm>
          <a:prstGeom prst="rect">
            <a:avLst/>
          </a:prstGeom>
        </p:spPr>
      </p:pic>
      <p:sp>
        <p:nvSpPr>
          <p:cNvPr id="39" name="TextBox 38"/>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3.5-1. ① 모르는 계정의 외부 접속·내려받기 기록 ② 할 일</a:t>
            </a:r>
          </a:p>
        </p:txBody>
      </p:sp>
      <p:sp>
        <p:nvSpPr>
          <p:cNvPr id="40" name="TextBox 3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41" name="TextBox 4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19 / 33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시스템·서버 무단 접근·침해가 의심될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정보보안팀이 분석 결과(침해 여부·범위)와 조치</a:t>
            </a:r>
          </a:p>
          <a:p>
            <a:pPr algn="l">
              <a:lnSpc>
                <a:spcPts val="1562"/>
              </a:lnSpc>
              <a:spcBef>
                <a:spcPts val="0"/>
              </a:spcBef>
              <a:spcAft>
                <a:spcPts val="0"/>
              </a:spcAft>
            </a:pPr>
            <a:r>
              <a:rPr sz="1100" b="0">
                <a:solidFill>
                  <a:srgbClr val="1D2433"/>
                </a:solidFill>
                <a:latin typeface="Malgun Gothic"/>
                <a:ea typeface="Malgun Gothic"/>
                <a:cs typeface="Malgun Gothic"/>
              </a:rPr>
              <a:t>완료를 알려 주면 끝난 것입니다.</a:t>
            </a:r>
          </a:p>
        </p:txBody>
      </p:sp>
      <p:sp>
        <p:nvSpPr>
          <p:cNvPr id="11" name="Rectangle 10"/>
          <p:cNvSpPr/>
          <p:nvPr/>
        </p:nvSpPr>
        <p:spPr>
          <a:xfrm>
            <a:off x="4309533"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분석 중 같은 접속 시도가 계속되면 시각을 적어</a:t>
            </a:r>
          </a:p>
          <a:p>
            <a:pPr algn="l">
              <a:lnSpc>
                <a:spcPts val="1562"/>
              </a:lnSpc>
              <a:spcBef>
                <a:spcPts val="0"/>
              </a:spcBef>
              <a:spcAft>
                <a:spcPts val="0"/>
              </a:spcAft>
            </a:pPr>
            <a:r>
              <a:rPr sz="1100" b="0">
                <a:solidFill>
                  <a:srgbClr val="1D2433"/>
                </a:solidFill>
                <a:latin typeface="Malgun Gothic"/>
                <a:ea typeface="Malgun Gothic"/>
                <a:cs typeface="Malgun Gothic"/>
              </a:rPr>
              <a:t>바로 다시 알립니다.</a:t>
            </a:r>
          </a:p>
        </p:txBody>
      </p:sp>
      <p:sp>
        <p:nvSpPr>
          <p:cNvPr id="16" name="TextBox 15"/>
          <p:cNvSpPr txBox="1"/>
          <p:nvPr/>
        </p:nvSpPr>
        <p:spPr>
          <a:xfrm>
            <a:off x="4436533"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서버 장애로 업무가 멈추면 IT-SYS-008의 장애</a:t>
            </a:r>
          </a:p>
          <a:p>
            <a:pPr algn="l">
              <a:lnSpc>
                <a:spcPts val="1562"/>
              </a:lnSpc>
              <a:spcBef>
                <a:spcPts val="0"/>
              </a:spcBef>
              <a:spcAft>
                <a:spcPts val="0"/>
              </a:spcAft>
            </a:pPr>
            <a:r>
              <a:rPr sz="1100" b="0">
                <a:solidFill>
                  <a:srgbClr val="1D2433"/>
                </a:solidFill>
                <a:latin typeface="Malgun Gothic"/>
                <a:ea typeface="Malgun Gothic"/>
                <a:cs typeface="Malgun Gothic"/>
              </a:rPr>
              <a:t>절차를 함께 따릅니다.</a:t>
            </a:r>
          </a:p>
        </p:txBody>
      </p:sp>
      <p:sp>
        <p:nvSpPr>
          <p:cNvPr id="18" name="Rectangle 17"/>
          <p:cNvSpPr/>
          <p:nvPr/>
        </p:nvSpPr>
        <p:spPr>
          <a:xfrm>
            <a:off x="8034867"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사번과 시스템·서버 이름</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발견한 내용과 시각 (화면·로그 캡처)</a:t>
            </a:r>
          </a:p>
        </p:txBody>
      </p:sp>
      <p:sp>
        <p:nvSpPr>
          <p:cNvPr id="25" name="TextBox 24"/>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이미 한 조치와 시각</a:t>
            </a:r>
          </a:p>
        </p:txBody>
      </p:sp>
      <p:sp>
        <p:nvSpPr>
          <p:cNvPr id="27" name="TextBox 26"/>
          <p:cNvSpPr txBox="1"/>
          <p:nvPr/>
        </p:nvSpPr>
        <p:spPr>
          <a:xfrm>
            <a:off x="8161867" y="22884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2884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관련 계정·자료 (고객 정보 포함 여부)</a:t>
            </a:r>
          </a:p>
        </p:txBody>
      </p:sp>
      <p:sp>
        <p:nvSpPr>
          <p:cNvPr id="29" name="Rectangle 28"/>
          <p:cNvSpPr/>
          <p:nvPr/>
        </p:nvSpPr>
        <p:spPr>
          <a:xfrm>
            <a:off x="584200" y="2753487"/>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11200" y="285508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혼자 원인을 조사하거나 흔적을 정리하지 않습니다</a:t>
            </a:r>
          </a:p>
        </p:txBody>
      </p:sp>
      <p:sp>
        <p:nvSpPr>
          <p:cNvPr id="31" name="TextBox 30"/>
          <p:cNvSpPr txBox="1"/>
          <p:nvPr/>
        </p:nvSpPr>
        <p:spPr>
          <a:xfrm>
            <a:off x="711200" y="3091561"/>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서버 재시작·로그 삭제·계정 삭제는 증거를 없앱니다. 외부(고객사 포함)에 알리는 일도 정보보안팀과 상의한 뒤 합니다.</a:t>
            </a:r>
          </a:p>
        </p:txBody>
      </p:sp>
      <p:sp>
        <p:nvSpPr>
          <p:cNvPr id="32" name="TextBox 3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33" name="TextBox 3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20 / 33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3.6 인증 앱·회사 앱이 설치된 휴대폰을 잃어버렸을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352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112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SEC-08</a:t>
            </a:r>
          </a:p>
        </p:txBody>
      </p:sp>
      <p:sp>
        <p:nvSpPr>
          <p:cNvPr id="10" name="Rectangle 9"/>
          <p:cNvSpPr/>
          <p:nvPr/>
        </p:nvSpPr>
        <p:spPr>
          <a:xfrm>
            <a:off x="186277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3897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67818" y="1168400"/>
            <a:ext cx="992287" cy="292100"/>
          </a:xfrm>
          <a:prstGeom prst="rect">
            <a:avLst/>
          </a:prstGeom>
          <a:solidFill>
            <a:srgbClr val="FBE3DC"/>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4018" y="1219200"/>
            <a:ext cx="83988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B8430E"/>
                </a:solidFill>
                <a:latin typeface="Malgun Gothic"/>
                <a:ea typeface="Malgun Gothic"/>
                <a:cs typeface="Malgun Gothic"/>
              </a:rPr>
              <a:t>즉시 신고·이관</a:t>
            </a:r>
          </a:p>
        </p:txBody>
      </p:sp>
      <p:sp>
        <p:nvSpPr>
          <p:cNvPr id="14" name="Rectangle 13"/>
          <p:cNvSpPr/>
          <p:nvPr/>
        </p:nvSpPr>
        <p:spPr>
          <a:xfrm>
            <a:off x="356010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630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5154" y="1168400"/>
            <a:ext cx="787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1354" y="1219200"/>
            <a:ext cx="635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정보보안팀</a:t>
            </a:r>
          </a:p>
        </p:txBody>
      </p:sp>
      <p:sp>
        <p:nvSpPr>
          <p:cNvPr id="18" name="Rectangle 17"/>
          <p:cNvSpPr/>
          <p:nvPr/>
        </p:nvSpPr>
        <p:spPr>
          <a:xfrm>
            <a:off x="5052554"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28754"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0" name="Rectangle 19"/>
          <p:cNvSpPr/>
          <p:nvPr/>
        </p:nvSpPr>
        <p:spPr>
          <a:xfrm>
            <a:off x="575816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3436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FAQ-039</a:t>
            </a:r>
          </a:p>
        </p:txBody>
      </p:sp>
      <p:sp>
        <p:nvSpPr>
          <p:cNvPr id="22" name="TextBox 21"/>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23" name="TextBox 22"/>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인증 앱과 회사 메일 앱이 깔린 휴대폰을 잃어버렸습니다.</a:t>
            </a:r>
          </a:p>
        </p:txBody>
      </p:sp>
      <p:sp>
        <p:nvSpPr>
          <p:cNvPr id="25" name="TextBox 24"/>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6" name="TextBox 25"/>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휴대폰을 도난당해 인증을 할 수 없습니다.</a:t>
            </a:r>
          </a:p>
        </p:txBody>
      </p:sp>
      <p:sp>
        <p:nvSpPr>
          <p:cNvPr id="27" name="TextBox 26"/>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8" name="TextBox 27"/>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9" name="TextBox 28"/>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잃어버린 휴대폰으로 다른 사람이 인증을 승인하거나 회사 메일을 볼 수 있습니다.</a:t>
            </a:r>
          </a:p>
        </p:txBody>
      </p:sp>
      <p:sp>
        <p:nvSpPr>
          <p:cNvPr id="30" name="TextBox 29"/>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31" name="TextBox 30"/>
          <p:cNvSpPr txBox="1"/>
          <p:nvPr/>
        </p:nvSpPr>
        <p:spPr>
          <a:xfrm>
            <a:off x="584200" y="3379978"/>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2" name="TextBox 31"/>
          <p:cNvSpPr txBox="1"/>
          <p:nvPr/>
        </p:nvSpPr>
        <p:spPr>
          <a:xfrm>
            <a:off x="838200" y="3379978"/>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정보보안팀(내선 1119)과 서비스데스크(내선 1000)에 바로 알립니다. 업무</a:t>
            </a:r>
          </a:p>
          <a:p>
            <a:pPr algn="l">
              <a:lnSpc>
                <a:spcPts val="1632"/>
              </a:lnSpc>
              <a:spcBef>
                <a:spcPts val="0"/>
              </a:spcBef>
              <a:spcAft>
                <a:spcPts val="0"/>
              </a:spcAft>
            </a:pPr>
            <a:r>
              <a:rPr sz="1150" b="0">
                <a:solidFill>
                  <a:srgbClr val="1D2433"/>
                </a:solidFill>
                <a:latin typeface="Malgun Gothic"/>
                <a:ea typeface="Malgun Gothic"/>
                <a:cs typeface="Malgun Gothic"/>
              </a:rPr>
              <a:t>시간 밖이면 ITssue 챗봇에 먼저 접수합니다.</a:t>
            </a:r>
          </a:p>
        </p:txBody>
      </p:sp>
      <p:sp>
        <p:nvSpPr>
          <p:cNvPr id="33" name="TextBox 32"/>
          <p:cNvSpPr txBox="1"/>
          <p:nvPr/>
        </p:nvSpPr>
        <p:spPr>
          <a:xfrm>
            <a:off x="584200" y="3826510"/>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4" name="TextBox 33"/>
          <p:cNvSpPr txBox="1"/>
          <p:nvPr/>
        </p:nvSpPr>
        <p:spPr>
          <a:xfrm>
            <a:off x="838200" y="3826510"/>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 포털 &gt; </a:t>
            </a:r>
            <a:r>
              <a:rPr sz="1150" b="1">
                <a:solidFill>
                  <a:srgbClr val="1D2433"/>
                </a:solidFill>
                <a:latin typeface="Malgun Gothic"/>
                <a:ea typeface="Malgun Gothic"/>
                <a:cs typeface="Malgun Gothic"/>
              </a:rPr>
              <a:t>[장비 분실 신고]</a:t>
            </a:r>
            <a:r>
              <a:rPr sz="1150" b="0">
                <a:solidFill>
                  <a:srgbClr val="1D2433"/>
                </a:solidFill>
                <a:latin typeface="Malgun Gothic"/>
                <a:ea typeface="Malgun Gothic"/>
                <a:cs typeface="Malgun Gothic"/>
              </a:rPr>
              <a:t> 에 분실 시각·장소·설치된 회사 앱을</a:t>
            </a:r>
          </a:p>
          <a:p>
            <a:pPr algn="l">
              <a:lnSpc>
                <a:spcPts val="1632"/>
              </a:lnSpc>
              <a:spcBef>
                <a:spcPts val="0"/>
              </a:spcBef>
              <a:spcAft>
                <a:spcPts val="0"/>
              </a:spcAft>
            </a:pPr>
            <a:r>
              <a:rPr sz="1150" b="0">
                <a:solidFill>
                  <a:srgbClr val="1D2433"/>
                </a:solidFill>
                <a:latin typeface="Malgun Gothic"/>
                <a:ea typeface="Malgun Gothic"/>
                <a:cs typeface="Malgun Gothic"/>
              </a:rPr>
              <a:t>적어 </a:t>
            </a:r>
            <a:r>
              <a:rPr sz="1150" b="1">
                <a:solidFill>
                  <a:srgbClr val="1D2433"/>
                </a:solidFill>
                <a:latin typeface="Malgun Gothic"/>
                <a:ea typeface="Malgun Gothic"/>
                <a:cs typeface="Malgun Gothic"/>
              </a:rPr>
              <a:t>[신고]</a:t>
            </a:r>
            <a:r>
              <a:rPr sz="1150" b="0">
                <a:solidFill>
                  <a:srgbClr val="1D2433"/>
                </a:solidFill>
                <a:latin typeface="Malgun Gothic"/>
                <a:ea typeface="Malgun Gothic"/>
                <a:cs typeface="Malgun Gothic"/>
              </a:rPr>
              <a:t> 합니다.</a:t>
            </a:r>
          </a:p>
        </p:txBody>
      </p:sp>
      <p:sp>
        <p:nvSpPr>
          <p:cNvPr id="35" name="TextBox 34"/>
          <p:cNvSpPr txBox="1"/>
          <p:nvPr/>
        </p:nvSpPr>
        <p:spPr>
          <a:xfrm>
            <a:off x="584200" y="4273042"/>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6" name="TextBox 35"/>
          <p:cNvSpPr txBox="1"/>
          <p:nvPr/>
        </p:nvSpPr>
        <p:spPr>
          <a:xfrm>
            <a:off x="838200" y="4273042"/>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정보보안팀이 인증 앱 등록을 해제하고 회사 앱의 로그인을 끊습니다.</a:t>
            </a:r>
          </a:p>
        </p:txBody>
      </p:sp>
      <p:sp>
        <p:nvSpPr>
          <p:cNvPr id="37" name="TextBox 36"/>
          <p:cNvSpPr txBox="1"/>
          <p:nvPr/>
        </p:nvSpPr>
        <p:spPr>
          <a:xfrm>
            <a:off x="584200" y="4512183"/>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8" name="TextBox 37"/>
          <p:cNvSpPr txBox="1"/>
          <p:nvPr/>
        </p:nvSpPr>
        <p:spPr>
          <a:xfrm>
            <a:off x="838200" y="4512183"/>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개인 휴대폰이면 통신사에도 분실 신고를 합니다.</a:t>
            </a:r>
          </a:p>
        </p:txBody>
      </p:sp>
      <p:sp>
        <p:nvSpPr>
          <p:cNvPr id="39" name="TextBox 38"/>
          <p:cNvSpPr txBox="1"/>
          <p:nvPr/>
        </p:nvSpPr>
        <p:spPr>
          <a:xfrm>
            <a:off x="584200" y="4751324"/>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⑤</a:t>
            </a:r>
          </a:p>
        </p:txBody>
      </p:sp>
      <p:sp>
        <p:nvSpPr>
          <p:cNvPr id="40" name="TextBox 39"/>
          <p:cNvSpPr txBox="1"/>
          <p:nvPr/>
        </p:nvSpPr>
        <p:spPr>
          <a:xfrm>
            <a:off x="838200" y="4751324"/>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새 휴대폰의 인증 앱 등록은 본인 확인 뒤 진행합니다. 회사 지급</a:t>
            </a:r>
          </a:p>
          <a:p>
            <a:pPr algn="l">
              <a:lnSpc>
                <a:spcPts val="1632"/>
              </a:lnSpc>
              <a:spcBef>
                <a:spcPts val="0"/>
              </a:spcBef>
              <a:spcAft>
                <a:spcPts val="0"/>
              </a:spcAft>
            </a:pPr>
            <a:r>
              <a:rPr sz="1150" b="0">
                <a:solidFill>
                  <a:srgbClr val="1D2433"/>
                </a:solidFill>
                <a:latin typeface="Malgun Gothic"/>
                <a:ea typeface="Malgun Gothic"/>
                <a:cs typeface="Malgun Gothic"/>
              </a:rPr>
              <a:t>휴대폰이면 분실 경위서를 작성합니다.</a:t>
            </a:r>
          </a:p>
        </p:txBody>
      </p:sp>
      <p:sp>
        <p:nvSpPr>
          <p:cNvPr id="41" name="Rectangle 40"/>
          <p:cNvSpPr/>
          <p:nvPr/>
        </p:nvSpPr>
        <p:spPr>
          <a:xfrm>
            <a:off x="6537080" y="3379978"/>
            <a:ext cx="4417296" cy="271348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sec003_36_phone.png"/>
          <p:cNvPicPr>
            <a:picLocks noChangeAspect="1"/>
          </p:cNvPicPr>
          <p:nvPr/>
        </p:nvPicPr>
        <p:blipFill>
          <a:blip r:embed="rId2"/>
          <a:stretch>
            <a:fillRect/>
          </a:stretch>
        </p:blipFill>
        <p:spPr>
          <a:xfrm>
            <a:off x="6537080" y="3379978"/>
            <a:ext cx="4417296" cy="2713482"/>
          </a:xfrm>
          <a:prstGeom prst="rect">
            <a:avLst/>
          </a:prstGeom>
        </p:spPr>
      </p:pic>
      <p:sp>
        <p:nvSpPr>
          <p:cNvPr id="43" name="TextBox 42"/>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3.6-1. 정보보안 포털 분실 신고: ① 분실 시각·장소 ② [신고]</a:t>
            </a:r>
          </a:p>
        </p:txBody>
      </p:sp>
      <p:sp>
        <p:nvSpPr>
          <p:cNvPr id="44" name="TextBox 4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45" name="TextBox 4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21 / 33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3.6 인증 앱·회사 앱이 설치된 휴대폰을 잃어버렸을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분실 휴대폰의 인증 앱이 해제되고, 새 휴대폰으로</a:t>
            </a:r>
          </a:p>
          <a:p>
            <a:pPr algn="l">
              <a:lnSpc>
                <a:spcPts val="1562"/>
              </a:lnSpc>
              <a:spcBef>
                <a:spcPts val="0"/>
              </a:spcBef>
              <a:spcAft>
                <a:spcPts val="0"/>
              </a:spcAft>
            </a:pPr>
            <a:r>
              <a:rPr sz="1100" b="0">
                <a:solidFill>
                  <a:srgbClr val="1D2433"/>
                </a:solidFill>
                <a:latin typeface="Malgun Gothic"/>
                <a:ea typeface="Malgun Gothic"/>
                <a:cs typeface="Malgun Gothic"/>
              </a:rPr>
              <a:t>인증할 수 있게 되면 끝난 것입니다.</a:t>
            </a:r>
          </a:p>
        </p:txBody>
      </p:sp>
      <p:sp>
        <p:nvSpPr>
          <p:cNvPr id="11" name="Rectangle 10"/>
          <p:cNvSpPr/>
          <p:nvPr/>
        </p:nvSpPr>
        <p:spPr>
          <a:xfrm>
            <a:off x="4309533"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분실 뒤 내가 하지 않은 로그인 알림이 오면 3.1을</a:t>
            </a:r>
          </a:p>
          <a:p>
            <a:pPr algn="l">
              <a:lnSpc>
                <a:spcPts val="1562"/>
              </a:lnSpc>
              <a:spcBef>
                <a:spcPts val="0"/>
              </a:spcBef>
              <a:spcAft>
                <a:spcPts val="0"/>
              </a:spcAft>
            </a:pPr>
            <a:r>
              <a:rPr sz="1100" b="0">
                <a:solidFill>
                  <a:srgbClr val="1D2433"/>
                </a:solidFill>
                <a:latin typeface="Malgun Gothic"/>
                <a:ea typeface="Malgun Gothic"/>
                <a:cs typeface="Malgun Gothic"/>
              </a:rPr>
              <a:t>따릅니다.</a:t>
            </a:r>
          </a:p>
        </p:txBody>
      </p:sp>
      <p:sp>
        <p:nvSpPr>
          <p:cNvPr id="16" name="TextBox 15"/>
          <p:cNvSpPr txBox="1"/>
          <p:nvPr/>
        </p:nvSpPr>
        <p:spPr>
          <a:xfrm>
            <a:off x="4436533"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휴대폰을 찾았어도 바로 쓰지 말고 서비스데스크에</a:t>
            </a:r>
          </a:p>
          <a:p>
            <a:pPr algn="l">
              <a:lnSpc>
                <a:spcPts val="1562"/>
              </a:lnSpc>
              <a:spcBef>
                <a:spcPts val="0"/>
              </a:spcBef>
              <a:spcAft>
                <a:spcPts val="0"/>
              </a:spcAft>
            </a:pPr>
            <a:r>
              <a:rPr sz="1100" b="0">
                <a:solidFill>
                  <a:srgbClr val="1D2433"/>
                </a:solidFill>
                <a:latin typeface="Malgun Gothic"/>
                <a:ea typeface="Malgun Gothic"/>
                <a:cs typeface="Malgun Gothic"/>
              </a:rPr>
              <a:t>알립니다. 인증 앱은 다시 등록해야 합니다.</a:t>
            </a:r>
          </a:p>
        </p:txBody>
      </p:sp>
      <p:sp>
        <p:nvSpPr>
          <p:cNvPr id="18" name="Rectangle 17"/>
          <p:cNvSpPr/>
          <p:nvPr/>
        </p:nvSpPr>
        <p:spPr>
          <a:xfrm>
            <a:off x="8034867"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사번</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분실 시각·장소</a:t>
            </a:r>
          </a:p>
        </p:txBody>
      </p:sp>
      <p:sp>
        <p:nvSpPr>
          <p:cNvPr id="25" name="TextBox 24"/>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설치된 회사 앱 (인증 앱·메일·메신저)</a:t>
            </a:r>
          </a:p>
        </p:txBody>
      </p:sp>
      <p:sp>
        <p:nvSpPr>
          <p:cNvPr id="27" name="TextBox 26"/>
          <p:cNvSpPr txBox="1"/>
          <p:nvPr/>
        </p:nvSpPr>
        <p:spPr>
          <a:xfrm>
            <a:off x="8161867" y="22884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2884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휴대폰 잠금(비밀번호·생체 인증)을 걸어 두었는지</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22 / 33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3.7 업무 노트북 등 회사 장비를 잃어버렸을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352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112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SEC-08</a:t>
            </a:r>
          </a:p>
        </p:txBody>
      </p:sp>
      <p:sp>
        <p:nvSpPr>
          <p:cNvPr id="10" name="Rectangle 9"/>
          <p:cNvSpPr/>
          <p:nvPr/>
        </p:nvSpPr>
        <p:spPr>
          <a:xfrm>
            <a:off x="186277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3897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67818" y="1168400"/>
            <a:ext cx="992287" cy="292100"/>
          </a:xfrm>
          <a:prstGeom prst="rect">
            <a:avLst/>
          </a:prstGeom>
          <a:solidFill>
            <a:srgbClr val="FBE3DC"/>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4018" y="1219200"/>
            <a:ext cx="83988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B8430E"/>
                </a:solidFill>
                <a:latin typeface="Malgun Gothic"/>
                <a:ea typeface="Malgun Gothic"/>
                <a:cs typeface="Malgun Gothic"/>
              </a:rPr>
              <a:t>즉시 신고·이관</a:t>
            </a:r>
          </a:p>
        </p:txBody>
      </p:sp>
      <p:sp>
        <p:nvSpPr>
          <p:cNvPr id="14" name="Rectangle 13"/>
          <p:cNvSpPr/>
          <p:nvPr/>
        </p:nvSpPr>
        <p:spPr>
          <a:xfrm>
            <a:off x="356010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630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5154" y="1168400"/>
            <a:ext cx="787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1354" y="1219200"/>
            <a:ext cx="635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정보보안팀</a:t>
            </a:r>
          </a:p>
        </p:txBody>
      </p:sp>
      <p:sp>
        <p:nvSpPr>
          <p:cNvPr id="18" name="Rectangle 17"/>
          <p:cNvSpPr/>
          <p:nvPr/>
        </p:nvSpPr>
        <p:spPr>
          <a:xfrm>
            <a:off x="5052554"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28754"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0" name="Rectangle 19"/>
          <p:cNvSpPr/>
          <p:nvPr/>
        </p:nvSpPr>
        <p:spPr>
          <a:xfrm>
            <a:off x="575816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3436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FAQ-039</a:t>
            </a:r>
          </a:p>
        </p:txBody>
      </p:sp>
      <p:sp>
        <p:nvSpPr>
          <p:cNvPr id="22" name="TextBox 21"/>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23" name="TextBox 22"/>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출장길에 업무 노트북을 잃어버렸습니다.</a:t>
            </a:r>
          </a:p>
        </p:txBody>
      </p:sp>
      <p:sp>
        <p:nvSpPr>
          <p:cNvPr id="25" name="TextBox 24"/>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6" name="TextBox 25"/>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택시에 노트북 가방을 두고 내렸습니다.</a:t>
            </a:r>
          </a:p>
        </p:txBody>
      </p:sp>
      <p:sp>
        <p:nvSpPr>
          <p:cNvPr id="27" name="TextBox 26"/>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8" name="TextBox 27"/>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9" name="TextBox 28"/>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잃어버린 장비에 저장된 자료와 자동 로그인으로 다른 사람이 회사 시스템에 접근할 수 있습니다.</a:t>
            </a:r>
          </a:p>
        </p:txBody>
      </p:sp>
      <p:sp>
        <p:nvSpPr>
          <p:cNvPr id="30" name="TextBox 29"/>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31" name="TextBox 30"/>
          <p:cNvSpPr txBox="1"/>
          <p:nvPr/>
        </p:nvSpPr>
        <p:spPr>
          <a:xfrm>
            <a:off x="584200" y="3379978"/>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2" name="TextBox 31"/>
          <p:cNvSpPr txBox="1"/>
          <p:nvPr/>
        </p:nvSpPr>
        <p:spPr>
          <a:xfrm>
            <a:off x="838200" y="3379978"/>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정보보안팀(내선 1119)과 서비스데스크(내선 1000)에 바로 알립니다. 업무</a:t>
            </a:r>
          </a:p>
          <a:p>
            <a:pPr algn="l">
              <a:lnSpc>
                <a:spcPts val="1632"/>
              </a:lnSpc>
              <a:spcBef>
                <a:spcPts val="0"/>
              </a:spcBef>
              <a:spcAft>
                <a:spcPts val="0"/>
              </a:spcAft>
            </a:pPr>
            <a:r>
              <a:rPr sz="1150" b="0">
                <a:solidFill>
                  <a:srgbClr val="1D2433"/>
                </a:solidFill>
                <a:latin typeface="Malgun Gothic"/>
                <a:ea typeface="Malgun Gothic"/>
                <a:cs typeface="Malgun Gothic"/>
              </a:rPr>
              <a:t>시간 밖이면 ITssue 챗봇에 접수합니다.</a:t>
            </a:r>
          </a:p>
        </p:txBody>
      </p:sp>
      <p:sp>
        <p:nvSpPr>
          <p:cNvPr id="33" name="TextBox 32"/>
          <p:cNvSpPr txBox="1"/>
          <p:nvPr/>
        </p:nvSpPr>
        <p:spPr>
          <a:xfrm>
            <a:off x="584200" y="3826510"/>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4" name="TextBox 33"/>
          <p:cNvSpPr txBox="1"/>
          <p:nvPr/>
        </p:nvSpPr>
        <p:spPr>
          <a:xfrm>
            <a:off x="838200" y="3826510"/>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 포털 &gt; </a:t>
            </a:r>
            <a:r>
              <a:rPr sz="1150" b="1">
                <a:solidFill>
                  <a:srgbClr val="1D2433"/>
                </a:solidFill>
                <a:latin typeface="Malgun Gothic"/>
                <a:ea typeface="Malgun Gothic"/>
                <a:cs typeface="Malgun Gothic"/>
              </a:rPr>
              <a:t>[장비 분실 신고]</a:t>
            </a:r>
            <a:r>
              <a:rPr sz="1150" b="0">
                <a:solidFill>
                  <a:srgbClr val="1D2433"/>
                </a:solidFill>
                <a:latin typeface="Malgun Gothic"/>
                <a:ea typeface="Malgun Gothic"/>
                <a:cs typeface="Malgun Gothic"/>
              </a:rPr>
              <a:t> 에 분실 시각·장소, 저장된 자료를 적어</a:t>
            </a:r>
          </a:p>
          <a:p>
            <a:pPr algn="l">
              <a:lnSpc>
                <a:spcPts val="1632"/>
              </a:lnSpc>
              <a:spcBef>
                <a:spcPts val="0"/>
              </a:spcBef>
              <a:spcAft>
                <a:spcPts val="0"/>
              </a:spcAft>
            </a:pPr>
            <a:r>
              <a:rPr sz="1150" b="1">
                <a:solidFill>
                  <a:srgbClr val="1D2433"/>
                </a:solidFill>
                <a:latin typeface="Malgun Gothic"/>
                <a:ea typeface="Malgun Gothic"/>
                <a:cs typeface="Malgun Gothic"/>
              </a:rPr>
              <a:t>[신고]</a:t>
            </a:r>
            <a:r>
              <a:rPr sz="1150" b="0">
                <a:solidFill>
                  <a:srgbClr val="1D2433"/>
                </a:solidFill>
                <a:latin typeface="Malgun Gothic"/>
                <a:ea typeface="Malgun Gothic"/>
                <a:cs typeface="Malgun Gothic"/>
              </a:rPr>
              <a:t> 합니다.</a:t>
            </a:r>
          </a:p>
        </p:txBody>
      </p:sp>
      <p:sp>
        <p:nvSpPr>
          <p:cNvPr id="35" name="TextBox 34"/>
          <p:cNvSpPr txBox="1"/>
          <p:nvPr/>
        </p:nvSpPr>
        <p:spPr>
          <a:xfrm>
            <a:off x="584200" y="4273042"/>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6" name="TextBox 35"/>
          <p:cNvSpPr txBox="1"/>
          <p:nvPr/>
        </p:nvSpPr>
        <p:spPr>
          <a:xfrm>
            <a:off x="838200" y="4273042"/>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정보보안팀이 원격 잠금을 하고, 필요하면 원격 초기화합니다. 로그인도</a:t>
            </a:r>
          </a:p>
          <a:p>
            <a:pPr algn="l">
              <a:lnSpc>
                <a:spcPts val="1632"/>
              </a:lnSpc>
              <a:spcBef>
                <a:spcPts val="0"/>
              </a:spcBef>
              <a:spcAft>
                <a:spcPts val="0"/>
              </a:spcAft>
            </a:pPr>
            <a:r>
              <a:rPr sz="1150" b="0">
                <a:solidFill>
                  <a:srgbClr val="1D2433"/>
                </a:solidFill>
                <a:latin typeface="Malgun Gothic"/>
                <a:ea typeface="Malgun Gothic"/>
                <a:cs typeface="Malgun Gothic"/>
              </a:rPr>
              <a:t>모두 끊습니다.</a:t>
            </a:r>
          </a:p>
        </p:txBody>
      </p:sp>
      <p:sp>
        <p:nvSpPr>
          <p:cNvPr id="37" name="TextBox 36"/>
          <p:cNvSpPr txBox="1"/>
          <p:nvPr/>
        </p:nvSpPr>
        <p:spPr>
          <a:xfrm>
            <a:off x="584200" y="4719574"/>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8" name="TextBox 37"/>
          <p:cNvSpPr txBox="1"/>
          <p:nvPr/>
        </p:nvSpPr>
        <p:spPr>
          <a:xfrm>
            <a:off x="838200" y="4719574"/>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안내에 따라 비밀번호를 바꾸고 분실 경위서를 작성합니다.</a:t>
            </a:r>
          </a:p>
        </p:txBody>
      </p:sp>
      <p:sp>
        <p:nvSpPr>
          <p:cNvPr id="39" name="TextBox 38"/>
          <p:cNvSpPr txBox="1"/>
          <p:nvPr/>
        </p:nvSpPr>
        <p:spPr>
          <a:xfrm>
            <a:off x="584200" y="4958715"/>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⑤</a:t>
            </a:r>
          </a:p>
        </p:txBody>
      </p:sp>
      <p:sp>
        <p:nvSpPr>
          <p:cNvPr id="40" name="TextBox 39"/>
          <p:cNvSpPr txBox="1"/>
          <p:nvPr/>
        </p:nvSpPr>
        <p:spPr>
          <a:xfrm>
            <a:off x="838200" y="4958715"/>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대체 장비는 엔드포인트지원팀이 안내합니다 (IT-HW-002).</a:t>
            </a:r>
          </a:p>
        </p:txBody>
      </p:sp>
      <p:sp>
        <p:nvSpPr>
          <p:cNvPr id="41" name="Rectangle 40"/>
          <p:cNvSpPr/>
          <p:nvPr/>
        </p:nvSpPr>
        <p:spPr>
          <a:xfrm>
            <a:off x="6537080" y="3379978"/>
            <a:ext cx="4417296" cy="271348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sec003_37_laptop.png"/>
          <p:cNvPicPr>
            <a:picLocks noChangeAspect="1"/>
          </p:cNvPicPr>
          <p:nvPr/>
        </p:nvPicPr>
        <p:blipFill>
          <a:blip r:embed="rId2"/>
          <a:stretch>
            <a:fillRect/>
          </a:stretch>
        </p:blipFill>
        <p:spPr>
          <a:xfrm>
            <a:off x="6537080" y="3379978"/>
            <a:ext cx="4417296" cy="2713482"/>
          </a:xfrm>
          <a:prstGeom prst="rect">
            <a:avLst/>
          </a:prstGeom>
        </p:spPr>
      </p:pic>
      <p:sp>
        <p:nvSpPr>
          <p:cNvPr id="43" name="TextBox 42"/>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3.7-1. 정보보안 포털 분실 신고: ① 분실 시각·장소 ② [신고]</a:t>
            </a:r>
          </a:p>
        </p:txBody>
      </p:sp>
      <p:sp>
        <p:nvSpPr>
          <p:cNvPr id="44" name="TextBox 4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45" name="TextBox 4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23 / 33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3.7 업무 노트북 등 회사 장비를 잃어버렸을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원격 잠금이 끝났다는 알림을 받고, 분실 경위서를</a:t>
            </a:r>
          </a:p>
          <a:p>
            <a:pPr algn="l">
              <a:lnSpc>
                <a:spcPts val="1562"/>
              </a:lnSpc>
              <a:spcBef>
                <a:spcPts val="0"/>
              </a:spcBef>
              <a:spcAft>
                <a:spcPts val="0"/>
              </a:spcAft>
            </a:pPr>
            <a:r>
              <a:rPr sz="1100" b="0">
                <a:solidFill>
                  <a:srgbClr val="1D2433"/>
                </a:solidFill>
                <a:latin typeface="Malgun Gothic"/>
                <a:ea typeface="Malgun Gothic"/>
                <a:cs typeface="Malgun Gothic"/>
              </a:rPr>
              <a:t>내고, 대체 장비를 받으면 끝난 것입니다.</a:t>
            </a:r>
          </a:p>
        </p:txBody>
      </p:sp>
      <p:sp>
        <p:nvSpPr>
          <p:cNvPr id="11" name="Rectangle 10"/>
          <p:cNvSpPr/>
          <p:nvPr/>
        </p:nvSpPr>
        <p:spPr>
          <a:xfrm>
            <a:off x="4309533"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장비를 찾았으면 켜지 말고 서비스데스크에 가져와</a:t>
            </a:r>
          </a:p>
          <a:p>
            <a:pPr algn="l">
              <a:lnSpc>
                <a:spcPts val="1562"/>
              </a:lnSpc>
              <a:spcBef>
                <a:spcPts val="0"/>
              </a:spcBef>
              <a:spcAft>
                <a:spcPts val="0"/>
              </a:spcAft>
            </a:pPr>
            <a:r>
              <a:rPr sz="1100" b="0">
                <a:solidFill>
                  <a:srgbClr val="1D2433"/>
                </a:solidFill>
                <a:latin typeface="Malgun Gothic"/>
                <a:ea typeface="Malgun Gothic"/>
                <a:cs typeface="Malgun Gothic"/>
              </a:rPr>
              <a:t>점검을 받은 뒤 씁니다.</a:t>
            </a:r>
          </a:p>
        </p:txBody>
      </p:sp>
      <p:sp>
        <p:nvSpPr>
          <p:cNvPr id="16" name="TextBox 15"/>
          <p:cNvSpPr txBox="1"/>
          <p:nvPr/>
        </p:nvSpPr>
        <p:spPr>
          <a:xfrm>
            <a:off x="4436533"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고객 자료가 들어 있었다면 자료 종류를</a:t>
            </a:r>
          </a:p>
          <a:p>
            <a:pPr algn="l">
              <a:lnSpc>
                <a:spcPts val="1562"/>
              </a:lnSpc>
              <a:spcBef>
                <a:spcPts val="0"/>
              </a:spcBef>
              <a:spcAft>
                <a:spcPts val="0"/>
              </a:spcAft>
            </a:pPr>
            <a:r>
              <a:rPr sz="1100" b="0">
                <a:solidFill>
                  <a:srgbClr val="1D2433"/>
                </a:solidFill>
                <a:latin typeface="Malgun Gothic"/>
                <a:ea typeface="Malgun Gothic"/>
                <a:cs typeface="Malgun Gothic"/>
              </a:rPr>
              <a:t>정보보안팀에 꼭 알립니다.</a:t>
            </a:r>
          </a:p>
        </p:txBody>
      </p:sp>
      <p:sp>
        <p:nvSpPr>
          <p:cNvPr id="18" name="Rectangle 17"/>
          <p:cNvSpPr/>
          <p:nvPr/>
        </p:nvSpPr>
        <p:spPr>
          <a:xfrm>
            <a:off x="8034867"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사번과 장비 이름(관리 번호)</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분실 시각·장소, 마지막 사용 시각</a:t>
            </a:r>
          </a:p>
        </p:txBody>
      </p:sp>
      <p:sp>
        <p:nvSpPr>
          <p:cNvPr id="25" name="TextBox 24"/>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저장된 자료 (고객 자료·개인정보 포함 여부)</a:t>
            </a:r>
          </a:p>
        </p:txBody>
      </p:sp>
      <p:sp>
        <p:nvSpPr>
          <p:cNvPr id="27" name="TextBox 26"/>
          <p:cNvSpPr txBox="1"/>
          <p:nvPr/>
        </p:nvSpPr>
        <p:spPr>
          <a:xfrm>
            <a:off x="8161867" y="22884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2884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VPN·메일 자동 로그인을 썼는지</a:t>
            </a:r>
          </a:p>
        </p:txBody>
      </p:sp>
      <p:sp>
        <p:nvSpPr>
          <p:cNvPr id="29" name="Rectangle 28"/>
          <p:cNvSpPr/>
          <p:nvPr/>
        </p:nvSpPr>
        <p:spPr>
          <a:xfrm>
            <a:off x="584200" y="2753487"/>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11200" y="285508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잃어버렸으면 반납·교체 신청이 아니라 분실 신고를 먼저 합니다</a:t>
            </a:r>
          </a:p>
        </p:txBody>
      </p:sp>
      <p:sp>
        <p:nvSpPr>
          <p:cNvPr id="31" name="TextBox 30"/>
          <p:cNvSpPr txBox="1"/>
          <p:nvPr/>
        </p:nvSpPr>
        <p:spPr>
          <a:xfrm>
            <a:off x="711200" y="3091561"/>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신고가 늦을수록 원격 잠금 전에 접근될 위험이 커집니다.</a:t>
            </a:r>
          </a:p>
        </p:txBody>
      </p:sp>
      <p:sp>
        <p:nvSpPr>
          <p:cNvPr id="32" name="TextBox 3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33" name="TextBox 3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24 / 33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04</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자주 묻는 질문</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IT-SEC-003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25 / 33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자주 묻는 질문</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04. 자주 묻는 질문</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1625600"/>
        </p:xfrm>
        <a:graphic>
          <a:graphicData uri="http://schemas.openxmlformats.org/drawingml/2006/table">
            <a:tbl>
              <a:tblPr firstRow="0" bandRow="0">
                <a:tableStyleId>{5940675A-B579-460E-94D1-54222C63F5DA}</a:tableStyleId>
              </a:tblPr>
              <a:tblGrid>
                <a:gridCol w="3674533"/>
                <a:gridCol w="73490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질문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답변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내가 하지 않은 로그인 알림을 받았어요. (FAQ-005)</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즉시 비밀번호를 변경하고 정보보안팀(내선 1119)으로 신고하세요. 해외 출장 중이라면 출장 전 '해외 접속 사전 등록'을 하면</a:t>
                      </a:r>
                    </a:p>
                    <a:p>
                      <a:pPr algn="l">
                        <a:lnSpc>
                          <a:spcPts val="1300"/>
                        </a:lnSpc>
                        <a:spcBef>
                          <a:spcPts val="0"/>
                        </a:spcBef>
                        <a:spcAft>
                          <a:spcPts val="0"/>
                        </a:spcAft>
                      </a:pPr>
                      <a:r>
                        <a:rPr sz="1000" b="0">
                          <a:solidFill>
                            <a:srgbClr val="1D2433"/>
                          </a:solidFill>
                          <a:latin typeface="Malgun Gothic"/>
                          <a:ea typeface="Malgun Gothic"/>
                          <a:cs typeface="Malgun Gothic"/>
                        </a:rPr>
                        <a:t>추가 인증이 줄어듭니다.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장비를 분실했어요. (FAQ-039)</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즉시 서비스데스크와 정보보안팀에 신고하세요. 원격 잠금·초기화를 진행하며 분실 경위서 작성이 필요합니다.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비밀번호를 이미 바꿨는데도 신고해야 하나요?</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네. 이미 로그인된 세션은 비밀번호를 바꿔도 남아 있을 수 있습니다. 정보보안팀이 로그인 기록을 확인하고 세션을 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서버의 무단 접근을 이미 막았는데 알려야 하나요?</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네. 막기 전에 무엇이 나갔는지 확인해야 합니다. 이미 한 조치와 시각을 함께 알려 주세요 (3.5).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26 / 33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05</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주의사항</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IT-SEC-003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27 / 33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주의사항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05. 주의사항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11023600" cy="1034796"/>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11200" y="127000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꼭 지켜 주세요</a:t>
            </a:r>
          </a:p>
        </p:txBody>
      </p:sp>
      <p:sp>
        <p:nvSpPr>
          <p:cNvPr id="8" name="TextBox 7"/>
          <p:cNvSpPr txBox="1"/>
          <p:nvPr/>
        </p:nvSpPr>
        <p:spPr>
          <a:xfrm>
            <a:off x="711200" y="1506474"/>
            <a:ext cx="10769600"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계정 도용·무단 접근·장비 분실은 혼자 해결하지 말고 바로 신고합니다.</a:t>
            </a:r>
          </a:p>
          <a:p>
            <a:pPr algn="l">
              <a:lnSpc>
                <a:spcPts val="1562"/>
              </a:lnSpc>
              <a:spcBef>
                <a:spcPts val="0"/>
              </a:spcBef>
              <a:spcAft>
                <a:spcPts val="0"/>
              </a:spcAft>
            </a:pPr>
            <a:r>
              <a:rPr sz="1100" b="0">
                <a:solidFill>
                  <a:srgbClr val="1D2433"/>
                </a:solidFill>
                <a:latin typeface="Malgun Gothic"/>
                <a:ea typeface="Malgun Gothic"/>
                <a:cs typeface="Malgun Gothic"/>
              </a:rPr>
              <a:t>로그·알림·서버 상태 같은 증거를 지우거나 재시작하지 않습니다.</a:t>
            </a:r>
          </a:p>
          <a:p>
            <a:pPr algn="l">
              <a:lnSpc>
                <a:spcPts val="1562"/>
              </a:lnSpc>
              <a:spcBef>
                <a:spcPts val="0"/>
              </a:spcBef>
              <a:spcAft>
                <a:spcPts val="0"/>
              </a:spcAft>
            </a:pPr>
            <a:r>
              <a:rPr sz="1100" b="0">
                <a:solidFill>
                  <a:srgbClr val="1D2433"/>
                </a:solidFill>
                <a:latin typeface="Malgun Gothic"/>
                <a:ea typeface="Malgun Gothic"/>
                <a:cs typeface="Malgun Gothic"/>
              </a:rPr>
              <a:t>요청하지 않은 인증 알림은 승인하지 않습니다.</a:t>
            </a:r>
          </a:p>
        </p:txBody>
      </p:sp>
      <p:sp>
        <p:nvSpPr>
          <p:cNvPr id="9" name="TextBox 8"/>
          <p:cNvSpPr txBox="1"/>
          <p:nvPr/>
        </p:nvSpPr>
        <p:spPr>
          <a:xfrm>
            <a:off x="635000" y="230479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0" name="TextBox 9"/>
          <p:cNvSpPr txBox="1"/>
          <p:nvPr/>
        </p:nvSpPr>
        <p:spPr>
          <a:xfrm>
            <a:off x="838200" y="230479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회사 계정과 같은 비밀번호를 다른 사이트에 쓰지 않습니다.</a:t>
            </a:r>
          </a:p>
        </p:txBody>
      </p:sp>
      <p:sp>
        <p:nvSpPr>
          <p:cNvPr id="11" name="TextBox 10"/>
          <p:cNvSpPr txBox="1"/>
          <p:nvPr/>
        </p:nvSpPr>
        <p:spPr>
          <a:xfrm>
            <a:off x="635000" y="254393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2" name="TextBox 11"/>
          <p:cNvSpPr txBox="1"/>
          <p:nvPr/>
        </p:nvSpPr>
        <p:spPr>
          <a:xfrm>
            <a:off x="838200" y="254393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휴대폰과 노트북에는 화면 잠금을 걸어 둡니다.</a:t>
            </a:r>
          </a:p>
        </p:txBody>
      </p:sp>
      <p:sp>
        <p:nvSpPr>
          <p:cNvPr id="13" name="TextBox 12"/>
          <p:cNvSpPr txBox="1"/>
          <p:nvPr/>
        </p:nvSpPr>
        <p:spPr>
          <a:xfrm>
            <a:off x="635000" y="278307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4" name="TextBox 13"/>
          <p:cNvSpPr txBox="1"/>
          <p:nvPr/>
        </p:nvSpPr>
        <p:spPr>
          <a:xfrm>
            <a:off x="838200" y="278307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서버에는 승인된 원격 접속 방법만 씁니다. 원격 제어 프로그램을 따로 설치하지 않습니다.</a:t>
            </a:r>
          </a:p>
        </p:txBody>
      </p:sp>
      <p:sp>
        <p:nvSpPr>
          <p:cNvPr id="15" name="TextBox 14"/>
          <p:cNvSpPr txBox="1"/>
          <p:nvPr/>
        </p:nvSpPr>
        <p:spPr>
          <a:xfrm>
            <a:off x="635000" y="302221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6" name="TextBox 15"/>
          <p:cNvSpPr txBox="1"/>
          <p:nvPr/>
        </p:nvSpPr>
        <p:spPr>
          <a:xfrm>
            <a:off x="838200" y="302221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해외 출장 전에는 해외 접속 사전 등록을 합니다.</a:t>
            </a:r>
          </a:p>
        </p:txBody>
      </p:sp>
      <p:sp>
        <p:nvSpPr>
          <p:cNvPr id="17" name="TextBox 1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18" name="TextBox 1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28 / 33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06</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문의처</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IT-SEC-003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29 / 33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문의처</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06. 문의처</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2209800"/>
        </p:xfrm>
        <a:graphic>
          <a:graphicData uri="http://schemas.openxmlformats.org/drawingml/2006/table">
            <a:tbl>
              <a:tblPr firstRow="0" bandRow="0">
                <a:tableStyleId>{5940675A-B579-460E-94D1-54222C63F5DA}</a:tableStyleId>
              </a:tblPr>
              <a:tblGrid>
                <a:gridCol w="2204720"/>
                <a:gridCol w="3307080"/>
                <a:gridCol w="55118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창구</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연락처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이용 기준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ITssue 챗봇</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IT 포털 상단 [챗봇 문의]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24시간. 모든 IT 문의의 기본 창구입니다. 챗봇이 해결하지 못하면 확인을 거쳐 담당 팀에</a:t>
                      </a:r>
                    </a:p>
                    <a:p>
                      <a:pPr algn="l">
                        <a:lnSpc>
                          <a:spcPts val="1300"/>
                        </a:lnSpc>
                        <a:spcBef>
                          <a:spcPts val="0"/>
                        </a:spcBef>
                        <a:spcAft>
                          <a:spcPts val="0"/>
                        </a:spcAft>
                      </a:pPr>
                      <a:r>
                        <a:rPr sz="1000" b="0">
                          <a:solidFill>
                            <a:srgbClr val="1D2433"/>
                          </a:solidFill>
                          <a:latin typeface="Malgun Gothic"/>
                          <a:ea typeface="Malgun Gothic"/>
                          <a:cs typeface="Malgun Gothic"/>
                        </a:rPr>
                        <a:t>티켓으로 접수합니다.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헬프데스크 (서비스데스크)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1000 (평일 09:00~18:00)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PC나 챗봇을 쓸 수 없을 때, 여러 사람이 함께 업무를 못 할 때, 본인 확인이 필요한 처리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1119</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링크 클릭·비밀번호 입력·감염 의심·계정 도용·장비 분실처럼 바로 알려야 할 보안 문제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메신저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 채널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(챗봇을 쓸 수 없을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it-helpdesk@ict.example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비밀번호·인증번호는 메일로 보내지 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처리 상황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메신저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접수·담당자 배정·처리 완료를 알려 드립니다. 진행 상황은 [내 요청 현황]에서도 봅니다.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30 / 33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558800"/>
          </a:xfrm>
          <a:prstGeom prst="rect">
            <a:avLst/>
          </a:prstGeom>
          <a:noFill/>
        </p:spPr>
        <p:txBody>
          <a:bodyPr wrap="none" lIns="0" rIns="0" tIns="0" bIns="0" anchor="t">
            <a:spAutoFit/>
          </a:bodyPr>
          <a:lstStyle/>
          <a:p>
            <a:pPr algn="l">
              <a:lnSpc>
                <a:spcPts val="4400"/>
              </a:lnSpc>
              <a:spcBef>
                <a:spcPts val="0"/>
              </a:spcBef>
              <a:spcAft>
                <a:spcPts val="0"/>
              </a:spcAft>
            </a:pPr>
            <a:r>
              <a:rPr sz="4000" b="1">
                <a:solidFill>
                  <a:srgbClr val="E8590C"/>
                </a:solidFill>
                <a:latin typeface="Malgun Gothic"/>
                <a:ea typeface="Malgun Gothic"/>
                <a:cs typeface="Malgun Gothic"/>
              </a:rPr>
              <a:t>부록</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관련 문서 · 용어</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IT-SEC-003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31 / 33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관련 문서 · 용어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관련 문서</a:t>
            </a:r>
          </a:p>
        </p:txBody>
      </p:sp>
      <p:graphicFrame>
        <p:nvGraphicFramePr>
          <p:cNvPr id="7" name="Table 6"/>
          <p:cNvGraphicFramePr>
            <a:graphicFrameLocks noGrp="1"/>
          </p:cNvGraphicFramePr>
          <p:nvPr/>
        </p:nvGraphicFramePr>
        <p:xfrm>
          <a:off x="584200" y="1492885"/>
          <a:ext cx="11023600" cy="2044700"/>
        </p:xfrm>
        <a:graphic>
          <a:graphicData uri="http://schemas.openxmlformats.org/drawingml/2006/table">
            <a:tbl>
              <a:tblPr firstRow="0" bandRow="0">
                <a:tableStyleId>{5940675A-B579-460E-94D1-54222C63F5DA}</a:tableStyleId>
              </a:tblPr>
              <a:tblGrid>
                <a:gridCol w="1837267"/>
                <a:gridCol w="4133850"/>
                <a:gridCol w="5052483"/>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 번호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이럴 때 봅니다</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피싱·의심 메일 대응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피싱 화면에 비밀번호를 입력했거나 알림 메일이 의심스러울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IT-ACC-001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SSO 로그인 오류 대응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로그인 오류, 저장된 예전 비밀번호로 잠길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IT-ACC-003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MFA 인증 오류 대응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새 휴대폰에 인증 앱을 다시 등록할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IT-SYS-008</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개발 서버·DB 장애 대응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서버 장애로 업무가 멈췄을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IT-HW-002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 장비 교체·수리 신청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분실 신고 뒤 대체 장비를 받을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IT-STD-001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서비스 운영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긴급도와 처리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3639185"/>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용어</a:t>
            </a:r>
          </a:p>
        </p:txBody>
      </p:sp>
      <p:graphicFrame>
        <p:nvGraphicFramePr>
          <p:cNvPr id="9" name="Table 8"/>
          <p:cNvGraphicFramePr>
            <a:graphicFrameLocks noGrp="1"/>
          </p:cNvGraphicFramePr>
          <p:nvPr/>
        </p:nvGraphicFramePr>
        <p:xfrm>
          <a:off x="584200" y="3963670"/>
          <a:ext cx="11023600" cy="2044700"/>
        </p:xfrm>
        <a:graphic>
          <a:graphicData uri="http://schemas.openxmlformats.org/drawingml/2006/table">
            <a:tbl>
              <a:tblPr firstRow="0" bandRow="0">
                <a:tableStyleId>{5940675A-B579-460E-94D1-54222C63F5DA}</a:tableStyleId>
              </a:tblPr>
              <a:tblGrid>
                <a:gridCol w="2755900"/>
                <a:gridCol w="82677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용어</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설명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세션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로그인한 상태. 비밀번호를 바꿔도 이미 로그인된 세션은 남을 수 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MFA (추가 인증)</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비밀번호 다음에 인증 앱 승인·인증번호로 한 번 더 확인하는 것</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OTP</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인증 앱에 30초마다 바뀌어 나오는 일회용 인증번호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해외 접속 사전 등록</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출장 기간·국가를 미리 등록해 해외 로그인의 추가 인증을 줄이는 절차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원격 잠금</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잃어버린 장비가 네트워크에 연결되면 쓸 수 없게 잠그는 것</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분실 경위서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장비를 잃어버린 시각·장소·경위를 적어 내는 문서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0" name="TextBox 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11" name="TextBox 1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32 /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개정 이력</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876300"/>
        </p:xfrm>
        <a:graphic>
          <a:graphicData uri="http://schemas.openxmlformats.org/drawingml/2006/table">
            <a:tbl>
              <a:tblPr firstRow="0" bandRow="0">
                <a:tableStyleId>{5940675A-B579-460E-94D1-54222C63F5DA}</a:tableStyleId>
              </a:tblPr>
              <a:tblGrid>
                <a:gridCol w="1002145"/>
                <a:gridCol w="1403004"/>
                <a:gridCol w="1603433"/>
                <a:gridCol w="7015018"/>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버전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개정일</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작성자</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변경 내용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v1.0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2026-03-01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최초 작성</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7개 분류 통합 정리본. 문서 양식·열람 등급·용어·연락처를 통일하고 분류 사이의 중복 내용을 한 문서로 정리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IT-SEC-003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33 / 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IT-SEC-003 계정 도용·장비 분실 신고 가이드</dc:title>
  <dc:subject>사내 일반 · 전 임직원</dc:subject>
  <dc:creator>정보보안팀</dc:creator>
  <cp:keywords>계정 도용, 내가 하지 않은 로그인, 새로운 위치에서 로그인, 해외 로그인 알림, 로그인 시도 알림, MFA 알림, 인증 알림, 실수로 승인, 해외 출장, 해외 접속 사전 등록, 추가 인증 반복, 계정 잠김 반복, 비밀번호가 바뀜, 무단 접근, 침해 의심, 무단 조회 기록, 서버 무단 로그인, 데이터 외부 전송, DB 외부 노출, 휴대폰 분실, 노트북 분실, 장비 분실, 원격 잠금, 분실 경위서</cp:keywords>
  <dc:description>generated using python-pptx</dc:description>
  <cp:lastModifiedBy>정보보안팀</cp:lastModifiedBy>
  <cp:revision>1</cp:revision>
  <dcterms:created xsi:type="dcterms:W3CDTF">2013-01-27T09:14:16Z</dcterms:created>
  <dcterms:modified xsi:type="dcterms:W3CDTF">2013-01-27T09:15:58Z</dcterms:modified>
  <cp:category>사내 일반</cp:category>
</cp:coreProperties>
</file>