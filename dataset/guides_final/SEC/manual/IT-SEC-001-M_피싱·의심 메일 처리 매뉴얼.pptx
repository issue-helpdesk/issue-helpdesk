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584200" y="1651000"/>
            <a:ext cx="1168400" cy="508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84200" y="2108200"/>
            <a:ext cx="11023600" cy="2705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29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한화시스템 ICT IT 담당자 매뉴얼 · 정보보안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2489200"/>
            <a:ext cx="11023600" cy="609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피싱·의심 메일 처리 매뉴얼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4200" y="3149600"/>
            <a:ext cx="11023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IT-SEC-001-M  |  정보보안팀  |  2026.10.16  |  Ver 2.0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4200" y="3581400"/>
            <a:ext cx="2449984" cy="304800"/>
          </a:xfrm>
          <a:prstGeom prst="roundRect">
            <a:avLst>
              <a:gd name="adj" fmla="val 16666"/>
            </a:avLst>
          </a:prstGeom>
          <a:solidFill>
            <a:srgbClr val="B843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49300" y="3644900"/>
            <a:ext cx="2449984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사내 제한 · IT 운영 담당자·관리자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200" y="5689600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IT운영·보안 조직 내부 문서입니다. 사용자에게 문서 자체를 전달하지 않고, 안내는 짝이 되는 임직원용 가이드를 기준으로 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 / 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문서 정보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IT-SEC-001-M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1752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2280"/>
                <a:gridCol w="3779520"/>
                <a:gridCol w="1732280"/>
                <a:gridCol w="37795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번호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IT-SEC-001-M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분류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 정보보안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시행일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문서 유형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매뉴얼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등급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제한 (IT 운영 담당자·관리자)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관리 부서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승인자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열람 대상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서비스데스크, 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 사용자 가이드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IT-SEC-001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포함 시나리오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SEC-01, SEC-04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F3A5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FAQ-030, FAQ-005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 / 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Contents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65200" y="1244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1. 개요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59892" y="1431290"/>
            <a:ext cx="84239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185400" y="1244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4p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5200" y="16764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2. 접수·분류 기준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0134" y="1863090"/>
            <a:ext cx="7603666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185400" y="1676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6p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5200" y="21082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3. 증상별 처리 절차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3908" y="2294890"/>
            <a:ext cx="74098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185400" y="21082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9p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5200" y="25400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4. 대형 장애 대응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96108" y="27266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185400" y="25400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25p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5200" y="29718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5. 처리 기록 기준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96108" y="3158490"/>
            <a:ext cx="7587692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185400" y="29718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27p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5200" y="3403600"/>
            <a:ext cx="9499600" cy="252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988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6. 연락처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837692" y="3590290"/>
            <a:ext cx="8246108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185400" y="34036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29p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200" y="3835400"/>
            <a:ext cx="9499600" cy="2254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75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783011" y="4002088"/>
            <a:ext cx="8300789" cy="0"/>
          </a:xfrm>
          <a:prstGeom prst="line">
            <a:avLst/>
          </a:prstGeom>
          <a:ln w="7620">
            <a:solidFill>
              <a:srgbClr val="C9CDD3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185400" y="3835400"/>
            <a:ext cx="762000" cy="21640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704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 / 31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4 / 31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01. 개요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목적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4200" y="1492885"/>
            <a:ext cx="11023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IT-SEC-001로 들어오는 피싱·의심 메일 문의(단순 수신, 사칭 요청, 링크 클릭·첨부 실행, 계정 정보 입력, 대량 유입, 메일 외 사칭)를 서비스데스크가 안내로 끝낼지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정보보안팀에 바로 넘길지 판단하고, 같은 기준으로 처리한다.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99656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담당 범위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84200" y="2321052"/>
          <a:ext cx="11023600" cy="11684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624667"/>
                <a:gridCol w="8398933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서비스데스크(L1): 클릭·입력 여부 확인, [피싱 신고] 안내, 보안 사고 가능성이 있으면 직접 조치하지 않고 정보보안팀 티켓 생성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2차 이관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정보보안팀(L2): 발신 주소·도메인·첨부 해시 차단, 전사 메일함 일괄 삭제, 클릭자 PC 격리·점검, 세션 종료·비밀번호 초기화, 전사 공지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배정 기준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피싱·계정 도용 담당 (황민석, 송예린). 담당자가 없으면 정보보안팀장(오한결)이 재배정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시스템</a:t>
                      </a:r>
                    </a:p>
                  </a:txBody>
                  <a:tcPr marL="76200" marR="76200" marT="63500" marB="63500" anchor="t">
                    <a:solidFill>
                      <a:srgbClr val="ECEFF2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메일 보안 콘솔, EDR 관리 콘솔, SSO 접속 기록 조회, 상담 기록 시스템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5 / 31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6 / 31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 가이드의 항목별 기본값입니다. 긴급도 기준은 IT-STD-001 IT 서비스 운영 기준을 따릅니다.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1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621048"/>
                <a:gridCol w="1009203"/>
                <a:gridCol w="3571025"/>
                <a:gridCol w="931572"/>
                <a:gridCol w="1319727"/>
                <a:gridCol w="2018406"/>
                <a:gridCol w="155262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번호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문의 유형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증상·요청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 긴급도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처리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처리 방식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이관 대상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의심 메일을 받았을 때 (열어 보기만 함)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임원·거래처를 사칭해 송금·구매·자료를 요청할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티켓 (응했으면 즉시 이관)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3.3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링크를 눌렀거나 첨부파일을 열었을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피싱 화면에 아이디·비밀번호를 입력했을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이관 (티켓 + 전화)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3.5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SEC-04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여러 사람이 같은 의심 메일을 받았을 때 (대량 유입)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대형 장애 (대표 티켓)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3.6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SEC-01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문자·메신저·전화로 사칭 연락을 받았을 때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P2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즉시 처리 후 필요 시 티켓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361099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93547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393547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서비스데스크가 안내만으로 끝낸 건. 티켓 없이 상담 기록만 남긴다.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0" y="417461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417461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담당자 조치가 필요한 건. 정보보안팀에 배정하고 RDY → IP → FIN → CLS 으로 관리한다.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0" y="4413758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413758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링크 클릭·첨부 실행·계정 정보 입력처럼 보안 사고 가능성이 있는 건. 서비스데스크는 직접 조치하지 않고 티켓을 만든 뒤 정보보안팀에 전화로 알린다.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4200" y="4703699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긴급도 조정 조건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0" y="50281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50281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링크 클릭·비밀번호 입력·계정 도용 의심은 최소 P2로 처리하고 정보보안팀에 바로 넘긴다 (MAN-00 공통 규칙 6).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000" y="526732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526732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팀 전원처럼 여러 명이 같은 메일을 받았으면 SEC-04(P1)로 분류한다 (INQ-2026-00134, INQ-2026-00139).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000" y="5506466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550646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사칭 메일에 이미 송금·자료 전달을 했으면 P1로 올리고 전화로 알린다.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000" y="5745607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8200" y="5745607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급하다고 해도 위 기준에 맞지 않으면 올리지 않는다. 반대로 담담해도 클릭·입력이 있으면 P2 이상이다.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7 / 31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접수·분류 기준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02. 접수·분류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흐름</a:t>
            </a:r>
          </a:p>
        </p:txBody>
      </p:sp>
      <p:sp>
        <p:nvSpPr>
          <p:cNvPr id="7" name="Rectangle 6"/>
          <p:cNvSpPr/>
          <p:nvPr/>
        </p:nvSpPr>
        <p:spPr>
          <a:xfrm>
            <a:off x="1686560" y="1492885"/>
            <a:ext cx="8818880" cy="2292909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m001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560" y="1492885"/>
            <a:ext cx="8818880" cy="22929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4200" y="3836594"/>
            <a:ext cx="110236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2-1. 피싱·의심 메일 문의 처리 흐름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8 / 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증상별 처리 절차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9 / 31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의심 메일을 받았을 때 (열어 보기만 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564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9184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69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9689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링크나 첨부를 눌렀나요? 화면에 무엇을 입력했나요?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제목과 보낸 사람 주소는 무엇인가요?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[피싱 신고]를 눌렀나요?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메일을 받은 사람이 더 있나요?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열어 보기만 했으면 [피싱 신고]를 안내하고 상담 기록만 남긴다.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신고 버튼을 쓸 수 없거나 같은 발신자의 메일이 반복되면 정보보안팀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티켓으로 발신 도메인 차단을 요청한다 (INQ-2026-00115, INQ-2026-00143).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669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669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전환: 클릭·첨부 실행 → 3.3, 계정 정보 입력 → 3.4, 여러 명 수신 → 3.5.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10 / 31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의심 메일을 받았을 때 (열어 보기만 함)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클릭·입력 여부를 먼저 확인한다. 하나라도 있으면 판단 기준의 전환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조건을 따른다.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61493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사용자에게 [피싱 신고] 사용을 안내한다.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85407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메일 보안 콘솔에서 신고 메일의 발신 도메인과 링크를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확인하고 차단한다.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30060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30060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메일이 다른 사람에게도 들어왔으면 전사 메일함에서 일괄 삭제한다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(INQ-2026-00286).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74713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74713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열람·클릭 기록이 있는 사람이 있으면 3.3 절차로 넘긴다.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4200" y="298627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986278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신고자에게 결과를 회신하고 FIN 처리한다.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m_mailsec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883656" y="4735460"/>
            <a:ext cx="5724144" cy="3606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3.1-1. 메일 보안 콘솔: ① 발신 도메인·첨부 해시 차단 ② 전사 메일함 일괄 삭제 ③ 열람·클릭한</a:t>
            </a:r>
          </a:p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사람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11 / 31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3.1 의심 메일을 받았을 때 (열어 보기만 함)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신고해 주신 메일은 외부에서 보낸 피싱 메일로 확인되어 발신 도메인을 차단하고 같은 메일을 회사 메일함에서 삭제했습니다. 링크나 첨부를 누르지 않으셨다면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추가로 하실 일은 없습니다. 비슷한 메일은 IT-SEC-001 3.1에 따라 [피싱 신고]로 알려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분기별 모의 피싱 훈련 실시 (문의이력)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212467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제목, 보낸 사람 주소, 받은 시각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클릭·입력 여부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메일을 받은 사람 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12 / 31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임원·거래처를 사칭해 송금·구매·자료를 요청할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647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494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 (응했으면 즉시 이관)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7258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93458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2307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98507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누구 이름으로 어떤 요청(금액·구매·자료)이 왔나요?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송금·구매·자료 전달을 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요청한 본인에게 다른 경로로 확인했나요?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4072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응하지 않았어도 사칭 메일은 정보보안팀 티켓으로 발신 주소 차단과 전사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주의 공지를 요청한다 (INQ-2026-00005, INQ-2026-00113).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(P1): 이미 송금·구매·자료 전달을 했으면 정보보안팀에 전화로 알리고,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송금이면 사용자가 재무팀에도 바로 알리게 한다.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4200" y="30963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4200" y="34208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8200" y="3420872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이미 응했는지 먼저 확인한다.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66001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660013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응하지 않았으면 회신 금지, 다른 경로로 본인 확인, [피싱 신고]를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41065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410654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메일 보안 콘솔에서 발신 주소를 차단하고 같은 발신자의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메일을 검색해 삭제한다.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55307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553077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임원 사칭이면 전사 주의 공지를 낸다 (INQ-2026-00195).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792218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792218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이미 송금했으면 재무팀과 지급 정지 가능 여부를 확인하고,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정보보안팀장에게 사고 보고를 시작한다.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70366" y="3420872"/>
            <a:ext cx="4350725" cy="26725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4" name="Picture 53" descr="m_mailsec_b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366" y="3420872"/>
            <a:ext cx="4350725" cy="2672588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3.2-1. 메일 보안 콘솔: ① 신고된 사칭 메일 ② 발신 주소 차단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13 / 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 임원·거래처를 사칭해 송금·구매·자료를 요청할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확인해 주신 메일은 임원 이름을 사칭한 메일로 확인되어 발신 주소를 차단했습니다. 메일로 받은 송금·구매 요청은 꼭 메신저나 전화로 본인에게 확인해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005076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005076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분기별 모의 피싱 훈련 실시 (문의이력)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임원 사칭 사례를 전사 주의 공지에 넣는다.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2005076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172200" y="2005076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299200" y="2132076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41566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41566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사칭된 사람과 보낸 사람 주소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265214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265214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요청 내용 (금액·자료)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288861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288861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응했는지, 응했다면 시각과 내용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99200" y="312508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6200" y="312508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신고자 사번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14 / 31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링크를 눌렀거나 첨부파일을 열었을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링크를 눌렀나요, 첨부를 열었나요? [콘텐츠 사용]을 눌렀나요?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화면에 무엇을 입력했나요? (값은 묻지 않는다)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 눌렀나요?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네트워크를 끊었나요? PC 이름은 무엇인가요?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링크 클릭·첨부 실행은 입력 여부와 관계없이 정보보안팀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티켓(P2)으로 넘긴다 (INQ-2026-00334).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 실행·매크로 허용이면 네트워크 차단을 먼저 안내하고, EDR 원격 격리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대상으로 넘긴다.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계정 정보를 입력했으면 3.4를 함께 적용한다.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15 / 31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링크를 눌렀거나 첨부파일을 열었을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열린 화면을 닫고 아무것도 입력하지 않도록 안내한다.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40754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첨부를 실행했으면 Wi-Fi·랜선 차단을 안내하고 전원은 켜 둔 채로 두게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854073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만들어 정보보안팀에 배정하고 전화로 알린다.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09321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피싱 도메인을 차단하고 EDR 관리 콘솔에서 PC를 원격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격리한 뒤 전체 검사한다.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53974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53974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검사 결과 이상이 없으면 격리를 풀고 비밀번호 변경을 권고한 뒤 FIN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처리한다. 감염이 확인되면 IT-SEC-002-M 3.4를 따른다.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edr_dev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3.3-1. EDR 관리 콘솔: ① 네트워크 격리 ② 전체 검사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41059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410591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눌러 주신 링크는 피싱 사이트로 확인되어 차단했습니다. PC 검사 결과 이상은 없었습니다. 안전을 위해 비밀번호 재설정 포털에서 비밀번호를 바꿔 주세요.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16 / 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3.3 링크를 눌렀거나 첨부파일을 열었을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분기별 모의 피싱 훈련 실시 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누른 시각, 링크 주소 또는 첨부파일 이름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입력 여부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네트워크 차단 여부, PC 이름, 사번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2517013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11200" y="261861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사용자에게 PC 전원을 끄거나 보안 프로그램을 끄라고 안내하지 않는다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200" y="2855087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전원을 끄면 메모리의 기록이 사라진다. 네트워크만 끊게 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17 / 31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피싱 화면에 아이디·비밀번호를 입력했을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529246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37684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 (티켓 + 전화)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9925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87545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04299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80499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화면에 어떤 정보를 입력했나요? (값은 묻지 않는다)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언제 입력했나요?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비밀번호를 이미 바꿨나요?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그 뒤 모르는 로그인·인증 알림이 왔나요?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계정 정보를 입력했으면 정보보안팀 티켓(P2)으로 넘긴다.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234565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입력 뒤 모르는 접속 시도가 보이면 계정 도용이 진행 중인 것으로 보고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IT-SEC-003-M 3.1을 함께 적용한다 (INQ-2026-00379).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172587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349707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8200" y="349707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재설정 포털(password.hanwha-ict.example)에서 바로 바꾸도록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안내한다. 첨부도 열었으면 다른 기기에서 바꾸게 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4200" y="394360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943604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만들어 정보보안팀에 배정하고 전화로 알린다.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4200" y="4182745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182745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SSO 접속 기록 조회에서 입력 시각 이후 로그인을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확인하고 세션을 강제 종료한다.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4200" y="4629277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629277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모르는 접속이 있으면 본인 확인(사번 + 휴대폰 인증) 후 비밀번호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초기화와 MFA 재등록을 하고 피싱 도메인을 차단한다.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4200" y="5075809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5075809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접속 기록 확인 결과를 회신하고 FIN 처리한다.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632389" y="3497072"/>
            <a:ext cx="4226678" cy="2596388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6" name="Picture 55" descr="m_sso_his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389" y="3497072"/>
            <a:ext cx="4226678" cy="2596388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883656" y="61442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3.4-1. SSO 접속 기록 조회: ① 낯선 접속 ② 세션 강제 종료 ③ 비밀번호 초기화·MFA 재등록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18 / 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3.4 피싱 화면에 아이디·비밀번호를 입력했을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584200" y="14928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84200" y="14928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7400" y="15944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입력하신 계정 정보가 노출됐을 수 있어 로그인 세션을 모두 끊고 비밀번호를 초기화했습니다. 새 비밀번호로 다시 로그인해 주시고, 같은 비밀번호를 쓰는 다른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사이트가 있으면 함께 바꿔 주세요.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4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84200" y="2212467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11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1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분기별 모의 피싱 훈련 실시 (문의이력)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212467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172200" y="2212467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299200" y="2339467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623058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623058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입력 시각과 입력한 정보의 종류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859532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859532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 변경 여부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9200" y="3096006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6200" y="3096006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이후 로그인·인증 알림 여부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9200" y="3332480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6200" y="3332480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링크 주소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3797554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11200" y="389915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사용자에게 비밀번호 값을 묻거나 받지 않는다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200" y="4135628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대화나 티켓에 비밀번호로 보이는 값이 있으면 노출된 것으로 보고 즉시 변경을 안내하고, 기록에서 가린다.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19 / 31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여러 사람이 같은 의심 메일을 받았을 때 (대량 유입)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393254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24085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(대표 티켓)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63258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739458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68307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444507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몇 명이, 어느 부서에서 같은 메일을 받았나요?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제목, 보낸 사람, 첨부파일 이름은 무엇인가요?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링크나 첨부를 누른 사람이 있나요?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72200" y="1587500"/>
            <a:ext cx="5435600" cy="1643761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장애: 같은 의심 메일이 짧은 시간에 여러 명·여러 부서에서 신고되면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SEC-04(P1)로 보고 4장을 따른다.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한 팀 안이라도 "팀 전원이 받았다"는 신고는 SEC-04로 분류한다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(INQ-2026-00134).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867787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누른 사람은 대량 유입과 별도로 3.3·3.4를 적용한다.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4200" y="3332861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20 / 31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여러 사람이 같은 의심 메일을 받았을 때 (대량 유입)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티켓(MI-YYYY-NN)을 만들고 같은 신고는 대표 티켓에 연결한다.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4200" y="1407541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407541"/>
            <a:ext cx="4816856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정보보안팀에 전화로 바로 알린다.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4200" y="1646682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646682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발신 도메인과 첨부 해시를 차단하고 전사 메일함에서 같은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메일을 일괄 삭제한다 (INQ-2026-00141).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4200" y="2093214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보안 콘솔에서 링크 클릭·첨부 열람 기록이 있는 사람을 찾아 PC를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점검한다.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4200" y="2539746"/>
            <a:ext cx="228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539746"/>
            <a:ext cx="4816856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전사 공지와 ITssue 챗봇 첫 화면 안내를 올린다. 조치가 끝나면 연결된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한꺼번에 종료한다.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83656" y="1168400"/>
            <a:ext cx="5724144" cy="3516260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_mailsec_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656" y="1168400"/>
            <a:ext cx="5724144" cy="351626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883656" y="4735460"/>
            <a:ext cx="5724144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그림 3.5-1. 메일 보안 콘솔: 같은 메일을 받은 사람 128명 중 열람·클릭한 사람 확인 (③)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5042800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4200" y="5367285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584200" y="5367285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87400" y="5468885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여러 부서에 같은 피싱 메일이 들어와 발신 도메인과 첨부파일을 차단하고 회사 메일함에서 모두 삭제했습니다. 메일의 링크나 첨부를 누르셨다면 IT-SEC-001 3.3에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따라 정보보안팀(내선 1119)에 알려 주세요.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21 / 31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3.5 여러 사람이 같은 의심 메일을 받았을 때 (대량 유입)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사내 부서 사칭 도메인 유사어 차단 규칙 추가 (문의이력)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168400"/>
            <a:ext cx="5435600" cy="1483487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신고 건수와 부서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메일 제목, 보낸 사람, 첨부파일 이름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첫 신고 시각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2884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2884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누른 사람 명단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22 / 31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문자·메신저·전화로 사칭 연락을 받았을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60400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문의 유형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9248" y="1168400"/>
            <a:ext cx="57352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65448" y="1219200"/>
            <a:ext cx="42112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SEC-01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62770" y="1168400"/>
            <a:ext cx="832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938970" y="1219200"/>
            <a:ext cx="679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기본 긴급도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4818" y="1168400"/>
            <a:ext cx="304081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2771018" y="1219200"/>
            <a:ext cx="151681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P2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98899" y="1168400"/>
            <a:ext cx="651656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3075099" y="1219200"/>
            <a:ext cx="499256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1차 처리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0555" y="1168400"/>
            <a:ext cx="914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726755" y="1219200"/>
            <a:ext cx="762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서비스데스크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64955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641155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처리 방식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70004" y="1168400"/>
            <a:ext cx="1645642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346204" y="1219200"/>
            <a:ext cx="1493242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 후 필요 시 티켓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5646" y="1168400"/>
            <a:ext cx="705048" cy="292100"/>
          </a:xfrm>
          <a:prstGeom prst="rect">
            <a:avLst/>
          </a:prstGeom>
          <a:solidFill>
            <a:srgbClr val="ECEFF2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91846" y="1219200"/>
            <a:ext cx="552648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대상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20695" y="1168400"/>
            <a:ext cx="787400" cy="292100"/>
          </a:xfrm>
          <a:prstGeom prst="rect">
            <a:avLst/>
          </a:prstGeom>
          <a:solidFill>
            <a:srgbClr val="FFFEFA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696895" y="1219200"/>
            <a:ext cx="635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4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584200" y="15875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11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접수 시 확인 질문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8200" y="19980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어떤 경로(문자·메신저·전화)로 누구를 사칭했나요?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200" y="22345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200" y="22345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무엇을 요구했나요?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1200" y="24710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200" y="24710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비밀번호·인증번호를 알려 줬거나 인증 알림을 승인했나요?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1200" y="2707513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200" y="2707513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문자 링크로 앱을 설치했나요?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1587500"/>
            <a:ext cx="5435600" cy="1842135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172200" y="15875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299200" y="17145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판단 기준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99200" y="19980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6200" y="1998091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처리: 응하지 않았으면 공식 번호로 다시 확인하는 방법과 신고 방법을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안내하고 상담 기록만 남긴다.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99200" y="2432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26200" y="2432939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티켓: 헬프데스크·정보보안팀을 사칭했으면 전사 주의 공지가 필요하므로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정보보안팀에 넘긴다.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9200" y="2867787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26200" y="2867787"/>
            <a:ext cx="5054600" cy="3967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즉시 이관: 정보를 알려 줬거나 인증 알림을 승인했으면 3.4와 IT-SEC-003-M</a:t>
            </a:r>
          </a:p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3.2를 적용한다.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4200" y="353123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절차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000" y="385572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200" y="3855720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사용자가 응했는지 먼저 확인한다.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4094861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8200" y="4094861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응하지 않았으면 공식 번호(내선 1000·1119)로 다시 확인하도록 안내한다.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000" y="433400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③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433400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사칭에 쓰인 번호·계정과 내용을 상담 기록에 남기고 정보보안팀에 공유한다.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000" y="457314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④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8200" y="457314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휴대폰에 앱을 설치했으면 비행기 모드 전환을 안내하고 정보보안팀 티켓을 만든다.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5000" y="481228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8200" y="481228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사칭이 여러 건 들어오면 정보보안팀이 전사 주의 공지를 낸다.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4200" y="5102225"/>
            <a:ext cx="11023600" cy="22288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처리 후 안내 문구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4200" y="5426710"/>
            <a:ext cx="11023600" cy="617982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584200" y="5426710"/>
            <a:ext cx="50800" cy="617982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787400" y="5528310"/>
            <a:ext cx="106934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받으신 연락은 IT 부서를 사칭한 것으로 보입니다. IT 헬프데스크와 정보보안팀은 비밀번호나 인증번호를 묻지 않습니다. 비슷한 연락을 받으면 끊고 내선 1000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또는 1119로 확인해 주세요.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23 / 31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3.6 문자·메신저·전화로 사칭 연락을 받았을 때 (계속)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03. 증상별 처리 절차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84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584200" y="1168400"/>
            <a:ext cx="5435600" cy="381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11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재발 방지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문의이력에 재발 방지 기록 없음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1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사칭 연락 사례를 모의 피싱 훈련에 넣는 것을 검토한다.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168400"/>
            <a:ext cx="5435600" cy="1247013"/>
          </a:xfrm>
          <a:prstGeom prst="rect">
            <a:avLst/>
          </a:prstGeom>
          <a:solidFill>
            <a:srgbClr val="FFFFFF"/>
          </a:solidFill>
          <a:ln w="10160">
            <a:solidFill>
              <a:srgbClr val="DBD9D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6172200" y="1168400"/>
            <a:ext cx="5435600" cy="381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99200" y="1295400"/>
            <a:ext cx="5181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이관 시 전달 정보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9200" y="1578991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6200" y="1578991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 경로·시각·번호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9200" y="1815465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6200" y="1815465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사칭된 이름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9200" y="2051939"/>
            <a:ext cx="1270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6200" y="2051939"/>
            <a:ext cx="5054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요구 내용과 응한 내용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24 / 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25 / 31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대형 장애 대응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04. 대형 장애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35000" y="1168400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1168400"/>
            <a:ext cx="10769600" cy="41478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같은 의심 메일이 짧은 시간에 여러 부서에서 신고되면 개별 건(SEC-01)이 아니라 SEC-04 대량 유입으로 판단한다. 예: MI-2026-03 인사팀 사칭 피싱 캠페인은</a:t>
            </a:r>
          </a:p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2026-05-13 10:20부터 8건이 접수됐고 240분 동안 대응했다.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1614932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1614932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대표 티켓(MI-YYYY-NN) 1건을 정하고, 이후 들어오는 같은 신고는 대표 티켓에 연결한다.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1854073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1854073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정보보안팀은 발신 도메인·첨부 해시 차단 → 전사 메일함 일괄 삭제 → 클릭자 PC 점검 순서로 조치한다.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0" y="2093214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093214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전사 공지를 보내고 ITssue 챗봇 첫 화면에 안내를 띄운다. 공지에는 메일 제목, 하지 말 것(열기·전달), 이미 누른 사람이 할 일(IT-SEC-001 3.3·3.4)을 넣는다.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0" y="2332355"/>
            <a:ext cx="2032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2332355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조치가 끝나면 연결된 티켓을 한꺼번에 종료한다 (해결 방법: "MI-YYYY-NN 대형 장애 복구로 일괄 해결"). 장애 보고서에 원인·조치·재발 방지를 남긴다.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4200" y="2622296"/>
            <a:ext cx="11023600" cy="638048"/>
          </a:xfrm>
          <a:prstGeom prst="rect">
            <a:avLst/>
          </a:prstGeom>
          <a:solidFill>
            <a:srgbClr val="FDF0E7"/>
          </a:solidFill>
          <a:ln w="10160">
            <a:solidFill>
              <a:srgbClr val="F2C4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11200" y="2723896"/>
            <a:ext cx="10769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8430E"/>
                </a:solidFill>
                <a:latin typeface="Malgun Gothic"/>
                <a:ea typeface="Malgun Gothic"/>
                <a:cs typeface="Malgun Gothic"/>
              </a:rPr>
              <a:t>★ 대량 유입 중에는 사용자에게 의심 메일을 전달받지 않는다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1200" y="2960370"/>
            <a:ext cx="10769600" cy="19837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562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원본은 메일 보안 콘솔에서 확인한다. 전달된 메일은 또 다른 유입 경로가 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26 / 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27 / 31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처리 기록 기준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05. 처리 기록 기준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84200" y="1168400"/>
            <a:ext cx="11023600" cy="20739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632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티켓을 종료할 때 아래 항목을 남깁니다.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84200" y="1464691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396435"/>
                <a:gridCol w="8627165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항목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적는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원인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확인된 원인 한 줄 (예: 외부 피싱 메일, 매크로 행위 기반 오탐)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 내용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실제로 한 조치. 즉시 처리면 앞에 [즉시 처리]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조치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차단한 주소·도메인·해시, 격리·세션 종료 시각, 보존한 증거 (해당할 때)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재발 방지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같은 문의를 줄이기 위한 조치 (없으면 빈칸)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관련 FAQ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안내에 쓴 FAQ 번호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가이드 반영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사용자 가이드에 추가·수정이 필요한지 (필요 / 불필요)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28 / 31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29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2489200"/>
            <a:ext cx="11023600" cy="810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6380"/>
              </a:lnSpc>
              <a:spcBef>
                <a:spcPts val="0"/>
              </a:spcBef>
              <a:spcAft>
                <a:spcPts val="0"/>
              </a:spcAft>
            </a:pPr>
            <a:r>
              <a:rPr sz="5800" b="1">
                <a:solidFill>
                  <a:srgbClr val="E8590C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4200" y="3505200"/>
            <a:ext cx="11023600" cy="5181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079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AEB6C2"/>
                </a:solidFill>
                <a:latin typeface="Malgun Gothic"/>
                <a:ea typeface="Malgun Gothic"/>
                <a:cs typeface="Malgun Gothic"/>
              </a:rPr>
              <a:t>29 / 31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813800" y="635000"/>
            <a:ext cx="2794000" cy="1803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42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3A5F"/>
                </a:solidFill>
                <a:latin typeface="Malgun Gothic"/>
                <a:ea typeface="Malgun Gothic"/>
                <a:cs typeface="Malgun Gothic"/>
              </a:rPr>
              <a:t>06. 연락처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84200" y="1168400"/>
          <a:ext cx="11023600" cy="20447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755900"/>
                <a:gridCol w="2755900"/>
                <a:gridCol w="5511800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담당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연락처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이럴 때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서비스데스크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IT 헬프데스크 내선 1000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1차 접수, 즉시 처리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보안 신고·이관. 즉시 이관 건은 티켓과 함께 전화로 알린다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정보보안팀장 (오한결)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1119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재배정 승인, 대형 장애 판단, 사고 보고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시스템인프라팀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1050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서버·DB·SSO·메일 서버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업무시스템팀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1060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사내 시스템 권한·접근 기록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엔드포인트지원팀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내선 1030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PC 재설치·장비 교체, 단말 관리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30 / 31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84200" y="562610"/>
            <a:ext cx="8483600" cy="349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75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D2433"/>
                </a:solidFill>
                <a:latin typeface="Malgun Gothic"/>
                <a:ea typeface="Malgun Gothic"/>
                <a:cs typeface="Malgun Gothic"/>
              </a:rPr>
              <a:t>개정 이력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4200" y="939800"/>
            <a:ext cx="11023600" cy="0"/>
          </a:xfrm>
          <a:prstGeom prst="line">
            <a:avLst/>
          </a:prstGeom>
          <a:ln w="20320">
            <a:solidFill>
              <a:srgbClr val="1F3A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84200" y="1168400"/>
          <a:ext cx="11023600" cy="8763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02145"/>
                <a:gridCol w="1403004"/>
                <a:gridCol w="1603433"/>
                <a:gridCol w="7015018"/>
              </a:tblGrid>
              <a:tr h="292100"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버전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개정일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작성자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ctr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변경 내용</a:t>
                      </a:r>
                    </a:p>
                  </a:txBody>
                  <a:tcPr marL="76200" marR="76200" marT="63500" marB="63500" anchor="t">
                    <a:solidFill>
                      <a:srgbClr val="1F3A5F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v1.0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2026-03-01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최초 작성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  <a:tr h="292100"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v2.0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2026-10-16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정보보안팀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  <a:tc>
                  <a:txBody>
                    <a:bodyPr wrap="none" lIns="0" rIns="0" tIns="0" bIns="0" anchor="t"/>
                    <a:lstStyle/>
                    <a:p>
                      <a:pPr algn="l">
                        <a:lnSpc>
                          <a:spcPts val="13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1D2433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7개 분류 통합 정리본. 문서 양식·열람 등급·용어·연락처를 통일하고 분류 사이의 중복 내용을 한 문서로 정리</a:t>
                      </a:r>
                    </a:p>
                  </a:txBody>
                  <a:tcPr marL="76200" marR="76200" marT="63500" marB="63500" anchor="t">
                    <a:solidFill>
                      <a:srgbClr val="FFFEFA"/>
                    </a:solidFill>
                    <a:lnL w="7620">
                      <a:solidFill>
                        <a:srgbClr val="DBD9D3"/>
                      </a:solidFill>
                    </a:lnL>
                    <a:lnR w="7620">
                      <a:solidFill>
                        <a:srgbClr val="DBD9D3"/>
                      </a:solidFill>
                    </a:lnR>
                    <a:lnT w="7620">
                      <a:solidFill>
                        <a:srgbClr val="DBD9D3"/>
                      </a:solidFill>
                    </a:lnT>
                    <a:lnB w="7620">
                      <a:solidFill>
                        <a:srgbClr val="DBD9D3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84200" y="6502400"/>
            <a:ext cx="635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© HANWHA SYSTEMS ICT · IT-SEC-001-M · 사내 제한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7800" y="6502400"/>
            <a:ext cx="1270000" cy="15328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1207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A6270"/>
                </a:solidFill>
                <a:latin typeface="Malgun Gothic"/>
                <a:ea typeface="Malgun Gothic"/>
                <a:cs typeface="Malgun Gothic"/>
              </a:rPr>
              <a:t>31 / 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IT-SEC-001-M 피싱·의심 메일 처리 매뉴얼</dc:title>
  <dc:subject>사내 제한 · IT 운영 담당자·관리자</dc:subject>
  <dc:creator>정보보안팀</dc:creator>
  <cp:keywords/>
  <dc:description>generated using python-pptx</dc:description>
  <cp:lastModifiedBy>정보보안팀</cp:lastModifiedBy>
  <cp:revision>1</cp:revision>
  <dcterms:created xsi:type="dcterms:W3CDTF">2013-01-27T09:14:16Z</dcterms:created>
  <dcterms:modified xsi:type="dcterms:W3CDTF">2013-01-27T09:15:58Z</dcterms:modified>
  <cp:category>사내 제한</cp:category>
</cp:coreProperties>
</file>