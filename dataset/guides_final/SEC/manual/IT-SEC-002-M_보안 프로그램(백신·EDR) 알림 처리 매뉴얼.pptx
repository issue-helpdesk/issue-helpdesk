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584200" y="1651000"/>
            <a:ext cx="1168400" cy="508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84200" y="2108200"/>
            <a:ext cx="11023600" cy="2705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129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한화시스템 ICT IT 담당자 매뉴얼 · 정보보안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4200" y="2489200"/>
            <a:ext cx="11023600" cy="609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8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보안 프로그램(백신·EDR) 알림 처리 매뉴얼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4200" y="3149600"/>
            <a:ext cx="11023600" cy="2524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988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IT-SEC-002-M  |  정보보안팀  |  2026.10.16  |  Ver 2.0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84200" y="3581400"/>
            <a:ext cx="2449984" cy="304800"/>
          </a:xfrm>
          <a:prstGeom prst="roundRect">
            <a:avLst>
              <a:gd name="adj" fmla="val 16666"/>
            </a:avLst>
          </a:prstGeom>
          <a:solidFill>
            <a:srgbClr val="B843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749300" y="3644900"/>
            <a:ext cx="2449984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사내 제한 · IT 운영 담당자·관리자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4200" y="5689600"/>
            <a:ext cx="110236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IT운영·보안 조직 내부 문서입니다. 사용자에게 문서 자체를 전달하지 않고, 안내는 짝이 되는 임직원용 가이드를 기준으로 합니다.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IT-SEC-002-M · 사내 제한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 / 27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문서 정보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IT-SEC-002-M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84200" y="1168400"/>
          <a:ext cx="11023600" cy="17526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732280"/>
                <a:gridCol w="3779520"/>
                <a:gridCol w="1732280"/>
                <a:gridCol w="3779520"/>
              </a:tblGrid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문서 번호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IT-SEC-002-M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버전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v2.0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분류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SEC 정보보안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시행일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2026-10-16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문서 유형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처리 매뉴얼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열람 등급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사내 제한 (IT 운영 담당자·관리자)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관리 부서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정보보안팀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승인자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정보보안팀장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열람 대상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서비스데스크, 정보보안팀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대상 사용자 가이드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IT-SEC-002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포함 시나리오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SEC-02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관련 FAQ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FAQ-031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IT-SEC-002-M · 사내 제한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2 / 27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Contents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965200" y="1244600"/>
            <a:ext cx="9499600" cy="2524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988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1. 개요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659892" y="1431290"/>
            <a:ext cx="8423908" cy="0"/>
          </a:xfrm>
          <a:prstGeom prst="line">
            <a:avLst/>
          </a:prstGeom>
          <a:ln w="7620">
            <a:solidFill>
              <a:srgbClr val="C9CDD3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10185400" y="1244600"/>
            <a:ext cx="762000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704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4p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5200" y="1676400"/>
            <a:ext cx="9499600" cy="2524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988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2. 접수·분류 기준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480134" y="1863090"/>
            <a:ext cx="7603666" cy="0"/>
          </a:xfrm>
          <a:prstGeom prst="line">
            <a:avLst/>
          </a:prstGeom>
          <a:ln w="7620">
            <a:solidFill>
              <a:srgbClr val="C9CDD3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10185400" y="1676400"/>
            <a:ext cx="762000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704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6p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5200" y="2108200"/>
            <a:ext cx="9499600" cy="2524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988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3. 증상별 처리 절차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673908" y="2294890"/>
            <a:ext cx="7409892" cy="0"/>
          </a:xfrm>
          <a:prstGeom prst="line">
            <a:avLst/>
          </a:prstGeom>
          <a:ln w="7620">
            <a:solidFill>
              <a:srgbClr val="C9CDD3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10185400" y="2108200"/>
            <a:ext cx="762000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704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9p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5200" y="2540000"/>
            <a:ext cx="9499600" cy="2524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988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4. 대형 장애 대응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496108" y="2726690"/>
            <a:ext cx="7587692" cy="0"/>
          </a:xfrm>
          <a:prstGeom prst="line">
            <a:avLst/>
          </a:prstGeom>
          <a:ln w="7620">
            <a:solidFill>
              <a:srgbClr val="C9CDD3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185400" y="2540000"/>
            <a:ext cx="762000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704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21p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5200" y="2971800"/>
            <a:ext cx="9499600" cy="2524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988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5. 처리 기록 기준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496108" y="3158490"/>
            <a:ext cx="7587692" cy="0"/>
          </a:xfrm>
          <a:prstGeom prst="line">
            <a:avLst/>
          </a:prstGeom>
          <a:ln w="7620">
            <a:solidFill>
              <a:srgbClr val="C9CDD3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10185400" y="2971800"/>
            <a:ext cx="762000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704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23p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5200" y="3403600"/>
            <a:ext cx="9499600" cy="2524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988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6. 연락처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1837692" y="3590290"/>
            <a:ext cx="8246108" cy="0"/>
          </a:xfrm>
          <a:prstGeom prst="line">
            <a:avLst/>
          </a:prstGeom>
          <a:ln w="7620">
            <a:solidFill>
              <a:srgbClr val="C9CDD3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10185400" y="3403600"/>
            <a:ext cx="762000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704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25p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5200" y="3835400"/>
            <a:ext cx="9499600" cy="2254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75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개정 이력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1783011" y="4002088"/>
            <a:ext cx="8300789" cy="0"/>
          </a:xfrm>
          <a:prstGeom prst="line">
            <a:avLst/>
          </a:prstGeom>
          <a:ln w="7620">
            <a:solidFill>
              <a:srgbClr val="C9CDD3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10185400" y="3835400"/>
            <a:ext cx="762000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704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27p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IT-SEC-002-M · 사내 제한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3 / 27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D29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2489200"/>
            <a:ext cx="11023600" cy="8102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6380"/>
              </a:lnSpc>
              <a:spcBef>
                <a:spcPts val="0"/>
              </a:spcBef>
              <a:spcAft>
                <a:spcPts val="0"/>
              </a:spcAft>
            </a:pPr>
            <a:r>
              <a:rPr sz="580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4200" y="3505200"/>
            <a:ext cx="11023600" cy="5181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079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개요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© HANWHA SYSTEMS ICT · IT-SEC-002-M · 사내 제한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4 / 27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개요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01. 개요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84200" y="1168400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목적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84200" y="1492885"/>
            <a:ext cx="11023600" cy="41478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IT-SEC-002로 들어오는 보안 프로그램 알림 문의(자동 격리, 업무 파일 격리, 설치·상태 확인, 감염 의심)를 서비스데스크가 안내로 끝낼지 정보보안팀에 넘길지 판단하고,</a:t>
            </a:r>
          </a:p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같은 기준으로 처리한다.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4200" y="1996567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담당 범위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84200" y="2321052"/>
          <a:ext cx="11023600" cy="11684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624667"/>
                <a:gridCol w="8398933"/>
              </a:tblGrid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1차 처리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서비스데스크(L1): 알림 화면·파일 이름·PC 이름 확인, 격리 상태·보호 상태 확인 안내, 감염 신호가 있으면 네트워크 차단 안내 후 즉시 이관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2차 이관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정보보안팀(L2): 전체 검사 결과 확인, 해시 분석·오탐 판정·예외 등록, 원격 격리, 악성코드 제거, 재설치 판단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배정 기준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악성코드·EDR 담당 (이가영, 양준우). 담당자가 없으면 정보보안팀장(오한결)이 재배정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관련 시스템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EDR 관리 콘솔, 소프트웨어 센터, 상담 기록 시스템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IT-SEC-002-M · 사내 제한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5 / 27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D29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2489200"/>
            <a:ext cx="11023600" cy="8102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6380"/>
              </a:lnSpc>
              <a:spcBef>
                <a:spcPts val="0"/>
              </a:spcBef>
              <a:spcAft>
                <a:spcPts val="0"/>
              </a:spcAft>
            </a:pPr>
            <a:r>
              <a:rPr sz="580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4200" y="3505200"/>
            <a:ext cx="11023600" cy="5181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079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접수·분류 기준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© HANWHA SYSTEMS ICT · IT-SEC-002-M · 사내 제한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6 / 27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접수·분류 기준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02. 접수·분류 기준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84200" y="1168400"/>
            <a:ext cx="11023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사용자 가이드의 항목별 기본값입니다. 긴급도 기준은 IT-STD-001 IT 서비스 운영 기준을 따릅니다.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84200" y="1464691"/>
          <a:ext cx="11023601" cy="14605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621048"/>
                <a:gridCol w="1009203"/>
                <a:gridCol w="3571025"/>
                <a:gridCol w="931572"/>
                <a:gridCol w="1319727"/>
                <a:gridCol w="2018406"/>
                <a:gridCol w="1552620"/>
              </a:tblGrid>
              <a:tr h="292100"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번호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문의 유형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증상·요청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기본 긴급도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1차 처리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처리 방식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이관 대상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3.1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SEC-02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'위협이 탐지되어 격리되었습니다' 알림이 떴을 때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P2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서비스데스크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즉시 처리 후 필요 시 티켓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정보보안팀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3.2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SEC-02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업무 파일이 격리·삭제될 때 (예외 검토 요청)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P2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서비스데스크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티켓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정보보안팀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3.3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SEC-02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보안 에이전트 설치 오류·정상 동작 확인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P2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서비스데스크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즉시 처리 후 필요 시 티켓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정보보안팀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3.4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SEC-02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알림 뒤 PC가 이상할 때 (감염 의심)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P2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서비스데스크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즉시 이관 (티켓 + 전화)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정보보안팀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84200" y="3026791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처리 방식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5000" y="3351276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8200" y="3351276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즉시 처리: 서비스데스크가 안내만으로 끝낸 건 (격리 상태·보호 상태 확인 등). 티켓 없이 상담 기록만 남긴다.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5000" y="3590417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8200" y="3590417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티켓: 오탐 분석·예외 등록처럼 담당자 조치가 필요한 건. 정보보안팀에 배정하고 RDY → WIP → FIN → CLS 으로 관리한다.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5000" y="3829558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8200" y="3829558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즉시 이관: 감염 의심(PC 이상, 모르는 프로세스, 확장자 변경). 네트워크 차단을 안내하고 티켓과 함께 전화로 알린다.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4200" y="4119499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긴급도 조정 조건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5000" y="4443984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8200" y="4443984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SEC-02는 기본 P2다. 문의이력 9건 모두 P2로 처리했다.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5000" y="4683125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8200" y="4683125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같은 탐지가 여러 PC에서 짧은 시간에 나오거나 공유 드라이브 파일이 바뀌면 P1로 올리고 4장을 따른다.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5000" y="4922266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8200" y="4922266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오탐 예외 요청은 업무 마감이 있어도 P2를 유지하고, 마감 시각을 티켓에 적어 순서를 정한다.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5000" y="5161407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8200" y="5161407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사용자에게 보안 프로그램을 끄라고 안내하지 않는다 (MAN-00 공통 규칙 2).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IT-SEC-002-M · 사내 제한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7 / 27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접수·분류 기준 (계속)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02. 접수·분류 기준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84200" y="1168400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처리 흐름</a:t>
            </a:r>
          </a:p>
        </p:txBody>
      </p:sp>
      <p:sp>
        <p:nvSpPr>
          <p:cNvPr id="7" name="Rectangle 6"/>
          <p:cNvSpPr/>
          <p:nvPr/>
        </p:nvSpPr>
        <p:spPr>
          <a:xfrm>
            <a:off x="1686560" y="1492885"/>
            <a:ext cx="8818880" cy="2292909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" name="Picture 7" descr="m002_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86560" y="1492885"/>
            <a:ext cx="8818880" cy="229290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84200" y="3836594"/>
            <a:ext cx="110236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그림 2-1. 보안 프로그램 알림 문의 처리 흐름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IT-SEC-002-M · 사내 제한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8 / 27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D29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2489200"/>
            <a:ext cx="11023600" cy="8102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6380"/>
              </a:lnSpc>
              <a:spcBef>
                <a:spcPts val="0"/>
              </a:spcBef>
              <a:spcAft>
                <a:spcPts val="0"/>
              </a:spcAft>
            </a:pPr>
            <a:r>
              <a:rPr sz="580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4200" y="3505200"/>
            <a:ext cx="11023600" cy="5181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079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증상별 처리 절차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© HANWHA SYSTEMS ICT · IT-SEC-002-M · 사내 제한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9 / 27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3.1 '위협이 탐지되어 격리되었습니다' 알림이 떴을 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처리 절차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84200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60400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문의 유형</a:t>
            </a:r>
          </a:p>
        </p:txBody>
      </p:sp>
      <p:sp>
        <p:nvSpPr>
          <p:cNvPr id="8" name="Rectangle 7"/>
          <p:cNvSpPr/>
          <p:nvPr/>
        </p:nvSpPr>
        <p:spPr>
          <a:xfrm>
            <a:off x="1289248" y="1168400"/>
            <a:ext cx="573522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365448" y="1219200"/>
            <a:ext cx="421122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SEC-02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1862770" y="1168400"/>
            <a:ext cx="832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1938970" y="1219200"/>
            <a:ext cx="679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기본 긴급도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694818" y="1168400"/>
            <a:ext cx="304081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2771018" y="1219200"/>
            <a:ext cx="151681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P2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998899" y="1168400"/>
            <a:ext cx="651656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3075099" y="1219200"/>
            <a:ext cx="499256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1차 처리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0555" y="1168400"/>
            <a:ext cx="914400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3726755" y="1219200"/>
            <a:ext cx="762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서비스데스크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64955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4641155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처리 방식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270004" y="1168400"/>
            <a:ext cx="1645642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5346204" y="1219200"/>
            <a:ext cx="1493242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즉시 처리 후 필요 시 티켓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915646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6991846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이관 대상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620695" y="1168400"/>
            <a:ext cx="787400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7696895" y="1219200"/>
            <a:ext cx="635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정보보안팀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84200" y="1587500"/>
            <a:ext cx="5435600" cy="1643761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Rectangle 26"/>
          <p:cNvSpPr/>
          <p:nvPr/>
        </p:nvSpPr>
        <p:spPr>
          <a:xfrm>
            <a:off x="584200" y="1587500"/>
            <a:ext cx="5435600" cy="381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711200" y="1714500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접수 시 확인 질문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1200" y="19980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8200" y="1998091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알림의 파일 이름·위치·탐지 이름은 무엇인가요? (캡처)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11200" y="2234565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8200" y="2234565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상태가 '격리됨'인가요, '조치 필요'인가요?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11200" y="2471039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8200" y="2471039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파일을 어디서 받았나요? 의심 메일의 첨부인가요?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11200" y="2707513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8200" y="2707513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알림 뒤 PC가 느려지거나 이상한가요?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172200" y="1587500"/>
            <a:ext cx="5435600" cy="1643761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Rectangle 37"/>
          <p:cNvSpPr/>
          <p:nvPr/>
        </p:nvSpPr>
        <p:spPr>
          <a:xfrm>
            <a:off x="6172200" y="1587500"/>
            <a:ext cx="5435600" cy="381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TextBox 38"/>
          <p:cNvSpPr txBox="1"/>
          <p:nvPr/>
        </p:nvSpPr>
        <p:spPr>
          <a:xfrm>
            <a:off x="6299200" y="1714500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판단 기준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299200" y="19980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26200" y="1998091"/>
            <a:ext cx="5054600" cy="39674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즉시 처리: '격리됨'이고 PC 이상이 없으면 전체 검사를 안내하고 상담 기록만</a:t>
            </a:r>
          </a:p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남긴다.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299200" y="2432939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26200" y="2432939"/>
            <a:ext cx="5054600" cy="39674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티켓: '조치 필요'이거나 전체 검사에서 다른 위협이 나오면 정보보안팀에 넘긴다</a:t>
            </a:r>
          </a:p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(INQ-2026-00228).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299200" y="2867787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426200" y="2867787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전환: 의심 메일 첨부면 IT-SEC-001-M 3.3, PC 이상이면 3.4.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84200" y="3332861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처리 절차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IT-SEC-002-M · 사내 제한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10 / 27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3.1 '위협이 탐지되어 격리되었습니다' 알림이 떴을 때 (계속)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처리 절차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84200" y="1168400"/>
            <a:ext cx="228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8200" y="1168400"/>
            <a:ext cx="4816856" cy="41478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파일 출처와 PC 이상 여부를 먼저 확인한다. 하나라도 해당하면 전환</a:t>
            </a:r>
          </a:p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조건을 따른다.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4200" y="1614932"/>
            <a:ext cx="228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8200" y="1614932"/>
            <a:ext cx="4816856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사용자에게 [격리 파일]에서 '격리됨' 확인과 [전체 검사]를 안내한다.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4200" y="1854073"/>
            <a:ext cx="228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8200" y="1854073"/>
            <a:ext cx="4816856" cy="41478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정보보안팀은 EDR 관리 콘솔에서 같은 PC의 탐지 기록과 전체 검사</a:t>
            </a:r>
          </a:p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결과를 확인한다.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4200" y="2300605"/>
            <a:ext cx="228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④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8200" y="2300605"/>
            <a:ext cx="4816856" cy="41478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추가 위협이 없으면 결과를 회신하고 FIN 처리한다. 추가 위협이 있으면</a:t>
            </a:r>
          </a:p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원격 격리 후 3.4로 넘긴다.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883656" y="1168400"/>
            <a:ext cx="5724144" cy="3516260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5" name="Picture 14" descr="m_edr_devi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83656" y="1168400"/>
            <a:ext cx="5724144" cy="351626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883656" y="4735460"/>
            <a:ext cx="5724144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그림 3.1-1. EDR 관리 콘솔: 장치의 탐지 기록과 ① 네트워크 격리 ② 전체 검사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4200" y="5042800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처리 후 안내 문구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84200" y="5367285"/>
            <a:ext cx="11023600" cy="617982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584200" y="5367285"/>
            <a:ext cx="50800" cy="617982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787400" y="5468885"/>
            <a:ext cx="10693400" cy="41478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알려 주신 파일은 인터넷에서 받은 파일에 포함된 광고 프로그램으로 확인되어 격리되었습니다. 전체 검사 결과 추가 위협은 없었습니다. 프로그램은 소프트웨어</a:t>
            </a:r>
          </a:p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센터나 회사가 안내한 경로에서 받아 주세요.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IT-SEC-002-M · 사내 제한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11 / 27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3.1 '위협이 탐지되어 격리되었습니다' 알림이 떴을 때 (계속)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처리 절차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84200" y="1168400"/>
            <a:ext cx="5435600" cy="1247013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584200" y="1168400"/>
            <a:ext cx="5435600" cy="381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711200" y="1295400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재발 방지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1200" y="15789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8200" y="1578991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문의이력에 재발 방지 기록 없음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1200" y="1815465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8200" y="1815465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같은 다운로드 경로의 탐지가 반복되면 웹 필터 차단을 검토한다.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72200" y="1168400"/>
            <a:ext cx="5435600" cy="1247013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6172200" y="1168400"/>
            <a:ext cx="5435600" cy="381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6299200" y="1295400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이관 시 전달 정보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99200" y="15789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26200" y="1578991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알림 캡처 (파일 이름·위치·탐지 이름)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99200" y="1815465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26200" y="1815465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파일 출처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99200" y="2051939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26200" y="2051939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PC 이름, 사번, 전체 검사 결과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IT-SEC-002-M · 사내 제한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12 / 27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3.2 업무 파일이 격리·삭제될 때 (예외 검토 요청)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처리 절차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84200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60400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문의 유형</a:t>
            </a:r>
          </a:p>
        </p:txBody>
      </p:sp>
      <p:sp>
        <p:nvSpPr>
          <p:cNvPr id="8" name="Rectangle 7"/>
          <p:cNvSpPr/>
          <p:nvPr/>
        </p:nvSpPr>
        <p:spPr>
          <a:xfrm>
            <a:off x="1289248" y="1168400"/>
            <a:ext cx="573522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365448" y="1219200"/>
            <a:ext cx="421122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SEC-02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1862770" y="1168400"/>
            <a:ext cx="832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1938970" y="1219200"/>
            <a:ext cx="679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기본 긴급도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694818" y="1168400"/>
            <a:ext cx="304081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2771018" y="1219200"/>
            <a:ext cx="151681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P2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998899" y="1168400"/>
            <a:ext cx="651656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3075099" y="1219200"/>
            <a:ext cx="499256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1차 처리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0555" y="1168400"/>
            <a:ext cx="914400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3726755" y="1219200"/>
            <a:ext cx="762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서비스데스크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64955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4641155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처리 방식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270004" y="1168400"/>
            <a:ext cx="406400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5346204" y="1219200"/>
            <a:ext cx="25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티켓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76404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5752604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이관 대상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381452" y="1168400"/>
            <a:ext cx="787400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6457652" y="1219200"/>
            <a:ext cx="635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정보보안팀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84200" y="1587500"/>
            <a:ext cx="5435600" cy="1643761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Rectangle 26"/>
          <p:cNvSpPr/>
          <p:nvPr/>
        </p:nvSpPr>
        <p:spPr>
          <a:xfrm>
            <a:off x="584200" y="1587500"/>
            <a:ext cx="5435600" cy="381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711200" y="1714500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접수 시 확인 질문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1200" y="19980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8200" y="1998091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격리된 파일 이름·경로·탐지 이름은 무엇인가요? (캡처)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11200" y="2234565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8200" y="2234565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파일 용도와 출처는? (직접 만듦·팀 공유·외부에서 받음)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11200" y="2471039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8200" y="2471039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최근 파일을 수정했나요?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11200" y="2707513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8200" y="2707513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업무 마감 시각이 있나요?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172200" y="1587500"/>
            <a:ext cx="5435600" cy="1643761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Rectangle 37"/>
          <p:cNvSpPr/>
          <p:nvPr/>
        </p:nvSpPr>
        <p:spPr>
          <a:xfrm>
            <a:off x="6172200" y="1587500"/>
            <a:ext cx="5435600" cy="381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TextBox 38"/>
          <p:cNvSpPr txBox="1"/>
          <p:nvPr/>
        </p:nvSpPr>
        <p:spPr>
          <a:xfrm>
            <a:off x="6299200" y="1714500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판단 기준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299200" y="19980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26200" y="1998091"/>
            <a:ext cx="5054600" cy="39674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티켓: 업무 파일 격리는 오탐 분석이 필요하므로 정보보안팀 티켓으로 넘긴다</a:t>
            </a:r>
          </a:p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(INQ-2026-00020, INQ-2026-00094, INQ-2026-00335).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299200" y="2432939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26200" y="2432939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외부에서 받은 파일이면 오탐으로 단정하지 않는다. 출처를 티켓에 적는다.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299200" y="2669413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426200" y="2669413"/>
            <a:ext cx="5054600" cy="39674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사용자가 보안 프로그램을 끄거나 예외를 직접 넣으려 하면 하지 않도록</a:t>
            </a:r>
          </a:p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안내한다.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84200" y="3332861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처리 절차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IT-SEC-002-M · 사내 제한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13 / 27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3.2 업무 파일이 격리·삭제될 때 (예외 검토 요청) (계속)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처리 절차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84200" y="1168400"/>
            <a:ext cx="228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8200" y="1168400"/>
            <a:ext cx="4816856" cy="41478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티켓을 만들어 정보보안팀에 배정한다. 파일 캡처와 마감 시각을</a:t>
            </a:r>
          </a:p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첨부한다.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4200" y="1614932"/>
            <a:ext cx="228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8200" y="1614932"/>
            <a:ext cx="4816856" cy="41478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정보보안팀은 EDR 관리 콘솔에서 파일 해시·평판을 조회하고 격리된</a:t>
            </a:r>
          </a:p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환경에서 실행해 동작을 확인한다.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4200" y="2061464"/>
            <a:ext cx="228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8200" y="2061464"/>
            <a:ext cx="4816856" cy="41478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오탐이면 예외를 </a:t>
            </a:r>
            <a:r>
              <a:rPr sz="115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해시 단위</a:t>
            </a: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 로 등록한다. 폴더·경로 단위 예외는 만들지</a:t>
            </a:r>
          </a:p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않는다.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4200" y="2507996"/>
            <a:ext cx="228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④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8200" y="2507996"/>
            <a:ext cx="4816856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예외 대상(PC·사용자)과 티켓 번호를 기록하고 파일을 복원한다.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4200" y="2747137"/>
            <a:ext cx="228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8200" y="2747137"/>
            <a:ext cx="4816856" cy="41478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사용자가 파일을 열어 정상 동작을 확인하면 FIN 처리한다. 실제 위협이면</a:t>
            </a:r>
          </a:p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예외를 거절하고 대체 방법을 안내한다.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883656" y="1168400"/>
            <a:ext cx="5724144" cy="3516260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" name="Picture 16" descr="m_edr_excep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83656" y="1168400"/>
            <a:ext cx="5724144" cy="351626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5883656" y="4735460"/>
            <a:ext cx="5724144" cy="3606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그림 3.2-1. EDR 관리 콘솔: ① 해시·평판·격리 환경 실행 결과로 오탐 판정 ② 예외 범위는 해시 단위</a:t>
            </a:r>
          </a:p>
          <a:p>
            <a:pPr algn="ct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③ 예외 등록·파일 복원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IT-SEC-002-M · 사내 제한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14 / 27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3.2 업무 파일이 격리·삭제될 때 (예외 검토 요청) (계속)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처리 절차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84200" y="1168400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처리 후 안내 문구</a:t>
            </a:r>
          </a:p>
        </p:txBody>
      </p:sp>
      <p:sp>
        <p:nvSpPr>
          <p:cNvPr id="7" name="Rectangle 6"/>
          <p:cNvSpPr/>
          <p:nvPr/>
        </p:nvSpPr>
        <p:spPr>
          <a:xfrm>
            <a:off x="584200" y="1492885"/>
            <a:ext cx="11023600" cy="617982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84200" y="1492885"/>
            <a:ext cx="50800" cy="617982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787400" y="1594485"/>
            <a:ext cx="10693400" cy="41478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격리된 업무 파일을 분석한 결과 정상 파일로 확인되어 예외로 등록하고 복원했습니다. 파일 내용을 바꾸면 다시 검토가 필요할 수 있습니다. 같은 일이 생기면</a:t>
            </a:r>
          </a:p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IT-SEC-002 3.2에 따라 알려 주세요.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84200" y="2212467"/>
            <a:ext cx="5435600" cy="1247013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584200" y="2212467"/>
            <a:ext cx="5435600" cy="381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711200" y="2339467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재발 방지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1200" y="2623058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8200" y="2623058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문의이력에 재발 방지 기록 없음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1200" y="2859532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8200" y="2859532"/>
            <a:ext cx="5054600" cy="39674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같은 팀의 같은 매크로 파일이 반복되면 팀 단위로 해시 예외를 한 번에</a:t>
            </a:r>
          </a:p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검토한다.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72200" y="2212467"/>
            <a:ext cx="5435600" cy="1247013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6172200" y="2212467"/>
            <a:ext cx="5435600" cy="381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6299200" y="2339467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이관 시 전달 정보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99200" y="2623058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26200" y="2623058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파일 이름·경로·탐지 이름 (캡처)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99200" y="2859532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26200" y="2859532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파일 용도·출처·최근 수정 여부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99200" y="3096006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26200" y="3096006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PC 이름, 사번, 마감 시각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84200" y="3561080"/>
            <a:ext cx="11023600" cy="638048"/>
          </a:xfrm>
          <a:prstGeom prst="rect">
            <a:avLst/>
          </a:prstGeom>
          <a:solidFill>
            <a:srgbClr val="FDF0E7"/>
          </a:solidFill>
          <a:ln w="10160">
            <a:solidFill>
              <a:srgbClr val="F2C4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711200" y="3662680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★ 예외는 해시 단위로만 등록한다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11200" y="3899154"/>
            <a:ext cx="10769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폴더·확장자 단위 예외는 같은 위치에 들어온 악성 파일까지 통과시킨다.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IT-SEC-002-M · 사내 제한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15 / 27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3.3 보안 에이전트 설치 오류·정상 동작 확인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처리 절차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84200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60400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문의 유형</a:t>
            </a:r>
          </a:p>
        </p:txBody>
      </p:sp>
      <p:sp>
        <p:nvSpPr>
          <p:cNvPr id="8" name="Rectangle 7"/>
          <p:cNvSpPr/>
          <p:nvPr/>
        </p:nvSpPr>
        <p:spPr>
          <a:xfrm>
            <a:off x="1289248" y="1168400"/>
            <a:ext cx="573522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365448" y="1219200"/>
            <a:ext cx="421122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SEC-02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1862770" y="1168400"/>
            <a:ext cx="832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1938970" y="1219200"/>
            <a:ext cx="679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기본 긴급도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694818" y="1168400"/>
            <a:ext cx="304081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2771018" y="1219200"/>
            <a:ext cx="151681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P2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998899" y="1168400"/>
            <a:ext cx="651656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3075099" y="1219200"/>
            <a:ext cx="499256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1차 처리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0555" y="1168400"/>
            <a:ext cx="914400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3726755" y="1219200"/>
            <a:ext cx="762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서비스데스크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64955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4641155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처리 방식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270004" y="1168400"/>
            <a:ext cx="1645642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5346204" y="1219200"/>
            <a:ext cx="1493242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즉시 처리 후 필요 시 티켓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915646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6991846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이관 대상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620695" y="1168400"/>
            <a:ext cx="787400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7696895" y="1219200"/>
            <a:ext cx="635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정보보안팀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84200" y="1587500"/>
            <a:ext cx="5435600" cy="1483487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Rectangle 26"/>
          <p:cNvSpPr/>
          <p:nvPr/>
        </p:nvSpPr>
        <p:spPr>
          <a:xfrm>
            <a:off x="584200" y="1587500"/>
            <a:ext cx="5435600" cy="381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711200" y="1714500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접수 시 확인 질문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1200" y="19980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8200" y="1998091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오류 창 문구는 무엇인가요? (캡처)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11200" y="2234565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8200" y="2234565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작업 표시줄(메뉴 막대)에 에이전트 아이콘이 있나요?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11200" y="2471039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8200" y="2471039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아이콘 상태가 '보호 중'인가요?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11200" y="2707513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8200" y="2707513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PC 이름과 운영체제는?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172200" y="1587500"/>
            <a:ext cx="5435600" cy="1483487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Rectangle 37"/>
          <p:cNvSpPr/>
          <p:nvPr/>
        </p:nvSpPr>
        <p:spPr>
          <a:xfrm>
            <a:off x="6172200" y="1587500"/>
            <a:ext cx="5435600" cy="381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TextBox 38"/>
          <p:cNvSpPr txBox="1"/>
          <p:nvPr/>
        </p:nvSpPr>
        <p:spPr>
          <a:xfrm>
            <a:off x="6299200" y="1714500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판단 기준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299200" y="19980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26200" y="1998091"/>
            <a:ext cx="5054600" cy="39674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즉시 처리: 아이콘이 있고 '보호 중'이면 설치 완료로 안내하고 상담 기록만</a:t>
            </a:r>
          </a:p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남긴다 (INQ-2026-00057, INQ-2026-00083, INQ-2026-00155).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299200" y="2432939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26200" y="2432939"/>
            <a:ext cx="5054600" cy="39674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티켓: 아이콘이 없거나 '보호되지 않음'이면 정보보안팀이 관리 콘솔에서 상태를</a:t>
            </a:r>
          </a:p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확인한다.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84200" y="3172587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처리 절차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84200" y="3497072"/>
            <a:ext cx="228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①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38200" y="3497072"/>
            <a:ext cx="4816856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PC 재시작 뒤 에이전트 아이콘과 상태를 확인하도록 안내한다.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84200" y="3736213"/>
            <a:ext cx="228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②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38200" y="3736213"/>
            <a:ext cx="4816856" cy="41478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EDR 관리 콘솔의 [장치 목록]에서 PC 이름으로 상태·마지막 연결·정책</a:t>
            </a:r>
          </a:p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버전을 확인한다.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84200" y="4182745"/>
            <a:ext cx="228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③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38200" y="4182745"/>
            <a:ext cx="4816856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설치 기록에 오류 뒤 '보호 시작'이 있으면 설치 완료로 안내한다.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84200" y="4421886"/>
            <a:ext cx="228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④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38200" y="4421886"/>
            <a:ext cx="4816856" cy="41478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연결 기록이 없거나 보호되지 않으면 엔드포인트지원팀과 함께</a:t>
            </a:r>
          </a:p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소프트웨어 센터로 다시 배포한다.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84200" y="4868418"/>
            <a:ext cx="228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⑤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38200" y="4868418"/>
            <a:ext cx="4816856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'보호 중'을 사용자와 확인하고 종료한다.</a:t>
            </a:r>
          </a:p>
        </p:txBody>
      </p:sp>
      <p:sp>
        <p:nvSpPr>
          <p:cNvPr id="55" name="Rectangle 54"/>
          <p:cNvSpPr/>
          <p:nvPr/>
        </p:nvSpPr>
        <p:spPr>
          <a:xfrm>
            <a:off x="6632389" y="3497072"/>
            <a:ext cx="4226678" cy="2596388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6" name="Picture 55" descr="m_edr_devic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32389" y="3497072"/>
            <a:ext cx="4226678" cy="2596388"/>
          </a:xfrm>
          <a:prstGeom prst="rect">
            <a:avLst/>
          </a:prstGeom>
        </p:spPr>
      </p:pic>
      <p:sp>
        <p:nvSpPr>
          <p:cNvPr id="57" name="TextBox 56"/>
          <p:cNvSpPr txBox="1"/>
          <p:nvPr/>
        </p:nvSpPr>
        <p:spPr>
          <a:xfrm>
            <a:off x="5883656" y="6144260"/>
            <a:ext cx="5724144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그림 3.3-1. EDR 관리 콘솔: ① 장치 상태 '보호 중' ② 설치 오류 뒤 보호 시작 기록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IT-SEC-002-M · 사내 제한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16 / 27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3.3 보안 에이전트 설치 오류·정상 동작 확인 (계속)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처리 절차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84200" y="1168400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처리 후 안내 문구</a:t>
            </a:r>
          </a:p>
        </p:txBody>
      </p:sp>
      <p:sp>
        <p:nvSpPr>
          <p:cNvPr id="7" name="Rectangle 6"/>
          <p:cNvSpPr/>
          <p:nvPr/>
        </p:nvSpPr>
        <p:spPr>
          <a:xfrm>
            <a:off x="584200" y="1492885"/>
            <a:ext cx="11023600" cy="410591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84200" y="1492885"/>
            <a:ext cx="50800" cy="410591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787400" y="1594485"/>
            <a:ext cx="106934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보안 에이전트는 정상 설치되어 '보호 중' 상태입니다. 설치 중 보인 오류는 이미 설치된 구성 요소 때문에 한 번 더 뜬 창으로, 다시 설치하지 않으셔도 됩니다.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84200" y="2005076"/>
            <a:ext cx="5435600" cy="1247013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584200" y="2005076"/>
            <a:ext cx="5435600" cy="381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711200" y="2132076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재발 방지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1200" y="2415667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8200" y="2415667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문의이력에 재발 방지 기록 없음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1200" y="265214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8200" y="2652141"/>
            <a:ext cx="5054600" cy="39674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같은 오류 창 문의가 반복되면 설치 안내문에 "오류 창이 떠도 아이콘 상태를</a:t>
            </a:r>
          </a:p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먼저 확인" 문구를 넣는 것을 검토한다.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72200" y="2005076"/>
            <a:ext cx="5435600" cy="1247013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6172200" y="2005076"/>
            <a:ext cx="5435600" cy="381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6299200" y="2132076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이관 시 전달 정보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99200" y="2415667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26200" y="2415667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오류 창 캡처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99200" y="265214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26200" y="2652141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아이콘 상태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99200" y="2888615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26200" y="2888615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PC 이름, 운영체제, 사번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IT-SEC-002-M · 사내 제한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17 / 27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3.4 알림 뒤 PC가 이상할 때 (감염 의심)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처리 절차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84200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60400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문의 유형</a:t>
            </a:r>
          </a:p>
        </p:txBody>
      </p:sp>
      <p:sp>
        <p:nvSpPr>
          <p:cNvPr id="8" name="Rectangle 7"/>
          <p:cNvSpPr/>
          <p:nvPr/>
        </p:nvSpPr>
        <p:spPr>
          <a:xfrm>
            <a:off x="1289248" y="1168400"/>
            <a:ext cx="573522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365448" y="1219200"/>
            <a:ext cx="421122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SEC-02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1862770" y="1168400"/>
            <a:ext cx="832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1938970" y="1219200"/>
            <a:ext cx="679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기본 긴급도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694818" y="1168400"/>
            <a:ext cx="304081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2771018" y="1219200"/>
            <a:ext cx="151681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P2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998899" y="1168400"/>
            <a:ext cx="651656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3075099" y="1219200"/>
            <a:ext cx="499256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1차 처리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0555" y="1168400"/>
            <a:ext cx="914400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3726755" y="1219200"/>
            <a:ext cx="762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서비스데스크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64955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4641155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처리 방식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270004" y="1168400"/>
            <a:ext cx="1529246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5346204" y="1219200"/>
            <a:ext cx="1376846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즉시 이관 (티켓 + 전화)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799250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6875450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이관 대상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504299" y="1168400"/>
            <a:ext cx="787400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7580499" y="1219200"/>
            <a:ext cx="635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정보보안팀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84200" y="1587500"/>
            <a:ext cx="5435600" cy="1643761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Rectangle 26"/>
          <p:cNvSpPr/>
          <p:nvPr/>
        </p:nvSpPr>
        <p:spPr>
          <a:xfrm>
            <a:off x="584200" y="1587500"/>
            <a:ext cx="5435600" cy="381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711200" y="1714500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접수 시 확인 질문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1200" y="19980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8200" y="1998091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언제부터 어떤 증상이 있나요? (모르는 프로세스, 느려짐, 파일이 열리지 않음)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11200" y="2234565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8200" y="2234565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파일 확장자가 바뀌었거나 안내문이 생겼나요?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11200" y="2471039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8200" y="2471039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공유 드라이브·외장 디스크가 연결돼 있나요?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11200" y="2707513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8200" y="2707513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네트워크를 끊었나요?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172200" y="1587500"/>
            <a:ext cx="5435600" cy="1643761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Rectangle 37"/>
          <p:cNvSpPr/>
          <p:nvPr/>
        </p:nvSpPr>
        <p:spPr>
          <a:xfrm>
            <a:off x="6172200" y="1587500"/>
            <a:ext cx="5435600" cy="381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TextBox 38"/>
          <p:cNvSpPr txBox="1"/>
          <p:nvPr/>
        </p:nvSpPr>
        <p:spPr>
          <a:xfrm>
            <a:off x="6299200" y="1714500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판단 기준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299200" y="19980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26200" y="1998091"/>
            <a:ext cx="5054600" cy="39674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즉시 이관: 감염 의심은 정보보안팀 티켓(P2)으로 넘기고 전화로 알린다</a:t>
            </a:r>
          </a:p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(INQ-2026-00390).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299200" y="2432939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26200" y="2432939"/>
            <a:ext cx="5054600" cy="39674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파일 확장자 변경·안내문(랜섬웨어 의심)이거나 공유 드라이브 파일이</a:t>
            </a:r>
          </a:p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바뀌었으면 P1로 올리고 4장을 따른다.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299200" y="2867787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426200" y="2867787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같은 증상이 여러 PC에서 나오면 대형 장애 후보로 본다.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84200" y="3332861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처리 절차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IT-SEC-002-M · 사내 제한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18 / 27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3.4 알림 뒤 PC가 이상할 때 (감염 의심) (계속)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처리 절차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84200" y="1168400"/>
            <a:ext cx="228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8200" y="1168400"/>
            <a:ext cx="4816856" cy="41478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사용자에게 Wi-Fi·랜선 차단, 외장 디스크·공유 드라이브 연결 해제를</a:t>
            </a:r>
          </a:p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안내한다. 전원은 켜 둔다.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4200" y="1614932"/>
            <a:ext cx="228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8200" y="1614932"/>
            <a:ext cx="4816856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티켓을 만들어 정보보안팀에 배정하고 전화로 알린다.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4200" y="1854073"/>
            <a:ext cx="228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8200" y="1854073"/>
            <a:ext cx="4816856" cy="41478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정보보안팀은 EDR 관리 콘솔에서 PC를 원격 격리하고 프로세스·연결</a:t>
            </a:r>
          </a:p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기록을 분석한다.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4200" y="2300605"/>
            <a:ext cx="228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④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8200" y="2300605"/>
            <a:ext cx="4816856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같은 해시·같은 연결 주소가 다른 PC에 있는지 전사 검색한다.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4200" y="2539746"/>
            <a:ext cx="228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8200" y="2539746"/>
            <a:ext cx="4816856" cy="41478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악성코드를 제거하고, 완전히 제거됐다고 확인할 수 없으면</a:t>
            </a:r>
          </a:p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엔드포인트지원팀과 PC를 다시 설치한다.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4200" y="2986278"/>
            <a:ext cx="228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⑥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8200" y="2986278"/>
            <a:ext cx="4816856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계정 정보가 노출됐을 수 있으면 비밀번호 변경을 안내하고 FIN 처리한다.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883656" y="1168400"/>
            <a:ext cx="5724144" cy="3516260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9" name="Picture 18" descr="m_edr_devi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83656" y="1168400"/>
            <a:ext cx="5724144" cy="351626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5883656" y="4735460"/>
            <a:ext cx="5724144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그림 3.4-1. EDR 관리 콘솔: ① 원격 네트워크 격리 후 ② 검사·프로세스 분석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84200" y="5042800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처리 후 안내 문구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84200" y="5367285"/>
            <a:ext cx="11023600" cy="617982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584200" y="5367285"/>
            <a:ext cx="50800" cy="617982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787400" y="5468885"/>
            <a:ext cx="10693400" cy="41478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PC에서 업무 외 사이트에서 받은 파일로 인한 악성코드가 확인되어 네트워크를 격리하고 정리했습니다. PC는 다시 설치했고 지금은 정상입니다. 안전을 위해</a:t>
            </a:r>
          </a:p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비밀번호를 바꿔 주세요.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IT-SEC-002-M · 사내 제한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19 / 27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3.4 알림 뒤 PC가 이상할 때 (감염 의심) (계속)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처리 절차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84200" y="1168400"/>
            <a:ext cx="5435600" cy="1247013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584200" y="1168400"/>
            <a:ext cx="5435600" cy="381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711200" y="1295400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재발 방지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1200" y="15789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8200" y="1578991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문의이력에 재발 방지 기록 없음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1200" y="1815465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8200" y="1815465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감염 경로 사이트를 웹 필터에 차단 등록한다.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72200" y="1168400"/>
            <a:ext cx="5435600" cy="1247013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6172200" y="1168400"/>
            <a:ext cx="5435600" cy="381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6299200" y="1295400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이관 시 전달 정보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99200" y="15789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26200" y="1578991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증상과 처음 이상해진 시각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99200" y="1815465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26200" y="1815465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확장자 변경·안내문·공유 드라이브 영향 여부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99200" y="2051939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26200" y="2051939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네트워크 차단 여부, PC 이름, 사번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84200" y="2517013"/>
            <a:ext cx="11023600" cy="638048"/>
          </a:xfrm>
          <a:prstGeom prst="rect">
            <a:avLst/>
          </a:prstGeom>
          <a:solidFill>
            <a:srgbClr val="FDF0E7"/>
          </a:solidFill>
          <a:ln w="10160">
            <a:solidFill>
              <a:srgbClr val="F2C4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711200" y="2618613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★ 원인 확인 전에 PC를 다시 설치하거나 전원을 끄지 않는다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1200" y="2855087"/>
            <a:ext cx="10769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증거가 사라진다. 원격 격리로 확산을 막은 뒤 분석한다.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IT-SEC-002-M · 사내 제한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20 / 27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D29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2489200"/>
            <a:ext cx="11023600" cy="8102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6380"/>
              </a:lnSpc>
              <a:spcBef>
                <a:spcPts val="0"/>
              </a:spcBef>
              <a:spcAft>
                <a:spcPts val="0"/>
              </a:spcAft>
            </a:pPr>
            <a:r>
              <a:rPr sz="580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4200" y="3505200"/>
            <a:ext cx="11023600" cy="5181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079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대형 장애 대응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© HANWHA SYSTEMS ICT · IT-SEC-002-M · 사내 제한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21 / 27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대형 장애 대응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04. 대형 장애 대응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35000" y="1168400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8200" y="1168400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같은 탐지 이름·같은 해시가 짧은 시간에 여러 PC에서 나오거나, 공유 드라이브 파일이 한꺼번에 바뀌면 개별 건이 아니라 대형 장애로 판단한다.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5000" y="1407541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8200" y="1407541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대표 티켓(MI-YYYY-NN) 1건을 정하고 같은 증상의 개별 문의는 대표 티켓에 연결한다 (MAN-00 7장).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5000" y="1646682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8200" y="1646682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정보보안팀은 감염 PC를 원격 격리하고 같은 해시·연결 주소를 전사에서 차단한다. 공유 드라이브가 영향받으면 시스템인프라팀과 해당 드라이브 연결을 막는다.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000" y="1885823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8200" y="1885823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전사 공지와 ITssue 챗봇 첫 화면 안내를 올린다. 공지에는 증상, 하지 말 것(전원 끄기·파일 삭제·안내문 연락), 바로 할 일(네트워크 끊기·1119 연락)을 넣는다.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5000" y="2124964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8200" y="2124964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복구가 끝나면 연결된 티켓을 한꺼번에 종료하고 장애 보고서(원인·조치·재발 방지)를 남긴다.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84200" y="2414905"/>
            <a:ext cx="11023600" cy="401574"/>
          </a:xfrm>
          <a:prstGeom prst="rect">
            <a:avLst/>
          </a:prstGeom>
          <a:solidFill>
            <a:srgbClr val="FDF0E7"/>
          </a:solidFill>
          <a:ln w="10160">
            <a:solidFill>
              <a:srgbClr val="F2C4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711200" y="2516505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★ 대형 장애 중에도 예외 등록이나 보안 프로그램 정책 완화로 업무를 우회시키지 않는다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IT-SEC-002-M · 사내 제한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22 / 27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D29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2489200"/>
            <a:ext cx="11023600" cy="8102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6380"/>
              </a:lnSpc>
              <a:spcBef>
                <a:spcPts val="0"/>
              </a:spcBef>
              <a:spcAft>
                <a:spcPts val="0"/>
              </a:spcAft>
            </a:pPr>
            <a:r>
              <a:rPr sz="580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4200" y="3505200"/>
            <a:ext cx="11023600" cy="5181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079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처리 기록 기준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© HANWHA SYSTEMS ICT · IT-SEC-002-M · 사내 제한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23 / 27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처리 기록 기준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05. 처리 기록 기준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84200" y="1168400"/>
            <a:ext cx="11023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티켓을 종료할 때 아래 항목을 남깁니다.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84200" y="1464691"/>
          <a:ext cx="11023600" cy="20447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396435"/>
                <a:gridCol w="8627165"/>
              </a:tblGrid>
              <a:tr h="292100"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항목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적는 내용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원인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확인된 원인 한 줄 (예: 외부 피싱 메일, 매크로 행위 기반 오탐)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조치 내용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실제로 한 조치. 즉시 처리면 앞에 [즉시 처리]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보안 조치 기록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차단한 주소·도메인·해시, 격리·세션 종료 시각, 보존한 증거 (해당할 때)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재발 방지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같은 문의를 줄이기 위한 조치 (없으면 빈칸)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관련 FAQ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안내에 쓴 FAQ 번호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가이드 반영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사용자 가이드에 추가·수정이 필요한지 (필요 / 불필요)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IT-SEC-002-M · 사내 제한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24 / 27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D29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2489200"/>
            <a:ext cx="11023600" cy="8102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6380"/>
              </a:lnSpc>
              <a:spcBef>
                <a:spcPts val="0"/>
              </a:spcBef>
              <a:spcAft>
                <a:spcPts val="0"/>
              </a:spcAft>
            </a:pPr>
            <a:r>
              <a:rPr sz="580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06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4200" y="3505200"/>
            <a:ext cx="11023600" cy="5181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079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연락처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© HANWHA SYSTEMS ICT · IT-SEC-002-M · 사내 제한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25 / 27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연락처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06. 연락처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84200" y="1168400"/>
          <a:ext cx="11023600" cy="20447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755900"/>
                <a:gridCol w="2755900"/>
                <a:gridCol w="5511800"/>
              </a:tblGrid>
              <a:tr h="292100"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담당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연락처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이럴 때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서비스데스크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 헬프데스크 내선 1000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1차 접수, 즉시 처리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정보보안팀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내선 1119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보안 신고·이관. 즉시 이관 건은 티켓과 함께 전화로 알린다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정보보안팀장 (오한결)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내선 1119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재배정 승인, 대형 장애 판단, 사고 보고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시스템인프라팀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내선 1050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서버·DB·SSO·메일 서버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업무시스템팀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내선 1060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사내 시스템 권한·접근 기록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엔드포인트지원팀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내선 1030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PC 재설치·장비 교체, 단말 관리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IT-SEC-002-M · 사내 제한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26 / 27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개정 이력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84200" y="1168400"/>
          <a:ext cx="11023600" cy="8763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002145"/>
                <a:gridCol w="1403004"/>
                <a:gridCol w="1603433"/>
                <a:gridCol w="7015018"/>
              </a:tblGrid>
              <a:tr h="292100"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버전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개정일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작성자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변경 내용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v1.0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2026-03-01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정보보안팀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최초 작성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v2.0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2026-10-16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정보보안팀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7개 분류 통합 정리본. 문서 양식·열람 등급·용어·연락처를 통일하고 분류 사이의 중복 내용을 한 문서로 정리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IT-SEC-002-M · 사내 제한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27 / 27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IT-SEC-002-M 보안 프로그램(백신·EDR) 알림 처리 매뉴얼</dc:title>
  <dc:subject>사내 제한 · IT 운영 담당자·관리자</dc:subject>
  <dc:creator>정보보안팀</dc:creator>
  <cp:keywords/>
  <dc:description>generated using python-pptx</dc:description>
  <cp:lastModifiedBy>정보보안팀</cp:lastModifiedBy>
  <cp:revision>1</cp:revision>
  <dcterms:created xsi:type="dcterms:W3CDTF">2013-01-27T09:14:16Z</dcterms:created>
  <dcterms:modified xsi:type="dcterms:W3CDTF">2013-01-27T09:15:58Z</dcterms:modified>
  <cp:category>사내 제한</cp:category>
</cp:coreProperties>
</file>