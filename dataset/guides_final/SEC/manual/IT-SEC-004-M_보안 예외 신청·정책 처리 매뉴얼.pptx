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한화시스템 ICT IT 담당자 매뉴얼 · 정보보안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예외 신청·정책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IT-SEC-004-M  |  정보보안팀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IT-SEC-004-M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IT-SEC-004-M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 정보보안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IT-SEC-004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SEC-03, SEC-07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FAQ-032, FAQ-009, FAQ-038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연락처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23p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IT-SEC-004로 들어오는 보안 예외 신청(이동식 저장매체, 파일 반출, 사이트 차단 해제)과 정책 문의(마스킹, 생성형 AI)를 같은 기준으로 판단하고, 예외는 가장 좁은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범위·짧은 기간으로 등록해 만료까지 관리한다.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99656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321052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서비스데스크(L1)·ITssue 챗봇: 정책 문의 안내, 신청 내용과 승인 여부 확인, 대체 방법 안내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정보보안팀(L2): 매체·반출 예외 등록, URL 평판 확인과 예외 등록, AI 도구 검토, 기밀 입력·오발송 사고 대응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예외·정책 담당 (소시후). 담당자가 없으면 정보보안팀장(오한결)이 재배정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DLP 관리 콘솔, 웹 필터 관리 콘솔, 정보보안 포털, 상담 기록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가이드의 항목별 기본값입니다. 긴급도 기준은 IT-STD-001 IT 서비스 운영 기준을 따릅니다.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1625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1048"/>
                <a:gridCol w="1009203"/>
                <a:gridCol w="3571025"/>
                <a:gridCol w="931572"/>
                <a:gridCol w="1319727"/>
                <a:gridCol w="2018406"/>
                <a:gridCol w="15526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USB 등 이동식 저장매체 사용 신청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신청·승인 후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개인정보가 든 파일을 외부로 보내야 할 때 (마스킹)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(오발송은 즉시 이관)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SEC-07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사이트 차단 해제 요청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SEC (정책)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생성형 AI를 업무에 쓸 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ITssue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챗봇·서비스데스크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즉시 처리 (기밀 입력은 즉시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1918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5163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5163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정책 문의(규칙·절차·승인 도구 목록)는 안내로 끝낸다. 챗봇이 ANSWER로 처리할 수 있다.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7555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75551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신청·승인 후 처리: 매체·반출 예외는 팀장 승인과 보안 서약이 확인된 뒤 정보보안팀이 등록한다.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000" y="399465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399465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사이트 차단 해제, AI 도구 검토 요청. 정보보안팀에 배정하고 RDY → WIP → FIN → CLS 으로 관리한다.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000" y="423379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23379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이관: 기밀을 승인되지 않은 도구에 입력했거나 개인정보를 잘못 보낸 건. 티켓과 함께 전화로 알린다.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84200" y="452374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484822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484822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SEC-03·SEC-07은 기본 P4다.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000" y="508736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8200" y="508736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"오늘 마감", "급합니다"처럼 당일 업무 차질이 있으면 P3로 한 단계 올린다 (INQ-2026-00021, INQ-2026-00073).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000" y="532650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8200" y="532650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기밀 입력·개인정보 오발송은 보안 사고로 보고 최소 P2로 처리한다 (MAN-00 공통 규칙 6).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000" y="556564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8200" y="556564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절차를 건너뛰어 달라는 요청은 긴급도와 관계없이 받지 않는다.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흐름</a:t>
            </a:r>
          </a:p>
        </p:txBody>
      </p:sp>
      <p:sp>
        <p:nvSpPr>
          <p:cNvPr id="7" name="Rectangle 6"/>
          <p:cNvSpPr/>
          <p:nvPr/>
        </p:nvSpPr>
        <p:spPr>
          <a:xfrm>
            <a:off x="1686560" y="1492885"/>
            <a:ext cx="8818880" cy="229290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m004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86560" y="1492885"/>
            <a:ext cx="8818880" cy="229290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84200" y="3836594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2-1. 보안 예외 신청·정책 문의 처리 흐름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USB 등 이동식 저장매체 사용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1163935" cy="292100"/>
          </a:xfrm>
          <a:prstGeom prst="rect">
            <a:avLst/>
          </a:prstGeom>
          <a:solidFill>
            <a:srgbClr val="FDF3D8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1011535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8A5A00"/>
                </a:solidFill>
                <a:latin typeface="Malgun Gothic"/>
                <a:ea typeface="Malgun Gothic"/>
                <a:cs typeface="Malgun Gothic"/>
              </a:rPr>
              <a:t>신청·승인 후 처리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33939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510139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8988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215188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무엇을, 왜 옮기나요? 받는 곳은?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공유 링크로는 안 되나요?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기간은? (최대 7일)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승인과 보안 서약을 마쳤나요?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절차 문의면 신청 방법을 안내하고 끝낸다.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234565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신청·승인 후 처리: 팀장 승인과 보안 서약이 있으면 정보보안팀이 기간 한정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예외를 등록한다 (INQ-2026-00017, INQ-2026-00347).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669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반려: 승인이 없거나 7일을 넘기는 요청, 개인 매체 사용 요청.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1725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3497072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497072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 내용(목적·기간·매체·파일)과 팀장 승인, 보안 서약을 확인한다.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4200" y="373621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736213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파일 공유 링크 같은 대체 방법으로 해결되는지 먼저 안내한다.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397535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3975354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정보보안팀은 DLP 관리 콘솔에서 지정 매체(관리 번호)만, 신청 기간(최대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7일)으로 예외를 등록한다. 복사 기록을 켠다.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4421886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421886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등록 결과를 신청자에게 알리고 FIN 처리한다.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4661027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4661027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[만료 예정]에서 기간이 끝나는 예외를 확인한다. 연장 요청은 새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신청으로 받는다.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32389" y="3497072"/>
            <a:ext cx="4226678" cy="2596388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58" name="Picture 57" descr="m_dlp_excep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2389" y="3497072"/>
            <a:ext cx="4226678" cy="2596388"/>
          </a:xfrm>
          <a:prstGeom prst="rect">
            <a:avLst/>
          </a:prstGeom>
        </p:spPr>
      </p:pic>
      <p:sp>
        <p:nvSpPr>
          <p:cNvPr id="59" name="TextBox 58"/>
          <p:cNvSpPr txBox="1"/>
          <p:nvPr/>
        </p:nvSpPr>
        <p:spPr>
          <a:xfrm>
            <a:off x="5883656" y="61442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3.1-1. DLP 관리 콘솔: ① 승인·서약 확인 ② 범위·기간을 정해 예외 등록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USB 등 이동식 저장매체 사용 신청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584200" y="1492885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84200" y="1492885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87400" y="1594485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신청하신 이동식 저장매체 사용을 승인된 기간 동안 등록했습니다. 지정한 매체에서만 쓸 수 있고 기간이 끝나면 다시 차단됩니다. 옮긴 파일은 목적이 끝나면 지워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주세요.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4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584200" y="2212467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11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1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재발 방지 기록 없음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반복 신청이 많은 업무(납품 등)는 파일 전달 방법을 따로 검토한다.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212467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2212467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2339467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623058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623058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 번호, 목적·기간·매체 관리 번호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85953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85953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승인·보안 서약 여부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99200" y="309600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26200" y="309600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3561080"/>
            <a:ext cx="11023600" cy="401574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711200" y="36626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예외는 지정 매체·신청 기간으로만 등록한다. 사용자 전체·기간 없는 예외를 만들지 않는다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개인정보가 든 파일을 외부로 보내야 할 때 (마스킹)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SEC-03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1945903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1793503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(오발송은 즉시 이관)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15907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292107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20955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997155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차단 안내에 감지된 항목은? (캡처)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받는 곳과 목적은? 모든 항목이 꼭 필요한가요?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원본을 보내야 하는 이유가 있나요?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잘못 보낸 것이 있나요?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필요한 항목만 남기고 마스킹해 보내도록 안내한다 (FAQ-032).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신청·승인 후 처리: 원본 반출이 꼭 필요하면 반출 신청(팀장 승인)으로 받는다.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 (P2): 개인정보를 잘못 보냈으면 정보보안팀에 전화로 알린다.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17258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49707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49707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차단 안내 화면으로 감지 항목을 확인한다.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73621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7362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필요한 항목만 남기고 마스킹하는 방법을 안내한다 (예: 010-****-5678).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397535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397535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원본 반출이 필요하면 반출 신청을 안내하고, 승인 뒤 정보보안팀이 DLP 반출 예외(파일·받는 곳 한정)를 등록한다.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421449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21449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오발송이면 받는 사람·시각·파일을 확인하고 정보보안팀이 회수 요청과 영향 범위 판단(법무팀 보고, 72시간 판단)을 한다.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000" y="445363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445363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결과를 기록하고 종료한다.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4743577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4200" y="5068062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9" name="Rectangle 58"/>
          <p:cNvSpPr/>
          <p:nvPr/>
        </p:nvSpPr>
        <p:spPr>
          <a:xfrm>
            <a:off x="584200" y="5068062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0" name="TextBox 59"/>
          <p:cNvSpPr txBox="1"/>
          <p:nvPr/>
        </p:nvSpPr>
        <p:spPr>
          <a:xfrm>
            <a:off x="787400" y="5169662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개인정보가 든 파일은 외부 전송이 차단됩니다. 받는 쪽에 필요한 항목만 남기고 나머지는 가린 뒤 다시 보내 주세요. 원본이 꼭 필요하면 정보보안 포털에서 반출을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신청해 주세요.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개인정보가 든 파일을 외부로 보내야 할 때 (마스킹)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재발 방지 기록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자주 차단되는 양식은 처음부터 마스킹된 서식을 배포하는 것을 검토한다.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483487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감지 항목 (캡처)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받는 곳·목적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반출 신청 번호 또는 오발송 내용(받는 사람·시각·파일)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2288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22884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업무 사이트 차단 해제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7352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2112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SEC-07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6277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3897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481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7101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9889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7509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055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2675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6495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4115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7000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4620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7640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5260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81452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57652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차단된 주소와 차단 분류는? (캡처)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용도는?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마감이 있나요?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 사이트를 어디서 알게 됐나요? (메일 링크인가요?)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업무 필요성이 확인되면 정보보안팀이 평판을 확인하고 URL 예외로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처리한다 (INQ-2026-00021, INQ-2026-00073).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당일 마감이면 P3로 올린다.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669413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반려: 악성·피싱 분류, 평판 위험 사이트. 메일 링크로 알게 된 사이트면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IT-SEC-001을 함께 본다.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업무 사이트 차단 해제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차단 화면 캡처와 업무 용도를 받아 티켓을 만든다.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407541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4816856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정보보안팀은 웹 필터 관리 콘솔에서 URL 분류·평판·악성 기록을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1854073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854073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문제가 없으면 도메인 단위·요청 부서 범위로 URL 예외를 등록한다.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4200" y="2093214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2093214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1영업일 안에 결과를 회신한다. 반려하면 이유와 대체 방법을 안내한다.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2332355"/>
            <a:ext cx="228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332355"/>
            <a:ext cx="4816856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사용자가 접속을 확인하면 FIN 처리한다.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83656" y="1168400"/>
            <a:ext cx="5724144" cy="3516260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Picture 16" descr="m_webfil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83656" y="1168400"/>
            <a:ext cx="5724144" cy="35162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83656" y="4735460"/>
            <a:ext cx="572414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ct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그림 3.3-1. 웹 필터 관리 콘솔: ① 평판·악성 기록 확인 ② URL 예외 등록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4200" y="50428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84200" y="536728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584200" y="536728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787400" y="546888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요청하신 사이트의 평판을 확인한 결과 업무에 써도 되는 사이트로 확인되어 차단을 해제했습니다. 브라우저를 다시 시작한 뒤 접속해 주세요.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업무 사이트 차단 해제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재발 방지 기록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같은 사이트 해제 요청이 여러 부서에서 오면 분류 정책을 검토한다.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차단 화면 캡처 (주소·분류·시각)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용도와 마감 시각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PC 이름, 사번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생성형 AI를 업무에 쓸 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763339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610939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SEC (정책)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2588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128788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4636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960836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188717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264917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40373" y="1168400"/>
            <a:ext cx="162406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916573" y="1219200"/>
            <a:ext cx="147166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ITssue 챗봇·서비스데스크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644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5406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69484" y="1168400"/>
            <a:ext cx="211755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245684" y="1219200"/>
            <a:ext cx="196515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 (기밀 입력은 즉시 이관)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8703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6323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92084" y="1168400"/>
            <a:ext cx="787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068284" y="1219200"/>
            <a:ext cx="635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어떤 도구로 어떤 업무를 하려고 하나요?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입력하려는 정보에 고객 정보·개인정보·소스코드·비밀번호·API Key가 있나요?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이미 입력했나요? 언제, 어떤 도구에?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사용 가능 여부 문의는 승인 도구 목록과 입력 금지 정보를 안내하고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끝낸다 (FAQ-038).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목록에 없는 도구의 사용 검토 요청.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669413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이관 (P2): 승인되지 않은 도구에 기밀을 이미 입력했으면 정보보안팀에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전화로 알린다.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65734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65734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쓰려는 도구가 승인 목록에 있는지, 입력하려는 정보가 금지 대상인지 확인한다.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8964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8964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승인된 도구와 입력 금지 정보를 안내한다. 금지 정보가 있으면 빼고 쓰도록 안내한다.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41356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356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목록에 없는 도구는 검토 요청 티켓으로 받는다. 검토 전에는 쓰지 않도록 안내한다.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3747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3747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기밀 입력 사고면 정보보안팀이 입력 내용·도구·계정을 확인하고, 서비스의 삭제 요청과 노출된 비밀번호·API Key 교체를 진행한다.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46139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6139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개인정보가 포함됐으면 법무팀에 보고하고 72시간 통지·신고 대상인지 판단한다.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490385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4200" y="5228336"/>
            <a:ext cx="11023600" cy="617982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Rectangle 56"/>
          <p:cNvSpPr/>
          <p:nvPr/>
        </p:nvSpPr>
        <p:spPr>
          <a:xfrm>
            <a:off x="584200" y="5228336"/>
            <a:ext cx="50800" cy="617982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8" name="TextBox 57"/>
          <p:cNvSpPr txBox="1"/>
          <p:nvPr/>
        </p:nvSpPr>
        <p:spPr>
          <a:xfrm>
            <a:off x="787400" y="5329936"/>
            <a:ext cx="106934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회사가 승인한 생성형 AI 도구만 쓸 수 있고, 고객 정보·개인정보·소스코드·비밀번호·API Key는 어떤 도구에도 넣지 않습니다. 승인 목록은 정보보안 포털에서 확인해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주세요.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생성형 AI를 업무에 쓸 때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문의이력에 기록 없음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1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도구 목록과 입력 금지 정보를 사내 공지에 정기적으로 다시 알린다.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도구 이름과 업무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(사고면) 입력 시각·정보 종류·도구 계정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사번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4200" y="2517013"/>
            <a:ext cx="11023600" cy="638048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11200" y="261861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사용자가 입력한 기밀 내용을 다시 받아 옮겨 적지 않는다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1200" y="2855087"/>
            <a:ext cx="10769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사고 확인에 필요한 정보 종류와 시각만 기록한다.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이 문서의 신청·정책 문의는 대형 장애 대상이 아니다.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웹 필터·DLP 정책 변경 뒤 여러 부서에서 같은 차단 문의가 짧은 시간에 들어오면 정책 오류로 보고 대표 티켓(MI-YYYY-NN)을 만든다 (MAN-00 7장).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정책 오류로 확인되면 정보보안팀이 정책을 되돌리고, 개별 예외 등록으로 대응하지 않는다.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공지에는 영향 범위와 복구 예정 시각, 그동안 쓸 대체 방법을 넣는다.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212496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212496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연결된 티켓을 한꺼번에 종료하고 원인·조치·재발 방지를 기록한다.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4200" y="2414905"/>
            <a:ext cx="11023600" cy="401574"/>
          </a:xfrm>
          <a:prstGeom prst="rect">
            <a:avLst/>
          </a:prstGeom>
          <a:solidFill>
            <a:srgbClr val="FDF0E7"/>
          </a:solidFill>
          <a:ln w="10160">
            <a:solidFill>
              <a:srgbClr val="F2C4A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11200" y="251650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★ 정책 오류 중에도 우회 방법(개인 메일·개인 클라우드)을 안내하지 않는다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종료할 때 아래 항목을 남깁니다.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233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6435"/>
                <a:gridCol w="862716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적는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원인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확인된 원인 한 줄 (예: 외부 피싱 메일, 매크로 행위 기반 오탐)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조치 내용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실제로 한 조치. 즉시 처리면 앞에 [즉시 처리]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조치 기록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차단한 주소·도메인·해시, 격리·세션 종료 시각, 보존한 증거 (해당할 때)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재발 방지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같은 문의를 줄이기 위한 조치 (없으면 빈칸)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안내에 쓴 FAQ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사용자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예외 관리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예외 종류, 범위(매체·URL·파일), 기간과 만료일, 승인자, 티켓 번호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연락처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3368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275590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접수, 즉시 처리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보안 신고·이관. 즉시 이관 건은 티켓과 함께 전화로 알린다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정보보안팀장 (오한결)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재배정 승인, 대형 장애 판단, 사고 보고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서버·DB·SSO·메일 서버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시스템 권한·접근 기록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엔드포인트지원팀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1030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PC 재설치·장비 교체, 단말 관리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법무팀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 조직도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개인정보 유출·통지 판단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v1.0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2026-03-01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최초 작성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HANWHA SYSTEMS ICT · IT-SEC-004-M · 사내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25 / 25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IT-SEC-004-M 보안 예외 신청·정책 처리 매뉴얼</dc:title>
  <dc:subject>사내 제한 · IT 운영 담당자·관리자</dc:subject>
  <dc:creator>정보보안팀</dc:creator>
  <cp:keywords/>
  <dc:description>generated using python-pptx</dc:description>
  <cp:lastModifiedBy>정보보안팀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