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84200" y="1651000"/>
            <a:ext cx="1168400" cy="508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84200" y="2108200"/>
            <a:ext cx="11023600" cy="270510"/>
          </a:xfrm>
          <a:prstGeom prst="rect">
            <a:avLst/>
          </a:prstGeom>
          <a:noFill/>
        </p:spPr>
        <p:txBody>
          <a:bodyPr wrap="none" lIns="0" rIns="0" tIns="0" bIns="0" anchor="t">
            <a:spAutoFit/>
          </a:bodyPr>
          <a:lstStyle/>
          <a:p>
            <a:pPr algn="l">
              <a:lnSpc>
                <a:spcPts val="2129"/>
              </a:lnSpc>
              <a:spcBef>
                <a:spcPts val="0"/>
              </a:spcBef>
              <a:spcAft>
                <a:spcPts val="0"/>
              </a:spcAft>
            </a:pPr>
            <a:r>
              <a:rPr sz="1500" b="0">
                <a:solidFill>
                  <a:srgbClr val="5A6270"/>
                </a:solidFill>
                <a:latin typeface="Malgun Gothic"/>
                <a:ea typeface="Malgun Gothic"/>
                <a:cs typeface="Malgun Gothic"/>
              </a:rPr>
              <a:t>한화시스템 ICT IT 서비스 기준 · 공통 기준</a:t>
            </a:r>
          </a:p>
        </p:txBody>
      </p:sp>
      <p:sp>
        <p:nvSpPr>
          <p:cNvPr id="5" name="TextBox 4"/>
          <p:cNvSpPr txBox="1"/>
          <p:nvPr/>
        </p:nvSpPr>
        <p:spPr>
          <a:xfrm>
            <a:off x="584200" y="2489200"/>
            <a:ext cx="11023600" cy="609600"/>
          </a:xfrm>
          <a:prstGeom prst="rect">
            <a:avLst/>
          </a:prstGeom>
          <a:noFill/>
        </p:spPr>
        <p:txBody>
          <a:bodyPr wrap="none" lIns="0" rIns="0" tIns="0" bIns="0" anchor="t">
            <a:spAutoFit/>
          </a:bodyPr>
          <a:lstStyle/>
          <a:p>
            <a:pPr algn="l">
              <a:lnSpc>
                <a:spcPts val="4800"/>
              </a:lnSpc>
              <a:spcBef>
                <a:spcPts val="0"/>
              </a:spcBef>
              <a:spcAft>
                <a:spcPts val="0"/>
              </a:spcAft>
            </a:pPr>
            <a:r>
              <a:rPr sz="4000" b="1">
                <a:solidFill>
                  <a:srgbClr val="1D2433"/>
                </a:solidFill>
                <a:latin typeface="Malgun Gothic"/>
                <a:ea typeface="Malgun Gothic"/>
                <a:cs typeface="Malgun Gothic"/>
              </a:rPr>
              <a:t>IT 서비스 운영 기준</a:t>
            </a:r>
          </a:p>
        </p:txBody>
      </p:sp>
      <p:sp>
        <p:nvSpPr>
          <p:cNvPr id="6" name="TextBox 5"/>
          <p:cNvSpPr txBox="1"/>
          <p:nvPr/>
        </p:nvSpPr>
        <p:spPr>
          <a:xfrm>
            <a:off x="584200" y="3149600"/>
            <a:ext cx="11023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IT-STD-001  |  서비스데스크  |  2026.10.16  |  Ver 2.0</a:t>
            </a:r>
          </a:p>
        </p:txBody>
      </p:sp>
      <p:sp>
        <p:nvSpPr>
          <p:cNvPr id="7" name="Rounded Rectangle 6"/>
          <p:cNvSpPr/>
          <p:nvPr/>
        </p:nvSpPr>
        <p:spPr>
          <a:xfrm>
            <a:off x="584200" y="3581400"/>
            <a:ext cx="1680815" cy="304800"/>
          </a:xfrm>
          <a:prstGeom prst="roundRect">
            <a:avLst>
              <a:gd name="adj" fmla="val 1666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300" y="3644900"/>
            <a:ext cx="1680815"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FFFFFF"/>
                </a:solidFill>
                <a:latin typeface="Malgun Gothic"/>
                <a:ea typeface="Malgun Gothic"/>
                <a:cs typeface="Malgun Gothic"/>
              </a:rPr>
              <a:t>사내 일반 · 전 임직원</a:t>
            </a:r>
          </a:p>
        </p:txBody>
      </p:sp>
      <p:sp>
        <p:nvSpPr>
          <p:cNvPr id="9" name="TextBox 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10" name="TextBox 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문서 정보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IT-STD-001</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752600"/>
        </p:xfrm>
        <a:graphic>
          <a:graphicData uri="http://schemas.openxmlformats.org/drawingml/2006/table">
            <a:tbl>
              <a:tblPr firstRow="0" bandRow="0">
                <a:tableStyleId>{5940675A-B579-460E-94D1-54222C63F5DA}</a:tableStyleId>
              </a:tblPr>
              <a:tblGrid>
                <a:gridCol w="1732280"/>
                <a:gridCol w="3779520"/>
                <a:gridCol w="1732280"/>
                <a:gridCol w="3779520"/>
              </a:tblGrid>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번호</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IT-STD-001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버전</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분류</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STD 공통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시행일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유형</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공통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열람 등급</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일반 (전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관리 부서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승인자</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IT운영·보안 조직장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대상</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담당자 매뉴얼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포함 시나리오</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관련 FAQ</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FAQ-040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graphicFrame>
        <p:nvGraphicFramePr>
          <p:cNvPr id="7" name="Table 6"/>
          <p:cNvGraphicFramePr>
            <a:graphicFrameLocks noGrp="1"/>
          </p:cNvGraphicFramePr>
          <p:nvPr/>
        </p:nvGraphicFramePr>
        <p:xfrm>
          <a:off x="584200" y="3022600"/>
          <a:ext cx="11023600" cy="457200"/>
        </p:xfrm>
        <a:graphic>
          <a:graphicData uri="http://schemas.openxmlformats.org/drawingml/2006/table">
            <a:tbl>
              <a:tblPr firstRow="0" bandRow="0">
                <a:tableStyleId>{5940675A-B579-460E-94D1-54222C63F5DA}</a:tableStyleId>
              </a:tblPr>
              <a:tblGrid>
                <a:gridCol w="1732280"/>
                <a:gridCol w="9291320"/>
              </a:tblGrid>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키워드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 IT 문의 창구, 내선 1000, 내선 1119, 긴급도, P1, P2, P3, P4, 응답 목표, 해결 목표, 티켓 상태, RDY, IP, FIN, CLS, 해결 확인, 대형 장애, 7개 분류, 담당</a:t>
                      </a:r>
                    </a:p>
                    <a:p>
                      <a:pPr algn="l">
                        <a:lnSpc>
                          <a:spcPts val="1300"/>
                        </a:lnSpc>
                        <a:spcBef>
                          <a:spcPts val="0"/>
                        </a:spcBef>
                        <a:spcAft>
                          <a:spcPts val="0"/>
                        </a:spcAft>
                      </a:pPr>
                      <a:r>
                        <a:rPr sz="1000" b="0">
                          <a:solidFill>
                            <a:srgbClr val="1D2433"/>
                          </a:solidFill>
                          <a:latin typeface="Malgun Gothic"/>
                          <a:ea typeface="Malgun Gothic"/>
                          <a:cs typeface="Malgun Gothic"/>
                        </a:rPr>
                        <a:t>조직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Contents</a:t>
            </a:r>
          </a:p>
        </p:txBody>
      </p:sp>
      <p:cxnSp>
        <p:nvCxnSpPr>
          <p:cNvPr id="4" name="Connector 3"/>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65200" y="1244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1. 개요</a:t>
            </a:r>
          </a:p>
        </p:txBody>
      </p:sp>
      <p:cxnSp>
        <p:nvCxnSpPr>
          <p:cNvPr id="6" name="Connector 5"/>
          <p:cNvCxnSpPr/>
          <p:nvPr/>
        </p:nvCxnSpPr>
        <p:spPr>
          <a:xfrm>
            <a:off x="1659892" y="1431290"/>
            <a:ext cx="84239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185400" y="1244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4p</a:t>
            </a:r>
          </a:p>
        </p:txBody>
      </p:sp>
      <p:sp>
        <p:nvSpPr>
          <p:cNvPr id="8" name="TextBox 7"/>
          <p:cNvSpPr txBox="1"/>
          <p:nvPr/>
        </p:nvSpPr>
        <p:spPr>
          <a:xfrm>
            <a:off x="965200" y="16764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2. 문의 창구와 처리 흐름</a:t>
            </a:r>
          </a:p>
        </p:txBody>
      </p:sp>
      <p:cxnSp>
        <p:nvCxnSpPr>
          <p:cNvPr id="9" name="Connector 8"/>
          <p:cNvCxnSpPr/>
          <p:nvPr/>
        </p:nvCxnSpPr>
        <p:spPr>
          <a:xfrm>
            <a:off x="3092016" y="1863090"/>
            <a:ext cx="699178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5400" y="1676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6p</a:t>
            </a:r>
          </a:p>
        </p:txBody>
      </p:sp>
      <p:sp>
        <p:nvSpPr>
          <p:cNvPr id="11" name="TextBox 10"/>
          <p:cNvSpPr txBox="1"/>
          <p:nvPr/>
        </p:nvSpPr>
        <p:spPr>
          <a:xfrm>
            <a:off x="965200" y="21082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3. 긴급도와 처리 목표</a:t>
            </a:r>
          </a:p>
        </p:txBody>
      </p:sp>
      <p:cxnSp>
        <p:nvCxnSpPr>
          <p:cNvPr id="12" name="Connector 11"/>
          <p:cNvCxnSpPr/>
          <p:nvPr/>
        </p:nvCxnSpPr>
        <p:spPr>
          <a:xfrm>
            <a:off x="2851708" y="2294890"/>
            <a:ext cx="72320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85400" y="2108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9p</a:t>
            </a:r>
          </a:p>
        </p:txBody>
      </p:sp>
      <p:sp>
        <p:nvSpPr>
          <p:cNvPr id="14" name="TextBox 13"/>
          <p:cNvSpPr txBox="1"/>
          <p:nvPr/>
        </p:nvSpPr>
        <p:spPr>
          <a:xfrm>
            <a:off x="965200" y="25400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4. 7개 분류와 담당 조직</a:t>
            </a:r>
          </a:p>
        </p:txBody>
      </p:sp>
      <p:cxnSp>
        <p:nvCxnSpPr>
          <p:cNvPr id="15" name="Connector 14"/>
          <p:cNvCxnSpPr/>
          <p:nvPr/>
        </p:nvCxnSpPr>
        <p:spPr>
          <a:xfrm>
            <a:off x="3017267" y="2726690"/>
            <a:ext cx="7066533"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85400" y="25400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11p</a:t>
            </a:r>
          </a:p>
        </p:txBody>
      </p:sp>
      <p:sp>
        <p:nvSpPr>
          <p:cNvPr id="17" name="TextBox 16"/>
          <p:cNvSpPr txBox="1"/>
          <p:nvPr/>
        </p:nvSpPr>
        <p:spPr>
          <a:xfrm>
            <a:off x="965200" y="29718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5. 공통 규칙</a:t>
            </a:r>
          </a:p>
        </p:txBody>
      </p:sp>
      <p:cxnSp>
        <p:nvCxnSpPr>
          <p:cNvPr id="18" name="Connector 17"/>
          <p:cNvCxnSpPr/>
          <p:nvPr/>
        </p:nvCxnSpPr>
        <p:spPr>
          <a:xfrm>
            <a:off x="2078000" y="3158490"/>
            <a:ext cx="8005800"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185400" y="29718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14p</a:t>
            </a:r>
          </a:p>
        </p:txBody>
      </p:sp>
      <p:sp>
        <p:nvSpPr>
          <p:cNvPr id="20" name="TextBox 19"/>
          <p:cNvSpPr txBox="1"/>
          <p:nvPr/>
        </p:nvSpPr>
        <p:spPr>
          <a:xfrm>
            <a:off x="965200" y="3403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6. 여러 사람이 함께 겪는 장애 (대형 장애)</a:t>
            </a:r>
          </a:p>
        </p:txBody>
      </p:sp>
      <p:cxnSp>
        <p:nvCxnSpPr>
          <p:cNvPr id="21" name="Connector 20"/>
          <p:cNvCxnSpPr/>
          <p:nvPr/>
        </p:nvCxnSpPr>
        <p:spPr>
          <a:xfrm>
            <a:off x="4473612" y="3590290"/>
            <a:ext cx="561018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185400" y="3403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16p</a:t>
            </a:r>
          </a:p>
        </p:txBody>
      </p:sp>
      <p:sp>
        <p:nvSpPr>
          <p:cNvPr id="23" name="TextBox 22"/>
          <p:cNvSpPr txBox="1"/>
          <p:nvPr/>
        </p:nvSpPr>
        <p:spPr>
          <a:xfrm>
            <a:off x="965200" y="38354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부록 · 관련 문서 · 용어</a:t>
            </a:r>
          </a:p>
        </p:txBody>
      </p:sp>
      <p:cxnSp>
        <p:nvCxnSpPr>
          <p:cNvPr id="24" name="Connector 23"/>
          <p:cNvCxnSpPr/>
          <p:nvPr/>
        </p:nvCxnSpPr>
        <p:spPr>
          <a:xfrm>
            <a:off x="2710706" y="4002088"/>
            <a:ext cx="737309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85400" y="3835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18p</a:t>
            </a:r>
          </a:p>
        </p:txBody>
      </p:sp>
      <p:sp>
        <p:nvSpPr>
          <p:cNvPr id="26" name="TextBox 25"/>
          <p:cNvSpPr txBox="1"/>
          <p:nvPr/>
        </p:nvSpPr>
        <p:spPr>
          <a:xfrm>
            <a:off x="965200" y="42672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개정 이력</a:t>
            </a:r>
          </a:p>
        </p:txBody>
      </p:sp>
      <p:cxnSp>
        <p:nvCxnSpPr>
          <p:cNvPr id="27" name="Connector 26"/>
          <p:cNvCxnSpPr/>
          <p:nvPr/>
        </p:nvCxnSpPr>
        <p:spPr>
          <a:xfrm>
            <a:off x="1783011" y="4433888"/>
            <a:ext cx="8300789"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85400" y="4267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20p</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01</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개요</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개요</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01. 개요</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2089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목적</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모든 IT 가이드가 함께 따르는 문의 창구, 처리</a:t>
            </a:r>
          </a:p>
          <a:p>
            <a:pPr algn="l">
              <a:lnSpc>
                <a:spcPts val="1562"/>
              </a:lnSpc>
              <a:spcBef>
                <a:spcPts val="0"/>
              </a:spcBef>
              <a:spcAft>
                <a:spcPts val="0"/>
              </a:spcAft>
            </a:pPr>
            <a:r>
              <a:rPr sz="1100" b="0">
                <a:solidFill>
                  <a:srgbClr val="1D2433"/>
                </a:solidFill>
                <a:latin typeface="Malgun Gothic"/>
                <a:ea typeface="Malgun Gothic"/>
                <a:cs typeface="Malgun Gothic"/>
              </a:rPr>
              <a:t>흐름, 긴급도와 처리 목표, 공통 규칙을 정합니다.</a:t>
            </a:r>
          </a:p>
        </p:txBody>
      </p:sp>
      <p:sp>
        <p:nvSpPr>
          <p:cNvPr id="11" name="Rectangle 10"/>
          <p:cNvSpPr/>
          <p:nvPr/>
        </p:nvSpPr>
        <p:spPr>
          <a:xfrm>
            <a:off x="4309533" y="1168400"/>
            <a:ext cx="3572933" cy="12089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대상</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전 임직원과 IT운영·보안 조직이 대상입니다.</a:t>
            </a:r>
          </a:p>
        </p:txBody>
      </p:sp>
      <p:sp>
        <p:nvSpPr>
          <p:cNvPr id="16" name="TextBox 15"/>
          <p:cNvSpPr txBox="1"/>
          <p:nvPr/>
        </p:nvSpPr>
        <p:spPr>
          <a:xfrm>
            <a:off x="4436533"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1815465"/>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분류별 해결 방법은 각 분류</a:t>
            </a:r>
          </a:p>
          <a:p>
            <a:pPr algn="l">
              <a:lnSpc>
                <a:spcPts val="1562"/>
              </a:lnSpc>
              <a:spcBef>
                <a:spcPts val="0"/>
              </a:spcBef>
              <a:spcAft>
                <a:spcPts val="0"/>
              </a:spcAft>
            </a:pPr>
            <a:r>
              <a:rPr sz="1100" b="0">
                <a:solidFill>
                  <a:srgbClr val="1D2433"/>
                </a:solidFill>
                <a:latin typeface="Malgun Gothic"/>
                <a:ea typeface="Malgun Gothic"/>
                <a:cs typeface="Malgun Gothic"/>
              </a:rPr>
              <a:t>가이드(IT-ACC~SEC)를 봅니다.</a:t>
            </a:r>
          </a:p>
        </p:txBody>
      </p:sp>
      <p:sp>
        <p:nvSpPr>
          <p:cNvPr id="18" name="Rectangle 17"/>
          <p:cNvSpPr/>
          <p:nvPr/>
        </p:nvSpPr>
        <p:spPr>
          <a:xfrm>
            <a:off x="8034867" y="1168400"/>
            <a:ext cx="3572933" cy="12089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환경</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ITssue 챗봇, 사내 IT 포털(hanwha-admin),</a:t>
            </a:r>
          </a:p>
          <a:p>
            <a:pPr algn="l">
              <a:lnSpc>
                <a:spcPts val="1562"/>
              </a:lnSpc>
              <a:spcBef>
                <a:spcPts val="0"/>
              </a:spcBef>
              <a:spcAft>
                <a:spcPts val="0"/>
              </a:spcAft>
            </a:pPr>
            <a:r>
              <a:rPr sz="1100" b="0">
                <a:solidFill>
                  <a:srgbClr val="1D2433"/>
                </a:solidFill>
                <a:latin typeface="Malgun Gothic"/>
                <a:ea typeface="Malgun Gothic"/>
                <a:cs typeface="Malgun Gothic"/>
              </a:rPr>
              <a:t>그룹웨어</a:t>
            </a:r>
          </a:p>
        </p:txBody>
      </p:sp>
      <p:sp>
        <p:nvSpPr>
          <p:cNvPr id="23" name="TextBox 22"/>
          <p:cNvSpPr txBox="1"/>
          <p:nvPr/>
        </p:nvSpPr>
        <p:spPr>
          <a:xfrm>
            <a:off x="8161867"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20138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Jira (담당자 티켓 처리)</a:t>
            </a:r>
          </a:p>
        </p:txBody>
      </p:sp>
      <p:sp>
        <p:nvSpPr>
          <p:cNvPr id="25" name="TextBox 2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26" name="TextBox 2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02</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문의 창구와 처리 흐름</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문의 창구와 처리 흐름</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문의 창구와 처리 흐름</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 창구</a:t>
            </a:r>
          </a:p>
        </p:txBody>
      </p:sp>
      <p:graphicFrame>
        <p:nvGraphicFramePr>
          <p:cNvPr id="7" name="Table 6"/>
          <p:cNvGraphicFramePr>
            <a:graphicFrameLocks noGrp="1"/>
          </p:cNvGraphicFramePr>
          <p:nvPr/>
        </p:nvGraphicFramePr>
        <p:xfrm>
          <a:off x="584200" y="1492885"/>
          <a:ext cx="11023600" cy="2209800"/>
        </p:xfrm>
        <a:graphic>
          <a:graphicData uri="http://schemas.openxmlformats.org/drawingml/2006/table">
            <a:tbl>
              <a:tblPr firstRow="0" bandRow="0">
                <a:tableStyleId>{5940675A-B579-460E-94D1-54222C63F5DA}</a:tableStyleId>
              </a:tblPr>
              <a:tblGrid>
                <a:gridCol w="2204720"/>
                <a:gridCol w="3307080"/>
                <a:gridCol w="5511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창구</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연락처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이용 기준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포털(hanwha-admin) 상단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24시간. 모든 IT 문의의 기본 창구입니다. 챗봇이 해결하지 못하면 확인을 거쳐 담당 팀에</a:t>
                      </a:r>
                    </a:p>
                    <a:p>
                      <a:pPr algn="l">
                        <a:lnSpc>
                          <a:spcPts val="1300"/>
                        </a:lnSpc>
                        <a:spcBef>
                          <a:spcPts val="0"/>
                        </a:spcBef>
                        <a:spcAft>
                          <a:spcPts val="0"/>
                        </a:spcAft>
                      </a:pPr>
                      <a:r>
                        <a:rPr sz="1000" b="0">
                          <a:solidFill>
                            <a:srgbClr val="1D2433"/>
                          </a:solidFill>
                          <a:latin typeface="Malgun Gothic"/>
                          <a:ea typeface="Malgun Gothic"/>
                          <a:cs typeface="Malgun Gothic"/>
                        </a:rPr>
                        <a:t>티켓으로 접수합니다.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 (서비스데스크)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1000 (평일 09:00~18:00)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PC나 챗봇을 쓸 수 없을 때, 여러 사람이 함께 업무를 못 할 때, 본인 확인이 필요한 처리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1119</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링크 클릭·비밀번호 입력·감염 의심·계정 도용·장비 분실처럼 바로 알려야 할 보안 문제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메신저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 채널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(챗봇을 쓸 수 없을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it-helpdesk@hanwha-ict.example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비밀번호·인증번호는 메일로 보내지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처리 상황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메신저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접수·담당자 배정·처리 완료를 알려 드립니다. 진행 상황은 [내 요청 현황]에서도 봅니다.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8042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흐름</a:t>
            </a:r>
          </a:p>
        </p:txBody>
      </p:sp>
      <p:sp>
        <p:nvSpPr>
          <p:cNvPr id="9" name="TextBox 8"/>
          <p:cNvSpPr txBox="1"/>
          <p:nvPr/>
        </p:nvSpPr>
        <p:spPr>
          <a:xfrm>
            <a:off x="5842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1</a:t>
            </a:r>
          </a:p>
        </p:txBody>
      </p:sp>
      <p:sp>
        <p:nvSpPr>
          <p:cNvPr id="10" name="Rectangle 9"/>
          <p:cNvSpPr/>
          <p:nvPr/>
        </p:nvSpPr>
        <p:spPr>
          <a:xfrm>
            <a:off x="5842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문의</a:t>
            </a:r>
          </a:p>
        </p:txBody>
      </p:sp>
      <p:sp>
        <p:nvSpPr>
          <p:cNvPr id="12" name="Rectangle 11"/>
          <p:cNvSpPr/>
          <p:nvPr/>
        </p:nvSpPr>
        <p:spPr>
          <a:xfrm>
            <a:off x="5842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4844161"/>
            <a:ext cx="1778000"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ITssue 챗봇에 증상을 적습니다</a:t>
            </a:r>
          </a:p>
        </p:txBody>
      </p:sp>
      <p:sp>
        <p:nvSpPr>
          <p:cNvPr id="14" name="TextBox 13"/>
          <p:cNvSpPr txBox="1"/>
          <p:nvPr/>
        </p:nvSpPr>
        <p:spPr>
          <a:xfrm>
            <a:off x="2603500" y="44483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15" name="TextBox 14"/>
          <p:cNvSpPr txBox="1"/>
          <p:nvPr/>
        </p:nvSpPr>
        <p:spPr>
          <a:xfrm>
            <a:off x="28448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2</a:t>
            </a:r>
          </a:p>
        </p:txBody>
      </p:sp>
      <p:sp>
        <p:nvSpPr>
          <p:cNvPr id="16" name="Rectangle 15"/>
          <p:cNvSpPr/>
          <p:nvPr/>
        </p:nvSpPr>
        <p:spPr>
          <a:xfrm>
            <a:off x="28448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9464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AI 안내</a:t>
            </a:r>
          </a:p>
        </p:txBody>
      </p:sp>
      <p:sp>
        <p:nvSpPr>
          <p:cNvPr id="18" name="Rectangle 17"/>
          <p:cNvSpPr/>
          <p:nvPr/>
        </p:nvSpPr>
        <p:spPr>
          <a:xfrm>
            <a:off x="28448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46400" y="4844161"/>
            <a:ext cx="177800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가이드를 근거로 해결 방법을</a:t>
            </a:r>
          </a:p>
          <a:p>
            <a:pPr algn="ctr">
              <a:lnSpc>
                <a:spcPts val="1420"/>
              </a:lnSpc>
              <a:spcBef>
                <a:spcPts val="0"/>
              </a:spcBef>
              <a:spcAft>
                <a:spcPts val="0"/>
              </a:spcAft>
            </a:pPr>
            <a:r>
              <a:rPr sz="1000" b="0">
                <a:solidFill>
                  <a:srgbClr val="1D2433"/>
                </a:solidFill>
                <a:latin typeface="Malgun Gothic"/>
                <a:ea typeface="Malgun Gothic"/>
                <a:cs typeface="Malgun Gothic"/>
              </a:rPr>
              <a:t>안내합니다</a:t>
            </a:r>
          </a:p>
        </p:txBody>
      </p:sp>
      <p:sp>
        <p:nvSpPr>
          <p:cNvPr id="20" name="TextBox 19"/>
          <p:cNvSpPr txBox="1"/>
          <p:nvPr/>
        </p:nvSpPr>
        <p:spPr>
          <a:xfrm>
            <a:off x="4864100" y="44483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21" name="TextBox 20"/>
          <p:cNvSpPr txBox="1"/>
          <p:nvPr/>
        </p:nvSpPr>
        <p:spPr>
          <a:xfrm>
            <a:off x="51054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3</a:t>
            </a:r>
          </a:p>
        </p:txBody>
      </p:sp>
      <p:sp>
        <p:nvSpPr>
          <p:cNvPr id="22" name="Rectangle 21"/>
          <p:cNvSpPr/>
          <p:nvPr/>
        </p:nvSpPr>
        <p:spPr>
          <a:xfrm>
            <a:off x="51054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070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담당자 연결</a:t>
            </a:r>
          </a:p>
        </p:txBody>
      </p:sp>
      <p:sp>
        <p:nvSpPr>
          <p:cNvPr id="24" name="Rectangle 23"/>
          <p:cNvSpPr/>
          <p:nvPr/>
        </p:nvSpPr>
        <p:spPr>
          <a:xfrm>
            <a:off x="51054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207000" y="4844161"/>
            <a:ext cx="177800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필요하면 연결을 제안하고,</a:t>
            </a:r>
          </a:p>
          <a:p>
            <a:pPr algn="ctr">
              <a:lnSpc>
                <a:spcPts val="1420"/>
              </a:lnSpc>
              <a:spcBef>
                <a:spcPts val="0"/>
              </a:spcBef>
              <a:spcAft>
                <a:spcPts val="0"/>
              </a:spcAft>
            </a:pPr>
            <a:r>
              <a:rPr sz="1000" b="0">
                <a:solidFill>
                  <a:srgbClr val="1D2433"/>
                </a:solidFill>
                <a:latin typeface="Malgun Gothic"/>
                <a:ea typeface="Malgun Gothic"/>
                <a:cs typeface="Malgun Gothic"/>
              </a:rPr>
              <a:t>접수 내용을 확인받습니다</a:t>
            </a:r>
          </a:p>
        </p:txBody>
      </p:sp>
      <p:sp>
        <p:nvSpPr>
          <p:cNvPr id="26" name="TextBox 25"/>
          <p:cNvSpPr txBox="1"/>
          <p:nvPr/>
        </p:nvSpPr>
        <p:spPr>
          <a:xfrm>
            <a:off x="7124700" y="44483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27" name="TextBox 26"/>
          <p:cNvSpPr txBox="1"/>
          <p:nvPr/>
        </p:nvSpPr>
        <p:spPr>
          <a:xfrm>
            <a:off x="73660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4</a:t>
            </a:r>
          </a:p>
        </p:txBody>
      </p:sp>
      <p:sp>
        <p:nvSpPr>
          <p:cNvPr id="28" name="Rectangle 27"/>
          <p:cNvSpPr/>
          <p:nvPr/>
        </p:nvSpPr>
        <p:spPr>
          <a:xfrm>
            <a:off x="73660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676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처리</a:t>
            </a:r>
          </a:p>
        </p:txBody>
      </p:sp>
      <p:sp>
        <p:nvSpPr>
          <p:cNvPr id="30" name="Rectangle 29"/>
          <p:cNvSpPr/>
          <p:nvPr/>
        </p:nvSpPr>
        <p:spPr>
          <a:xfrm>
            <a:off x="73660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67600" y="4844161"/>
            <a:ext cx="177800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담당자가 Jira 티켓으로</a:t>
            </a:r>
          </a:p>
          <a:p>
            <a:pPr algn="ctr">
              <a:lnSpc>
                <a:spcPts val="1420"/>
              </a:lnSpc>
              <a:spcBef>
                <a:spcPts val="0"/>
              </a:spcBef>
              <a:spcAft>
                <a:spcPts val="0"/>
              </a:spcAft>
            </a:pPr>
            <a:r>
              <a:rPr sz="1000" b="0">
                <a:solidFill>
                  <a:srgbClr val="1D2433"/>
                </a:solidFill>
                <a:latin typeface="Malgun Gothic"/>
                <a:ea typeface="Malgun Gothic"/>
                <a:cs typeface="Malgun Gothic"/>
              </a:rPr>
              <a:t>처리합니다</a:t>
            </a:r>
          </a:p>
        </p:txBody>
      </p:sp>
      <p:sp>
        <p:nvSpPr>
          <p:cNvPr id="32" name="TextBox 31"/>
          <p:cNvSpPr txBox="1"/>
          <p:nvPr/>
        </p:nvSpPr>
        <p:spPr>
          <a:xfrm>
            <a:off x="9385300" y="44483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33" name="TextBox 32"/>
          <p:cNvSpPr txBox="1"/>
          <p:nvPr/>
        </p:nvSpPr>
        <p:spPr>
          <a:xfrm>
            <a:off x="96266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5</a:t>
            </a:r>
          </a:p>
        </p:txBody>
      </p:sp>
      <p:sp>
        <p:nvSpPr>
          <p:cNvPr id="34" name="Rectangle 33"/>
          <p:cNvSpPr/>
          <p:nvPr/>
        </p:nvSpPr>
        <p:spPr>
          <a:xfrm>
            <a:off x="96266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7282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해결 확인</a:t>
            </a:r>
          </a:p>
        </p:txBody>
      </p:sp>
      <p:sp>
        <p:nvSpPr>
          <p:cNvPr id="36" name="Rectangle 35"/>
          <p:cNvSpPr/>
          <p:nvPr/>
        </p:nvSpPr>
        <p:spPr>
          <a:xfrm>
            <a:off x="96266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28200" y="4844161"/>
            <a:ext cx="177800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결과를 안내받고 해결을</a:t>
            </a:r>
          </a:p>
          <a:p>
            <a:pPr algn="ctr">
              <a:lnSpc>
                <a:spcPts val="1420"/>
              </a:lnSpc>
              <a:spcBef>
                <a:spcPts val="0"/>
              </a:spcBef>
              <a:spcAft>
                <a:spcPts val="0"/>
              </a:spcAft>
            </a:pPr>
            <a:r>
              <a:rPr sz="1000" b="0">
                <a:solidFill>
                  <a:srgbClr val="1D2433"/>
                </a:solidFill>
                <a:latin typeface="Malgun Gothic"/>
                <a:ea typeface="Malgun Gothic"/>
                <a:cs typeface="Malgun Gothic"/>
              </a:rPr>
              <a:t>확인합니다</a:t>
            </a:r>
          </a:p>
        </p:txBody>
      </p:sp>
      <p:sp>
        <p:nvSpPr>
          <p:cNvPr id="38" name="Rectangle 37"/>
          <p:cNvSpPr/>
          <p:nvPr/>
        </p:nvSpPr>
        <p:spPr>
          <a:xfrm>
            <a:off x="584200" y="5433441"/>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11200" y="5535041"/>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접수는 사용자가 담당자 연결을 선택하고 접수 내용을 최종 확인한 뒤에 합니다. ITssue 접수는 필요한 승인 절차(권한 신청·결재)를 대신하지 않습니다.</a:t>
            </a:r>
          </a:p>
        </p:txBody>
      </p:sp>
      <p:sp>
        <p:nvSpPr>
          <p:cNvPr id="40" name="TextBox 3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41" name="TextBox 4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문의 창구와 처리 흐름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문의 창구와 처리 흐름</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티켓 처리 상태</a:t>
            </a:r>
          </a:p>
        </p:txBody>
      </p:sp>
      <p:graphicFrame>
        <p:nvGraphicFramePr>
          <p:cNvPr id="7" name="Table 6"/>
          <p:cNvGraphicFramePr>
            <a:graphicFrameLocks noGrp="1"/>
          </p:cNvGraphicFramePr>
          <p:nvPr/>
        </p:nvGraphicFramePr>
        <p:xfrm>
          <a:off x="584200" y="1492885"/>
          <a:ext cx="11023600" cy="1460500"/>
        </p:xfrm>
        <a:graphic>
          <a:graphicData uri="http://schemas.openxmlformats.org/drawingml/2006/table">
            <a:tbl>
              <a:tblPr firstRow="0" bandRow="0">
                <a:tableStyleId>{5940675A-B579-460E-94D1-54222C63F5DA}</a:tableStyleId>
              </a:tblPr>
              <a:tblGrid>
                <a:gridCol w="1377950"/>
                <a:gridCol w="4593167"/>
                <a:gridCol w="50524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상태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뜻</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사용자에게 보이는 것</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RDY</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 처리 대기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접수되어 담당자 배정을 기다리거나 작업 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IP</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 처리 중</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담당자가 작업하고 있음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FIN</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 처리 완료 / 문의자 해결 확인 대기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처리 결과와 해결 확인 요청이 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CLS</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문의자 해결 확인 완료 / 최종 종료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해결을 확인하면 종료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Rectangle 7"/>
          <p:cNvSpPr/>
          <p:nvPr/>
        </p:nvSpPr>
        <p:spPr>
          <a:xfrm>
            <a:off x="584200" y="3054985"/>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1200" y="3156585"/>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응답하지 않았다고 해결로 처리하지 않습니다. 해결되지 않았으면 해결 확인 요청에 "해결되지 않음"으로 답합니다. 과거 처리 이력의 IP는 IP와 같은 뜻입니다.</a:t>
            </a:r>
          </a:p>
        </p:txBody>
      </p:sp>
      <p:sp>
        <p:nvSpPr>
          <p:cNvPr id="10" name="TextBox 9"/>
          <p:cNvSpPr txBox="1"/>
          <p:nvPr/>
        </p:nvSpPr>
        <p:spPr>
          <a:xfrm>
            <a:off x="584200" y="3558159"/>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방식</a:t>
            </a:r>
          </a:p>
        </p:txBody>
      </p:sp>
      <p:graphicFrame>
        <p:nvGraphicFramePr>
          <p:cNvPr id="11" name="Table 10"/>
          <p:cNvGraphicFramePr>
            <a:graphicFrameLocks noGrp="1"/>
          </p:cNvGraphicFramePr>
          <p:nvPr/>
        </p:nvGraphicFramePr>
        <p:xfrm>
          <a:off x="584200" y="3882644"/>
          <a:ext cx="11023600" cy="1168400"/>
        </p:xfrm>
        <a:graphic>
          <a:graphicData uri="http://schemas.openxmlformats.org/drawingml/2006/table">
            <a:tbl>
              <a:tblPr firstRow="0" bandRow="0">
                <a:tableStyleId>{5940675A-B579-460E-94D1-54222C63F5DA}</a:tableStyleId>
              </a:tblPr>
              <a:tblGrid>
                <a:gridCol w="2296583"/>
                <a:gridCol w="872701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방식</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뜻</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즉시 처리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챗봇·상담원 안내만으로 끝난 건. 티켓을 만들지 않고 상담 기록만 남깁니다.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티켓</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 조치가 필요한 건. 담당 팀에 배정해 RDY → IP → FIN → CLS로 처리합니다.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대형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여러 사람이 같은 장애를 겪는 건. 대표 티켓 하나로 묶어 처리합니다 (6장).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2" name="TextBox 1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13" name="TextBox 1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03</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긴급도와 처리 목표</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긴급도와 처리 목표</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긴급도와 처리 목표</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1" cy="1460500"/>
        </p:xfrm>
        <a:graphic>
          <a:graphicData uri="http://schemas.openxmlformats.org/drawingml/2006/table">
            <a:tbl>
              <a:tblPr firstRow="0" bandRow="0">
                <a:tableStyleId>{5940675A-B579-460E-94D1-54222C63F5DA}</a:tableStyleId>
              </a:tblPr>
              <a:tblGrid>
                <a:gridCol w="903574"/>
                <a:gridCol w="1084289"/>
                <a:gridCol w="5421443"/>
                <a:gridCol w="1445718"/>
                <a:gridCol w="216857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등급</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명칭</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판단 기준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응답 목표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해결 목표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긴급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전사 또는 여러 부서의 업무가 멈춘 경우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15분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4시간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높음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부서 단위로 영향이 있거나 개인 업무를 전혀 할 수 없는 경우, 보안 사고 의심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30분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8시간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보통</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 업무 일부에 지장이 있지만 우회할 수 있는 경우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2시간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16시간 (약 2영업일)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낮음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단순 문의·요청으로 업무 지장이 없는 경우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4시간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40시간 (약 5영업일)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2730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긴급도를 올리는 기준</a:t>
            </a:r>
          </a:p>
        </p:txBody>
      </p:sp>
      <p:sp>
        <p:nvSpPr>
          <p:cNvPr id="8" name="TextBox 7"/>
          <p:cNvSpPr txBox="1"/>
          <p:nvPr/>
        </p:nvSpPr>
        <p:spPr>
          <a:xfrm>
            <a:off x="635000" y="3054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9" name="TextBox 8"/>
          <p:cNvSpPr txBox="1"/>
          <p:nvPr/>
        </p:nvSpPr>
        <p:spPr>
          <a:xfrm>
            <a:off x="838200" y="3054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"팀 전체", "다른 분들도", "전부"처럼 여러 사람이 영향을 받으면 한 단계 이상 올립니다.</a:t>
            </a:r>
          </a:p>
        </p:txBody>
      </p:sp>
      <p:sp>
        <p:nvSpPr>
          <p:cNvPr id="10" name="TextBox 9"/>
          <p:cNvSpPr txBox="1"/>
          <p:nvPr/>
        </p:nvSpPr>
        <p:spPr>
          <a:xfrm>
            <a:off x="635000" y="3294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1" name="TextBox 10"/>
          <p:cNvSpPr txBox="1"/>
          <p:nvPr/>
        </p:nvSpPr>
        <p:spPr>
          <a:xfrm>
            <a:off x="838200" y="3294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링크 클릭·비밀번호 입력·계정 도용 의심처럼 보안 사고 가능성이 있으면 최소 P2로 처리하고 정보보안팀에 바로 넘깁니다.</a:t>
            </a:r>
          </a:p>
        </p:txBody>
      </p:sp>
      <p:sp>
        <p:nvSpPr>
          <p:cNvPr id="12" name="TextBox 11"/>
          <p:cNvSpPr txBox="1"/>
          <p:nvPr/>
        </p:nvSpPr>
        <p:spPr>
          <a:xfrm>
            <a:off x="635000" y="353326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353326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당일 마감·고객 미팅처럼 시간 제약이 있으면 한 단계 올릴 수 있습니다.</a:t>
            </a:r>
          </a:p>
        </p:txBody>
      </p:sp>
      <p:sp>
        <p:nvSpPr>
          <p:cNvPr id="14" name="TextBox 13"/>
          <p:cNvSpPr txBox="1"/>
          <p:nvPr/>
        </p:nvSpPr>
        <p:spPr>
          <a:xfrm>
            <a:off x="635000" y="377240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5" name="TextBox 14"/>
          <p:cNvSpPr txBox="1"/>
          <p:nvPr/>
        </p:nvSpPr>
        <p:spPr>
          <a:xfrm>
            <a:off x="838200" y="377240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"급하다"는 말만으로는 올리지 않습니다. 같은 이유를 두 번 반영하지 않습니다.</a:t>
            </a:r>
          </a:p>
        </p:txBody>
      </p:sp>
      <p:sp>
        <p:nvSpPr>
          <p:cNvPr id="16" name="Rectangle 15"/>
          <p:cNvSpPr/>
          <p:nvPr/>
        </p:nvSpPr>
        <p:spPr>
          <a:xfrm>
            <a:off x="584200" y="4062349"/>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1200" y="4163949"/>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챗봇에 문의할 때 영향 범위(나만 / 팀 / 여러 부서), 마감 시각, 이미 해 본 조치를 적으면 긴급도를 정확히 판단합니다.</a:t>
            </a:r>
          </a:p>
        </p:txBody>
      </p:sp>
      <p:sp>
        <p:nvSpPr>
          <p:cNvPr id="18" name="TextBox 17"/>
          <p:cNvSpPr txBox="1"/>
          <p:nvPr/>
        </p:nvSpPr>
        <p:spPr>
          <a:xfrm>
            <a:off x="584200" y="456552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건의 처리 기간</a:t>
            </a:r>
          </a:p>
        </p:txBody>
      </p:sp>
      <p:sp>
        <p:nvSpPr>
          <p:cNvPr id="19" name="TextBox 18"/>
          <p:cNvSpPr txBox="1"/>
          <p:nvPr/>
        </p:nvSpPr>
        <p:spPr>
          <a:xfrm>
            <a:off x="584200" y="4890008"/>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신청 건(설치·라이선스·권한·장비)은 긴급도와 별개로 각 가이드의 "처리 기간"을 따릅니다. 승인이 필요한 건은 승인이 끝난 때부터 셉니다.</a:t>
            </a:r>
          </a:p>
        </p:txBody>
      </p:sp>
      <p:sp>
        <p:nvSpPr>
          <p:cNvPr id="20" name="TextBox 1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21" name="TextBox 2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04</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7개 분류와 담당 조직</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7개 분류와 담당 조직</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04. 7개 분류와 담당 조직</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599" cy="3162300"/>
        </p:xfrm>
        <a:graphic>
          <a:graphicData uri="http://schemas.openxmlformats.org/drawingml/2006/table">
            <a:tbl>
              <a:tblPr firstRow="0" bandRow="0">
                <a:tableStyleId>{5940675A-B579-460E-94D1-54222C63F5DA}</a:tableStyleId>
              </a:tblPr>
              <a:tblGrid>
                <a:gridCol w="816563"/>
                <a:gridCol w="1469813"/>
                <a:gridCol w="4491096"/>
                <a:gridCol w="2613001"/>
                <a:gridCol w="1633126"/>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코드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분류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다루는 범위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기본 담당 조직</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가이드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ACC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계정·로그인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 만료·초기화, 계정 잠금, MFA, 통합 로그인(SSO)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 (SSO 장애: 시스템인프라팀)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IT-ACC-001~003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ACS</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접근권한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시스템·폴더 접근권한 신청, 개발·검증 서버 권한, 부서 이동·퇴사에 따른</a:t>
                      </a:r>
                    </a:p>
                    <a:p>
                      <a:pPr algn="l">
                        <a:lnSpc>
                          <a:spcPts val="1300"/>
                        </a:lnSpc>
                        <a:spcBef>
                          <a:spcPts val="0"/>
                        </a:spcBef>
                        <a:spcAft>
                          <a:spcPts val="0"/>
                        </a:spcAft>
                      </a:pPr>
                      <a:r>
                        <a:rPr sz="1000" b="0">
                          <a:solidFill>
                            <a:srgbClr val="1D2433"/>
                          </a:solidFill>
                          <a:latin typeface="Malgun Gothic"/>
                          <a:ea typeface="Malgun Gothic"/>
                          <a:cs typeface="Malgun Gothic"/>
                        </a:rPr>
                        <a:t>권한 변경</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업무시스템팀 (서버·DB: 시스템인프라팀)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IT-ACS-001~003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NET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VPN·네트워크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Wi-Fi, 유선 LAN, 인터넷 속도, 개인·전사 VPN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네트워크팀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IT-NET-001~003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SW·라이선스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 설치·라이선스, 오피스 문서, 비밀번호 관리자, 개발도구 인증서, PC 메일</a:t>
                      </a:r>
                    </a:p>
                    <a:p>
                      <a:pPr algn="l">
                        <a:lnSpc>
                          <a:spcPts val="1300"/>
                        </a:lnSpc>
                        <a:spcBef>
                          <a:spcPts val="0"/>
                        </a:spcBef>
                        <a:spcAft>
                          <a:spcPts val="0"/>
                        </a:spcAft>
                      </a:pPr>
                      <a:r>
                        <a:rPr sz="1000" b="0">
                          <a:solidFill>
                            <a:srgbClr val="1D2433"/>
                          </a:solidFill>
                          <a:latin typeface="Malgun Gothic"/>
                          <a:ea typeface="Malgun Gothic"/>
                          <a:cs typeface="Malgun Gothic"/>
                        </a:rPr>
                        <a:t>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 (오피스·비밀번호</a:t>
                      </a:r>
                    </a:p>
                    <a:p>
                      <a:pPr algn="l">
                        <a:lnSpc>
                          <a:spcPts val="1300"/>
                        </a:lnSpc>
                        <a:spcBef>
                          <a:spcPts val="0"/>
                        </a:spcBef>
                        <a:spcAft>
                          <a:spcPts val="0"/>
                        </a:spcAft>
                      </a:pPr>
                      <a:r>
                        <a:rPr sz="1000" b="0">
                          <a:solidFill>
                            <a:srgbClr val="1D2433"/>
                          </a:solidFill>
                          <a:latin typeface="Malgun Gothic"/>
                          <a:ea typeface="Malgun Gothic"/>
                          <a:cs typeface="Malgun Gothic"/>
                        </a:rPr>
                        <a:t>관리자: 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HW·업무 PC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PC 속도·부팅, 모니터·도킹, 장비 수리·교체·반납, OS 업데이트,</a:t>
                      </a:r>
                    </a:p>
                    <a:p>
                      <a:pPr algn="l">
                        <a:lnSpc>
                          <a:spcPts val="1300"/>
                        </a:lnSpc>
                        <a:spcBef>
                          <a:spcPts val="0"/>
                        </a:spcBef>
                        <a:spcAft>
                          <a:spcPts val="0"/>
                        </a:spcAft>
                      </a:pPr>
                      <a:r>
                        <a:rPr sz="1000" b="0">
                          <a:solidFill>
                            <a:srgbClr val="1D2433"/>
                          </a:solidFill>
                          <a:latin typeface="Malgun Gothic"/>
                          <a:ea typeface="Malgun Gothic"/>
                          <a:cs typeface="Malgun Gothic"/>
                        </a:rPr>
                        <a:t>프린터·복합기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 (프린터·복합기:</a:t>
                      </a:r>
                    </a:p>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IT-HW-001~003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SYS</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시스템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전자결재, ERP, 인사·근태, 업무 협업 플랫폼, 메일·메신저·화상회의, 공유</a:t>
                      </a:r>
                    </a:p>
                    <a:p>
                      <a:pPr algn="l">
                        <a:lnSpc>
                          <a:spcPts val="1300"/>
                        </a:lnSpc>
                        <a:spcBef>
                          <a:spcPts val="0"/>
                        </a:spcBef>
                        <a:spcAft>
                          <a:spcPts val="0"/>
                        </a:spcAft>
                      </a:pPr>
                      <a:r>
                        <a:rPr sz="1000" b="0">
                          <a:solidFill>
                            <a:srgbClr val="1D2433"/>
                          </a:solidFill>
                          <a:latin typeface="Malgun Gothic"/>
                          <a:ea typeface="Malgun Gothic"/>
                          <a:cs typeface="Malgun Gothic"/>
                        </a:rPr>
                        <a:t>드라이브·파일서버, 개발 서버·DB</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업무시스템팀 · 시스템인프라팀 ·</a:t>
                      </a:r>
                    </a:p>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IT-SYS-001~008</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 메일, 악성코드·보안 알림, 매체·반출 예외, 시스템 침해 의심, 계정 도용,</a:t>
                      </a:r>
                    </a:p>
                    <a:p>
                      <a:pPr algn="l">
                        <a:lnSpc>
                          <a:spcPts val="1300"/>
                        </a:lnSpc>
                        <a:spcBef>
                          <a:spcPts val="0"/>
                        </a:spcBef>
                        <a:spcAft>
                          <a:spcPts val="0"/>
                        </a:spcAft>
                      </a:pPr>
                      <a:r>
                        <a:rPr sz="1000" b="0">
                          <a:solidFill>
                            <a:srgbClr val="1D2433"/>
                          </a:solidFill>
                          <a:latin typeface="Malgun Gothic"/>
                          <a:ea typeface="Malgun Gothic"/>
                          <a:cs typeface="Malgun Gothic"/>
                        </a:rPr>
                        <a:t>웹사이트 차단 해제, 장비 분실, 생성형 AI 사용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IT-SEC-001~004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7개 분류와 담당 조직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04. 7개 분류와 담당 조직</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헷갈리기 쉬운 분류</a:t>
            </a:r>
          </a:p>
        </p:txBody>
      </p:sp>
      <p:graphicFrame>
        <p:nvGraphicFramePr>
          <p:cNvPr id="7" name="Table 6"/>
          <p:cNvGraphicFramePr>
            <a:graphicFrameLocks noGrp="1"/>
          </p:cNvGraphicFramePr>
          <p:nvPr/>
        </p:nvGraphicFramePr>
        <p:xfrm>
          <a:off x="584200" y="1492885"/>
          <a:ext cx="11023600" cy="3251200"/>
        </p:xfrm>
        <a:graphic>
          <a:graphicData uri="http://schemas.openxmlformats.org/drawingml/2006/table">
            <a:tbl>
              <a:tblPr firstRow="0" bandRow="0">
                <a:tableStyleId>{5940675A-B579-460E-94D1-54222C63F5DA}</a:tableStyleId>
              </a:tblPr>
              <a:tblGrid>
                <a:gridCol w="3391877"/>
                <a:gridCol w="3391877"/>
                <a:gridCol w="4239846"/>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분류 (볼 문서)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 도용 의심·모르는 로그인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SEC-06 (IT-SEC-003)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ACC가 아님. 비밀번호를 바꾼 적 없는데 반복 잠김도 SEC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사이트 차단 해제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SEC-07 (IT-SEC-004 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NET이 아님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PC에 설치한 메일 프로그램 오류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SW-06 (IT-SW-003 3.7)</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 수신·용량·반송·메일 서버는 SYS (IT-SYS-004)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메신저·화상회의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SYS-10 (IT-SYS-005)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VPN 중에만 느리면 NET-02, 사무실 전체가 느리면 NET-04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프린터·복합기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 (IT-HW-003)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 </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공유 드라이브 "액세스 거부"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팀 전체: SYS-13 (IT-SYS-006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혼자만: ACS-01 (IT-ACS-001 3.4), 부서 이동 뒤: ACS-02 (IT-ACS-003</a:t>
                      </a:r>
                    </a:p>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 서버 SSH 실패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팀 전체·배포 중단: SYS-15 (IT-SYS-008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혼자만·권한: ACS-01 (IT-ACS-002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관리자 권한이 필요하다는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 (IT-SW-001)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접근권한(ACS)이 아님. 관리자 권한은 주지 않음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부서 이동·퇴사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ACS-02 (IT-ACS-003)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"부서 이동", "퇴사", "발령"이 있으면 ACS-02, 새로 필요한 권한이면</a:t>
                      </a:r>
                    </a:p>
                    <a:p>
                      <a:pPr algn="l">
                        <a:lnSpc>
                          <a:spcPts val="1300"/>
                        </a:lnSpc>
                        <a:spcBef>
                          <a:spcPts val="0"/>
                        </a:spcBef>
                        <a:spcAft>
                          <a:spcPts val="0"/>
                        </a:spcAft>
                      </a:pPr>
                      <a:r>
                        <a:rPr sz="1000" b="0">
                          <a:solidFill>
                            <a:srgbClr val="1D2433"/>
                          </a:solidFill>
                          <a:latin typeface="Malgun Gothic"/>
                          <a:ea typeface="Malgun Gothic"/>
                          <a:cs typeface="Malgun Gothic"/>
                        </a:rPr>
                        <a:t>ACS-01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Rectangle 7"/>
          <p:cNvSpPr/>
          <p:nvPr/>
        </p:nvSpPr>
        <p:spPr>
          <a:xfrm>
            <a:off x="584200" y="4845685"/>
            <a:ext cx="11023600" cy="5999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1200" y="4947285"/>
            <a:ext cx="10769600"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담당 조직은 분류를 기본으로 추천하되, 대상 시스템과 요청 업무에 따라 조정합니다. 예를 들어 SSO 로그인 안내는 서비스데스크가, SSO 서비스 장애는</a:t>
            </a:r>
          </a:p>
          <a:p>
            <a:pPr algn="l">
              <a:lnSpc>
                <a:spcPts val="1562"/>
              </a:lnSpc>
              <a:spcBef>
                <a:spcPts val="0"/>
              </a:spcBef>
              <a:spcAft>
                <a:spcPts val="0"/>
              </a:spcAft>
            </a:pPr>
            <a:r>
              <a:rPr sz="1100" b="0">
                <a:solidFill>
                  <a:srgbClr val="5A6270"/>
                </a:solidFill>
                <a:latin typeface="Malgun Gothic"/>
                <a:ea typeface="Malgun Gothic"/>
                <a:cs typeface="Malgun Gothic"/>
              </a:rPr>
              <a:t>시스템인프라팀이 맡습니다.</a:t>
            </a:r>
          </a:p>
        </p:txBody>
      </p:sp>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05</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공통 규칙</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공통 규칙</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05. 공통 규칙</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11023600" cy="401574"/>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1200" y="12700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모든 IT 문의에 똑같이 적용합니다</a:t>
            </a:r>
          </a:p>
        </p:txBody>
      </p:sp>
      <p:graphicFrame>
        <p:nvGraphicFramePr>
          <p:cNvPr id="8" name="Table 7"/>
          <p:cNvGraphicFramePr>
            <a:graphicFrameLocks noGrp="1"/>
          </p:cNvGraphicFramePr>
          <p:nvPr/>
        </p:nvGraphicFramePr>
        <p:xfrm>
          <a:off x="584200" y="1671574"/>
          <a:ext cx="11023600" cy="2794000"/>
        </p:xfrm>
        <a:graphic>
          <a:graphicData uri="http://schemas.openxmlformats.org/drawingml/2006/table">
            <a:tbl>
              <a:tblPr firstRow="0" bandRow="0">
                <a:tableStyleId>{5940675A-B579-460E-94D1-54222C63F5DA}</a:tableStyleId>
              </a:tblPr>
              <a:tblGrid>
                <a:gridCol w="2755900"/>
                <a:gridCol w="82677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규칙</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내용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본인 확인 후 조치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 초기화·잠금 해제·MFA 초기화처럼 계정에 손대는 조치는 본인 확인(사번 + 휴대폰 인증) 뒤에만 합니다. 비밀번호는 메신저·메일로</a:t>
                      </a:r>
                    </a:p>
                    <a:p>
                      <a:pPr algn="l">
                        <a:lnSpc>
                          <a:spcPts val="1300"/>
                        </a:lnSpc>
                        <a:spcBef>
                          <a:spcPts val="0"/>
                        </a:spcBef>
                        <a:spcAft>
                          <a:spcPts val="0"/>
                        </a:spcAft>
                      </a:pPr>
                      <a:r>
                        <a:rPr sz="1000" b="0">
                          <a:solidFill>
                            <a:srgbClr val="1D2433"/>
                          </a:solidFill>
                          <a:latin typeface="Malgun Gothic"/>
                          <a:ea typeface="Malgun Gothic"/>
                          <a:cs typeface="Malgun Gothic"/>
                        </a:rPr>
                        <a:t>보내지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비밀정보는 묻지도 보내지도 않음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헬프데스크·챗봇·담당자는 비밀번호·인증번호를 묻지 않습니다. 묻는 연락은 사칭일 수 있으니 정보보안팀에 알립니다.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장치를 끄지 않음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백신·EDR을 끄거나 지우는 방법, SSL 검증을 끄는 방법처럼 보안 장치를 피해 가는 방법은 쓰지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관리자 권한은 주지 않음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설치가 필요하면 소프트웨어 센터를 쓰거나 담당자가 원격으로 설치합니다.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승인은 담당자에게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권한 부여·보안 예외처럼 승인이 필요한 일은 챗봇이 처리하지 않습니다. 절차를 안내하고 담당자에게 연결합니다.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영향 범위 먼저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나만 겪는지, 팀·층 전체인지, 회사 전체인지 먼저 확인합니다.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장비 안전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물에 젖었거나 파손된 장비는 전원을 끄고 충전기를 빼며 다시 켜지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기밀 정보 보호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고객 정보·개인정보·소스코드 같은 기밀은 승인되지 않은 외부 도구(생성형 AI 포함)에 넣지 않습니다 (IT-SEC-004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9" name="TextBox 8"/>
          <p:cNvSpPr txBox="1"/>
          <p:nvPr/>
        </p:nvSpPr>
        <p:spPr>
          <a:xfrm>
            <a:off x="584200" y="4567174"/>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문의할 때 알려 주실 정보</a:t>
            </a:r>
          </a:p>
        </p:txBody>
      </p:sp>
      <p:sp>
        <p:nvSpPr>
          <p:cNvPr id="10" name="TextBox 9"/>
          <p:cNvSpPr txBox="1"/>
          <p:nvPr/>
        </p:nvSpPr>
        <p:spPr>
          <a:xfrm>
            <a:off x="635000" y="489165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1" name="TextBox 10"/>
          <p:cNvSpPr txBox="1"/>
          <p:nvPr/>
        </p:nvSpPr>
        <p:spPr>
          <a:xfrm>
            <a:off x="838200" y="489165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증상과 화면 메시지(캡처)</a:t>
            </a:r>
          </a:p>
        </p:txBody>
      </p:sp>
      <p:sp>
        <p:nvSpPr>
          <p:cNvPr id="12" name="TextBox 11"/>
          <p:cNvSpPr txBox="1"/>
          <p:nvPr/>
        </p:nvSpPr>
        <p:spPr>
          <a:xfrm>
            <a:off x="635000" y="5130800"/>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51308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영향 범위 (나만 / 팀 / 여러 부서)</a:t>
            </a:r>
          </a:p>
        </p:txBody>
      </p:sp>
      <p:sp>
        <p:nvSpPr>
          <p:cNvPr id="14" name="TextBox 13"/>
          <p:cNvSpPr txBox="1"/>
          <p:nvPr/>
        </p:nvSpPr>
        <p:spPr>
          <a:xfrm>
            <a:off x="635000" y="536994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5" name="TextBox 14"/>
          <p:cNvSpPr txBox="1"/>
          <p:nvPr/>
        </p:nvSpPr>
        <p:spPr>
          <a:xfrm>
            <a:off x="838200" y="536994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발생 시각</a:t>
            </a:r>
          </a:p>
        </p:txBody>
      </p:sp>
      <p:sp>
        <p:nvSpPr>
          <p:cNvPr id="16" name="TextBox 15"/>
          <p:cNvSpPr txBox="1"/>
          <p:nvPr/>
        </p:nvSpPr>
        <p:spPr>
          <a:xfrm>
            <a:off x="635000" y="560908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7" name="TextBox 16"/>
          <p:cNvSpPr txBox="1"/>
          <p:nvPr/>
        </p:nvSpPr>
        <p:spPr>
          <a:xfrm>
            <a:off x="838200" y="560908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이미 해 본 조치와 결과</a:t>
            </a:r>
          </a:p>
        </p:txBody>
      </p:sp>
      <p:sp>
        <p:nvSpPr>
          <p:cNvPr id="18" name="TextBox 17"/>
          <p:cNvSpPr txBox="1"/>
          <p:nvPr/>
        </p:nvSpPr>
        <p:spPr>
          <a:xfrm>
            <a:off x="635000" y="584822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9" name="TextBox 18"/>
          <p:cNvSpPr txBox="1"/>
          <p:nvPr/>
        </p:nvSpPr>
        <p:spPr>
          <a:xfrm>
            <a:off x="838200" y="584822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마감 등 시간 제약</a:t>
            </a:r>
          </a:p>
        </p:txBody>
      </p:sp>
      <p:sp>
        <p:nvSpPr>
          <p:cNvPr id="20" name="TextBox 1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21" name="TextBox 2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06</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여러 사람이 함께 겪는 장애 (대형 장애)</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여러 사람이 함께 겪는 장애 (대형 장애)</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06. 여러 사람이 함께 겪는 장애 (대형 장애)</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임직원이 할 일</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옆자리·같은 층 동료도 같은지 확인합니다. 같으면 개인 조치(재설치·비밀번호 변경 등)를 반복하지 않습니다.</a:t>
            </a:r>
          </a:p>
        </p:txBody>
      </p:sp>
      <p:sp>
        <p:nvSpPr>
          <p:cNvPr id="9" name="TextBox 8"/>
          <p:cNvSpPr txBox="1"/>
          <p:nvPr/>
        </p:nvSpPr>
        <p:spPr>
          <a:xfrm>
            <a:off x="635000" y="17320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10" name="TextBox 9"/>
          <p:cNvSpPr txBox="1"/>
          <p:nvPr/>
        </p:nvSpPr>
        <p:spPr>
          <a:xfrm>
            <a:off x="838200" y="17320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IT 헬프데스크(내선 1000)에 알리거나 ITssue 챗봇에 "여러 명"과 영향 범위를 적어 신고합니다. 보안 문제(대량 피싱 등)는 정보보안팀(내선 1119)에 알립니다.</a:t>
            </a:r>
          </a:p>
        </p:txBody>
      </p:sp>
      <p:sp>
        <p:nvSpPr>
          <p:cNvPr id="11" name="TextBox 10"/>
          <p:cNvSpPr txBox="1"/>
          <p:nvPr/>
        </p:nvSpPr>
        <p:spPr>
          <a:xfrm>
            <a:off x="635000" y="197116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12" name="TextBox 11"/>
          <p:cNvSpPr txBox="1"/>
          <p:nvPr/>
        </p:nvSpPr>
        <p:spPr>
          <a:xfrm>
            <a:off x="838200" y="197116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장애 공지가 나오면 공지를 따릅니다. 같은 장애를 여러 창구로 반복 신고하지 않습니다.</a:t>
            </a:r>
          </a:p>
        </p:txBody>
      </p:sp>
      <p:sp>
        <p:nvSpPr>
          <p:cNvPr id="13" name="TextBox 12"/>
          <p:cNvSpPr txBox="1"/>
          <p:nvPr/>
        </p:nvSpPr>
        <p:spPr>
          <a:xfrm>
            <a:off x="635000" y="221030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14" name="TextBox 13"/>
          <p:cNvSpPr txBox="1"/>
          <p:nvPr/>
        </p:nvSpPr>
        <p:spPr>
          <a:xfrm>
            <a:off x="838200" y="221030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복구 공지 후 다시 해 보고, 그래도 안 되면 개인 문의로 알립니다.</a:t>
            </a:r>
          </a:p>
        </p:txBody>
      </p:sp>
      <p:sp>
        <p:nvSpPr>
          <p:cNvPr id="15" name="TextBox 14"/>
          <p:cNvSpPr txBox="1"/>
          <p:nvPr/>
        </p:nvSpPr>
        <p:spPr>
          <a:xfrm>
            <a:off x="584200" y="2500249"/>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장애별 기준 문서</a:t>
            </a:r>
          </a:p>
        </p:txBody>
      </p:sp>
      <p:graphicFrame>
        <p:nvGraphicFramePr>
          <p:cNvPr id="16" name="Table 15"/>
          <p:cNvGraphicFramePr>
            <a:graphicFrameLocks noGrp="1"/>
          </p:cNvGraphicFramePr>
          <p:nvPr/>
        </p:nvGraphicFramePr>
        <p:xfrm>
          <a:off x="584200" y="2824734"/>
          <a:ext cx="11023600" cy="1752600"/>
        </p:xfrm>
        <a:graphic>
          <a:graphicData uri="http://schemas.openxmlformats.org/drawingml/2006/table">
            <a:tbl>
              <a:tblPr firstRow="0" bandRow="0">
                <a:tableStyleId>{5940675A-B579-460E-94D1-54222C63F5DA}</a:tableStyleId>
              </a:tblPr>
              <a:tblGrid>
                <a:gridCol w="6430433"/>
                <a:gridCol w="45931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장애</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볼 문서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통합 로그인(SSO) 전체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IT-ACC-001 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VPN·사내망·인터넷 전체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IT-NET-003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ERP·협업 플랫폼·메일 서버·파일서버 전체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IT-SYS-003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 메일 대량 유입</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IT-SEC-001 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층 단위 복합기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IT-HW-003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7" name="Rectangle 16"/>
          <p:cNvSpPr/>
          <p:nvPr/>
        </p:nvSpPr>
        <p:spPr>
          <a:xfrm>
            <a:off x="584200" y="4678934"/>
            <a:ext cx="11023600" cy="5999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1200" y="4780534"/>
            <a:ext cx="10769600"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IT운영·보안 조직은 대표 티켓 1건을 정해 같은 증상 티켓을 연결하고, 전사 공지와 챗봇 첫 화면 안내를 띄웁니다. 복구 뒤에는 연결된 티켓을 한꺼번에 종료하고 장애</a:t>
            </a:r>
          </a:p>
          <a:p>
            <a:pPr algn="l">
              <a:lnSpc>
                <a:spcPts val="1562"/>
              </a:lnSpc>
              <a:spcBef>
                <a:spcPts val="0"/>
              </a:spcBef>
              <a:spcAft>
                <a:spcPts val="0"/>
              </a:spcAft>
            </a:pPr>
            <a:r>
              <a:rPr sz="1100" b="0">
                <a:solidFill>
                  <a:srgbClr val="5A6270"/>
                </a:solidFill>
                <a:latin typeface="Malgun Gothic"/>
                <a:ea typeface="Malgun Gothic"/>
                <a:cs typeface="Malgun Gothic"/>
              </a:rPr>
              <a:t>보고서(원인·조치·재발 방지)를 남깁니다.</a:t>
            </a:r>
          </a:p>
        </p:txBody>
      </p:sp>
      <p:sp>
        <p:nvSpPr>
          <p:cNvPr id="19" name="TextBox 1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20" name="TextBox 1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558800"/>
          </a:xfrm>
          <a:prstGeom prst="rect">
            <a:avLst/>
          </a:prstGeom>
          <a:noFill/>
        </p:spPr>
        <p:txBody>
          <a:bodyPr wrap="none" lIns="0" rIns="0" tIns="0" bIns="0" anchor="t">
            <a:spAutoFit/>
          </a:bodyPr>
          <a:lstStyle/>
          <a:p>
            <a:pPr algn="l">
              <a:lnSpc>
                <a:spcPts val="4400"/>
              </a:lnSpc>
              <a:spcBef>
                <a:spcPts val="0"/>
              </a:spcBef>
              <a:spcAft>
                <a:spcPts val="0"/>
              </a:spcAft>
            </a:pPr>
            <a:r>
              <a:rPr sz="4000" b="1">
                <a:solidFill>
                  <a:srgbClr val="E8590C"/>
                </a:solidFill>
                <a:latin typeface="Malgun Gothic"/>
                <a:ea typeface="Malgun Gothic"/>
                <a:cs typeface="Malgun Gothic"/>
              </a:rPr>
              <a:t>부록</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관련 문서 · 용어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관련 문서 · 용어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사내 시스템과 용어</a:t>
            </a:r>
          </a:p>
        </p:txBody>
      </p:sp>
      <p:graphicFrame>
        <p:nvGraphicFramePr>
          <p:cNvPr id="7" name="Table 6"/>
          <p:cNvGraphicFramePr>
            <a:graphicFrameLocks noGrp="1"/>
          </p:cNvGraphicFramePr>
          <p:nvPr/>
        </p:nvGraphicFramePr>
        <p:xfrm>
          <a:off x="584200" y="1492885"/>
          <a:ext cx="11023600" cy="2921000"/>
        </p:xfrm>
        <a:graphic>
          <a:graphicData uri="http://schemas.openxmlformats.org/drawingml/2006/table">
            <a:tbl>
              <a:tblPr firstRow="0" bandRow="0">
                <a:tableStyleId>{5940675A-B579-460E-94D1-54222C63F5DA}</a:tableStyleId>
              </a:tblPr>
              <a:tblGrid>
                <a:gridCol w="3215217"/>
                <a:gridCol w="78083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용어</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설명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문의를 받는 AI 상담 창구. 가이드를 근거로 안내하고, 필요하면 담당자에게 연결한다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 (hanwha-admin)</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IT 요청, 내 요청 현황, 장애 공지, 챗봇 문의를 모아 둔 사이트. 그룹웨어 [IT 요청]에서도 들어간다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그룹웨어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 전자결재, 조직도, IT 요청·권한 신청을 쓰는 사내 시스템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통합 로그인 (SSO)</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사번 계정 하나로 그룹웨어·ERP·메일·VPN·메신저에 로그인하는 방식 (sso.hanwha-ict.example)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셀프 비밀번호 재설정 포털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사번과 휴대폰 인증으로 비밀번호를 직접 바꾸는 사이트 (password.hanwha-ict.example)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 포털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장비 분실 신고, 승인된 생성형 AI 도구 목록, 보안 예외 신청을 보는 사이트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서비스데스크가 운영하는 전화 창구 (내선 1000)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티켓</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담당자가 처리할 IT 요청 한 건. ITssue에서 접수하면 Jira에 만들어진다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L1 / L2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L1은 서비스데스크 1차 상담, L2는 분야별 전문팀 담당자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45154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관련 문서</a:t>
            </a:r>
          </a:p>
        </p:txBody>
      </p:sp>
      <p:graphicFrame>
        <p:nvGraphicFramePr>
          <p:cNvPr id="9" name="Table 8"/>
          <p:cNvGraphicFramePr>
            <a:graphicFrameLocks noGrp="1"/>
          </p:cNvGraphicFramePr>
          <p:nvPr/>
        </p:nvGraphicFramePr>
        <p:xfrm>
          <a:off x="584200" y="4839970"/>
          <a:ext cx="11023600" cy="584200"/>
        </p:xfrm>
        <a:graphic>
          <a:graphicData uri="http://schemas.openxmlformats.org/drawingml/2006/table">
            <a:tbl>
              <a:tblPr firstRow="0" bandRow="0">
                <a:tableStyleId>{5940675A-B579-460E-94D1-54222C63F5DA}</a:tableStyleId>
              </a:tblPr>
              <a:tblGrid>
                <a:gridCol w="1837267"/>
                <a:gridCol w="4133850"/>
                <a:gridCol w="50524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 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이럴 때 봅니다</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IT-STD-002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가이드 분류·작성·열람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가이드를 새로 쓰거나 고칠 때, 분류·열람 등급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개정 이력</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584200"/>
        </p:xfrm>
        <a:graphic>
          <a:graphicData uri="http://schemas.openxmlformats.org/drawingml/2006/table">
            <a:tbl>
              <a:tblPr firstRow="0" bandRow="0">
                <a:tableStyleId>{5940675A-B579-460E-94D1-54222C63F5DA}</a:tableStyleId>
              </a:tblPr>
              <a:tblGrid>
                <a:gridCol w="1002145"/>
                <a:gridCol w="1403004"/>
                <a:gridCol w="1603433"/>
                <a:gridCol w="701501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버전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개정일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작성자</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변경 내용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최초 작성. 각 가이드가 참조하던 IT 서비스 운영 기준을 MAN-00과 기획서·PRD·SRS 기준으로 정리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IT-STD-001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IT-STD-001 IT 서비스 운영 기준</dc:title>
  <dc:subject>사내 일반 · 전 임직원</dc:subject>
  <dc:creator>서비스데스크</dc:creator>
  <cp:keywords>ITssue 챗봇, IT 문의 창구, 내선 1000, 내선 1119, 긴급도, P1, P2, P3, P4, 응답 목표, 해결 목표, 티켓 상태, RDY, IP, FIN, CLS, 해결 확인, 대형 장애, 7개 분류, 담당 조직</cp:keywords>
  <dc:description>generated using python-pptx</dc:description>
  <cp:lastModifiedBy>서비스데스크</cp:lastModifiedBy>
  <cp:revision>1</cp:revision>
  <dcterms:created xsi:type="dcterms:W3CDTF">2013-01-27T09:14:16Z</dcterms:created>
  <dcterms:modified xsi:type="dcterms:W3CDTF">2013-01-27T09:15:58Z</dcterms:modified>
  <cp:category>사내 일반</cp:category>
</cp:coreProperties>
</file>