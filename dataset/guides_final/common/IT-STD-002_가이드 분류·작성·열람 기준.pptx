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IT 서비스 기준 · 공통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가이드 분류·작성·열람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IT-STD-002  |  서비스데스크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IT-STD-002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STD 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IT운영·보안 조직장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작성·관리 담당자, 관리자, ITssue 운영·개발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2921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분류, 문서 번호, 열람 등급, 사내 일반, 사내 제한, 담당자 매뉴얼, 처리 구분, 중복 정리, 작성 기준, RAG 등록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문서 체계와 번호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분류 기준과 중복 정리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92016" y="2294890"/>
            <a:ext cx="699178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열람 등급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8000" y="2726690"/>
            <a:ext cx="8005800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작성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78000" y="3158490"/>
            <a:ext cx="8005800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형식과 디자인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33600" y="3590290"/>
            <a:ext cx="7650200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7개 분류 담당자가 따로 쓴 가이드를 하나의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체계로 정리한 기준과 결과를 남깁니다.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013839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앞으로 가이드를 새로 쓰거나 고칠 때 같은 기준을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따르게 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9533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09533" y="1168400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36533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6533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3533" y="157899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dataset/guides_final 의 모든 문서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6533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3533" y="181546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가이드 작성·관리 담당자, 관리자, ITssue 운영·개발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34867" y="1168400"/>
            <a:ext cx="3572933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8034867" y="1168400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61867" y="1295400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근거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1867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8867" y="1578991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docs 01 기획서 · 02 PRD · 03 SRS · 04 시스템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설계서 · 05 가상 기업 환경정의서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1867" y="20138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8867" y="201383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dataset (taxonomy·FAQ·문의이력·MAN-00~07)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4200" y="2677287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2778887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기준이 서로 다르면 docs 01~05를 먼저 따르고, 그다음 데이터셋(FAQ·taxonomy)을 따릅니다. 팀원 문서끼리 다르면 데이터셋과 맞는 쪽을 씁니다.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문서 체계와 번호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83200"/>
                <a:gridCol w="3472000"/>
                <a:gridCol w="1562400"/>
                <a:gridCol w="39060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 형식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IT-{분류}-{번호} (예: IT-ACC-001)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증상별로 임직원이 직접 할 일과 문의 방법. RAG 답변 근거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IT-{분류}-{번호}-M (예: IT-ACC-001-M)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짝이 되는 가이드의 항목별 접수·판단·처리·이관 절차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IT-STD-{번호}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분류와 관계없이 함께 따르는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응대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IT-AI-{번호}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 프롬프트·응대 정책 관리용. RAG 검색 대상에서 뺀다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84200" y="2730500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2832100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가이드와 매뉴얼은 같은 번호로 짝을 이루고 항목 번호(3.x)도 같습니다. 다른 문서는 "IT-ACC-001 3.3"처럼 항목 번호까지 적어 참조합니다.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323367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전체 문서 목록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84200" y="3558159"/>
          <a:ext cx="11023600" cy="2628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STD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분류·작성·열람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STD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SSO 로그인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ACC-02, ACC-04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SSO 로그인 오류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ACC-02, ACC-04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변경·초기화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변경·초기화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MFA 인증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MFA 인증 오류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4965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접근권한 신청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접근권한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개발·검증 서버 접근권한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개발·검증 서버 접근권한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퇴사·부서이동 권한 변경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퇴사·부서이동 권한 변경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접속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접속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네트워크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NET-01, NET-04, 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네트워크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NET-01, NET-04, NET-05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 장애 신고·이관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업무용 SW 설치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설치 요청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라이선스 신청·인증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라이선스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4914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업무용 SW 실행·오류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SW-03, SW-04, SW-05,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실행·오류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SW-03, SW-04, SW-05,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기본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HW-01, HW-02, HW-03,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기본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HW-01, HW-02, HW-03,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장비 교체·수리 신청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HW-04, 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장비 교체·수리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HW-04, HW-05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프린터·복합기 이용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HW-07, HW-08, 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프린터·복합기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HW-07, HW-08, HW-09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그룹웨어·ERP 이용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SYS-01, 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그룹웨어·ERP 이용 오류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SYS-01, 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성능 저하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성능 저하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SYS-02, SYS-05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SYS-03, SYS-05, SYS-09,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5130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장애 신고·이관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SYS-03, SYS-05, SYS-09,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이용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SYS-06, SYS-07, 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이용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SYS-06, SYS-07, SYS-08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메신저·화상회의·협업 도구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SYS-10, SYS-11, 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메신저·화상회의·협업 도구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SYS-10, SYS-11, SYS-12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드라이브·파일 복구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SYS-13, 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드라이브·파일 복구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SYS-13, SYS-14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인사·근태 문의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인사·근태 문의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서버·DB 장애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서버·DB 장애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피싱·의심 메일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SEC-01, SEC-04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피싱·의심 메일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SEC-01, SEC-04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프로그램(백신·EDR) 알림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프로그램(백신·EDR) 알림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도용·장비 분실 신고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SEC-06, SEC-05, SEC-08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체계와 번호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문서 체계와 번호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534932"/>
                <a:gridCol w="3209403"/>
                <a:gridCol w="627927"/>
                <a:gridCol w="1395392"/>
                <a:gridCol w="1046544"/>
                <a:gridCol w="1395392"/>
                <a:gridCol w="181401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짝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도용·장비 분실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SEC-06, SEC-05, SEC-08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예외 신청·정책 안내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SEC-03, 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예외 신청·정책 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SEC-03, 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IT-AI-001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접근권한 AI 응대·담당자 인계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응대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ACS-01, ACS-02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2730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폴더와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054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3054985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dataset/guides_final/{분류}/guide/ — 임직원용 가이드, {분류}/manual/ — 담당자용 매뉴얼, common/ — 분류에 속하지 않는 공통 문서(공통 기준 IT-STD, AI 응대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정책 IT-AI)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5015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35015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하나에 같은 내용의 파일 4개: .pdf · .pptx (장표), .docx (편집용), .md (코드 저장소·RAG 등록용)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37406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7406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이름: {문서 번호}_{문서명}.{확장자}. 그림은 {분류}/images/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97979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7979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RAG에는 한 문서에 한 형식만 등록해 같은 내용이 중복 검색되지 않게 합니다 (권장: .md 또는 .pdf).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분류 기준과 중복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분류 기준과 중복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분류 기준과 중복 정리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7개 분류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599" cy="3162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16563"/>
                <a:gridCol w="1469813"/>
                <a:gridCol w="4491096"/>
                <a:gridCol w="2613001"/>
                <a:gridCol w="1633126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다루는 범위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담당 조직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계정·로그인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만료·초기화, 계정 잠금, MFA, 통합 로그인(SSO)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 (SSO 장애: 시스템인프라팀)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시스템·폴더 접근권한 신청, 개발·검증 서버 권한, 부서 이동·퇴사에 따른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 변경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(서버·DB: 시스템인프라팀)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VPN·네트워크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Wi-Fi, 유선 LAN, 인터넷 속도, 개인·전사 VPN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SW·라이선스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설치·라이선스, 오피스 문서, 비밀번호 관리자, 개발도구 인증서, PC 메일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프로그램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 (오피스·비밀번호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관리자: 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HW·업무 PC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PC 속도·부팅, 모니터·도킹, 장비 수리·교체·반납, OS 업데이트,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프린터·복합기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 (프린터·복합기: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IT-HW-001~003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전자결재, ERP, 인사·근태, 업무 협업 플랫폼, 메일·메신저·화상회의, 공유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드라이브·파일서버, 개발 서버·DB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 · 시스템인프라팀 ·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IT-SYS-001~008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피싱 메일, 악성코드·보안 알림, 매체·반출 예외, 시스템 침해 의심, 계정 도용,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웹사이트 차단 해제, 장비 분실, 생성형 AI 사용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IT-SEC-001~004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분류 기준과 중복 정리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분류 기준과 중복 정리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분류 경계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3251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91877"/>
                <a:gridCol w="3391877"/>
                <a:gridCol w="4239846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 (볼 문서)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 도용 의심·모르는 로그인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SEC-06 (IT-SEC-003)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ACC가 아님. 비밀번호를 바꾼 적 없는데 반복 잠김도 SEC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사이트 차단 해제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SEC-07 (IT-SEC-004 3.3)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NET이 아님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PC에 설치한 메일 프로그램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SW-06 (IT-SW-003 3.7)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 수신·용량·반송·메일 서버는 SYS (IT-SYS-004)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메신저·화상회의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SYS-10 (IT-SYS-005)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중에만 느리면 NET-02, 사무실 전체가 느리면 NET-04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프린터·복합기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HW (IT-HW-003)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 "액세스 거부"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전체: SYS-13 (IT-SYS-006 3.1)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혼자만: ACS-01 (IT-ACS-001 3.4), 부서 이동 뒤: ACS-02 (IT-ACS-003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 SSH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전체·배포 중단: SYS-15 (IT-SYS-008 3.1)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혼자만·권한: ACS-01 (IT-ACS-002 3.4)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관리자 권한이 필요하다는 설치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SW-01 (IT-SW-001)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접근권한(ACS)이 아님. 관리자 권한은 주지 않음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부서 이동·퇴사 문의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ACS-02 (IT-ACS-003)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"부서 이동", "퇴사", "발령"이 있으면 ACS-02, 새로 필요한 권한이면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8456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중복 주제 정리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17017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두 개 이상의 분류에 같은 내용이 있으면 한 문서를 기준 문서로 정하고, 나머지는 내용을 지우거나 참조만 남깁니다.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84200" y="5466461"/>
          <a:ext cx="11023600" cy="749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45664"/>
                <a:gridCol w="3968496"/>
                <a:gridCol w="440944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문서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프로그램의 파일 격리·오탐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IT-SEC-002 3.1·3.2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 (원본 3장 4) 삭제, 바로가기만 남김), IT-SW-001 보안 SW 표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아래 참조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분류 기준과 중복 정리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분류 기준과 중복 정리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4787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45664"/>
                <a:gridCol w="3968496"/>
                <a:gridCol w="440944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다른 문서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 사용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 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 (원본 1장 6) 삭제, 대상 SW 표에서 참조), 미승인 도구 검토는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IT-SW-001 3.5 절차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통합 로그인 화면 반복·로딩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 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 3.8은 일반 사이트 화면 깨짐만 다룸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서비스: IT-SYS-004 / PC 메일 프로그램: IT-SW-003 3.7 / 전사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장애: IT-SYS-003 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 3.7 신규 작성 (원본에 없어 SYS-004의 참조가 빈 곳을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가리켰음)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개발 서버 접속 실패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권한: IT-ACS-002 3.4 / 서버 장애: IT-SYS-008 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서로 참조를 항목 번호까지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공유 드라이브 "액세스 거부"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 전체: IT-SYS-006 3.1 / 개인: IT-ACS-001 3.4 / 부서 이동: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 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서로 참조를 항목 번호까지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반복 계정 잠김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비밀번호 변경 뒤: IT-ACC-001 3.2 / 변경한 적 없음: IT-SEC-003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원본 그대로 (이미 연결됨)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휴대폰 교체·분실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교체: IT-ACC-003 3.5 / 분실: IT-SEC-003 3.6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원본 그대로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계정·권한·자료: IT-ACS-003 3.3 / 장비: IT-HW-002 3.7 / 라이선스: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IT-SW-002 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퇴사일 18시 비활성화 기준(FAQ-035)으로 세 문서 통일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화상회의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앱: IT-SYS-005 / VPN 중: IT-NET-001 3.2 / 사무실 전체: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IT-NET-002 3.7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잘못된 참조(IT-NET-002 3.5) 수정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여러 사람이 함께 겪는 장애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각 분류의 신고 문서 + 공통 행동은 IT-STD-001 6장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 신규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긴급도·처리 목표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 3장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IT-SW-003 (원본 5장 2) 표를 옮김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접근권한 AI 응대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IT-AI-001 (common 폴더)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Knowledge 가이드에서 분리 (원본 IT-ACS-AI-001)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열람 등급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열람 등급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열람 등급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5511800"/>
                <a:gridCol w="36745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등급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볼 수 있는 사람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문서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 (ITssue 일반 임직원·IT 운영 담당자·관리자 모두)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가이드, 공통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운영 담당자·관리자 (IT운영·보안 조직)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매뉴얼, AI 응대 정책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21463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사내 제한으로 두는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4707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4707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담당자 실명과 배정 기준, 팀장 재배정 승인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27099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27099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본인 확인 수준(L1~L3)과 사회공학 대응 문구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9490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9490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관리 콘솔·내부 도구 절차 (잠금 해제, 원격 격리, 권한 반영·회수, 라이선스 할당 등)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18820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18820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긴급도 조정 조건과 판단 기준, 처리 후 안내 문구, 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342734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342734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팀별 내선 번호(1030·1040·1050·1060)와 내부 연락처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4200" y="3717290"/>
            <a:ext cx="11023600" cy="599948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1200" y="3818890"/>
            <a:ext cx="10769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애매하면 사내 일반으로 둡니다. 임직원이 알아야 할 절차·기준은 사내 일반 가이드에 쓰고, 담당자만 하는 작업만 매뉴얼로 나눕니다. SW 분류도 같은 이유로 담당자용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매뉴얼 3종(IT-SW-001-M~003-M)을 새로 만들었습니다.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열람 등급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열람 등급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등급 표시와 적용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"사내 일반 · 전 임직원" (남색) / "사내 제한 · IT 운영 담당자·관리자" (주황) 배지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쪽 꼬리말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© 가상 ICT 기업 · 문서 번호 · 열람 등급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정보 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등급, 열람 대상(매뉴얼)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파일 속성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docx·pptx·pdf의 주제(Subject)·범주에 열람 등급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.md 머리말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access_level, audience 항목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4200" y="3347085"/>
            <a:ext cx="11023600" cy="836422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1200" y="34486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표시만으로 접근이 막히지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200" y="3685159"/>
            <a:ext cx="10769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RAG 등록 때 열람 등급을 문서 메타데이터로 넣고, 검색·답변·출처에서 백엔드가 사용자 권한으로 거릅니다 (설계서 7.3·7.4). 외부 모델 전송 허용 여부는 열람 등급과 따로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작성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작성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장 구성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1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84289"/>
                <a:gridCol w="4969656"/>
                <a:gridCol w="4969656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개요 (목적 · 적용 대상 · 적용 환경)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개요 (목적 · 담당 범위)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먼저 확인할 사항 (증상별 바로가기 포함)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접수·분류 기준 (항목별 기본값 · 처리 방식 · 긴급도 조정)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증상별 조치 방법 / 항목별 안내 (3.x)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증상별 처리 절차 (3.x, 가이드와 같은 번호)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자주 묻는 질문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대형 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주의사항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기록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문의처 (공통 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문서 · 용어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9312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항목(3.x) 구성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4255770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종류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장애형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이런 경우 → 원인 → 조치 방법 → (그림) → 해결 확인 · 해결되지 않으면 · 문의 시 알려 주실 정보 → 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신청형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신청합니다 → 신청 방법 → (그림·양식·흐름) → 처리 기간과 결과 확인 · 반려·보완되는 경우 · 문의 시 알려 주실 정보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 시 확인 질문 · 판단 기준 → 처리 절차 → 처리 후 안내 문구 → 재발 방지 · 이관 시 전달 정보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작성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구분 (항목마다 하나)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뜻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따라 직접 해결합니다. ITssue 챗봇이 절차를 안내합니다.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신청서를 내고 팀장 등의 승인을 받은 뒤 담당자가 처리합니다.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담당자의 확인이나 작업이 필요합니다. ITssue 챗봇으로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8430E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신고·이관</a:t>
                      </a:r>
                    </a:p>
                  </a:txBody>
                  <a:tcPr marL="76200" marR="76200" marT="63500" marB="63500" anchor="t">
                    <a:solidFill>
                      <a:srgbClr val="FBE3DC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사고나 여러 사람에게 영향이 있는 장애입니다. 혼자 해결하려 하지 말고 바로 알립니다.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84200" y="3054985"/>
            <a:ext cx="11023600" cy="401574"/>
          </a:xfrm>
          <a:prstGeom prst="rect">
            <a:avLst/>
          </a:prstGeom>
          <a:solidFill>
            <a:srgbClr val="EE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1200" y="3156585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※ 기본 긴급도가 P1인 시나리오(ACC-04, NET-03, SYS-03, SYS-09, SYS-16, SEC-04)와 보안 사고 신고 항목은 "즉시 신고·이관"으로 둡니다.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작성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통일한 용어와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370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33600"/>
                <a:gridCol w="4445000"/>
                <a:gridCol w="44450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 값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원본에서 다르던 것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회사명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가상 ICT 기업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문서마다 회사 이름 표기가 달랐음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주소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*.ict.example, 사내 IT 포털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portal.ict.example(SW)과 ict.example(그 외)을 함께 씀 → 포털 이름으로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요청 경로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&gt; IT 요청 (= 사내 IT 포털 [IT 요청])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문서만 사내 IT 포털 &gt; [IT 요청]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 기본, IT 헬프데스크 내선 1000 (평일 09:00~18:00), 정보보안팀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SW 문서는 운영시간 미확정, ACS 문서는 "사내 공지된 연락처"로만 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 상태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RDY → WIP → FIN → CLS (PRD·SRS·설계서)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팀원 문서는 RDY → WIP → FIN → CLS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 / 신청·승인 후 처리 / IT 담당자 처리 / 즉시 신고·이관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ACC·SEC는 3색 처리 구분과 처리 주체를 따로, 나머지는 처리 주체만 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부서이동·퇴사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발령 다음 날 자동 반영 / 퇴사일 18시 비활성화 / 메일 30일 팀장 전달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(FAQ-004·035)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 문서는 "고정 시각을 보장하지 않음"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문서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IT-{분류}-{번호}-M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ACS만 -OPS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버전·시행일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문서 v2.0 · 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v0.1~v1.2, 시행일 2026-03-01 등 제각각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시연용 표시 문구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쓰지 않음 (저장소 README에만 기록)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표지·쪽 머리·그림 설명·시스템 이름 뒤에 시연용임을 알리는 문구가 있었음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작성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작성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쓰지 않는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4928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4928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시연용·교육용 문서임을 알리는 문구 (그림 속 문구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17320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7320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AI 평가용 정답셋(eval_inquiries) 문장과 그 바꿔 쓴 문장, 정답셋에만 있는 키워드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197116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97116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비밀번호·인증번호·API 키 같은 비밀정보 예시, 실제 기업 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221030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21030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근거 데이터에 없는 정책 값 (정해지지 않은 값은 미확정 표시 대신 담당자 확인으로 씀)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형식과 디자인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형식과 디자인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형식과 디자인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7950"/>
                <a:gridCol w="5511800"/>
                <a:gridCol w="413385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모양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.pdf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16:9 장표 (IT-SW-001 업무용 SW 설치 가이드 디자인)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배포·인쇄·열람, RAG 등록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.pptx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PDF와 같은 장표. 표는 PowerPoint 표 개체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발표·화면 편집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.docx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A4 세로. 같은 색·표지·장 구성. 목차는 [필드 업데이트]로 쪽 번호 표시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편집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.md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머리말에 문서 정보와 열람 등급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 저장소, RAG 등록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2730500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91863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남색 #1F3A5F, 주황 #E8590C, 본문 #1D2433, 소제목 #B8430E, 장 구분 배경 #1D293A, 바탕 #FAFAF9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구성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표지 → 문서 정보 → Contents → 장 구분(남색) → 본문 장표 → 개정 이력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장표 머리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왼쪽 제목, 오른쪽 장 번호(예: 03. 증상별 조치 방법), 남색 밑줄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글꼴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맑은 고딕 (명령어는 Consolas)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42926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만드는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46170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원천은 dataset/guides_final/tools/source/{분류}/{문서 번호}.json 입니다. 원천을 고친 뒤 tools 폴더에서 python build.py 를 실행하면 네 형식이 함께 다시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만들어집니다. 자세한 순서는 guides_final/README.md에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작성. 7개 분류 가이드 통합 정리 기준과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IT-STD-002 · 사내 일반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IT-STD-002 가이드 분류·작성·열람 기준</dc:title>
  <dc:subject>사내 일반 · 전 임직원</dc:subject>
  <dc:creator>서비스데스크</dc:creator>
  <cp:keywords>가이드 분류, 문서 번호, 열람 등급, 사내 일반, 사내 제한, 담당자 매뉴얼, 처리 구분, 중복 정리, 작성 기준, RAG 등록</cp:keywords>
  <dc:description>generated using python-pptx</dc:description>
  <cp:lastModifiedBy>서비스데스크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